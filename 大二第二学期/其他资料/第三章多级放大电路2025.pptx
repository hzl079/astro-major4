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2"/>
  </p:notesMasterIdLst>
  <p:handoutMasterIdLst>
    <p:handoutMasterId r:id="rId123"/>
  </p:handoutMasterIdLst>
  <p:sldIdLst>
    <p:sldId id="419" r:id="rId3"/>
    <p:sldId id="420" r:id="rId4"/>
    <p:sldId id="447" r:id="rId5"/>
    <p:sldId id="354" r:id="rId6"/>
    <p:sldId id="423" r:id="rId7"/>
    <p:sldId id="452" r:id="rId8"/>
    <p:sldId id="448" r:id="rId9"/>
    <p:sldId id="449" r:id="rId10"/>
    <p:sldId id="454" r:id="rId11"/>
    <p:sldId id="556" r:id="rId12"/>
    <p:sldId id="455" r:id="rId13"/>
    <p:sldId id="555" r:id="rId14"/>
    <p:sldId id="456" r:id="rId15"/>
    <p:sldId id="451" r:id="rId16"/>
    <p:sldId id="432" r:id="rId17"/>
    <p:sldId id="433" r:id="rId18"/>
    <p:sldId id="711" r:id="rId19"/>
    <p:sldId id="457" r:id="rId20"/>
    <p:sldId id="438" r:id="rId21"/>
    <p:sldId id="553" r:id="rId22"/>
    <p:sldId id="439" r:id="rId23"/>
    <p:sldId id="440" r:id="rId24"/>
    <p:sldId id="725" r:id="rId25"/>
    <p:sldId id="726" r:id="rId26"/>
    <p:sldId id="727" r:id="rId27"/>
    <p:sldId id="728" r:id="rId28"/>
    <p:sldId id="729" r:id="rId29"/>
    <p:sldId id="730" r:id="rId30"/>
    <p:sldId id="731" r:id="rId31"/>
    <p:sldId id="450" r:id="rId32"/>
    <p:sldId id="748" r:id="rId33"/>
    <p:sldId id="749" r:id="rId34"/>
    <p:sldId id="750" r:id="rId35"/>
    <p:sldId id="443" r:id="rId36"/>
    <p:sldId id="375" r:id="rId37"/>
    <p:sldId id="376" r:id="rId38"/>
    <p:sldId id="378" r:id="rId39"/>
    <p:sldId id="379" r:id="rId40"/>
    <p:sldId id="458" r:id="rId41"/>
    <p:sldId id="712" r:id="rId42"/>
    <p:sldId id="569" r:id="rId43"/>
    <p:sldId id="459" r:id="rId44"/>
    <p:sldId id="382" r:id="rId45"/>
    <p:sldId id="529" r:id="rId46"/>
    <p:sldId id="445" r:id="rId47"/>
    <p:sldId id="703" r:id="rId48"/>
    <p:sldId id="461" r:id="rId49"/>
    <p:sldId id="701" r:id="rId50"/>
    <p:sldId id="717" r:id="rId51"/>
    <p:sldId id="718" r:id="rId52"/>
    <p:sldId id="699" r:id="rId53"/>
    <p:sldId id="462" r:id="rId54"/>
    <p:sldId id="463" r:id="rId55"/>
    <p:sldId id="481" r:id="rId56"/>
    <p:sldId id="704" r:id="rId57"/>
    <p:sldId id="720" r:id="rId58"/>
    <p:sldId id="743" r:id="rId59"/>
    <p:sldId id="744" r:id="rId60"/>
    <p:sldId id="745" r:id="rId61"/>
    <p:sldId id="746" r:id="rId62"/>
    <p:sldId id="482" r:id="rId63"/>
    <p:sldId id="386" r:id="rId64"/>
    <p:sldId id="623" r:id="rId65"/>
    <p:sldId id="719" r:id="rId66"/>
    <p:sldId id="624" r:id="rId67"/>
    <p:sldId id="625" r:id="rId68"/>
    <p:sldId id="626" r:id="rId69"/>
    <p:sldId id="627" r:id="rId70"/>
    <p:sldId id="707" r:id="rId71"/>
    <p:sldId id="708" r:id="rId72"/>
    <p:sldId id="709" r:id="rId73"/>
    <p:sldId id="628" r:id="rId74"/>
    <p:sldId id="629" r:id="rId75"/>
    <p:sldId id="630" r:id="rId76"/>
    <p:sldId id="631" r:id="rId77"/>
    <p:sldId id="632" r:id="rId78"/>
    <p:sldId id="633" r:id="rId79"/>
    <p:sldId id="446" r:id="rId80"/>
    <p:sldId id="705" r:id="rId81"/>
    <p:sldId id="747" r:id="rId82"/>
    <p:sldId id="576" r:id="rId83"/>
    <p:sldId id="577" r:id="rId84"/>
    <p:sldId id="716" r:id="rId85"/>
    <p:sldId id="732" r:id="rId86"/>
    <p:sldId id="733" r:id="rId87"/>
    <p:sldId id="653" r:id="rId88"/>
    <p:sldId id="494" r:id="rId89"/>
    <p:sldId id="497" r:id="rId90"/>
    <p:sldId id="635" r:id="rId91"/>
    <p:sldId id="636" r:id="rId92"/>
    <p:sldId id="637" r:id="rId93"/>
    <p:sldId id="660" r:id="rId94"/>
    <p:sldId id="661" r:id="rId95"/>
    <p:sldId id="663" r:id="rId96"/>
    <p:sldId id="469" r:id="rId97"/>
    <p:sldId id="470" r:id="rId98"/>
    <p:sldId id="724" r:id="rId99"/>
    <p:sldId id="471" r:id="rId100"/>
    <p:sldId id="472" r:id="rId101"/>
    <p:sldId id="473" r:id="rId102"/>
    <p:sldId id="721" r:id="rId103"/>
    <p:sldId id="474" r:id="rId104"/>
    <p:sldId id="475" r:id="rId105"/>
    <p:sldId id="476" r:id="rId106"/>
    <p:sldId id="477" r:id="rId107"/>
    <p:sldId id="530" r:id="rId108"/>
    <p:sldId id="478" r:id="rId109"/>
    <p:sldId id="532" r:id="rId110"/>
    <p:sldId id="479" r:id="rId111"/>
    <p:sldId id="480" r:id="rId112"/>
    <p:sldId id="657" r:id="rId113"/>
    <p:sldId id="654" r:id="rId114"/>
    <p:sldId id="723" r:id="rId115"/>
    <p:sldId id="722" r:id="rId116"/>
    <p:sldId id="528" r:id="rId117"/>
    <p:sldId id="524" r:id="rId118"/>
    <p:sldId id="525" r:id="rId119"/>
    <p:sldId id="526" r:id="rId120"/>
    <p:sldId id="527" r:id="rId121"/>
  </p:sldIdLst>
  <p:sldSz cx="9144000" cy="6858000" type="screen4x3"/>
  <p:notesSz cx="6858000" cy="9144000"/>
  <p:custShowLst>
    <p:custShow name="自定义放映1" id="0">
      <p:sldLst/>
    </p:custShow>
    <p:custShow name="自定义放映2" id="1">
      <p:sldLst/>
    </p:custShow>
    <p:custShow name="自定义放映3" id="2">
      <p:sldLst/>
    </p:custShow>
    <p:custShow name="自定义放映4" id="3">
      <p:sldLst/>
    </p:custShow>
  </p:custShowLst>
  <p:defaultTex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A50021"/>
    <a:srgbClr val="FF0000"/>
    <a:srgbClr val="006600"/>
    <a:srgbClr val="8DD78D"/>
    <a:srgbClr val="FFCC00"/>
    <a:srgbClr val="AAEFF6"/>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36" autoAdjust="0"/>
    <p:restoredTop sz="94787" autoAdjust="0"/>
  </p:normalViewPr>
  <p:slideViewPr>
    <p:cSldViewPr snapToGrid="0">
      <p:cViewPr varScale="1">
        <p:scale>
          <a:sx n="108" d="100"/>
          <a:sy n="108" d="100"/>
        </p:scale>
        <p:origin x="1992" y="102"/>
      </p:cViewPr>
      <p:guideLst>
        <p:guide orient="horz" pos="2160"/>
        <p:guide pos="2880"/>
      </p:guideLst>
    </p:cSldViewPr>
  </p:slideViewPr>
  <p:outlineViewPr>
    <p:cViewPr>
      <p:scale>
        <a:sx n="50" d="100"/>
        <a:sy n="50" d="100"/>
      </p:scale>
      <p:origin x="0" y="0"/>
    </p:cViewPr>
    <p:sldLst>
      <p:sld r:id="rId1" collapse="1"/>
    </p:sldLst>
  </p:outlineViewPr>
  <p:notesTextViewPr>
    <p:cViewPr>
      <p:scale>
        <a:sx n="75" d="100"/>
        <a:sy n="75" d="100"/>
      </p:scale>
      <p:origin x="0" y="0"/>
    </p:cViewPr>
  </p:notesTextViewPr>
  <p:sorterViewPr>
    <p:cViewPr>
      <p:scale>
        <a:sx n="66" d="100"/>
        <a:sy n="66" d="100"/>
      </p:scale>
      <p:origin x="0" y="0"/>
    </p:cViewPr>
  </p:sorterViewPr>
  <p:notesViewPr>
    <p:cSldViewPr snapToGrid="0">
      <p:cViewPr varScale="1">
        <p:scale>
          <a:sx n="68" d="100"/>
          <a:sy n="68" d="100"/>
        </p:scale>
        <p:origin x="-333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png"/><Relationship Id="rId4" Type="http://schemas.openxmlformats.org/officeDocument/2006/relationships/image" Target="../media/image19.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6.png"/></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png"/><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5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4.png"/></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png"/><Relationship Id="rId5" Type="http://schemas.openxmlformats.org/officeDocument/2006/relationships/image" Target="../media/image68.wmf"/><Relationship Id="rId4"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4.png"/></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4.png"/><Relationship Id="rId4"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png"/><Relationship Id="rId5" Type="http://schemas.openxmlformats.org/officeDocument/2006/relationships/image" Target="../media/image79.wmf"/><Relationship Id="rId4"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86.png"/><Relationship Id="rId1" Type="http://schemas.openxmlformats.org/officeDocument/2006/relationships/image" Target="../media/image8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9.wmf"/><Relationship Id="rId7" Type="http://schemas.openxmlformats.org/officeDocument/2006/relationships/image" Target="../media/image92.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1.wmf"/><Relationship Id="rId5" Type="http://schemas.openxmlformats.org/officeDocument/2006/relationships/image" Target="../media/image86.png"/><Relationship Id="rId4" Type="http://schemas.openxmlformats.org/officeDocument/2006/relationships/image" Target="../media/image9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92.wmf"/><Relationship Id="rId1" Type="http://schemas.openxmlformats.org/officeDocument/2006/relationships/image" Target="../media/image60.wmf"/><Relationship Id="rId4" Type="http://schemas.openxmlformats.org/officeDocument/2006/relationships/image" Target="../media/image8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92.wmf"/><Relationship Id="rId1" Type="http://schemas.openxmlformats.org/officeDocument/2006/relationships/image" Target="../media/image86.png"/><Relationship Id="rId4" Type="http://schemas.openxmlformats.org/officeDocument/2006/relationships/image" Target="../media/image7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1.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1.png"/></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image" Target="../media/image10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1.png"/><Relationship Id="rId4" Type="http://schemas.openxmlformats.org/officeDocument/2006/relationships/image" Target="../media/image106.png"/></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4.wmf"/><Relationship Id="rId5" Type="http://schemas.openxmlformats.org/officeDocument/2006/relationships/image" Target="../media/image101.png"/><Relationship Id="rId4" Type="http://schemas.openxmlformats.org/officeDocument/2006/relationships/image" Target="../media/image109.png"/></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8.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7.wmf"/><Relationship Id="rId5" Type="http://schemas.openxmlformats.org/officeDocument/2006/relationships/image" Target="../media/image110.wmf"/><Relationship Id="rId4" Type="http://schemas.openxmlformats.org/officeDocument/2006/relationships/image" Target="../media/image92.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13.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16.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118.wmf"/><Relationship Id="rId1" Type="http://schemas.openxmlformats.org/officeDocument/2006/relationships/image" Target="../media/image121.wmf"/><Relationship Id="rId4" Type="http://schemas.openxmlformats.org/officeDocument/2006/relationships/image" Target="../media/image72.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22.png"/></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image" Target="../media/image124.wmf"/><Relationship Id="rId1" Type="http://schemas.openxmlformats.org/officeDocument/2006/relationships/image" Target="../media/image123.wmf"/><Relationship Id="rId5" Type="http://schemas.openxmlformats.org/officeDocument/2006/relationships/image" Target="../media/image127.wmf"/><Relationship Id="rId4" Type="http://schemas.openxmlformats.org/officeDocument/2006/relationships/image" Target="../media/image12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32.wmf"/><Relationship Id="rId1" Type="http://schemas.openxmlformats.org/officeDocument/2006/relationships/image" Target="../media/image131.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image" Target="../media/image139.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42.png"/></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42.png"/></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42.png"/></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51.wmf"/><Relationship Id="rId1" Type="http://schemas.openxmlformats.org/officeDocument/2006/relationships/image" Target="../media/image150.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53.png"/></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01.png"/></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57.wmf"/><Relationship Id="rId7" Type="http://schemas.openxmlformats.org/officeDocument/2006/relationships/image" Target="../media/image161.wmf"/><Relationship Id="rId2" Type="http://schemas.openxmlformats.org/officeDocument/2006/relationships/image" Target="../media/image156.wmf"/><Relationship Id="rId1" Type="http://schemas.openxmlformats.org/officeDocument/2006/relationships/image" Target="../media/image155.wmf"/><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58.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 Id="rId4" Type="http://schemas.openxmlformats.org/officeDocument/2006/relationships/image" Target="../media/image165.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81.png"/></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1.png"/><Relationship Id="rId1" Type="http://schemas.openxmlformats.org/officeDocument/2006/relationships/image" Target="../media/image182.png"/></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image" Target="../media/image184.png"/></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187.wmf"/><Relationship Id="rId1" Type="http://schemas.openxmlformats.org/officeDocument/2006/relationships/image" Target="../media/image186.png"/></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wmf"/><Relationship Id="rId1" Type="http://schemas.openxmlformats.org/officeDocument/2006/relationships/image" Target="../media/image186.png"/></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86.png"/></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194.wmf"/><Relationship Id="rId1" Type="http://schemas.openxmlformats.org/officeDocument/2006/relationships/image" Target="../media/image193.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wmf"/><Relationship Id="rId1" Type="http://schemas.openxmlformats.org/officeDocument/2006/relationships/image" Target="../media/image196.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00.png"/></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00.png"/></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00.png"/></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image" Target="../media/image200.png"/></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image" Target="../media/image201.png"/></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2.png"/><Relationship Id="rId1" Type="http://schemas.openxmlformats.org/officeDocument/2006/relationships/image" Target="../media/image201.png"/><Relationship Id="rId6" Type="http://schemas.openxmlformats.org/officeDocument/2006/relationships/image" Target="../media/image207.wmf"/><Relationship Id="rId5" Type="http://schemas.openxmlformats.org/officeDocument/2006/relationships/image" Target="../media/image206.wmf"/><Relationship Id="rId4" Type="http://schemas.openxmlformats.org/officeDocument/2006/relationships/image" Target="../media/image205.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0.png"/><Relationship Id="rId4" Type="http://schemas.openxmlformats.org/officeDocument/2006/relationships/image" Target="../media/image210.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2.png"/><Relationship Id="rId1" Type="http://schemas.openxmlformats.org/officeDocument/2006/relationships/image" Target="../media/image201.png"/><Relationship Id="rId5" Type="http://schemas.openxmlformats.org/officeDocument/2006/relationships/image" Target="../media/image206.wmf"/><Relationship Id="rId4" Type="http://schemas.openxmlformats.org/officeDocument/2006/relationships/image" Target="../media/image205.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24D5A719-57DA-45FE-9F4E-B9669027BB9F}" type="datetimeFigureOut">
              <a:rPr lang="zh-CN" altLang="en-US"/>
              <a:pPr>
                <a:defRPr/>
              </a:pPr>
              <a:t>2025/3/20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DF3B740-EEB0-4646-8143-9391F879928A}"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ltLang="zh-CN"/>
          </a:p>
        </p:txBody>
      </p:sp>
      <p:sp>
        <p:nvSpPr>
          <p:cNvPr id="126979"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149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26981"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6982"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126983"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CF783C37-B047-4802-A88C-EBFA77867A1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miter lim="800000"/>
            <a:headEnd/>
            <a:tailEnd/>
          </a:ln>
        </p:spPr>
        <p:txBody>
          <a:bodyPr/>
          <a:lstStyle/>
          <a:p>
            <a:fld id="{E38C11C0-2151-407F-B855-5044A4E6109C}" type="slidenum">
              <a:rPr lang="en-US" altLang="zh-CN"/>
              <a:pPr/>
              <a:t>1</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miter lim="800000"/>
            <a:headEnd/>
            <a:tailEnd/>
          </a:ln>
        </p:spPr>
        <p:txBody>
          <a:bodyPr/>
          <a:lstStyle/>
          <a:p>
            <a:fld id="{F2438A74-8CE5-4616-ADDC-F9066758FBAA}" type="slidenum">
              <a:rPr lang="en-US" altLang="zh-CN"/>
              <a:pPr/>
              <a:t>2</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miter lim="800000"/>
            <a:headEnd/>
            <a:tailEnd/>
          </a:ln>
        </p:spPr>
        <p:txBody>
          <a:bodyPr/>
          <a:lstStyle/>
          <a:p>
            <a:fld id="{32EB86AB-1397-4D5D-A8D6-C4418AECEC8D}" type="slidenum">
              <a:rPr lang="en-US" altLang="zh-CN"/>
              <a:pPr/>
              <a:t>3</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miter lim="800000"/>
            <a:headEnd/>
            <a:tailEnd/>
          </a:ln>
        </p:spPr>
        <p:txBody>
          <a:bodyPr/>
          <a:lstStyle/>
          <a:p>
            <a:fld id="{3457154B-AD61-4951-9FE7-63B8AEA048F3}" type="slidenum">
              <a:rPr lang="en-US" altLang="zh-CN"/>
              <a:pPr/>
              <a:t>4</a:t>
            </a:fld>
            <a:endParaRPr lang="en-US" altLang="zh-CN"/>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miter lim="800000"/>
            <a:headEnd/>
            <a:tailEnd/>
          </a:ln>
        </p:spPr>
        <p:txBody>
          <a:bodyPr/>
          <a:lstStyle/>
          <a:p>
            <a:fld id="{6A9820D7-56C3-4B8A-9D09-EFF6E040A0A2}" type="slidenum">
              <a:rPr lang="en-US" altLang="zh-CN"/>
              <a:pPr/>
              <a:t>6</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miter lim="800000"/>
            <a:headEnd/>
            <a:tailEnd/>
          </a:ln>
        </p:spPr>
        <p:txBody>
          <a:bodyPr/>
          <a:lstStyle/>
          <a:p>
            <a:fld id="{03C653A0-D7CA-43B8-979A-67693559A457}" type="slidenum">
              <a:rPr lang="en-US" altLang="zh-CN"/>
              <a:pPr/>
              <a:t>7</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endParaRPr lang="zh-CN" altLang="zh-CN" sz="2400">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miter lim="800000"/>
            <a:headEnd/>
            <a:tailEnd/>
          </a:ln>
        </p:spPr>
        <p:txBody>
          <a:bodyPr/>
          <a:lstStyle/>
          <a:p>
            <a:fld id="{21A338B7-E142-4125-843C-6CDC5F4B1D0B}" type="slidenum">
              <a:rPr lang="en-US" altLang="zh-CN"/>
              <a:pPr/>
              <a:t>9</a:t>
            </a:fld>
            <a:endParaRPr lang="en-US" altLang="zh-CN"/>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miter lim="800000"/>
            <a:headEnd/>
            <a:tailEnd/>
          </a:ln>
        </p:spPr>
        <p:txBody>
          <a:bodyPr/>
          <a:lstStyle/>
          <a:p>
            <a:fld id="{3384220D-10F2-4E32-991F-260CA5F74F1D}" type="slidenum">
              <a:rPr lang="en-US" altLang="zh-CN"/>
              <a:pPr/>
              <a:t>30</a:t>
            </a:fld>
            <a:endParaRPr lang="en-US" altLang="zh-CN"/>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37DE3-710A-EF3B-B01D-7FB95B113645}"/>
            </a:ext>
          </a:extLst>
        </p:cNvPr>
        <p:cNvGrpSpPr/>
        <p:nvPr/>
      </p:nvGrpSpPr>
      <p:grpSpPr>
        <a:xfrm>
          <a:off x="0" y="0"/>
          <a:ext cx="0" cy="0"/>
          <a:chOff x="0" y="0"/>
          <a:chExt cx="0" cy="0"/>
        </a:xfrm>
      </p:grpSpPr>
      <p:sp>
        <p:nvSpPr>
          <p:cNvPr id="187394" name="Rectangle 7">
            <a:extLst>
              <a:ext uri="{FF2B5EF4-FFF2-40B4-BE49-F238E27FC236}">
                <a16:creationId xmlns:a16="http://schemas.microsoft.com/office/drawing/2014/main" id="{84579B8B-1409-F7E1-0F77-F04F934C3F7B}"/>
              </a:ext>
            </a:extLst>
          </p:cNvPr>
          <p:cNvSpPr>
            <a:spLocks noGrp="1" noChangeArrowheads="1"/>
          </p:cNvSpPr>
          <p:nvPr>
            <p:ph type="sldNum" sz="quarter" idx="5"/>
          </p:nvPr>
        </p:nvSpPr>
        <p:spPr>
          <a:noFill/>
          <a:ln>
            <a:miter lim="800000"/>
            <a:headEnd/>
            <a:tailEnd/>
          </a:ln>
        </p:spPr>
        <p:txBody>
          <a:bodyPr/>
          <a:lstStyle/>
          <a:p>
            <a:fld id="{33ED8B7D-520C-4264-8472-C1AE4A8525AB}" type="slidenum">
              <a:rPr lang="en-US" altLang="zh-CN"/>
              <a:pPr/>
              <a:t>33</a:t>
            </a:fld>
            <a:endParaRPr lang="en-US" altLang="zh-CN"/>
          </a:p>
        </p:txBody>
      </p:sp>
      <p:sp>
        <p:nvSpPr>
          <p:cNvPr id="187395" name="Rectangle 2">
            <a:extLst>
              <a:ext uri="{FF2B5EF4-FFF2-40B4-BE49-F238E27FC236}">
                <a16:creationId xmlns:a16="http://schemas.microsoft.com/office/drawing/2014/main" id="{225FC254-2532-A91A-E3E0-B00CE0854184}"/>
              </a:ext>
            </a:extLst>
          </p:cNvPr>
          <p:cNvSpPr>
            <a:spLocks noGrp="1" noRot="1" noChangeAspect="1" noChangeArrowheads="1" noTextEdit="1"/>
          </p:cNvSpPr>
          <p:nvPr>
            <p:ph type="sldImg"/>
          </p:nvPr>
        </p:nvSpPr>
        <p:spPr>
          <a:ln/>
        </p:spPr>
      </p:sp>
      <p:sp>
        <p:nvSpPr>
          <p:cNvPr id="187396" name="Rectangle 3">
            <a:extLst>
              <a:ext uri="{FF2B5EF4-FFF2-40B4-BE49-F238E27FC236}">
                <a16:creationId xmlns:a16="http://schemas.microsoft.com/office/drawing/2014/main" id="{18D6B03C-7CB7-B1D6-D2EE-4B1ABA297F44}"/>
              </a:ext>
            </a:extLst>
          </p:cNvPr>
          <p:cNvSpPr>
            <a:spLocks noGrp="1" noChangeArrowheads="1"/>
          </p:cNvSpPr>
          <p:nvPr>
            <p:ph type="body" idx="1"/>
          </p:nvPr>
        </p:nvSpPr>
        <p:spPr>
          <a:noFill/>
        </p:spPr>
        <p:txBody>
          <a:bodyPr/>
          <a:lstStyle/>
          <a:p>
            <a:endParaRPr lang="zh-CN" altLang="zh-CN"/>
          </a:p>
        </p:txBody>
      </p:sp>
    </p:spTree>
    <p:extLst>
      <p:ext uri="{BB962C8B-B14F-4D97-AF65-F5344CB8AC3E}">
        <p14:creationId xmlns:p14="http://schemas.microsoft.com/office/powerpoint/2010/main" val="1679381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miter lim="800000"/>
            <a:headEnd/>
            <a:tailEnd/>
          </a:ln>
        </p:spPr>
        <p:txBody>
          <a:bodyPr/>
          <a:lstStyle/>
          <a:p>
            <a:fld id="{04CF929B-CD2B-4677-AEAA-60B43A0AB740}" type="slidenum">
              <a:rPr lang="en-US" altLang="zh-CN"/>
              <a:pPr/>
              <a:t>35</a:t>
            </a:fld>
            <a:endParaRPr lang="en-US" altLang="zh-CN"/>
          </a:p>
        </p:txBody>
      </p:sp>
      <p:sp>
        <p:nvSpPr>
          <p:cNvPr id="173059" name="Rectangle 1026"/>
          <p:cNvSpPr>
            <a:spLocks noGrp="1" noRot="1" noChangeAspect="1" noChangeArrowheads="1" noTextEdit="1"/>
          </p:cNvSpPr>
          <p:nvPr>
            <p:ph type="sldImg"/>
          </p:nvPr>
        </p:nvSpPr>
        <p:spPr>
          <a:ln/>
        </p:spPr>
      </p:sp>
      <p:sp>
        <p:nvSpPr>
          <p:cNvPr id="173060" name="Rectangle 1027"/>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miter lim="800000"/>
            <a:headEnd/>
            <a:tailEnd/>
          </a:ln>
        </p:spPr>
        <p:txBody>
          <a:bodyPr/>
          <a:lstStyle/>
          <a:p>
            <a:fld id="{8392913A-00B3-408A-9C58-A94BF7D7B442}" type="slidenum">
              <a:rPr lang="en-US" altLang="zh-CN"/>
              <a:pPr/>
              <a:t>36</a:t>
            </a:fld>
            <a:endParaRPr lang="en-US" altLang="zh-CN"/>
          </a:p>
        </p:txBody>
      </p:sp>
      <p:sp>
        <p:nvSpPr>
          <p:cNvPr id="174083" name="Rectangle 1026"/>
          <p:cNvSpPr>
            <a:spLocks noGrp="1" noRot="1" noChangeAspect="1" noChangeArrowheads="1" noTextEdit="1"/>
          </p:cNvSpPr>
          <p:nvPr>
            <p:ph type="sldImg"/>
          </p:nvPr>
        </p:nvSpPr>
        <p:spPr>
          <a:ln/>
        </p:spPr>
      </p:sp>
      <p:sp>
        <p:nvSpPr>
          <p:cNvPr id="174084" name="Rectangle 1027"/>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miter lim="800000"/>
            <a:headEnd/>
            <a:tailEnd/>
          </a:ln>
        </p:spPr>
        <p:txBody>
          <a:bodyPr/>
          <a:lstStyle/>
          <a:p>
            <a:fld id="{3E58D30B-6D23-42CD-9DC5-3A33489B6CF5}" type="slidenum">
              <a:rPr lang="en-US" altLang="zh-CN"/>
              <a:pPr/>
              <a:t>37</a:t>
            </a:fld>
            <a:endParaRPr lang="en-US" altLang="zh-CN"/>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miter lim="800000"/>
            <a:headEnd/>
            <a:tailEnd/>
          </a:ln>
        </p:spPr>
        <p:txBody>
          <a:bodyPr/>
          <a:lstStyle/>
          <a:p>
            <a:fld id="{BFC209D7-2860-49C8-B71A-1886AA4AF356}" type="slidenum">
              <a:rPr lang="en-US" altLang="zh-CN"/>
              <a:pPr/>
              <a:t>38</a:t>
            </a:fld>
            <a:endParaRPr lang="en-US" altLang="zh-CN"/>
          </a:p>
        </p:txBody>
      </p:sp>
      <p:sp>
        <p:nvSpPr>
          <p:cNvPr id="176131" name="Rectangle 1026"/>
          <p:cNvSpPr>
            <a:spLocks noGrp="1" noRot="1" noChangeAspect="1" noChangeArrowheads="1" noTextEdit="1"/>
          </p:cNvSpPr>
          <p:nvPr>
            <p:ph type="sldImg"/>
          </p:nvPr>
        </p:nvSpPr>
        <p:spPr>
          <a:ln/>
        </p:spPr>
      </p:sp>
      <p:sp>
        <p:nvSpPr>
          <p:cNvPr id="176132" name="Rectangle 1027"/>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miter lim="800000"/>
            <a:headEnd/>
            <a:tailEnd/>
          </a:ln>
        </p:spPr>
        <p:txBody>
          <a:bodyPr/>
          <a:lstStyle/>
          <a:p>
            <a:fld id="{C9E496F9-C892-4CA9-85A1-709453F944B2}" type="slidenum">
              <a:rPr lang="en-US" altLang="zh-CN"/>
              <a:pPr/>
              <a:t>42</a:t>
            </a:fld>
            <a:endParaRPr lang="en-US" altLang="zh-CN"/>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miter lim="800000"/>
            <a:headEnd/>
            <a:tailEnd/>
          </a:ln>
        </p:spPr>
        <p:txBody>
          <a:bodyPr/>
          <a:lstStyle/>
          <a:p>
            <a:fld id="{37AB08A0-219B-48AA-98AD-75B14E3BBE67}" type="slidenum">
              <a:rPr lang="en-US" altLang="zh-CN"/>
              <a:pPr/>
              <a:t>43</a:t>
            </a:fld>
            <a:endParaRPr lang="en-US" altLang="zh-CN"/>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miter lim="800000"/>
            <a:headEnd/>
            <a:tailEnd/>
          </a:ln>
        </p:spPr>
        <p:txBody>
          <a:bodyPr/>
          <a:lstStyle/>
          <a:p>
            <a:fld id="{947067A2-2609-4DA4-B020-2DAA98B6594A}" type="slidenum">
              <a:rPr lang="en-US" altLang="zh-CN"/>
              <a:pPr/>
              <a:t>47</a:t>
            </a:fld>
            <a:endParaRPr lang="en-US" altLang="zh-CN"/>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miter lim="800000"/>
            <a:headEnd/>
            <a:tailEnd/>
          </a:ln>
        </p:spPr>
        <p:txBody>
          <a:bodyPr/>
          <a:lstStyle/>
          <a:p>
            <a:fld id="{F07B72A7-076B-41CB-9801-4405F9FABF56}" type="slidenum">
              <a:rPr lang="en-US" altLang="zh-CN"/>
              <a:pPr/>
              <a:t>51</a:t>
            </a:fld>
            <a:endParaRPr lang="en-US" altLang="zh-CN"/>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p:spPr>
        <p:txBody>
          <a:bodyPr/>
          <a:lstStyle/>
          <a:p>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miter lim="800000"/>
            <a:headEnd/>
            <a:tailEnd/>
          </a:ln>
        </p:spPr>
        <p:txBody>
          <a:bodyPr/>
          <a:lstStyle/>
          <a:p>
            <a:fld id="{A6790F72-8A88-493D-85EF-EDB889E4EF79}" type="slidenum">
              <a:rPr lang="en-US" altLang="zh-CN"/>
              <a:pPr/>
              <a:t>52</a:t>
            </a:fld>
            <a:endParaRPr lang="en-US" altLang="zh-CN"/>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miter lim="800000"/>
            <a:headEnd/>
            <a:tailEnd/>
          </a:ln>
        </p:spPr>
        <p:txBody>
          <a:bodyPr/>
          <a:lstStyle/>
          <a:p>
            <a:fld id="{72BE6AED-E2E7-496C-866A-391935684053}" type="slidenum">
              <a:rPr lang="en-US" altLang="zh-CN"/>
              <a:pPr/>
              <a:t>62</a:t>
            </a:fld>
            <a:endParaRPr lang="en-US" altLang="zh-CN"/>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miter lim="800000"/>
            <a:headEnd/>
            <a:tailEnd/>
          </a:ln>
        </p:spPr>
        <p:txBody>
          <a:bodyPr/>
          <a:lstStyle/>
          <a:p>
            <a:fld id="{FBCBFAA0-C953-40BC-B9CF-DC3E472DD476}" type="slidenum">
              <a:rPr lang="en-US" altLang="zh-CN"/>
              <a:pPr/>
              <a:t>74</a:t>
            </a:fld>
            <a:endParaRPr lang="en-US" altLang="zh-CN"/>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miter lim="800000"/>
            <a:headEnd/>
            <a:tailEnd/>
          </a:ln>
        </p:spPr>
        <p:txBody>
          <a:bodyPr/>
          <a:lstStyle/>
          <a:p>
            <a:fld id="{64F22132-E707-4535-8065-B0E04310A63E}" type="slidenum">
              <a:rPr lang="en-US" altLang="zh-CN"/>
              <a:pPr/>
              <a:t>75</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miter lim="800000"/>
            <a:headEnd/>
            <a:tailEnd/>
          </a:ln>
        </p:spPr>
        <p:txBody>
          <a:bodyPr/>
          <a:lstStyle/>
          <a:p>
            <a:fld id="{43774704-6A7D-4A6E-A625-08376DADB71F}" type="slidenum">
              <a:rPr lang="en-US" altLang="zh-CN"/>
              <a:pPr/>
              <a:t>76</a:t>
            </a:fld>
            <a:endParaRPr lang="en-US" altLang="zh-CN"/>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miter lim="800000"/>
            <a:headEnd/>
            <a:tailEnd/>
          </a:ln>
        </p:spPr>
        <p:txBody>
          <a:bodyPr/>
          <a:lstStyle/>
          <a:p>
            <a:fld id="{2779528A-62FC-431A-AB5F-A949851E44C4}" type="slidenum">
              <a:rPr lang="en-US" altLang="zh-CN"/>
              <a:pPr/>
              <a:t>77</a:t>
            </a:fld>
            <a:endParaRPr lang="en-US" altLang="zh-CN"/>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miter lim="800000"/>
            <a:headEnd/>
            <a:tailEnd/>
          </a:ln>
        </p:spPr>
        <p:txBody>
          <a:bodyPr/>
          <a:lstStyle/>
          <a:p>
            <a:fld id="{D5E0F6C0-AF5D-42DE-9283-0055AE2B8B54}" type="slidenum">
              <a:rPr lang="en-US" altLang="zh-CN"/>
              <a:pPr/>
              <a:t>88</a:t>
            </a:fld>
            <a:endParaRPr lang="en-US" altLang="zh-CN"/>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miter lim="800000"/>
            <a:headEnd/>
            <a:tailEnd/>
          </a:ln>
        </p:spPr>
        <p:txBody>
          <a:bodyPr/>
          <a:lstStyle/>
          <a:p>
            <a:fld id="{D5E0D5CD-7BAB-48E7-982A-35ABA0E2DB6E}" type="slidenum">
              <a:rPr lang="en-US" altLang="zh-CN"/>
              <a:pPr/>
              <a:t>95</a:t>
            </a:fld>
            <a:endParaRPr lang="en-US" altLang="zh-CN"/>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miter lim="800000"/>
            <a:headEnd/>
            <a:tailEnd/>
          </a:ln>
        </p:spPr>
        <p:txBody>
          <a:bodyPr/>
          <a:lstStyle/>
          <a:p>
            <a:fld id="{40704767-720E-4B91-8A32-E99D27A1F40B}" type="slidenum">
              <a:rPr lang="en-US" altLang="zh-CN"/>
              <a:pPr/>
              <a:t>106</a:t>
            </a:fld>
            <a:endParaRPr lang="en-US" altLang="zh-CN"/>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miter lim="800000"/>
            <a:headEnd/>
            <a:tailEnd/>
          </a:ln>
        </p:spPr>
        <p:txBody>
          <a:bodyPr/>
          <a:lstStyle/>
          <a:p>
            <a:fld id="{5E1B60E9-A1C0-47AF-9AA6-1EC7A590551E}" type="slidenum">
              <a:rPr lang="en-US" altLang="zh-CN"/>
              <a:pPr/>
              <a:t>108</a:t>
            </a:fld>
            <a:endParaRPr lang="en-US" altLang="zh-CN"/>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miter lim="800000"/>
            <a:headEnd/>
            <a:tailEnd/>
          </a:ln>
        </p:spPr>
        <p:txBody>
          <a:bodyPr/>
          <a:lstStyle/>
          <a:p>
            <a:fld id="{E6BC0C2D-4330-42B9-8599-1E2483659D4C}" type="slidenum">
              <a:rPr lang="en-US" altLang="zh-CN"/>
              <a:pPr/>
              <a:t>110</a:t>
            </a:fld>
            <a:endParaRPr lang="en-US" altLang="zh-CN"/>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miter lim="800000"/>
            <a:headEnd/>
            <a:tailEnd/>
          </a:ln>
        </p:spPr>
        <p:txBody>
          <a:bodyPr/>
          <a:lstStyle/>
          <a:p>
            <a:fld id="{7B9664DC-D192-464F-A66F-AE30BB9F5EB0}" type="slidenum">
              <a:rPr lang="en-US" altLang="zh-CN"/>
              <a:pPr/>
              <a:t>111</a:t>
            </a:fld>
            <a:endParaRPr lang="en-US" altLang="zh-CN"/>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miter lim="800000"/>
            <a:headEnd/>
            <a:tailEnd/>
          </a:ln>
        </p:spPr>
        <p:txBody>
          <a:bodyPr/>
          <a:lstStyle/>
          <a:p>
            <a:fld id="{2C2BBAFE-E5C1-4C13-8AF6-39BBAEBBB16A}" type="slidenum">
              <a:rPr lang="en-US" altLang="zh-CN"/>
              <a:pPr/>
              <a:t>112</a:t>
            </a:fld>
            <a:endParaRPr lang="en-US" altLang="zh-CN"/>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miter lim="800000"/>
            <a:headEnd/>
            <a:tailEnd/>
          </a:ln>
        </p:spPr>
        <p:txBody>
          <a:bodyPr/>
          <a:lstStyle/>
          <a:p>
            <a:fld id="{2C2BBAFE-E5C1-4C13-8AF6-39BBAEBBB16A}" type="slidenum">
              <a:rPr lang="en-US" altLang="zh-CN"/>
              <a:pPr/>
              <a:t>114</a:t>
            </a:fld>
            <a:endParaRPr lang="en-US" altLang="zh-CN"/>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p:spPr>
        <p:txBody>
          <a:bodyPr/>
          <a:lstStyle/>
          <a:p>
            <a:endParaRPr lang="zh-CN" altLang="zh-CN"/>
          </a:p>
        </p:txBody>
      </p:sp>
    </p:spTree>
    <p:extLst>
      <p:ext uri="{BB962C8B-B14F-4D97-AF65-F5344CB8AC3E}">
        <p14:creationId xmlns:p14="http://schemas.microsoft.com/office/powerpoint/2010/main" val="2024502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miter lim="800000"/>
            <a:headEnd/>
            <a:tailEnd/>
          </a:ln>
        </p:spPr>
        <p:txBody>
          <a:bodyPr/>
          <a:lstStyle/>
          <a:p>
            <a:fld id="{25B74CBE-5797-43C2-A486-8D30DCC87575}" type="slidenum">
              <a:rPr lang="en-US" altLang="zh-CN">
                <a:latin typeface="Arial" pitchFamily="34" charset="0"/>
              </a:rPr>
              <a:pPr/>
              <a:t>116</a:t>
            </a:fld>
            <a:endParaRPr lang="en-US" altLang="zh-CN">
              <a:latin typeface="Arial" pitchFamily="34" charset="0"/>
            </a:endParaRPr>
          </a:p>
        </p:txBody>
      </p:sp>
      <p:sp>
        <p:nvSpPr>
          <p:cNvPr id="195587" name="Rectangle 2"/>
          <p:cNvSpPr>
            <a:spLocks noGrp="1" noRot="1" noChangeAspect="1" noChangeArrowheads="1" noTextEdit="1"/>
          </p:cNvSpPr>
          <p:nvPr>
            <p:ph type="sldImg"/>
          </p:nvPr>
        </p:nvSpPr>
        <p:spPr>
          <a:xfrm>
            <a:off x="1141413" y="684213"/>
            <a:ext cx="4576762" cy="3432175"/>
          </a:xfrm>
          <a:ln/>
        </p:spPr>
      </p:sp>
      <p:sp>
        <p:nvSpPr>
          <p:cNvPr id="195588" name="Rectangle 3"/>
          <p:cNvSpPr>
            <a:spLocks noGrp="1" noChangeArrowheads="1"/>
          </p:cNvSpPr>
          <p:nvPr>
            <p:ph type="body" idx="1"/>
          </p:nvPr>
        </p:nvSpPr>
        <p:spPr>
          <a:xfrm>
            <a:off x="685800" y="4343400"/>
            <a:ext cx="5486400" cy="4116388"/>
          </a:xfrm>
          <a:noFill/>
        </p:spPr>
        <p:txBody>
          <a:bodyPr/>
          <a:lstStyle/>
          <a:p>
            <a:pPr eaLnBrk="1" hangingPunct="1"/>
            <a:endParaRPr lang="en-US" altLang="zh-CN">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miter lim="800000"/>
            <a:headEnd/>
            <a:tailEnd/>
          </a:ln>
        </p:spPr>
        <p:txBody>
          <a:bodyPr/>
          <a:lstStyle/>
          <a:p>
            <a:fld id="{A766A711-6844-459B-8E8A-3E3E88452498}" type="slidenum">
              <a:rPr lang="en-US" altLang="zh-CN">
                <a:latin typeface="Arial" pitchFamily="34" charset="0"/>
              </a:rPr>
              <a:pPr/>
              <a:t>117</a:t>
            </a:fld>
            <a:endParaRPr lang="en-US" altLang="zh-CN">
              <a:latin typeface="Arial" pitchFamily="34" charset="0"/>
            </a:endParaRPr>
          </a:p>
        </p:txBody>
      </p:sp>
      <p:sp>
        <p:nvSpPr>
          <p:cNvPr id="196611" name="Rectangle 2"/>
          <p:cNvSpPr>
            <a:spLocks noGrp="1" noRot="1" noChangeAspect="1" noChangeArrowheads="1" noTextEdit="1"/>
          </p:cNvSpPr>
          <p:nvPr>
            <p:ph type="sldImg"/>
          </p:nvPr>
        </p:nvSpPr>
        <p:spPr>
          <a:xfrm>
            <a:off x="1141413" y="684213"/>
            <a:ext cx="4576762" cy="3432175"/>
          </a:xfrm>
          <a:ln/>
        </p:spPr>
      </p:sp>
      <p:sp>
        <p:nvSpPr>
          <p:cNvPr id="196612" name="Rectangle 3"/>
          <p:cNvSpPr>
            <a:spLocks noGrp="1" noChangeArrowheads="1"/>
          </p:cNvSpPr>
          <p:nvPr>
            <p:ph type="body" idx="1"/>
          </p:nvPr>
        </p:nvSpPr>
        <p:spPr>
          <a:xfrm>
            <a:off x="685800" y="4343400"/>
            <a:ext cx="5486400" cy="4116388"/>
          </a:xfrm>
          <a:noFill/>
        </p:spPr>
        <p:txBody>
          <a:bodyPr/>
          <a:lstStyle/>
          <a:p>
            <a:pPr eaLnBrk="1" hangingPunct="1"/>
            <a:endParaRPr lang="en-US" altLang="zh-CN">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miter lim="800000"/>
            <a:headEnd/>
            <a:tailEnd/>
          </a:ln>
        </p:spPr>
        <p:txBody>
          <a:bodyPr/>
          <a:lstStyle/>
          <a:p>
            <a:fld id="{871C540C-5171-44DD-8407-1C0A8C52C99C}" type="slidenum">
              <a:rPr lang="en-US" altLang="zh-CN">
                <a:latin typeface="Arial" pitchFamily="34" charset="0"/>
              </a:rPr>
              <a:pPr/>
              <a:t>118</a:t>
            </a:fld>
            <a:endParaRPr lang="en-US" altLang="zh-CN">
              <a:latin typeface="Arial" pitchFamily="34" charset="0"/>
            </a:endParaRPr>
          </a:p>
        </p:txBody>
      </p:sp>
      <p:sp>
        <p:nvSpPr>
          <p:cNvPr id="197635" name="Rectangle 2"/>
          <p:cNvSpPr>
            <a:spLocks noGrp="1" noRot="1" noChangeAspect="1" noChangeArrowheads="1" noTextEdit="1"/>
          </p:cNvSpPr>
          <p:nvPr>
            <p:ph type="sldImg"/>
          </p:nvPr>
        </p:nvSpPr>
        <p:spPr>
          <a:xfrm>
            <a:off x="1141413" y="684213"/>
            <a:ext cx="4576762" cy="3432175"/>
          </a:xfrm>
          <a:ln/>
        </p:spPr>
      </p:sp>
      <p:sp>
        <p:nvSpPr>
          <p:cNvPr id="197636" name="Rectangle 3"/>
          <p:cNvSpPr>
            <a:spLocks noGrp="1" noChangeArrowheads="1"/>
          </p:cNvSpPr>
          <p:nvPr>
            <p:ph type="body" idx="1"/>
          </p:nvPr>
        </p:nvSpPr>
        <p:spPr>
          <a:xfrm>
            <a:off x="685800" y="4343400"/>
            <a:ext cx="5486400" cy="4116388"/>
          </a:xfrm>
          <a:noFill/>
        </p:spPr>
        <p:txBody>
          <a:bodyPr/>
          <a:lstStyle/>
          <a:p>
            <a:pPr eaLnBrk="1" hangingPunct="1"/>
            <a:endParaRPr lang="en-US" altLang="zh-CN">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miter lim="800000"/>
            <a:headEnd/>
            <a:tailEnd/>
          </a:ln>
        </p:spPr>
        <p:txBody>
          <a:bodyPr/>
          <a:lstStyle/>
          <a:p>
            <a:fld id="{37167D85-DFDB-42A3-932E-C724E918D6CF}" type="slidenum">
              <a:rPr lang="en-US" altLang="zh-CN">
                <a:latin typeface="Arial" pitchFamily="34" charset="0"/>
              </a:rPr>
              <a:pPr/>
              <a:t>119</a:t>
            </a:fld>
            <a:endParaRPr lang="en-US" altLang="zh-CN">
              <a:latin typeface="Arial" pitchFamily="34" charset="0"/>
            </a:endParaRPr>
          </a:p>
        </p:txBody>
      </p:sp>
      <p:sp>
        <p:nvSpPr>
          <p:cNvPr id="198659" name="Rectangle 2"/>
          <p:cNvSpPr>
            <a:spLocks noGrp="1" noRot="1" noChangeAspect="1" noChangeArrowheads="1" noTextEdit="1"/>
          </p:cNvSpPr>
          <p:nvPr>
            <p:ph type="sldImg"/>
          </p:nvPr>
        </p:nvSpPr>
        <p:spPr>
          <a:xfrm>
            <a:off x="1141413" y="684213"/>
            <a:ext cx="4576762" cy="3432175"/>
          </a:xfrm>
          <a:ln/>
        </p:spPr>
      </p:sp>
      <p:sp>
        <p:nvSpPr>
          <p:cNvPr id="198660" name="Rectangle 3"/>
          <p:cNvSpPr>
            <a:spLocks noGrp="1" noChangeArrowheads="1"/>
          </p:cNvSpPr>
          <p:nvPr>
            <p:ph type="body" idx="1"/>
          </p:nvPr>
        </p:nvSpPr>
        <p:spPr>
          <a:xfrm>
            <a:off x="685800" y="4343400"/>
            <a:ext cx="5486400" cy="4116388"/>
          </a:xfrm>
          <a:noFill/>
        </p:spPr>
        <p:txBody>
          <a:bodyPr/>
          <a:lstStyle/>
          <a:p>
            <a:pPr eaLnBrk="1" hangingPunct="1"/>
            <a:endParaRPr lang="en-US" altLang="zh-CN">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744CC97-B407-406C-ACA2-9A49D85DCF0B}"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E1A16B8-563C-4B1D-873F-91784DB09EE1}"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A6434B1-7CA5-4FB4-92C3-FF8E0CA7E65E}"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A4F4469-7000-4736-B97E-0DABDDCC8961}"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4FEF6D-79BE-4476-86A7-AC0748DF743B}"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0F3E64F-B000-4CE1-9286-EA2952B5042E}"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B52BCE1C-4C0C-45C6-A156-718BFF26FC62}"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953561E-9F0F-4D15-B529-8B14BC059B7C}"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14BAA38-E0FF-49F1-A181-1327FD154AD4}"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3A284F4-0075-49A8-8508-3C5D4E9978CA}"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3F89F5-379E-44CE-9BE8-15C16BDD725E}"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smtClean="0"/>
            </a:lvl1pPr>
          </a:lstStyle>
          <a:p>
            <a:pPr>
              <a:defRPr/>
            </a:pPr>
            <a:fld id="{1DC1F41B-7335-4680-B0CC-E55D7BDE66A8}"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692150"/>
            <a:ext cx="8240713" cy="54340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7010400" y="6597650"/>
            <a:ext cx="2133600" cy="260350"/>
          </a:xfrm>
        </p:spPr>
        <p:txBody>
          <a:bodyPr/>
          <a:lstStyle>
            <a:lvl1pPr>
              <a:defRPr smtClean="0"/>
            </a:lvl1pPr>
          </a:lstStyle>
          <a:p>
            <a:pPr>
              <a:defRPr/>
            </a:pPr>
            <a:r>
              <a:rPr lang="zh-CN" altLang="en-US"/>
              <a:t>第</a:t>
            </a:r>
            <a:fld id="{E1A8A6C0-B6FE-48A0-A003-8ED035818420}" type="slidenum">
              <a:rPr lang="zh-CN" altLang="en-US"/>
              <a:pPr>
                <a:defRPr/>
              </a:pPr>
              <a:t>‹#›</a:t>
            </a:fld>
            <a:r>
              <a:rPr lang="zh-CN" altLang="en-US"/>
              <a:t>页</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F1345BD6-638B-490D-9CB7-B3B418D27FE4}" type="datetimeFigureOut">
              <a:rPr lang="zh-CN" altLang="en-US"/>
              <a:pPr>
                <a:defRPr/>
              </a:pPr>
              <a:t>2025/3/20</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B54C5D90-C1ED-4B51-B246-EF938990C763}" type="slidenum">
              <a:rPr lang="zh-CN" altLang="en-US"/>
              <a:pPr>
                <a:defRPr/>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2101665F-DAF2-48AC-8371-759BA14B7BF1}" type="datetimeFigureOut">
              <a:rPr lang="zh-CN" altLang="en-US"/>
              <a:pPr>
                <a:defRPr/>
              </a:pPr>
              <a:t>2025/3/20</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876BDB05-7FBA-43F0-80DF-4C30E425641D}" type="slidenum">
              <a:rPr lang="zh-CN" altLang="en-US"/>
              <a:pPr>
                <a:defRPr/>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6C724CD2-9FB4-4981-9E4C-21602E0CF4FB}" type="datetimeFigureOut">
              <a:rPr lang="zh-CN" altLang="en-US"/>
              <a:pPr>
                <a:defRPr/>
              </a:pPr>
              <a:t>2025/3/20</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8B1989FE-B37D-4193-AEBA-06600A304DAF}" type="slidenum">
              <a:rPr lang="zh-CN" altLang="en-US"/>
              <a:pPr>
                <a:defRPr/>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DD08E871-8472-4B9C-ACD2-5FBF4D835DC2}" type="datetimeFigureOut">
              <a:rPr lang="zh-CN" altLang="en-US"/>
              <a:pPr>
                <a:defRPr/>
              </a:pPr>
              <a:t>2025/3/20</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594EBACC-5D24-4631-9263-328323CDE2C1}" type="slidenum">
              <a:rPr lang="zh-CN" altLang="en-US"/>
              <a:pPr>
                <a:defRPr/>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0F932199-DBDE-4C1A-8003-8000B4140B9B}" type="datetimeFigureOut">
              <a:rPr lang="zh-CN" altLang="en-US"/>
              <a:pPr>
                <a:defRPr/>
              </a:pPr>
              <a:t>2025/3/20</a:t>
            </a:fld>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9" name="灯片编号占位符 8"/>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5856AFDE-DA69-46AC-9BCB-1119C96F7DDC}" type="slidenum">
              <a:rPr lang="zh-CN" altLang="en-US"/>
              <a:pPr>
                <a:defRPr/>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58D102BD-8E6E-4A31-BFF1-D19F1F4EA7B5}" type="datetimeFigureOut">
              <a:rPr lang="zh-CN" altLang="en-US"/>
              <a:pPr>
                <a:defRPr/>
              </a:pPr>
              <a:t>2025/3/20</a:t>
            </a:fld>
            <a:endParaRPr lang="zh-CN" altLang="en-US"/>
          </a:p>
        </p:txBody>
      </p:sp>
      <p:sp>
        <p:nvSpPr>
          <p:cNvPr id="4" name="页脚占位符 3"/>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E03F7403-205E-41AF-9046-BF32DD565F68}" type="slidenum">
              <a:rPr lang="zh-CN" altLang="en-US"/>
              <a:pPr>
                <a:defRPr/>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A5A4572D-B700-49B4-86C9-5E4776B0558C}" type="datetimeFigureOut">
              <a:rPr lang="zh-CN" altLang="en-US"/>
              <a:pPr>
                <a:defRPr/>
              </a:pPr>
              <a:t>2025/3/20</a:t>
            </a:fld>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AF5505C8-90A4-4BA0-86E0-70346FA51C04}" type="slidenum">
              <a:rPr lang="zh-CN" altLang="en-US"/>
              <a:pPr>
                <a:defRPr/>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11678505-C37D-41F6-8FF1-FE3B46550D11}" type="datetimeFigureOut">
              <a:rPr lang="zh-CN" altLang="en-US"/>
              <a:pPr>
                <a:defRPr/>
              </a:pPr>
              <a:t>2025/3/20</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C0014161-BBCC-4550-8D45-9E0C2E4FF1F6}" type="slidenum">
              <a:rPr lang="zh-CN" altLang="en-US"/>
              <a:pPr>
                <a:defRPr/>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ACD5B551-30C9-41BC-9C5E-5CE7F81D5F74}" type="datetimeFigureOut">
              <a:rPr lang="zh-CN" altLang="en-US"/>
              <a:pPr>
                <a:defRPr/>
              </a:pPr>
              <a:t>2025/3/20</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3C990435-1FB8-4309-AD59-11FB6ADF5360}" type="slidenum">
              <a:rPr lang="zh-CN" altLang="en-US"/>
              <a:pPr>
                <a:defRPr/>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956B57C9-1AFC-476D-B0B6-82118A3D2581}" type="datetimeFigureOut">
              <a:rPr lang="zh-CN" altLang="en-US"/>
              <a:pPr>
                <a:defRPr/>
              </a:pPr>
              <a:t>2025/3/20</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0AB1520B-1CAD-4E3C-BC43-402B4D38A534}" type="slidenum">
              <a:rPr lang="zh-CN" altLang="en-US"/>
              <a:pPr>
                <a:defRPr/>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lgn="ctr" eaLnBrk="1" hangingPunct="1">
              <a:defRPr/>
            </a:lvl1pPr>
          </a:lstStyle>
          <a:p>
            <a:pPr>
              <a:defRPr/>
            </a:pPr>
            <a:fld id="{1A0B0C64-8244-473E-9D34-C49CE3028FC8}" type="datetimeFigureOut">
              <a:rPr lang="zh-CN" altLang="en-US"/>
              <a:pPr>
                <a:defRPr/>
              </a:pPr>
              <a:t>2025/3/20</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lgn="ctr" eaLnBrk="1" hangingPunct="1">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vl1pPr>
          </a:lstStyle>
          <a:p>
            <a:pPr>
              <a:defRPr/>
            </a:pPr>
            <a:fld id="{C8C724EC-9E84-4193-9B6F-3056991F3109}"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6019"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BE73377B-6DFE-492F-90D8-794D5C742BA9}" type="slidenum">
              <a:rPr lang="en-US" altLang="zh-CN"/>
              <a:pPr>
                <a:defRPr/>
              </a:pPr>
              <a:t>‹#›</a:t>
            </a:fld>
            <a:endParaRPr lang="en-US" altLang="zh-CN"/>
          </a:p>
        </p:txBody>
      </p:sp>
      <p:grpSp>
        <p:nvGrpSpPr>
          <p:cNvPr id="86023" name="Group 13"/>
          <p:cNvGrpSpPr>
            <a:grpSpLocks/>
          </p:cNvGrpSpPr>
          <p:nvPr userDrawn="1"/>
        </p:nvGrpSpPr>
        <p:grpSpPr bwMode="auto">
          <a:xfrm>
            <a:off x="7315200" y="304800"/>
            <a:ext cx="1600200" cy="228600"/>
            <a:chOff x="4320" y="155"/>
            <a:chExt cx="1320" cy="181"/>
          </a:xfrm>
        </p:grpSpPr>
        <p:sp>
          <p:nvSpPr>
            <p:cNvPr id="1033" name="AutoShape 8">
              <a:hlinkClick r:id="" action="ppaction://hlinkshowjump?jump=nextslide" highlightClick="1"/>
            </p:cNvPr>
            <p:cNvSpPr>
              <a:spLocks noChangeArrowheads="1"/>
            </p:cNvSpPr>
            <p:nvPr userDrawn="1"/>
          </p:nvSpPr>
          <p:spPr bwMode="auto">
            <a:xfrm>
              <a:off x="4692" y="155"/>
              <a:ext cx="204" cy="181"/>
            </a:xfrm>
            <a:prstGeom prst="actionButtonForwardNext">
              <a:avLst/>
            </a:prstGeom>
            <a:solidFill>
              <a:srgbClr val="FFFFCC"/>
            </a:solidFill>
            <a:ln w="9525">
              <a:solidFill>
                <a:srgbClr val="339966"/>
              </a:solidFill>
              <a:miter lim="800000"/>
              <a:headEnd/>
              <a:tailEnd/>
            </a:ln>
            <a:effec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p>
          </p:txBody>
        </p:sp>
        <p:sp>
          <p:nvSpPr>
            <p:cNvPr id="1034" name="AutoShape 9">
              <a:hlinkClick r:id="" action="ppaction://hlinkshowjump?jump=firstslide" highlightClick="1"/>
            </p:cNvPr>
            <p:cNvSpPr>
              <a:spLocks noChangeArrowheads="1"/>
            </p:cNvSpPr>
            <p:nvPr userDrawn="1"/>
          </p:nvSpPr>
          <p:spPr bwMode="auto">
            <a:xfrm>
              <a:off x="5064" y="155"/>
              <a:ext cx="204" cy="181"/>
            </a:xfrm>
            <a:prstGeom prst="actionButtonBeginning">
              <a:avLst/>
            </a:prstGeom>
            <a:solidFill>
              <a:srgbClr val="FFFFCC"/>
            </a:solidFill>
            <a:ln w="9525">
              <a:solidFill>
                <a:srgbClr val="339966"/>
              </a:solidFill>
              <a:miter lim="800000"/>
              <a:headEnd/>
              <a:tailEnd/>
            </a:ln>
            <a:effec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p>
          </p:txBody>
        </p:sp>
        <p:sp>
          <p:nvSpPr>
            <p:cNvPr id="1035" name="AutoShape 10">
              <a:hlinkClick r:id="" action="ppaction://hlinkshowjump?jump=lastslide" highlightClick="1"/>
            </p:cNvPr>
            <p:cNvSpPr>
              <a:spLocks noChangeArrowheads="1"/>
            </p:cNvSpPr>
            <p:nvPr userDrawn="1"/>
          </p:nvSpPr>
          <p:spPr bwMode="auto">
            <a:xfrm>
              <a:off x="5436" y="155"/>
              <a:ext cx="204" cy="181"/>
            </a:xfrm>
            <a:prstGeom prst="actionButtonEnd">
              <a:avLst/>
            </a:prstGeom>
            <a:solidFill>
              <a:srgbClr val="FFFFCC"/>
            </a:solidFill>
            <a:ln w="9525">
              <a:solidFill>
                <a:srgbClr val="339966"/>
              </a:solidFill>
              <a:miter lim="800000"/>
              <a:headEnd/>
              <a:tailEnd/>
            </a:ln>
            <a:effec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p>
          </p:txBody>
        </p:sp>
        <p:sp>
          <p:nvSpPr>
            <p:cNvPr id="1036" name="AutoShape 11">
              <a:hlinkClick r:id="" action="ppaction://hlinkshowjump?jump=previousslide" highlightClick="1"/>
            </p:cNvPr>
            <p:cNvSpPr>
              <a:spLocks noChangeArrowheads="1"/>
            </p:cNvSpPr>
            <p:nvPr userDrawn="1"/>
          </p:nvSpPr>
          <p:spPr bwMode="auto">
            <a:xfrm>
              <a:off x="4320" y="155"/>
              <a:ext cx="204" cy="181"/>
            </a:xfrm>
            <a:prstGeom prst="actionButtonBackPrevious">
              <a:avLst/>
            </a:prstGeom>
            <a:solidFill>
              <a:srgbClr val="FFFFCC"/>
            </a:solidFill>
            <a:ln w="9525">
              <a:solidFill>
                <a:srgbClr val="339966"/>
              </a:solidFill>
              <a:miter lim="800000"/>
              <a:headEnd/>
              <a:tailEnd/>
            </a:ln>
            <a:effec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p>
          </p:txBody>
        </p:sp>
      </p:grpSp>
      <p:sp>
        <p:nvSpPr>
          <p:cNvPr id="1032" name="Text Box 12"/>
          <p:cNvSpPr txBox="1">
            <a:spLocks noChangeArrowheads="1"/>
          </p:cNvSpPr>
          <p:nvPr userDrawn="1"/>
        </p:nvSpPr>
        <p:spPr bwMode="auto">
          <a:xfrm>
            <a:off x="3124200" y="296863"/>
            <a:ext cx="3101975" cy="396875"/>
          </a:xfrm>
          <a:prstGeom prst="rect">
            <a:avLst/>
          </a:prstGeom>
          <a:solidFill>
            <a:schemeClr val="bg1"/>
          </a:solidFill>
          <a:ln>
            <a:noFill/>
          </a:ln>
          <a:effec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defRPr/>
            </a:pPr>
            <a:r>
              <a:rPr lang="zh-CN" altLang="en-US" sz="2000" b="1">
                <a:solidFill>
                  <a:srgbClr val="AC2081"/>
                </a:solidFill>
                <a:ea typeface="黑体" pitchFamily="49" charset="-122"/>
              </a:rPr>
              <a:t>第三章　多级放大电路</a:t>
            </a:r>
          </a:p>
        </p:txBody>
      </p:sp>
    </p:spTree>
  </p:cSld>
  <p:clrMap bg1="lt1" tx1="dk1" bg2="lt2" tx2="dk2" accent1="accent1" accent2="accent2" accent3="accent3" accent4="accent4" accent5="accent5" accent6="accent6" hlink="hlink" folHlink="folHlink"/>
  <p:sldLayoutIdLst>
    <p:sldLayoutId id="2147484379" r:id="rId1"/>
    <p:sldLayoutId id="2147484380" r:id="rId2"/>
    <p:sldLayoutId id="2147484381" r:id="rId3"/>
    <p:sldLayoutId id="2147484382" r:id="rId4"/>
    <p:sldLayoutId id="2147484383" r:id="rId5"/>
    <p:sldLayoutId id="2147484384" r:id="rId6"/>
    <p:sldLayoutId id="2147484385" r:id="rId7"/>
    <p:sldLayoutId id="2147484386" r:id="rId8"/>
    <p:sldLayoutId id="2147484387" r:id="rId9"/>
    <p:sldLayoutId id="2147484388" r:id="rId10"/>
    <p:sldLayoutId id="2147484389" r:id="rId11"/>
    <p:sldLayoutId id="2147484390" r:id="rId12"/>
    <p:sldLayoutId id="2147484391"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392" r:id="rId1"/>
    <p:sldLayoutId id="2147484393" r:id="rId2"/>
    <p:sldLayoutId id="2147484394" r:id="rId3"/>
    <p:sldLayoutId id="2147484395" r:id="rId4"/>
    <p:sldLayoutId id="2147484396" r:id="rId5"/>
    <p:sldLayoutId id="2147484397" r:id="rId6"/>
    <p:sldLayoutId id="2147484398" r:id="rId7"/>
    <p:sldLayoutId id="2147484399" r:id="rId8"/>
    <p:sldLayoutId id="2147484400" r:id="rId9"/>
    <p:sldLayoutId id="2147484401" r:id="rId10"/>
    <p:sldLayoutId id="21474844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6.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6.xml"/><Relationship Id="rId7" Type="http://schemas.openxmlformats.org/officeDocument/2006/relationships/oleObject" Target="../embeddings/oleObject4.bin"/><Relationship Id="rId12"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png"/><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png"/><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4.png"/><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11.wmf"/><Relationship Id="rId10" Type="http://schemas.openxmlformats.org/officeDocument/2006/relationships/image" Target="../media/image15.png"/><Relationship Id="rId4" Type="http://schemas.openxmlformats.org/officeDocument/2006/relationships/oleObject" Target="../embeddings/oleObject8.bin"/><Relationship Id="rId9" Type="http://schemas.openxmlformats.org/officeDocument/2006/relationships/image" Target="../media/image13.wmf"/></Relationships>
</file>

<file path=ppt/slides/_rels/slide11.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7.wmf"/><Relationship Id="rId11" Type="http://schemas.openxmlformats.org/officeDocument/2006/relationships/image" Target="../media/image20.png"/><Relationship Id="rId5" Type="http://schemas.openxmlformats.org/officeDocument/2006/relationships/oleObject" Target="../embeddings/oleObject12.bin"/><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6.png"/><Relationship Id="rId7" Type="http://schemas.openxmlformats.org/officeDocument/2006/relationships/image" Target="../media/image24.wmf"/><Relationship Id="rId2" Type="http://schemas.openxmlformats.org/officeDocument/2006/relationships/slideLayout" Target="../slideLayouts/slideLayout15.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23.wmf"/><Relationship Id="rId4" Type="http://schemas.openxmlformats.org/officeDocument/2006/relationships/oleObject" Target="../embeddings/oleObject15.bin"/><Relationship Id="rId9" Type="http://schemas.openxmlformats.org/officeDocument/2006/relationships/image" Target="../media/image25.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5.xml"/><Relationship Id="rId1" Type="http://schemas.openxmlformats.org/officeDocument/2006/relationships/vmlDrawing" Target="../drawings/vmlDrawing8.vml"/><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0.xml"/><Relationship Id="rId1" Type="http://schemas.openxmlformats.org/officeDocument/2006/relationships/vmlDrawing" Target="../drawings/vmlDrawing9.vml"/><Relationship Id="rId4" Type="http://schemas.openxmlformats.org/officeDocument/2006/relationships/image" Target="../media/image28.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0.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0.xml"/><Relationship Id="rId5" Type="http://schemas.openxmlformats.org/officeDocument/2006/relationships/image" Target="../media/image29.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6.png"/><Relationship Id="rId1"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slide" Target="slide14.xml"/><Relationship Id="rId7" Type="http://schemas.openxmlformats.org/officeDocument/2006/relationships/slide" Target="slide40.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38.xml"/><Relationship Id="rId5" Type="http://schemas.openxmlformats.org/officeDocument/2006/relationships/slide" Target="slide19.xml"/><Relationship Id="rId4" Type="http://schemas.openxmlformats.org/officeDocument/2006/relationships/slide" Target="slide15.xml"/></Relationships>
</file>

<file path=ppt/slides/_rels/slide31.xml.rels><?xml version="1.0" encoding="UTF-8" standalone="yes"?>
<Relationships xmlns="http://schemas.openxmlformats.org/package/2006/relationships"><Relationship Id="rId8" Type="http://schemas.openxmlformats.org/officeDocument/2006/relationships/hyperlink" Target="http://www.so.com/s?q=%E6%94%BE%E5%A4%A7%E5%99%A8&amp;ie=utf-8&amp;src=internal_wenda_recommend_textn" TargetMode="External"/><Relationship Id="rId3" Type="http://schemas.openxmlformats.org/officeDocument/2006/relationships/hyperlink" Target="http://www.so.com/s?q=%E7%94%B5%E8%B7%AF&amp;ie=utf-8&amp;src=internal_wenda_recommend_textn" TargetMode="External"/><Relationship Id="rId7" Type="http://schemas.openxmlformats.org/officeDocument/2006/relationships/hyperlink" Target="http://www.so.com/s?q=%E5%B7%AE%E6%A8%A1%E4%BF%A1%E5%8F%B7&amp;ie=utf-8&amp;src=internal_wenda_recommend_textn" TargetMode="External"/><Relationship Id="rId2" Type="http://schemas.openxmlformats.org/officeDocument/2006/relationships/hyperlink" Target="http://www.so.com/s?q=%E5%85%B1%E6%A8%A1%E4%BF%A1%E5%8F%B7&amp;ie=utf-8&amp;src=internal_wenda_recommend_textn" TargetMode="External"/><Relationship Id="rId1" Type="http://schemas.openxmlformats.org/officeDocument/2006/relationships/slideLayout" Target="../slideLayouts/slideLayout20.xml"/><Relationship Id="rId6" Type="http://schemas.openxmlformats.org/officeDocument/2006/relationships/hyperlink" Target="http://www.so.com/s?q=%E5%B7%AE%E5%88%86%E7%94%B5%E8%B7%AF&amp;ie=utf-8&amp;src=internal_wenda_recommend_textn" TargetMode="External"/><Relationship Id="rId5" Type="http://schemas.openxmlformats.org/officeDocument/2006/relationships/hyperlink" Target="http://www.so.com/s?q=%E9%80%9A%E9%81%93&amp;ie=utf-8&amp;src=internal_wenda_recommend_textn" TargetMode="External"/><Relationship Id="rId4" Type="http://schemas.openxmlformats.org/officeDocument/2006/relationships/hyperlink" Target="http://www.so.com/s?q=%E5%A4%96%E7%95%8C&amp;ie=utf-8&amp;src=internal_wenda_recommend_textn" TargetMode="External"/><Relationship Id="rId9" Type="http://schemas.openxmlformats.org/officeDocument/2006/relationships/hyperlink" Target="http://www.so.com/s?q=%E8%BE%93%E5%85%A5%E4%BF%A1%E5%8F%B7&amp;ie=utf-8&amp;src=internal_wenda_recommend_textn"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11.xml"/><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5.gif"/><Relationship Id="rId5" Type="http://schemas.openxmlformats.org/officeDocument/2006/relationships/image" Target="../media/image54.png"/><Relationship Id="rId4" Type="http://schemas.openxmlformats.org/officeDocument/2006/relationships/audio" Target="../media/audio1.wav"/></Relationships>
</file>

<file path=ppt/slides/_rels/slide37.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notesSlide" Target="../notesSlides/notesSlide12.xml"/><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6.png"/><Relationship Id="rId5" Type="http://schemas.openxmlformats.org/officeDocument/2006/relationships/oleObject" Target="../embeddings/oleObject21.bin"/><Relationship Id="rId4"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6.png"/><Relationship Id="rId5" Type="http://schemas.openxmlformats.org/officeDocument/2006/relationships/oleObject" Target="../embeddings/oleObject23.bin"/><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62.wmf"/><Relationship Id="rId3" Type="http://schemas.openxmlformats.org/officeDocument/2006/relationships/notesSlide" Target="../notesSlides/notesSlide14.xml"/><Relationship Id="rId7" Type="http://schemas.openxmlformats.org/officeDocument/2006/relationships/image" Target="../media/image60.wmf"/><Relationship Id="rId12" Type="http://schemas.openxmlformats.org/officeDocument/2006/relationships/oleObject" Target="../embeddings/oleObject28.bin"/><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oleObject" Target="../embeddings/oleObject25.bin"/><Relationship Id="rId11" Type="http://schemas.openxmlformats.org/officeDocument/2006/relationships/image" Target="../media/image57.wmf"/><Relationship Id="rId5" Type="http://schemas.openxmlformats.org/officeDocument/2006/relationships/image" Target="../media/image59.png"/><Relationship Id="rId15" Type="http://schemas.openxmlformats.org/officeDocument/2006/relationships/image" Target="../media/image63.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61.wmf"/><Relationship Id="rId14" Type="http://schemas.openxmlformats.org/officeDocument/2006/relationships/oleObject" Target="../embeddings/oleObject29.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64.png"/><Relationship Id="rId5" Type="http://schemas.openxmlformats.org/officeDocument/2006/relationships/oleObject" Target="../embeddings/oleObject30.bin"/><Relationship Id="rId4" Type="http://schemas.openxmlformats.org/officeDocument/2006/relationships/audio" Target="../media/audio1.wav"/></Relationships>
</file>

<file path=ppt/slides/_rels/slide44.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5.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67.wmf"/><Relationship Id="rId4" Type="http://schemas.openxmlformats.org/officeDocument/2006/relationships/image" Target="../media/image64.png"/><Relationship Id="rId9" Type="http://schemas.openxmlformats.org/officeDocument/2006/relationships/oleObject" Target="../embeddings/oleObject34.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9.wmf"/><Relationship Id="rId5" Type="http://schemas.openxmlformats.org/officeDocument/2006/relationships/oleObject" Target="../embeddings/oleObject37.bin"/><Relationship Id="rId4" Type="http://schemas.openxmlformats.org/officeDocument/2006/relationships/image" Target="../media/image64.png"/></Relationships>
</file>

<file path=ppt/slides/_rels/slide46.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73.png"/><Relationship Id="rId7" Type="http://schemas.openxmlformats.org/officeDocument/2006/relationships/oleObject" Target="../embeddings/oleObject39.bin"/><Relationship Id="rId12" Type="http://schemas.openxmlformats.org/officeDocument/2006/relationships/image" Target="../media/image72.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4.png"/><Relationship Id="rId11" Type="http://schemas.openxmlformats.org/officeDocument/2006/relationships/oleObject" Target="../embeddings/oleObject41.bin"/><Relationship Id="rId5" Type="http://schemas.openxmlformats.org/officeDocument/2006/relationships/image" Target="../media/image64.png"/><Relationship Id="rId10" Type="http://schemas.openxmlformats.org/officeDocument/2006/relationships/image" Target="../media/image71.wmf"/><Relationship Id="rId4" Type="http://schemas.openxmlformats.org/officeDocument/2006/relationships/oleObject" Target="../embeddings/oleObject38.bin"/><Relationship Id="rId9" Type="http://schemas.openxmlformats.org/officeDocument/2006/relationships/oleObject" Target="../embeddings/oleObject40.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79.wmf"/><Relationship Id="rId3" Type="http://schemas.openxmlformats.org/officeDocument/2006/relationships/notesSlide" Target="../notesSlides/notesSlide16.xml"/><Relationship Id="rId7" Type="http://schemas.openxmlformats.org/officeDocument/2006/relationships/image" Target="../media/image76.wmf"/><Relationship Id="rId12"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3.bin"/><Relationship Id="rId11" Type="http://schemas.openxmlformats.org/officeDocument/2006/relationships/image" Target="../media/image78.wmf"/><Relationship Id="rId5" Type="http://schemas.openxmlformats.org/officeDocument/2006/relationships/image" Target="../media/image75.png"/><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77.wmf"/></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80.wmf"/><Relationship Id="rId5" Type="http://schemas.openxmlformats.org/officeDocument/2006/relationships/oleObject" Target="../embeddings/oleObject47.bin"/><Relationship Id="rId4" Type="http://schemas.openxmlformats.org/officeDocument/2006/relationships/image" Target="../media/image82.png"/></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84.wmf"/><Relationship Id="rId5" Type="http://schemas.openxmlformats.org/officeDocument/2006/relationships/oleObject" Target="../embeddings/oleObject48.bin"/><Relationship Id="rId4" Type="http://schemas.openxmlformats.org/officeDocument/2006/relationships/image" Target="../media/image83.png"/></Relationships>
</file>

<file path=ppt/slides/_rels/slide5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notesSlide" Target="../notesSlides/notesSlide17.xml"/><Relationship Id="rId7" Type="http://schemas.openxmlformats.org/officeDocument/2006/relationships/image" Target="../media/image84.wmf"/><Relationship Id="rId12"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48.bin"/><Relationship Id="rId11" Type="http://schemas.openxmlformats.org/officeDocument/2006/relationships/oleObject" Target="../embeddings/oleObject50.bin"/><Relationship Id="rId5" Type="http://schemas.openxmlformats.org/officeDocument/2006/relationships/image" Target="../media/image85.png"/><Relationship Id="rId10" Type="http://schemas.openxmlformats.org/officeDocument/2006/relationships/image" Target="../media/image86.png"/><Relationship Id="rId4" Type="http://schemas.openxmlformats.org/officeDocument/2006/relationships/audio" Target="../media/audio1.wav"/><Relationship Id="rId9" Type="http://schemas.openxmlformats.org/officeDocument/2006/relationships/oleObject" Target="../embeddings/oleObject49.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90.wmf"/><Relationship Id="rId18" Type="http://schemas.openxmlformats.org/officeDocument/2006/relationships/oleObject" Target="../embeddings/oleObject57.bin"/><Relationship Id="rId3" Type="http://schemas.openxmlformats.org/officeDocument/2006/relationships/notesSlide" Target="../notesSlides/notesSlide18.xml"/><Relationship Id="rId7" Type="http://schemas.openxmlformats.org/officeDocument/2006/relationships/image" Target="../media/image87.wmf"/><Relationship Id="rId12" Type="http://schemas.openxmlformats.org/officeDocument/2006/relationships/oleObject" Target="../embeddings/oleObject54.bin"/><Relationship Id="rId17" Type="http://schemas.openxmlformats.org/officeDocument/2006/relationships/image" Target="../media/image91.wmf"/><Relationship Id="rId2" Type="http://schemas.openxmlformats.org/officeDocument/2006/relationships/slideLayout" Target="../slideLayouts/slideLayout2.xml"/><Relationship Id="rId16" Type="http://schemas.openxmlformats.org/officeDocument/2006/relationships/oleObject" Target="../embeddings/oleObject56.bin"/><Relationship Id="rId1" Type="http://schemas.openxmlformats.org/officeDocument/2006/relationships/vmlDrawing" Target="../drawings/vmlDrawing22.vml"/><Relationship Id="rId6" Type="http://schemas.openxmlformats.org/officeDocument/2006/relationships/oleObject" Target="../embeddings/oleObject51.bin"/><Relationship Id="rId11" Type="http://schemas.openxmlformats.org/officeDocument/2006/relationships/image" Target="../media/image89.wmf"/><Relationship Id="rId5" Type="http://schemas.openxmlformats.org/officeDocument/2006/relationships/image" Target="../media/image81.png"/><Relationship Id="rId15" Type="http://schemas.openxmlformats.org/officeDocument/2006/relationships/image" Target="../media/image86.png"/><Relationship Id="rId10" Type="http://schemas.openxmlformats.org/officeDocument/2006/relationships/oleObject" Target="../embeddings/oleObject53.bin"/><Relationship Id="rId19" Type="http://schemas.openxmlformats.org/officeDocument/2006/relationships/image" Target="../media/image92.wmf"/><Relationship Id="rId4" Type="http://schemas.openxmlformats.org/officeDocument/2006/relationships/audio" Target="../media/audio2.wav"/><Relationship Id="rId9" Type="http://schemas.openxmlformats.org/officeDocument/2006/relationships/image" Target="../media/image88.wmf"/><Relationship Id="rId14" Type="http://schemas.openxmlformats.org/officeDocument/2006/relationships/oleObject" Target="../embeddings/oleObject55.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93.wmf"/></Relationships>
</file>

<file path=ppt/slides/_rels/slide5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48.png"/><Relationship Id="rId7" Type="http://schemas.openxmlformats.org/officeDocument/2006/relationships/image" Target="../media/image92.wmf"/><Relationship Id="rId12"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60.bin"/><Relationship Id="rId11" Type="http://schemas.openxmlformats.org/officeDocument/2006/relationships/oleObject" Target="../embeddings/oleObject62.bin"/><Relationship Id="rId5" Type="http://schemas.openxmlformats.org/officeDocument/2006/relationships/image" Target="../media/image60.wmf"/><Relationship Id="rId10" Type="http://schemas.openxmlformats.org/officeDocument/2006/relationships/image" Target="../media/image95.png"/><Relationship Id="rId4" Type="http://schemas.openxmlformats.org/officeDocument/2006/relationships/oleObject" Target="../embeddings/oleObject59.bin"/><Relationship Id="rId9" Type="http://schemas.openxmlformats.org/officeDocument/2006/relationships/image" Target="../media/image72.wmf"/></Relationships>
</file>

<file path=ppt/slides/_rels/slide5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81.png"/><Relationship Id="rId7" Type="http://schemas.openxmlformats.org/officeDocument/2006/relationships/image" Target="../media/image92.wmf"/><Relationship Id="rId12"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57.bin"/><Relationship Id="rId11" Type="http://schemas.openxmlformats.org/officeDocument/2006/relationships/oleObject" Target="../embeddings/oleObject41.bin"/><Relationship Id="rId5" Type="http://schemas.openxmlformats.org/officeDocument/2006/relationships/image" Target="../media/image86.png"/><Relationship Id="rId10" Type="http://schemas.openxmlformats.org/officeDocument/2006/relationships/image" Target="../media/image64.png"/><Relationship Id="rId4" Type="http://schemas.openxmlformats.org/officeDocument/2006/relationships/oleObject" Target="../embeddings/oleObject55.bin"/><Relationship Id="rId9" Type="http://schemas.openxmlformats.org/officeDocument/2006/relationships/oleObject" Target="../embeddings/oleObject38.bin"/></Relationships>
</file>

<file path=ppt/slides/_rels/slide5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6.png"/><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64.bin"/><Relationship Id="rId5" Type="http://schemas.openxmlformats.org/officeDocument/2006/relationships/audio" Target="../media/audio2.wav"/><Relationship Id="rId4" Type="http://schemas.openxmlformats.org/officeDocument/2006/relationships/audio" Target="../media/audio3.wav"/></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15.xml"/><Relationship Id="rId1" Type="http://schemas.openxmlformats.org/officeDocument/2006/relationships/vmlDrawing" Target="../drawings/vmlDrawing28.vml"/><Relationship Id="rId4" Type="http://schemas.openxmlformats.org/officeDocument/2006/relationships/image" Target="../media/image101.png"/></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5.xml"/><Relationship Id="rId1" Type="http://schemas.openxmlformats.org/officeDocument/2006/relationships/vmlDrawing" Target="../drawings/vmlDrawing29.vml"/><Relationship Id="rId5" Type="http://schemas.openxmlformats.org/officeDocument/2006/relationships/image" Target="../media/image101.png"/><Relationship Id="rId4" Type="http://schemas.openxmlformats.org/officeDocument/2006/relationships/oleObject" Target="../embeddings/oleObject65.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6.bin"/><Relationship Id="rId7" Type="http://schemas.openxmlformats.org/officeDocument/2006/relationships/image" Target="../media/image103.png"/><Relationship Id="rId2" Type="http://schemas.openxmlformats.org/officeDocument/2006/relationships/slideLayout" Target="../slideLayouts/slideLayout15.xml"/><Relationship Id="rId1" Type="http://schemas.openxmlformats.org/officeDocument/2006/relationships/vmlDrawing" Target="../drawings/vmlDrawing30.vml"/><Relationship Id="rId6" Type="http://schemas.openxmlformats.org/officeDocument/2006/relationships/image" Target="../media/image101.png"/><Relationship Id="rId5" Type="http://schemas.openxmlformats.org/officeDocument/2006/relationships/oleObject" Target="../embeddings/oleObject67.bin"/><Relationship Id="rId4" Type="http://schemas.openxmlformats.org/officeDocument/2006/relationships/image" Target="../media/image102.wmf"/></Relationships>
</file>

<file path=ppt/slides/_rels/slide66.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15.xml"/><Relationship Id="rId1" Type="http://schemas.openxmlformats.org/officeDocument/2006/relationships/vmlDrawing" Target="../drawings/vmlDrawing31.vml"/><Relationship Id="rId6" Type="http://schemas.openxmlformats.org/officeDocument/2006/relationships/image" Target="../media/image104.wmf"/><Relationship Id="rId5" Type="http://schemas.openxmlformats.org/officeDocument/2006/relationships/oleObject" Target="../embeddings/oleObject69.bin"/><Relationship Id="rId10"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oleObject" Target="../embeddings/oleObject71.bin"/></Relationships>
</file>

<file path=ppt/slides/_rels/slide67.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72.bin"/><Relationship Id="rId7" Type="http://schemas.openxmlformats.org/officeDocument/2006/relationships/oleObject" Target="../embeddings/oleObject74.bin"/><Relationship Id="rId12" Type="http://schemas.openxmlformats.org/officeDocument/2006/relationships/image" Target="../media/image101.png"/><Relationship Id="rId2" Type="http://schemas.openxmlformats.org/officeDocument/2006/relationships/slideLayout" Target="../slideLayouts/slideLayout15.xml"/><Relationship Id="rId1" Type="http://schemas.openxmlformats.org/officeDocument/2006/relationships/vmlDrawing" Target="../drawings/vmlDrawing32.vml"/><Relationship Id="rId6" Type="http://schemas.openxmlformats.org/officeDocument/2006/relationships/image" Target="../media/image107.wmf"/><Relationship Id="rId11" Type="http://schemas.openxmlformats.org/officeDocument/2006/relationships/oleObject" Target="../embeddings/oleObject76.bin"/><Relationship Id="rId5" Type="http://schemas.openxmlformats.org/officeDocument/2006/relationships/oleObject" Target="../embeddings/oleObject73.bin"/><Relationship Id="rId10" Type="http://schemas.openxmlformats.org/officeDocument/2006/relationships/image" Target="../media/image109.png"/><Relationship Id="rId4" Type="http://schemas.openxmlformats.org/officeDocument/2006/relationships/image" Target="../media/image104.wmf"/><Relationship Id="rId9" Type="http://schemas.openxmlformats.org/officeDocument/2006/relationships/oleObject" Target="../embeddings/oleObject75.bin"/></Relationships>
</file>

<file path=ppt/slides/_rels/slide6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oleObject" Target="../embeddings/oleObject82.bin"/><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110.wmf"/><Relationship Id="rId2" Type="http://schemas.openxmlformats.org/officeDocument/2006/relationships/slideLayout" Target="../slideLayouts/slideLayout15.xml"/><Relationship Id="rId16" Type="http://schemas.openxmlformats.org/officeDocument/2006/relationships/image" Target="../media/image108.wmf"/><Relationship Id="rId1" Type="http://schemas.openxmlformats.org/officeDocument/2006/relationships/vmlDrawing" Target="../drawings/vmlDrawing33.vml"/><Relationship Id="rId6" Type="http://schemas.openxmlformats.org/officeDocument/2006/relationships/image" Target="../media/image105.wmf"/><Relationship Id="rId11" Type="http://schemas.openxmlformats.org/officeDocument/2006/relationships/oleObject" Target="../embeddings/oleObject81.bin"/><Relationship Id="rId5" Type="http://schemas.openxmlformats.org/officeDocument/2006/relationships/oleObject" Target="../embeddings/oleObject78.bin"/><Relationship Id="rId15" Type="http://schemas.openxmlformats.org/officeDocument/2006/relationships/oleObject" Target="../embeddings/oleObject83.bin"/><Relationship Id="rId10" Type="http://schemas.openxmlformats.org/officeDocument/2006/relationships/image" Target="../media/image92.wmf"/><Relationship Id="rId4" Type="http://schemas.openxmlformats.org/officeDocument/2006/relationships/image" Target="../media/image104.wmf"/><Relationship Id="rId9" Type="http://schemas.openxmlformats.org/officeDocument/2006/relationships/oleObject" Target="../embeddings/oleObject80.bin"/><Relationship Id="rId14" Type="http://schemas.openxmlformats.org/officeDocument/2006/relationships/image" Target="../media/image107.wmf"/></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11.png"/><Relationship Id="rId1" Type="http://schemas.openxmlformats.org/officeDocument/2006/relationships/slideLayout" Target="../slideLayouts/slideLayout15.xml"/><Relationship Id="rId4" Type="http://schemas.openxmlformats.org/officeDocument/2006/relationships/image" Target="../media/image112.png"/></Relationships>
</file>

<file path=ppt/slides/_rels/slide7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slideLayout" Target="../slideLayouts/slideLayout15.xml"/><Relationship Id="rId1" Type="http://schemas.openxmlformats.org/officeDocument/2006/relationships/vmlDrawing" Target="../drawings/vmlDrawing34.vml"/><Relationship Id="rId6" Type="http://schemas.openxmlformats.org/officeDocument/2006/relationships/image" Target="../media/image115.png"/><Relationship Id="rId5" Type="http://schemas.openxmlformats.org/officeDocument/2006/relationships/image" Target="../media/image113.png"/><Relationship Id="rId4" Type="http://schemas.openxmlformats.org/officeDocument/2006/relationships/oleObject" Target="../embeddings/oleObject84.bin"/></Relationships>
</file>

<file path=ppt/slides/_rels/slide7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slideLayout" Target="../slideLayouts/slideLayout15.xml"/><Relationship Id="rId1" Type="http://schemas.openxmlformats.org/officeDocument/2006/relationships/vmlDrawing" Target="../drawings/vmlDrawing35.vml"/><Relationship Id="rId5" Type="http://schemas.openxmlformats.org/officeDocument/2006/relationships/image" Target="../media/image116.png"/><Relationship Id="rId4" Type="http://schemas.openxmlformats.org/officeDocument/2006/relationships/oleObject" Target="../embeddings/oleObject85.bin"/></Relationships>
</file>

<file path=ppt/slides/_rels/slide7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slideLayout" Target="../slideLayouts/slideLayout15.xml"/><Relationship Id="rId1" Type="http://schemas.openxmlformats.org/officeDocument/2006/relationships/vmlDrawing" Target="../drawings/vmlDrawing36.vml"/><Relationship Id="rId6" Type="http://schemas.openxmlformats.org/officeDocument/2006/relationships/image" Target="../media/image118.wmf"/><Relationship Id="rId5" Type="http://schemas.openxmlformats.org/officeDocument/2006/relationships/oleObject" Target="../embeddings/oleObject86.bin"/><Relationship Id="rId4" Type="http://schemas.openxmlformats.org/officeDocument/2006/relationships/image" Target="../media/image120.png"/></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19.png"/><Relationship Id="rId7" Type="http://schemas.openxmlformats.org/officeDocument/2006/relationships/image" Target="../media/image118.wmf"/><Relationship Id="rId2" Type="http://schemas.openxmlformats.org/officeDocument/2006/relationships/slideLayout" Target="../slideLayouts/slideLayout15.xml"/><Relationship Id="rId1" Type="http://schemas.openxmlformats.org/officeDocument/2006/relationships/vmlDrawing" Target="../drawings/vmlDrawing37.vml"/><Relationship Id="rId6" Type="http://schemas.openxmlformats.org/officeDocument/2006/relationships/oleObject" Target="../embeddings/oleObject88.bin"/><Relationship Id="rId11" Type="http://schemas.openxmlformats.org/officeDocument/2006/relationships/image" Target="../media/image72.wmf"/><Relationship Id="rId5" Type="http://schemas.openxmlformats.org/officeDocument/2006/relationships/image" Target="../media/image121.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92.wmf"/></Relationships>
</file>

<file path=ppt/slides/_rels/slide74.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notesSlide" Target="../notesSlides/notesSlide20.xml"/><Relationship Id="rId7" Type="http://schemas.openxmlformats.org/officeDocument/2006/relationships/oleObject" Target="../embeddings/oleObject91.bin"/><Relationship Id="rId2" Type="http://schemas.openxmlformats.org/officeDocument/2006/relationships/slideLayout" Target="../slideLayouts/slideLayout20.xml"/><Relationship Id="rId1" Type="http://schemas.openxmlformats.org/officeDocument/2006/relationships/vmlDrawing" Target="../drawings/vmlDrawing38.vml"/><Relationship Id="rId6" Type="http://schemas.openxmlformats.org/officeDocument/2006/relationships/audio" Target="../media/audio1.wav"/><Relationship Id="rId5" Type="http://schemas.openxmlformats.org/officeDocument/2006/relationships/audio" Target="../media/audio2.wav"/><Relationship Id="rId4" Type="http://schemas.openxmlformats.org/officeDocument/2006/relationships/audio" Target="../media/audio3.wav"/></Relationships>
</file>

<file path=ppt/slides/_rels/slide75.x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image" Target="../media/image127.wmf"/><Relationship Id="rId3" Type="http://schemas.openxmlformats.org/officeDocument/2006/relationships/notesSlide" Target="../notesSlides/notesSlide21.xml"/><Relationship Id="rId7" Type="http://schemas.openxmlformats.org/officeDocument/2006/relationships/oleObject" Target="../embeddings/oleObject93.bin"/><Relationship Id="rId12" Type="http://schemas.openxmlformats.org/officeDocument/2006/relationships/oleObject" Target="../embeddings/oleObject95.bin"/><Relationship Id="rId2" Type="http://schemas.openxmlformats.org/officeDocument/2006/relationships/slideLayout" Target="../slideLayouts/slideLayout15.xml"/><Relationship Id="rId1" Type="http://schemas.openxmlformats.org/officeDocument/2006/relationships/vmlDrawing" Target="../drawings/vmlDrawing39.vml"/><Relationship Id="rId6" Type="http://schemas.openxmlformats.org/officeDocument/2006/relationships/image" Target="../media/image123.wmf"/><Relationship Id="rId11" Type="http://schemas.openxmlformats.org/officeDocument/2006/relationships/image" Target="../media/image125.jpeg"/><Relationship Id="rId5" Type="http://schemas.openxmlformats.org/officeDocument/2006/relationships/oleObject" Target="../embeddings/oleObject92.bin"/><Relationship Id="rId10" Type="http://schemas.openxmlformats.org/officeDocument/2006/relationships/image" Target="../media/image126.wmf"/><Relationship Id="rId4" Type="http://schemas.openxmlformats.org/officeDocument/2006/relationships/audio" Target="../media/audio1.wav"/><Relationship Id="rId9" Type="http://schemas.openxmlformats.org/officeDocument/2006/relationships/oleObject" Target="../embeddings/oleObject94.bin"/></Relationships>
</file>

<file path=ppt/slides/_rels/slide76.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notesSlide" Target="../notesSlides/notesSlide22.xml"/><Relationship Id="rId7" Type="http://schemas.openxmlformats.org/officeDocument/2006/relationships/oleObject" Target="../embeddings/oleObject97.bin"/><Relationship Id="rId2" Type="http://schemas.openxmlformats.org/officeDocument/2006/relationships/slideLayout" Target="../slideLayouts/slideLayout20.xml"/><Relationship Id="rId1" Type="http://schemas.openxmlformats.org/officeDocument/2006/relationships/vmlDrawing" Target="../drawings/vmlDrawing40.vml"/><Relationship Id="rId6" Type="http://schemas.openxmlformats.org/officeDocument/2006/relationships/image" Target="../media/image128.wmf"/><Relationship Id="rId5" Type="http://schemas.openxmlformats.org/officeDocument/2006/relationships/oleObject" Target="../embeddings/oleObject96.bin"/><Relationship Id="rId10" Type="http://schemas.openxmlformats.org/officeDocument/2006/relationships/image" Target="../media/image130.wmf"/><Relationship Id="rId4" Type="http://schemas.openxmlformats.org/officeDocument/2006/relationships/audio" Target="../media/audio1.wav"/><Relationship Id="rId9" Type="http://schemas.openxmlformats.org/officeDocument/2006/relationships/oleObject" Target="../embeddings/oleObject98.bin"/></Relationships>
</file>

<file path=ppt/slides/_rels/slide77.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notesSlide" Target="../notesSlides/notesSlide23.xml"/><Relationship Id="rId7" Type="http://schemas.openxmlformats.org/officeDocument/2006/relationships/oleObject" Target="../embeddings/oleObject100.bin"/><Relationship Id="rId2" Type="http://schemas.openxmlformats.org/officeDocument/2006/relationships/slideLayout" Target="../slideLayouts/slideLayout20.xml"/><Relationship Id="rId1" Type="http://schemas.openxmlformats.org/officeDocument/2006/relationships/vmlDrawing" Target="../drawings/vmlDrawing41.vml"/><Relationship Id="rId6" Type="http://schemas.openxmlformats.org/officeDocument/2006/relationships/image" Target="../media/image131.wmf"/><Relationship Id="rId5" Type="http://schemas.openxmlformats.org/officeDocument/2006/relationships/oleObject" Target="../embeddings/oleObject99.bin"/><Relationship Id="rId10" Type="http://schemas.openxmlformats.org/officeDocument/2006/relationships/image" Target="../media/image108.wmf"/><Relationship Id="rId4" Type="http://schemas.openxmlformats.org/officeDocument/2006/relationships/audio" Target="../media/audio1.wav"/><Relationship Id="rId9" Type="http://schemas.openxmlformats.org/officeDocument/2006/relationships/oleObject" Target="../embeddings/oleObject101.bin"/></Relationships>
</file>

<file path=ppt/slides/_rels/slide78.xml.rels><?xml version="1.0" encoding="UTF-8" standalone="yes"?>
<Relationships xmlns="http://schemas.openxmlformats.org/package/2006/relationships"><Relationship Id="rId8" Type="http://schemas.openxmlformats.org/officeDocument/2006/relationships/image" Target="../media/image135.wmf"/><Relationship Id="rId3" Type="http://schemas.openxmlformats.org/officeDocument/2006/relationships/oleObject" Target="../embeddings/oleObject102.bin"/><Relationship Id="rId7"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134.wmf"/><Relationship Id="rId5" Type="http://schemas.openxmlformats.org/officeDocument/2006/relationships/oleObject" Target="../embeddings/oleObject103.bin"/><Relationship Id="rId4" Type="http://schemas.openxmlformats.org/officeDocument/2006/relationships/image" Target="../media/image133.wmf"/></Relationships>
</file>

<file path=ppt/slides/_rels/slide79.xml.rels><?xml version="1.0" encoding="UTF-8" standalone="yes"?>
<Relationships xmlns="http://schemas.openxmlformats.org/package/2006/relationships"><Relationship Id="rId3" Type="http://schemas.openxmlformats.org/officeDocument/2006/relationships/image" Target="../media/image137.emf"/><Relationship Id="rId2" Type="http://schemas.openxmlformats.org/officeDocument/2006/relationships/image" Target="../media/image136.emf"/><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image" Target="../media/image60.wmf"/></Relationships>
</file>

<file path=ppt/slides/_rels/slide82.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0.png"/><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oleObject" Target="../embeddings/oleObject107.bin"/><Relationship Id="rId5" Type="http://schemas.openxmlformats.org/officeDocument/2006/relationships/image" Target="../media/image139.wmf"/><Relationship Id="rId4" Type="http://schemas.openxmlformats.org/officeDocument/2006/relationships/oleObject" Target="../embeddings/oleObject106.bin"/></Relationships>
</file>

<file path=ppt/slides/_rels/slide8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44.png"/><Relationship Id="rId5" Type="http://schemas.openxmlformats.org/officeDocument/2006/relationships/image" Target="../media/image142.png"/><Relationship Id="rId4" Type="http://schemas.openxmlformats.org/officeDocument/2006/relationships/oleObject" Target="../embeddings/oleObject108.bin"/></Relationships>
</file>

<file path=ppt/slides/_rels/slide8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45.png"/><Relationship Id="rId5" Type="http://schemas.openxmlformats.org/officeDocument/2006/relationships/image" Target="../media/image142.png"/><Relationship Id="rId4" Type="http://schemas.openxmlformats.org/officeDocument/2006/relationships/oleObject" Target="../embeddings/oleObject108.bin"/></Relationships>
</file>

<file path=ppt/slides/_rels/slide85.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146.png"/><Relationship Id="rId5" Type="http://schemas.openxmlformats.org/officeDocument/2006/relationships/image" Target="../media/image142.png"/><Relationship Id="rId4" Type="http://schemas.openxmlformats.org/officeDocument/2006/relationships/oleObject" Target="../embeddings/oleObject108.bin"/><Relationship Id="rId9" Type="http://schemas.openxmlformats.org/officeDocument/2006/relationships/image" Target="../media/image14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52.png"/><Relationship Id="rId7" Type="http://schemas.openxmlformats.org/officeDocument/2006/relationships/image" Target="../media/image151.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oleObject" Target="../embeddings/oleObject110.bin"/><Relationship Id="rId5" Type="http://schemas.openxmlformats.org/officeDocument/2006/relationships/image" Target="../media/image150.wmf"/><Relationship Id="rId4" Type="http://schemas.openxmlformats.org/officeDocument/2006/relationships/oleObject" Target="../embeddings/oleObject109.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135.wmf"/><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oleObject" Target="../embeddings/oleObject112.bin"/><Relationship Id="rId5" Type="http://schemas.openxmlformats.org/officeDocument/2006/relationships/image" Target="../media/image153.png"/><Relationship Id="rId4" Type="http://schemas.openxmlformats.org/officeDocument/2006/relationships/oleObject" Target="../embeddings/oleObject111.bin"/></Relationships>
</file>

<file path=ppt/slides/_rels/slide8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slideLayout" Target="../slideLayouts/slideLayout13.xml"/><Relationship Id="rId1" Type="http://schemas.openxmlformats.org/officeDocument/2006/relationships/vmlDrawing" Target="../drawings/vmlDrawing50.vml"/><Relationship Id="rId5" Type="http://schemas.openxmlformats.org/officeDocument/2006/relationships/image" Target="../media/image101.png"/><Relationship Id="rId4" Type="http://schemas.openxmlformats.org/officeDocument/2006/relationships/oleObject" Target="../embeddings/oleObject113.bin"/></Relationships>
</file>

<file path=ppt/slides/_rels/slide90.xml.rels><?xml version="1.0" encoding="UTF-8" standalone="yes"?>
<Relationships xmlns="http://schemas.openxmlformats.org/package/2006/relationships"><Relationship Id="rId8" Type="http://schemas.openxmlformats.org/officeDocument/2006/relationships/image" Target="../media/image157.wmf"/><Relationship Id="rId13" Type="http://schemas.openxmlformats.org/officeDocument/2006/relationships/oleObject" Target="../embeddings/oleObject119.bin"/><Relationship Id="rId18" Type="http://schemas.openxmlformats.org/officeDocument/2006/relationships/image" Target="../media/image59.png"/><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59.wmf"/><Relationship Id="rId17" Type="http://schemas.openxmlformats.org/officeDocument/2006/relationships/oleObject" Target="../embeddings/oleObject121.bin"/><Relationship Id="rId2" Type="http://schemas.openxmlformats.org/officeDocument/2006/relationships/slideLayout" Target="../slideLayouts/slideLayout2.xml"/><Relationship Id="rId16" Type="http://schemas.openxmlformats.org/officeDocument/2006/relationships/image" Target="../media/image161.wmf"/><Relationship Id="rId1" Type="http://schemas.openxmlformats.org/officeDocument/2006/relationships/vmlDrawing" Target="../drawings/vmlDrawing51.vml"/><Relationship Id="rId6" Type="http://schemas.openxmlformats.org/officeDocument/2006/relationships/image" Target="../media/image156.w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0.bin"/><Relationship Id="rId10" Type="http://schemas.openxmlformats.org/officeDocument/2006/relationships/image" Target="../media/image158.wmf"/><Relationship Id="rId4" Type="http://schemas.openxmlformats.org/officeDocument/2006/relationships/image" Target="../media/image155.wmf"/><Relationship Id="rId9" Type="http://schemas.openxmlformats.org/officeDocument/2006/relationships/oleObject" Target="../embeddings/oleObject117.bin"/><Relationship Id="rId14" Type="http://schemas.openxmlformats.org/officeDocument/2006/relationships/image" Target="../media/image160.wmf"/></Relationships>
</file>

<file path=ppt/slides/_rels/slide91.x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63.wmf"/><Relationship Id="rId5" Type="http://schemas.openxmlformats.org/officeDocument/2006/relationships/oleObject" Target="../embeddings/oleObject123.bin"/><Relationship Id="rId10" Type="http://schemas.openxmlformats.org/officeDocument/2006/relationships/image" Target="../media/image165.wmf"/><Relationship Id="rId4" Type="http://schemas.openxmlformats.org/officeDocument/2006/relationships/image" Target="../media/image162.wmf"/><Relationship Id="rId9" Type="http://schemas.openxmlformats.org/officeDocument/2006/relationships/oleObject" Target="../embeddings/oleObject125.bin"/></Relationships>
</file>

<file path=ppt/slides/_rels/slide92.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7.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7.png"/></Relationships>
</file>

<file path=ppt/slides/_rels/slide94.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3.png"/><Relationship Id="rId7" Type="http://schemas.openxmlformats.org/officeDocument/2006/relationships/image" Target="../media/image177.png"/><Relationship Id="rId2" Type="http://schemas.openxmlformats.org/officeDocument/2006/relationships/image" Target="../media/image172.png"/><Relationship Id="rId1" Type="http://schemas.openxmlformats.org/officeDocument/2006/relationships/slideLayout" Target="../slideLayouts/slideLayout7.xml"/><Relationship Id="rId6" Type="http://schemas.openxmlformats.org/officeDocument/2006/relationships/image" Target="../media/image176.png"/><Relationship Id="rId5" Type="http://schemas.openxmlformats.org/officeDocument/2006/relationships/image" Target="../media/image17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s>
</file>

<file path=ppt/slides/_rels/slide95.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slide" Target="slide30.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2.xml"/><Relationship Id="rId1" Type="http://schemas.openxmlformats.org/officeDocument/2006/relationships/vmlDrawing" Target="../drawings/vmlDrawing53.vml"/><Relationship Id="rId4" Type="http://schemas.openxmlformats.org/officeDocument/2006/relationships/image" Target="../media/image181.png"/></Relationships>
</file>

<file path=ppt/slides/_rels/slide97.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oleObject" Target="../embeddings/oleObject127.bin"/><Relationship Id="rId7" Type="http://schemas.openxmlformats.org/officeDocument/2006/relationships/oleObject" Target="../embeddings/oleObject128.bin"/><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181.png"/><Relationship Id="rId5" Type="http://schemas.openxmlformats.org/officeDocument/2006/relationships/oleObject" Target="../embeddings/oleObject126.bin"/><Relationship Id="rId4" Type="http://schemas.openxmlformats.org/officeDocument/2006/relationships/image" Target="../media/image182.png"/></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image" Target="../media/image185.png"/><Relationship Id="rId5" Type="http://schemas.openxmlformats.org/officeDocument/2006/relationships/oleObject" Target="../embeddings/oleObject130.bin"/><Relationship Id="rId4" Type="http://schemas.openxmlformats.org/officeDocument/2006/relationships/image" Target="../media/image184.png"/></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31.bin"/><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187.wmf"/><Relationship Id="rId5" Type="http://schemas.openxmlformats.org/officeDocument/2006/relationships/oleObject" Target="../embeddings/oleObject132.bin"/><Relationship Id="rId4" Type="http://schemas.openxmlformats.org/officeDocument/2006/relationships/image" Target="../media/image186.png"/></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135.bin"/><Relationship Id="rId3" Type="http://schemas.openxmlformats.org/officeDocument/2006/relationships/oleObject" Target="../embeddings/oleObject133.bin"/><Relationship Id="rId7" Type="http://schemas.openxmlformats.org/officeDocument/2006/relationships/image" Target="../media/image187.wmf"/><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oleObject" Target="../embeddings/oleObject134.bin"/><Relationship Id="rId5" Type="http://schemas.openxmlformats.org/officeDocument/2006/relationships/image" Target="../media/image189.png"/><Relationship Id="rId4" Type="http://schemas.openxmlformats.org/officeDocument/2006/relationships/image" Target="../media/image186.png"/><Relationship Id="rId9" Type="http://schemas.openxmlformats.org/officeDocument/2006/relationships/image" Target="../media/image188.png"/></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36.bin"/><Relationship Id="rId7" Type="http://schemas.openxmlformats.org/officeDocument/2006/relationships/image" Target="../media/image192.png"/><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6.png"/></Relationships>
</file>

<file path=ppt/slides/_rels/slide102.x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image" Target="../media/image191.png"/><Relationship Id="rId7" Type="http://schemas.openxmlformats.org/officeDocument/2006/relationships/oleObject" Target="../embeddings/oleObject138.bin"/><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195.png"/><Relationship Id="rId5" Type="http://schemas.openxmlformats.org/officeDocument/2006/relationships/image" Target="../media/image193.wmf"/><Relationship Id="rId4" Type="http://schemas.openxmlformats.org/officeDocument/2006/relationships/oleObject" Target="../embeddings/oleObject137.bin"/></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141.bin"/><Relationship Id="rId3" Type="http://schemas.openxmlformats.org/officeDocument/2006/relationships/image" Target="../media/image199.png"/><Relationship Id="rId7" Type="http://schemas.openxmlformats.org/officeDocument/2006/relationships/image" Target="../media/image197.wmf"/><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oleObject" Target="../embeddings/oleObject140.bin"/><Relationship Id="rId5" Type="http://schemas.openxmlformats.org/officeDocument/2006/relationships/image" Target="../media/image196.wmf"/><Relationship Id="rId4" Type="http://schemas.openxmlformats.org/officeDocument/2006/relationships/oleObject" Target="../embeddings/oleObject139.bin"/><Relationship Id="rId9" Type="http://schemas.openxmlformats.org/officeDocument/2006/relationships/image" Target="../media/image19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Layout" Target="../slideLayouts/slideLayout2.xml"/><Relationship Id="rId1" Type="http://schemas.openxmlformats.org/officeDocument/2006/relationships/vmlDrawing" Target="../drawings/vmlDrawing61.vml"/><Relationship Id="rId4" Type="http://schemas.openxmlformats.org/officeDocument/2006/relationships/image" Target="../media/image200.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62.vml"/><Relationship Id="rId6" Type="http://schemas.openxmlformats.org/officeDocument/2006/relationships/image" Target="../media/image200.png"/><Relationship Id="rId5" Type="http://schemas.openxmlformats.org/officeDocument/2006/relationships/oleObject" Target="../embeddings/oleObject143.bin"/><Relationship Id="rId4" Type="http://schemas.openxmlformats.org/officeDocument/2006/relationships/audio" Target="../media/audio1.wav"/></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63.vml"/><Relationship Id="rId4" Type="http://schemas.openxmlformats.org/officeDocument/2006/relationships/image" Target="../media/image200.png"/></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notesSlide" Target="../notesSlides/notesSlide28.xml"/><Relationship Id="rId7" Type="http://schemas.openxmlformats.org/officeDocument/2006/relationships/image" Target="../media/image201.png"/><Relationship Id="rId2" Type="http://schemas.openxmlformats.org/officeDocument/2006/relationships/slideLayout" Target="../slideLayouts/slideLayout2.xml"/><Relationship Id="rId1" Type="http://schemas.openxmlformats.org/officeDocument/2006/relationships/vmlDrawing" Target="../drawings/vmlDrawing64.vml"/><Relationship Id="rId6" Type="http://schemas.openxmlformats.org/officeDocument/2006/relationships/oleObject" Target="../embeddings/oleObject146.bin"/><Relationship Id="rId5" Type="http://schemas.openxmlformats.org/officeDocument/2006/relationships/image" Target="../media/image200.png"/><Relationship Id="rId10" Type="http://schemas.openxmlformats.org/officeDocument/2006/relationships/image" Target="../media/image203.png"/><Relationship Id="rId4" Type="http://schemas.openxmlformats.org/officeDocument/2006/relationships/oleObject" Target="../embeddings/oleObject145.bin"/><Relationship Id="rId9" Type="http://schemas.openxmlformats.org/officeDocument/2006/relationships/image" Target="../media/image202.png"/></Relationships>
</file>

<file path=ppt/slides/_rels/slide111.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notesSlide" Target="../notesSlides/notesSlide29.xml"/><Relationship Id="rId7" Type="http://schemas.openxmlformats.org/officeDocument/2006/relationships/image" Target="../media/image202.png"/><Relationship Id="rId2" Type="http://schemas.openxmlformats.org/officeDocument/2006/relationships/slideLayout" Target="../slideLayouts/slideLayout2.xml"/><Relationship Id="rId1" Type="http://schemas.openxmlformats.org/officeDocument/2006/relationships/vmlDrawing" Target="../drawings/vmlDrawing65.vml"/><Relationship Id="rId6" Type="http://schemas.openxmlformats.org/officeDocument/2006/relationships/oleObject" Target="../embeddings/oleObject149.bin"/><Relationship Id="rId5" Type="http://schemas.openxmlformats.org/officeDocument/2006/relationships/image" Target="../media/image201.png"/><Relationship Id="rId4" Type="http://schemas.openxmlformats.org/officeDocument/2006/relationships/oleObject" Target="../embeddings/oleObject148.bin"/></Relationships>
</file>

<file path=ppt/slides/_rels/slide112.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oleObject" Target="../embeddings/oleObject154.bin"/><Relationship Id="rId3" Type="http://schemas.openxmlformats.org/officeDocument/2006/relationships/notesSlide" Target="../notesSlides/notesSlide30.xml"/><Relationship Id="rId7" Type="http://schemas.openxmlformats.org/officeDocument/2006/relationships/image" Target="../media/image202.png"/><Relationship Id="rId12" Type="http://schemas.openxmlformats.org/officeDocument/2006/relationships/image" Target="../media/image205.wmf"/><Relationship Id="rId2" Type="http://schemas.openxmlformats.org/officeDocument/2006/relationships/slideLayout" Target="../slideLayouts/slideLayout2.xml"/><Relationship Id="rId16" Type="http://schemas.openxmlformats.org/officeDocument/2006/relationships/image" Target="../media/image207.wmf"/><Relationship Id="rId1" Type="http://schemas.openxmlformats.org/officeDocument/2006/relationships/vmlDrawing" Target="../drawings/vmlDrawing66.vml"/><Relationship Id="rId6" Type="http://schemas.openxmlformats.org/officeDocument/2006/relationships/oleObject" Target="../embeddings/oleObject151.bin"/><Relationship Id="rId11" Type="http://schemas.openxmlformats.org/officeDocument/2006/relationships/oleObject" Target="../embeddings/oleObject153.bin"/><Relationship Id="rId5" Type="http://schemas.openxmlformats.org/officeDocument/2006/relationships/image" Target="../media/image201.png"/><Relationship Id="rId15" Type="http://schemas.openxmlformats.org/officeDocument/2006/relationships/oleObject" Target="../embeddings/oleObject155.bin"/><Relationship Id="rId10" Type="http://schemas.openxmlformats.org/officeDocument/2006/relationships/image" Target="../media/image204.wmf"/><Relationship Id="rId4" Type="http://schemas.openxmlformats.org/officeDocument/2006/relationships/oleObject" Target="../embeddings/oleObject150.bin"/><Relationship Id="rId9" Type="http://schemas.openxmlformats.org/officeDocument/2006/relationships/oleObject" Target="../embeddings/oleObject152.bin"/><Relationship Id="rId14" Type="http://schemas.openxmlformats.org/officeDocument/2006/relationships/image" Target="../media/image206.wmf"/></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157.bin"/><Relationship Id="rId3" Type="http://schemas.openxmlformats.org/officeDocument/2006/relationships/oleObject" Target="../embeddings/oleObject144.bin"/><Relationship Id="rId7" Type="http://schemas.openxmlformats.org/officeDocument/2006/relationships/image" Target="../media/image208.wmf"/><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oleObject" Target="../embeddings/oleObject156.bin"/><Relationship Id="rId11" Type="http://schemas.openxmlformats.org/officeDocument/2006/relationships/image" Target="../media/image210.wmf"/><Relationship Id="rId5" Type="http://schemas.openxmlformats.org/officeDocument/2006/relationships/image" Target="../media/image211.png"/><Relationship Id="rId10" Type="http://schemas.openxmlformats.org/officeDocument/2006/relationships/oleObject" Target="../embeddings/oleObject158.bin"/><Relationship Id="rId4" Type="http://schemas.openxmlformats.org/officeDocument/2006/relationships/image" Target="../media/image200.png"/><Relationship Id="rId9" Type="http://schemas.openxmlformats.org/officeDocument/2006/relationships/image" Target="../media/image209.wmf"/></Relationships>
</file>

<file path=ppt/slides/_rels/slide114.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oleObject" Target="../embeddings/oleObject154.bin"/><Relationship Id="rId3" Type="http://schemas.openxmlformats.org/officeDocument/2006/relationships/notesSlide" Target="../notesSlides/notesSlide31.xml"/><Relationship Id="rId7" Type="http://schemas.openxmlformats.org/officeDocument/2006/relationships/image" Target="../media/image202.png"/><Relationship Id="rId12" Type="http://schemas.openxmlformats.org/officeDocument/2006/relationships/image" Target="../media/image205.wmf"/><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oleObject" Target="../embeddings/oleObject151.bin"/><Relationship Id="rId11" Type="http://schemas.openxmlformats.org/officeDocument/2006/relationships/oleObject" Target="../embeddings/oleObject153.bin"/><Relationship Id="rId5" Type="http://schemas.openxmlformats.org/officeDocument/2006/relationships/image" Target="../media/image201.png"/><Relationship Id="rId15" Type="http://schemas.openxmlformats.org/officeDocument/2006/relationships/image" Target="../media/image211.png"/><Relationship Id="rId10" Type="http://schemas.openxmlformats.org/officeDocument/2006/relationships/image" Target="../media/image204.wmf"/><Relationship Id="rId4" Type="http://schemas.openxmlformats.org/officeDocument/2006/relationships/oleObject" Target="../embeddings/oleObject150.bin"/><Relationship Id="rId9" Type="http://schemas.openxmlformats.org/officeDocument/2006/relationships/oleObject" Target="../embeddings/oleObject152.bin"/><Relationship Id="rId14" Type="http://schemas.openxmlformats.org/officeDocument/2006/relationships/image" Target="../media/image206.wm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vmlDrawing" Target="../drawings/vmlDrawing69.vml"/><Relationship Id="rId5" Type="http://schemas.openxmlformats.org/officeDocument/2006/relationships/image" Target="../media/image212.wmf"/><Relationship Id="rId4" Type="http://schemas.openxmlformats.org/officeDocument/2006/relationships/oleObject" Target="../embeddings/oleObject159.bin"/></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100354" name="Text Box 2052"/>
          <p:cNvSpPr txBox="1">
            <a:spLocks noChangeArrowheads="1"/>
          </p:cNvSpPr>
          <p:nvPr/>
        </p:nvSpPr>
        <p:spPr bwMode="auto">
          <a:xfrm>
            <a:off x="1295400" y="838200"/>
            <a:ext cx="7467600" cy="1006475"/>
          </a:xfrm>
          <a:prstGeom prst="rect">
            <a:avLst/>
          </a:prstGeom>
          <a:noFill/>
          <a:ln w="12700" cap="sq">
            <a:noFill/>
            <a:miter lim="800000"/>
            <a:headEnd type="none" w="sm" len="sm"/>
            <a:tailEnd type="none" w="sm" len="sm"/>
          </a:ln>
        </p:spPr>
        <p:txBody>
          <a:bodyPr>
            <a:spAutoFit/>
          </a:bodyPr>
          <a:lstStyle/>
          <a:p>
            <a:pPr eaLnBrk="1" hangingPunct="1">
              <a:spcBef>
                <a:spcPct val="50000"/>
              </a:spcBef>
            </a:pPr>
            <a:r>
              <a:rPr lang="zh-CN" altLang="en-US" sz="6000" b="1">
                <a:solidFill>
                  <a:srgbClr val="FF0000"/>
                </a:solidFill>
                <a:latin typeface="隶书" pitchFamily="49" charset="-122"/>
                <a:ea typeface="隶书" pitchFamily="49" charset="-122"/>
              </a:rPr>
              <a:t>第三章 多级放大电路</a:t>
            </a:r>
            <a:endParaRPr lang="zh-CN" altLang="en-US" sz="6000"/>
          </a:p>
        </p:txBody>
      </p:sp>
      <p:sp>
        <p:nvSpPr>
          <p:cNvPr id="205829" name="Text Box 2053"/>
          <p:cNvSpPr txBox="1">
            <a:spLocks noChangeArrowheads="1"/>
          </p:cNvSpPr>
          <p:nvPr/>
        </p:nvSpPr>
        <p:spPr bwMode="auto">
          <a:xfrm>
            <a:off x="800100" y="1904206"/>
            <a:ext cx="8458200" cy="823913"/>
          </a:xfrm>
          <a:prstGeom prst="rect">
            <a:avLst/>
          </a:prstGeom>
          <a:noFill/>
          <a:ln w="12700" cap="sq">
            <a:noFill/>
            <a:miter lim="800000"/>
            <a:headEnd type="none" w="sm" len="sm"/>
            <a:tailEnd type="none" w="sm" len="sm"/>
          </a:ln>
        </p:spPr>
        <p:txBody>
          <a:bodyPr>
            <a:spAutoFit/>
          </a:bodyPr>
          <a:lstStyle/>
          <a:p>
            <a:pPr eaLnBrk="1" hangingPunct="1"/>
            <a:r>
              <a:rPr lang="en-US" altLang="zh-CN" sz="4800" b="1" dirty="0">
                <a:solidFill>
                  <a:schemeClr val="tx2"/>
                </a:solidFill>
                <a:ea typeface="隶书" pitchFamily="49" charset="-122"/>
              </a:rPr>
              <a:t> 3.1</a:t>
            </a:r>
            <a:r>
              <a:rPr lang="en-US" altLang="zh-CN" sz="4800" b="1" dirty="0">
                <a:solidFill>
                  <a:schemeClr val="tx2"/>
                </a:solidFill>
                <a:latin typeface="隶书" pitchFamily="49" charset="-122"/>
                <a:ea typeface="隶书" pitchFamily="49" charset="-122"/>
              </a:rPr>
              <a:t> </a:t>
            </a:r>
            <a:r>
              <a:rPr lang="zh-CN" altLang="en-US" sz="4800" b="1" dirty="0">
                <a:solidFill>
                  <a:schemeClr val="tx2"/>
                </a:solidFill>
                <a:latin typeface="隶书" pitchFamily="49" charset="-122"/>
                <a:ea typeface="隶书" pitchFamily="49" charset="-122"/>
              </a:rPr>
              <a:t>多级放大电路的耦合方式 </a:t>
            </a:r>
            <a:endParaRPr lang="zh-CN" altLang="en-US" sz="4800" dirty="0"/>
          </a:p>
        </p:txBody>
      </p:sp>
      <p:sp>
        <p:nvSpPr>
          <p:cNvPr id="205830" name="Rectangle 2054"/>
          <p:cNvSpPr>
            <a:spLocks noChangeArrowheads="1"/>
          </p:cNvSpPr>
          <p:nvPr/>
        </p:nvSpPr>
        <p:spPr bwMode="auto">
          <a:xfrm>
            <a:off x="926576" y="3320364"/>
            <a:ext cx="6156325" cy="823912"/>
          </a:xfrm>
          <a:prstGeom prst="rect">
            <a:avLst/>
          </a:prstGeom>
          <a:noFill/>
          <a:ln w="9525">
            <a:noFill/>
            <a:miter lim="800000"/>
            <a:headEnd/>
            <a:tailEnd/>
          </a:ln>
        </p:spPr>
        <p:txBody>
          <a:bodyPr wrap="none">
            <a:spAutoFit/>
          </a:bodyPr>
          <a:lstStyle/>
          <a:p>
            <a:pPr algn="ctr" eaLnBrk="1" hangingPunct="1"/>
            <a:r>
              <a:rPr lang="en-US" altLang="zh-CN" sz="4800" b="1" dirty="0">
                <a:ea typeface="隶书" pitchFamily="49" charset="-122"/>
              </a:rPr>
              <a:t>3.3</a:t>
            </a:r>
            <a:r>
              <a:rPr lang="en-US" altLang="zh-CN" sz="4800" b="1" dirty="0">
                <a:latin typeface="隶书" pitchFamily="49" charset="-122"/>
                <a:ea typeface="隶书" pitchFamily="49" charset="-122"/>
              </a:rPr>
              <a:t> </a:t>
            </a:r>
            <a:r>
              <a:rPr lang="zh-CN" altLang="en-US" sz="4800" b="1" dirty="0">
                <a:solidFill>
                  <a:srgbClr val="FF0000"/>
                </a:solidFill>
                <a:latin typeface="隶书" pitchFamily="49" charset="-122"/>
                <a:ea typeface="隶书" pitchFamily="49" charset="-122"/>
              </a:rPr>
              <a:t>直接耦合放大电路</a:t>
            </a:r>
          </a:p>
        </p:txBody>
      </p:sp>
      <p:sp>
        <p:nvSpPr>
          <p:cNvPr id="205831" name="Rectangle 2055"/>
          <p:cNvSpPr>
            <a:spLocks noChangeArrowheads="1"/>
          </p:cNvSpPr>
          <p:nvPr/>
        </p:nvSpPr>
        <p:spPr bwMode="auto">
          <a:xfrm>
            <a:off x="890418" y="2605088"/>
            <a:ext cx="7994650" cy="823912"/>
          </a:xfrm>
          <a:prstGeom prst="rect">
            <a:avLst/>
          </a:prstGeom>
          <a:noFill/>
          <a:ln w="9525">
            <a:noFill/>
            <a:miter lim="800000"/>
            <a:headEnd/>
            <a:tailEnd/>
          </a:ln>
        </p:spPr>
        <p:txBody>
          <a:bodyPr wrap="none">
            <a:spAutoFit/>
          </a:bodyPr>
          <a:lstStyle/>
          <a:p>
            <a:pPr algn="ctr" eaLnBrk="1" hangingPunct="1"/>
            <a:r>
              <a:rPr lang="en-US" altLang="zh-CN" sz="4800" b="1" dirty="0">
                <a:ea typeface="隶书" pitchFamily="49" charset="-122"/>
              </a:rPr>
              <a:t>3.2</a:t>
            </a:r>
            <a:r>
              <a:rPr lang="en-US" altLang="zh-CN" sz="4800" b="1" dirty="0">
                <a:latin typeface="隶书" pitchFamily="49" charset="-122"/>
                <a:ea typeface="隶书" pitchFamily="49" charset="-122"/>
              </a:rPr>
              <a:t> </a:t>
            </a:r>
            <a:r>
              <a:rPr lang="zh-CN" altLang="en-US" sz="4800" b="1" dirty="0">
                <a:latin typeface="隶书" pitchFamily="49" charset="-122"/>
                <a:ea typeface="隶书" pitchFamily="49" charset="-122"/>
              </a:rPr>
              <a:t>多级放大电路的动态分析</a:t>
            </a:r>
          </a:p>
        </p:txBody>
      </p:sp>
      <p:sp>
        <p:nvSpPr>
          <p:cNvPr id="6" name="Rectangle 2054">
            <a:extLst>
              <a:ext uri="{FF2B5EF4-FFF2-40B4-BE49-F238E27FC236}">
                <a16:creationId xmlns:a16="http://schemas.microsoft.com/office/drawing/2014/main" id="{FA905076-9E5A-484B-A924-2DADEBB21718}"/>
              </a:ext>
            </a:extLst>
          </p:cNvPr>
          <p:cNvSpPr>
            <a:spLocks noChangeArrowheads="1"/>
          </p:cNvSpPr>
          <p:nvPr/>
        </p:nvSpPr>
        <p:spPr bwMode="auto">
          <a:xfrm>
            <a:off x="890418" y="4038172"/>
            <a:ext cx="4522392" cy="830997"/>
          </a:xfrm>
          <a:prstGeom prst="rect">
            <a:avLst/>
          </a:prstGeom>
          <a:noFill/>
          <a:ln w="9525">
            <a:noFill/>
            <a:miter lim="800000"/>
            <a:headEnd/>
            <a:tailEnd/>
          </a:ln>
        </p:spPr>
        <p:txBody>
          <a:bodyPr wrap="none">
            <a:spAutoFit/>
          </a:bodyPr>
          <a:lstStyle/>
          <a:p>
            <a:pPr algn="ctr" eaLnBrk="1" hangingPunct="1"/>
            <a:r>
              <a:rPr lang="en-US" altLang="zh-CN" sz="4800" b="1" dirty="0">
                <a:latin typeface="隶书" panose="02010509060101010101" pitchFamily="49" charset="-122"/>
                <a:ea typeface="隶书" panose="02010509060101010101" pitchFamily="49" charset="-122"/>
              </a:rPr>
              <a:t>3.4 </a:t>
            </a:r>
            <a:r>
              <a:rPr lang="zh-CN" altLang="en-US" sz="4800" b="1" dirty="0">
                <a:latin typeface="隶书" panose="02010509060101010101" pitchFamily="49" charset="-122"/>
                <a:ea typeface="隶书" panose="02010509060101010101" pitchFamily="49" charset="-122"/>
                <a:cs typeface="Times New Roman" pitchFamily="18" charset="0"/>
              </a:rPr>
              <a:t>互补输出级</a:t>
            </a:r>
            <a:endParaRPr lang="zh-CN" altLang="en-US" sz="4800" b="1" dirty="0">
              <a:solidFill>
                <a:srgbClr val="FF0000"/>
              </a:solidFill>
              <a:latin typeface="隶书" pitchFamily="49" charset="-122"/>
              <a:ea typeface="隶书" pitchFamily="49" charset="-122"/>
            </a:endParaRPr>
          </a:p>
        </p:txBody>
      </p:sp>
      <p:sp>
        <p:nvSpPr>
          <p:cNvPr id="7" name="Rectangle 2054">
            <a:extLst>
              <a:ext uri="{FF2B5EF4-FFF2-40B4-BE49-F238E27FC236}">
                <a16:creationId xmlns:a16="http://schemas.microsoft.com/office/drawing/2014/main" id="{CD6A4B01-A211-4EEF-AD56-313B44C5236F}"/>
              </a:ext>
            </a:extLst>
          </p:cNvPr>
          <p:cNvSpPr>
            <a:spLocks noChangeArrowheads="1"/>
          </p:cNvSpPr>
          <p:nvPr/>
        </p:nvSpPr>
        <p:spPr bwMode="auto">
          <a:xfrm>
            <a:off x="870555" y="4766439"/>
            <a:ext cx="6378670" cy="830997"/>
          </a:xfrm>
          <a:prstGeom prst="rect">
            <a:avLst/>
          </a:prstGeom>
          <a:noFill/>
          <a:ln w="9525">
            <a:noFill/>
            <a:miter lim="800000"/>
            <a:headEnd/>
            <a:tailEnd/>
          </a:ln>
        </p:spPr>
        <p:txBody>
          <a:bodyPr wrap="none">
            <a:spAutoFit/>
          </a:bodyPr>
          <a:lstStyle/>
          <a:p>
            <a:pPr algn="ctr" eaLnBrk="1" hangingPunct="1"/>
            <a:r>
              <a:rPr lang="en-US" altLang="zh-CN" sz="4800" b="1" dirty="0">
                <a:latin typeface="隶书" panose="02010509060101010101" pitchFamily="49" charset="-122"/>
                <a:ea typeface="隶书" panose="02010509060101010101" pitchFamily="49" charset="-122"/>
              </a:rPr>
              <a:t>3.5 </a:t>
            </a:r>
            <a:r>
              <a:rPr lang="zh-CN" altLang="en-US" sz="4800" b="1" dirty="0">
                <a:latin typeface="隶书" panose="02010509060101010101" pitchFamily="49" charset="-122"/>
                <a:ea typeface="隶书" panose="02010509060101010101" pitchFamily="49" charset="-122"/>
                <a:cs typeface="Times New Roman" pitchFamily="18" charset="0"/>
              </a:rPr>
              <a:t>多级放大电路读图</a:t>
            </a:r>
            <a:endParaRPr lang="zh-CN" altLang="en-US" sz="4800" b="1" dirty="0">
              <a:solidFill>
                <a:srgbClr val="FF0000"/>
              </a:solidFill>
              <a:latin typeface="隶书" pitchFamily="49" charset="-122"/>
              <a:ea typeface="隶书" pitchFamily="49" charset="-122"/>
            </a:endParaRPr>
          </a:p>
        </p:txBody>
      </p:sp>
      <p:sp>
        <p:nvSpPr>
          <p:cNvPr id="9" name="Rectangle 2055">
            <a:extLst>
              <a:ext uri="{FF2B5EF4-FFF2-40B4-BE49-F238E27FC236}">
                <a16:creationId xmlns:a16="http://schemas.microsoft.com/office/drawing/2014/main" id="{B15CA352-86C7-43A6-AC36-455FFF9931DF}"/>
              </a:ext>
            </a:extLst>
          </p:cNvPr>
          <p:cNvSpPr>
            <a:spLocks noChangeArrowheads="1"/>
          </p:cNvSpPr>
          <p:nvPr/>
        </p:nvSpPr>
        <p:spPr bwMode="auto">
          <a:xfrm>
            <a:off x="997598" y="5518654"/>
            <a:ext cx="5596404" cy="830997"/>
          </a:xfrm>
          <a:prstGeom prst="rect">
            <a:avLst/>
          </a:prstGeom>
          <a:noFill/>
          <a:ln w="9525">
            <a:noFill/>
            <a:miter lim="800000"/>
            <a:headEnd/>
            <a:tailEnd/>
          </a:ln>
        </p:spPr>
        <p:txBody>
          <a:bodyPr wrap="none">
            <a:spAutoFit/>
          </a:bodyPr>
          <a:lstStyle/>
          <a:p>
            <a:pPr algn="ctr" eaLnBrk="1" hangingPunct="1"/>
            <a:r>
              <a:rPr lang="en-US" altLang="zh-CN" sz="4800" b="1" dirty="0">
                <a:ea typeface="隶书" pitchFamily="49" charset="-122"/>
              </a:rPr>
              <a:t>3.6</a:t>
            </a:r>
            <a:r>
              <a:rPr lang="en-US" altLang="zh-CN" sz="4800" b="1" dirty="0">
                <a:latin typeface="隶书" pitchFamily="49" charset="-122"/>
                <a:ea typeface="隶书" pitchFamily="49" charset="-122"/>
              </a:rPr>
              <a:t> </a:t>
            </a:r>
            <a:r>
              <a:rPr lang="zh-CN" altLang="en-US" sz="4800" b="1" dirty="0">
                <a:latin typeface="隶书" pitchFamily="49" charset="-122"/>
                <a:ea typeface="隶书" pitchFamily="49" charset="-122"/>
              </a:rPr>
              <a:t>集成运算放大器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9">
                                            <p:txEl>
                                              <p:pRg st="0" end="0"/>
                                            </p:txEl>
                                          </p:spTgt>
                                        </p:tgtEl>
                                        <p:attrNameLst>
                                          <p:attrName>style.visibility</p:attrName>
                                        </p:attrNameLst>
                                      </p:cBhvr>
                                      <p:to>
                                        <p:strVal val="visible"/>
                                      </p:to>
                                    </p:set>
                                    <p:animEffect transition="in" filter="wipe(left)">
                                      <p:cBhvr>
                                        <p:cTn id="7" dur="500"/>
                                        <p:tgtEl>
                                          <p:spTgt spid="20582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831">
                                            <p:txEl>
                                              <p:pRg st="0" end="0"/>
                                            </p:txEl>
                                          </p:spTgt>
                                        </p:tgtEl>
                                        <p:attrNameLst>
                                          <p:attrName>style.visibility</p:attrName>
                                        </p:attrNameLst>
                                      </p:cBhvr>
                                      <p:to>
                                        <p:strVal val="visible"/>
                                      </p:to>
                                    </p:set>
                                    <p:animEffect transition="in" filter="wipe(left)">
                                      <p:cBhvr>
                                        <p:cTn id="12" dur="500"/>
                                        <p:tgtEl>
                                          <p:spTgt spid="2058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5830">
                                            <p:txEl>
                                              <p:pRg st="0" end="0"/>
                                            </p:txEl>
                                          </p:spTgt>
                                        </p:tgtEl>
                                        <p:attrNameLst>
                                          <p:attrName>style.visibility</p:attrName>
                                        </p:attrNameLst>
                                      </p:cBhvr>
                                      <p:to>
                                        <p:strVal val="visible"/>
                                      </p:to>
                                    </p:set>
                                    <p:animEffect transition="in" filter="box(out)">
                                      <p:cBhvr>
                                        <p:cTn id="17" dur="500"/>
                                        <p:tgtEl>
                                          <p:spTgt spid="205830">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box(out)">
                                      <p:cBhvr>
                                        <p:cTn id="22" dur="500"/>
                                        <p:tgtEl>
                                          <p:spTgt spid="6">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ox(out)">
                                      <p:cBhvr>
                                        <p:cTn id="27" dur="500"/>
                                        <p:tgtEl>
                                          <p:spTgt spid="7">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9" grpId="0" build="p" autoUpdateAnimBg="0"/>
      <p:bldP spid="205830" grpId="0" build="p" autoUpdateAnimBg="0"/>
      <p:bldP spid="205831" grpId="0" build="p" autoUpdateAnimBg="0"/>
      <p:bldP spid="6" grpId="0" build="p" autoUpdateAnimBg="0"/>
      <p:bldP spid="7" grpId="0" build="p" autoUpdateAnimBg="0"/>
      <p:bldP spid="9"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1378" name="Text Box 4"/>
          <p:cNvSpPr txBox="1">
            <a:spLocks noChangeArrowheads="1"/>
          </p:cNvSpPr>
          <p:nvPr/>
        </p:nvSpPr>
        <p:spPr bwMode="auto">
          <a:xfrm>
            <a:off x="1165225" y="2994025"/>
            <a:ext cx="3829050" cy="579438"/>
          </a:xfrm>
          <a:prstGeom prst="rect">
            <a:avLst/>
          </a:prstGeom>
          <a:noFill/>
          <a:ln w="9525">
            <a:noFill/>
            <a:miter lim="800000"/>
            <a:headEnd/>
            <a:tailEnd/>
          </a:ln>
        </p:spPr>
        <p:txBody>
          <a:bodyPr>
            <a:spAutoFit/>
          </a:bodyPr>
          <a:lstStyle/>
          <a:p>
            <a:pPr algn="ctr" eaLnBrk="1" hangingPunct="1">
              <a:spcBef>
                <a:spcPct val="50000"/>
              </a:spcBef>
            </a:pPr>
            <a:r>
              <a:rPr lang="zh-CN" altLang="en-US" sz="3200" b="1">
                <a:solidFill>
                  <a:srgbClr val="FF0000"/>
                </a:solidFill>
              </a:rPr>
              <a:t>本章重点和考点：</a:t>
            </a:r>
          </a:p>
        </p:txBody>
      </p:sp>
      <p:sp>
        <p:nvSpPr>
          <p:cNvPr id="206853" name="Rectangle 5"/>
          <p:cNvSpPr>
            <a:spLocks noChangeArrowheads="1"/>
          </p:cNvSpPr>
          <p:nvPr/>
        </p:nvSpPr>
        <p:spPr bwMode="auto">
          <a:xfrm>
            <a:off x="1257300" y="3729038"/>
            <a:ext cx="6400800" cy="822325"/>
          </a:xfrm>
          <a:prstGeom prst="rect">
            <a:avLst/>
          </a:prstGeom>
          <a:noFill/>
          <a:ln w="9525">
            <a:noFill/>
            <a:miter lim="800000"/>
            <a:headEnd/>
            <a:tailEnd/>
          </a:ln>
        </p:spPr>
        <p:txBody>
          <a:bodyPr>
            <a:spAutoFit/>
          </a:bodyPr>
          <a:lstStyle/>
          <a:p>
            <a:pPr algn="just" eaLnBrk="1" hangingPunct="1"/>
            <a:r>
              <a:rPr lang="en-US" altLang="zh-CN" b="1"/>
              <a:t>1</a:t>
            </a:r>
            <a:r>
              <a:rPr lang="zh-CN" altLang="en-US" b="1"/>
              <a:t>、掌握多级放大电路的耦合方式，为集成电　　路的学习打好基础</a:t>
            </a:r>
          </a:p>
        </p:txBody>
      </p:sp>
      <p:sp>
        <p:nvSpPr>
          <p:cNvPr id="206854" name="Rectangle 6"/>
          <p:cNvSpPr>
            <a:spLocks noChangeArrowheads="1"/>
          </p:cNvSpPr>
          <p:nvPr/>
        </p:nvSpPr>
        <p:spPr bwMode="auto">
          <a:xfrm>
            <a:off x="1276350" y="4891088"/>
            <a:ext cx="7010400" cy="1200150"/>
          </a:xfrm>
          <a:prstGeom prst="rect">
            <a:avLst/>
          </a:prstGeom>
          <a:noFill/>
          <a:ln w="9525">
            <a:noFill/>
            <a:miter lim="800000"/>
            <a:headEnd/>
            <a:tailEnd/>
          </a:ln>
        </p:spPr>
        <p:txBody>
          <a:bodyPr>
            <a:spAutoFit/>
          </a:bodyPr>
          <a:lstStyle/>
          <a:p>
            <a:pPr algn="just" eaLnBrk="1" hangingPunct="1"/>
            <a:r>
              <a:rPr lang="en-US" altLang="zh-CN" b="1">
                <a:solidFill>
                  <a:srgbClr val="FF0000"/>
                </a:solidFill>
              </a:rPr>
              <a:t>2</a:t>
            </a:r>
            <a:r>
              <a:rPr lang="zh-CN" altLang="en-US" b="1">
                <a:solidFill>
                  <a:srgbClr val="FF0000"/>
                </a:solidFill>
              </a:rPr>
              <a:t>、掌握直接耦合放大电路中差分放大电路的组态</a:t>
            </a:r>
          </a:p>
          <a:p>
            <a:pPr algn="just" eaLnBrk="1" hangingPunct="1"/>
            <a:r>
              <a:rPr lang="zh-CN" altLang="en-US" b="1">
                <a:solidFill>
                  <a:srgbClr val="FF0000"/>
                </a:solidFill>
              </a:rPr>
              <a:t>　　及动态参数的计算</a:t>
            </a:r>
          </a:p>
          <a:p>
            <a:endParaRPr lang="en-US" altLang="zh-CN" b="1">
              <a:solidFill>
                <a:srgbClr val="FF0000"/>
              </a:solidFill>
            </a:endParaRPr>
          </a:p>
        </p:txBody>
      </p:sp>
      <p:sp>
        <p:nvSpPr>
          <p:cNvPr id="206855" name="Rectangle 7"/>
          <p:cNvSpPr>
            <a:spLocks noChangeArrowheads="1"/>
          </p:cNvSpPr>
          <p:nvPr/>
        </p:nvSpPr>
        <p:spPr bwMode="auto">
          <a:xfrm>
            <a:off x="1352550" y="6205538"/>
            <a:ext cx="6762750" cy="457200"/>
          </a:xfrm>
          <a:prstGeom prst="rect">
            <a:avLst/>
          </a:prstGeom>
          <a:noFill/>
          <a:ln w="9525">
            <a:noFill/>
            <a:miter lim="800000"/>
            <a:headEnd/>
            <a:tailEnd/>
          </a:ln>
        </p:spPr>
        <p:txBody>
          <a:bodyPr>
            <a:spAutoFit/>
          </a:bodyPr>
          <a:lstStyle/>
          <a:p>
            <a:pPr eaLnBrk="1" hangingPunct="1"/>
            <a:r>
              <a:rPr lang="en-US" altLang="zh-CN" b="1">
                <a:solidFill>
                  <a:schemeClr val="accent2"/>
                </a:solidFill>
                <a:latin typeface="宋体" pitchFamily="2" charset="-122"/>
              </a:rPr>
              <a:t>3</a:t>
            </a:r>
            <a:r>
              <a:rPr lang="zh-CN" altLang="en-US" b="1">
                <a:solidFill>
                  <a:schemeClr val="accent2"/>
                </a:solidFill>
                <a:latin typeface="宋体" pitchFamily="2" charset="-122"/>
              </a:rPr>
              <a:t>、了解多级放大电路中的互补输出级</a:t>
            </a:r>
            <a:r>
              <a:rPr lang="zh-CN" altLang="en-US" b="1">
                <a:solidFill>
                  <a:schemeClr val="accent2"/>
                </a:solidFill>
              </a:rPr>
              <a:t> </a:t>
            </a:r>
          </a:p>
        </p:txBody>
      </p:sp>
      <p:sp>
        <p:nvSpPr>
          <p:cNvPr id="6" name="Text Box 6"/>
          <p:cNvSpPr txBox="1">
            <a:spLocks noChangeArrowheads="1"/>
          </p:cNvSpPr>
          <p:nvPr/>
        </p:nvSpPr>
        <p:spPr bwMode="auto">
          <a:xfrm>
            <a:off x="1352550" y="555625"/>
            <a:ext cx="1825625" cy="461963"/>
          </a:xfrm>
          <a:prstGeom prst="rect">
            <a:avLst/>
          </a:prstGeom>
          <a:solidFill>
            <a:schemeClr val="bg1"/>
          </a:solidFill>
          <a:ln w="38100">
            <a:solidFill>
              <a:srgbClr val="FF3300"/>
            </a:solidFill>
            <a:miter lim="800000"/>
            <a:headEnd/>
            <a:tailEnd/>
          </a:ln>
        </p:spPr>
        <p:txBody>
          <a:bodyPr>
            <a:spAutoFit/>
          </a:bodyPr>
          <a:lstStyle/>
          <a:p>
            <a:pPr>
              <a:spcBef>
                <a:spcPct val="50000"/>
              </a:spcBef>
            </a:pPr>
            <a:r>
              <a:rPr lang="zh-CN" altLang="en-US" b="1"/>
              <a:t>内容提要</a:t>
            </a:r>
          </a:p>
        </p:txBody>
      </p:sp>
      <p:sp>
        <p:nvSpPr>
          <p:cNvPr id="7" name="Text Box 7"/>
          <p:cNvSpPr txBox="1">
            <a:spLocks noChangeArrowheads="1"/>
          </p:cNvSpPr>
          <p:nvPr/>
        </p:nvSpPr>
        <p:spPr bwMode="auto">
          <a:xfrm>
            <a:off x="1330325" y="1239838"/>
            <a:ext cx="7599363" cy="1570037"/>
          </a:xfrm>
          <a:prstGeom prst="rect">
            <a:avLst/>
          </a:prstGeom>
          <a:noFill/>
          <a:ln w="9525">
            <a:noFill/>
            <a:miter lim="800000"/>
            <a:headEnd/>
            <a:tailEnd/>
          </a:ln>
        </p:spPr>
        <p:txBody>
          <a:bodyPr>
            <a:spAutoFit/>
          </a:bodyPr>
          <a:lstStyle/>
          <a:p>
            <a:pPr eaLnBrk="1" hangingPunct="1">
              <a:spcBef>
                <a:spcPct val="50000"/>
              </a:spcBef>
            </a:pPr>
            <a:r>
              <a:rPr lang="zh-CN" altLang="en-US" b="1"/>
              <a:t>本章首先介绍以单管放大电路为单元电路所组成的多级放大电路的耦合方式及分析方法，然后阐明直接耦合放大电路的</a:t>
            </a:r>
            <a:r>
              <a:rPr lang="zh-CN" altLang="en-US" b="1">
                <a:solidFill>
                  <a:srgbClr val="CC3300"/>
                </a:solidFill>
              </a:rPr>
              <a:t>温漂</a:t>
            </a:r>
            <a:r>
              <a:rPr lang="zh-CN" altLang="en-US" b="1"/>
              <a:t>问题，以及组成直接耦合多级放大电路的</a:t>
            </a:r>
            <a:r>
              <a:rPr lang="zh-CN" altLang="en-US" b="1">
                <a:solidFill>
                  <a:srgbClr val="FF0000"/>
                </a:solidFill>
              </a:rPr>
              <a:t>输入级</a:t>
            </a:r>
            <a:r>
              <a:rPr lang="en-US" altLang="zh-CN" b="1"/>
              <a:t>——</a:t>
            </a:r>
            <a:r>
              <a:rPr lang="zh-CN" altLang="en-US" b="1">
                <a:solidFill>
                  <a:srgbClr val="FF0000"/>
                </a:solidFill>
              </a:rPr>
              <a:t>差分放大电路</a:t>
            </a:r>
            <a:r>
              <a:rPr lang="zh-CN" altLang="en-US"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3">
                                            <p:txEl>
                                              <p:pRg st="0" end="0"/>
                                            </p:txEl>
                                          </p:spTgt>
                                        </p:tgtEl>
                                        <p:attrNameLst>
                                          <p:attrName>style.visibility</p:attrName>
                                        </p:attrNameLst>
                                      </p:cBhvr>
                                      <p:to>
                                        <p:strVal val="visible"/>
                                      </p:to>
                                    </p:set>
                                    <p:animEffect transition="in" filter="wipe(left)">
                                      <p:cBhvr>
                                        <p:cTn id="7" dur="500"/>
                                        <p:tgtEl>
                                          <p:spTgt spid="2068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6854">
                                            <p:txEl>
                                              <p:pRg st="0" end="0"/>
                                            </p:txEl>
                                          </p:spTgt>
                                        </p:tgtEl>
                                        <p:attrNameLst>
                                          <p:attrName>style.visibility</p:attrName>
                                        </p:attrNameLst>
                                      </p:cBhvr>
                                      <p:to>
                                        <p:strVal val="visible"/>
                                      </p:to>
                                    </p:set>
                                    <p:animEffect transition="in" filter="dissolve">
                                      <p:cBhvr>
                                        <p:cTn id="12" dur="500"/>
                                        <p:tgtEl>
                                          <p:spTgt spid="20685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6854">
                                            <p:txEl>
                                              <p:pRg st="1" end="1"/>
                                            </p:txEl>
                                          </p:spTgt>
                                        </p:tgtEl>
                                        <p:attrNameLst>
                                          <p:attrName>style.visibility</p:attrName>
                                        </p:attrNameLst>
                                      </p:cBhvr>
                                      <p:to>
                                        <p:strVal val="visible"/>
                                      </p:to>
                                    </p:set>
                                    <p:animEffect transition="in" filter="dissolve">
                                      <p:cBhvr>
                                        <p:cTn id="17" dur="500"/>
                                        <p:tgtEl>
                                          <p:spTgt spid="20685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6855">
                                            <p:txEl>
                                              <p:pRg st="0" end="0"/>
                                            </p:txEl>
                                          </p:spTgt>
                                        </p:tgtEl>
                                        <p:attrNameLst>
                                          <p:attrName>style.visibility</p:attrName>
                                        </p:attrNameLst>
                                      </p:cBhvr>
                                      <p:to>
                                        <p:strVal val="visible"/>
                                      </p:to>
                                    </p:set>
                                    <p:animEffect transition="in" filter="wipe(left)">
                                      <p:cBhvr>
                                        <p:cTn id="22" dur="500"/>
                                        <p:tgtEl>
                                          <p:spTgt spid="2068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3" grpId="0" build="p" autoUpdateAnimBg="0"/>
      <p:bldP spid="206854" grpId="0" build="p" autoUpdateAnimBg="0"/>
      <p:bldP spid="20685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838200" y="2133600"/>
            <a:ext cx="7837488" cy="1143000"/>
          </a:xfrm>
        </p:spPr>
        <p:txBody>
          <a:bodyPr/>
          <a:lstStyle/>
          <a:p>
            <a:r>
              <a:rPr lang="en-US" altLang="zh-CN" sz="4000">
                <a:latin typeface="华文行楷" pitchFamily="2" charset="-122"/>
                <a:ea typeface="华文行楷" pitchFamily="2" charset="-122"/>
                <a:cs typeface="Times New Roman" pitchFamily="18" charset="0"/>
              </a:rPr>
              <a:t>§3.1 </a:t>
            </a:r>
            <a:r>
              <a:rPr lang="zh-CN" altLang="en-US" sz="4000">
                <a:latin typeface="华文行楷" pitchFamily="2" charset="-122"/>
                <a:ea typeface="华文行楷" pitchFamily="2" charset="-122"/>
                <a:cs typeface="Times New Roman" pitchFamily="18" charset="0"/>
              </a:rPr>
              <a:t>多级放大电路的耦合方式</a:t>
            </a:r>
          </a:p>
        </p:txBody>
      </p:sp>
      <p:sp>
        <p:nvSpPr>
          <p:cNvPr id="103427" name="Text Box 9">
            <a:hlinkClick r:id="rId3" action="ppaction://hlinksldjump"/>
          </p:cNvPr>
          <p:cNvSpPr txBox="1">
            <a:spLocks noChangeArrowheads="1"/>
          </p:cNvSpPr>
          <p:nvPr/>
        </p:nvSpPr>
        <p:spPr bwMode="auto">
          <a:xfrm>
            <a:off x="2771775" y="3357563"/>
            <a:ext cx="4006850" cy="479425"/>
          </a:xfrm>
          <a:prstGeom prst="rect">
            <a:avLst/>
          </a:prstGeom>
          <a:noFill/>
          <a:ln w="9525">
            <a:noFill/>
            <a:miter lim="800000"/>
            <a:headEnd/>
            <a:tailEnd/>
          </a:ln>
        </p:spPr>
        <p:txBody>
          <a:bodyPr>
            <a:spAutoFit/>
          </a:bodyPr>
          <a:lstStyle/>
          <a:p>
            <a:pPr eaLnBrk="1" hangingPunct="1">
              <a:lnSpc>
                <a:spcPct val="90000"/>
              </a:lnSpc>
            </a:pPr>
            <a:r>
              <a:rPr lang="en-US" altLang="zh-CN" sz="2800" b="1">
                <a:ea typeface="华文楷体" pitchFamily="2" charset="-122"/>
              </a:rPr>
              <a:t>3.1.1</a:t>
            </a:r>
            <a:r>
              <a:rPr lang="zh-CN" altLang="en-US" sz="2800" b="1">
                <a:ea typeface="华文楷体" pitchFamily="2" charset="-122"/>
              </a:rPr>
              <a:t>、直接耦合</a:t>
            </a:r>
          </a:p>
        </p:txBody>
      </p:sp>
      <p:sp>
        <p:nvSpPr>
          <p:cNvPr id="103428" name="Text Box 10">
            <a:hlinkClick r:id="rId4" action="ppaction://hlinksldjump"/>
          </p:cNvPr>
          <p:cNvSpPr txBox="1">
            <a:spLocks noChangeArrowheads="1"/>
          </p:cNvSpPr>
          <p:nvPr/>
        </p:nvSpPr>
        <p:spPr bwMode="auto">
          <a:xfrm>
            <a:off x="2771775" y="4005263"/>
            <a:ext cx="2736850" cy="476250"/>
          </a:xfrm>
          <a:prstGeom prst="rect">
            <a:avLst/>
          </a:prstGeom>
          <a:noFill/>
          <a:ln w="9525">
            <a:noFill/>
            <a:miter lim="800000"/>
            <a:headEnd/>
            <a:tailEnd/>
          </a:ln>
        </p:spPr>
        <p:txBody>
          <a:bodyPr>
            <a:spAutoFit/>
          </a:bodyPr>
          <a:lstStyle/>
          <a:p>
            <a:pPr algn="ctr" eaLnBrk="1" hangingPunct="1">
              <a:lnSpc>
                <a:spcPct val="90000"/>
              </a:lnSpc>
            </a:pPr>
            <a:r>
              <a:rPr lang="en-US" altLang="zh-CN" sz="2800" b="1">
                <a:ea typeface="华文楷体" pitchFamily="2" charset="-122"/>
              </a:rPr>
              <a:t>3.1.2</a:t>
            </a:r>
            <a:r>
              <a:rPr lang="zh-CN" altLang="en-US" sz="2800" b="1">
                <a:ea typeface="华文楷体" pitchFamily="2" charset="-122"/>
              </a:rPr>
              <a:t>、阻容耦合</a:t>
            </a:r>
          </a:p>
        </p:txBody>
      </p:sp>
      <p:sp>
        <p:nvSpPr>
          <p:cNvPr id="103429" name="Text Box 11">
            <a:hlinkClick r:id="rId5" action="ppaction://hlinksldjump"/>
          </p:cNvPr>
          <p:cNvSpPr txBox="1">
            <a:spLocks noChangeArrowheads="1"/>
          </p:cNvSpPr>
          <p:nvPr/>
        </p:nvSpPr>
        <p:spPr bwMode="auto">
          <a:xfrm>
            <a:off x="2771775" y="4652963"/>
            <a:ext cx="3424238" cy="479425"/>
          </a:xfrm>
          <a:prstGeom prst="rect">
            <a:avLst/>
          </a:prstGeom>
          <a:noFill/>
          <a:ln w="9525">
            <a:noFill/>
            <a:miter lim="800000"/>
            <a:headEnd/>
            <a:tailEnd/>
          </a:ln>
        </p:spPr>
        <p:txBody>
          <a:bodyPr>
            <a:spAutoFit/>
          </a:bodyPr>
          <a:lstStyle/>
          <a:p>
            <a:pPr eaLnBrk="1" hangingPunct="1">
              <a:lnSpc>
                <a:spcPct val="90000"/>
              </a:lnSpc>
            </a:pPr>
            <a:r>
              <a:rPr lang="en-US" altLang="zh-CN" sz="2800" b="1">
                <a:ea typeface="华文楷体" pitchFamily="2" charset="-122"/>
              </a:rPr>
              <a:t>3.1.3</a:t>
            </a:r>
            <a:r>
              <a:rPr lang="zh-CN" altLang="en-US" sz="2800" b="1">
                <a:ea typeface="华文楷体" pitchFamily="2" charset="-122"/>
              </a:rPr>
              <a:t>、变压器耦合</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4"/>
          <p:cNvSpPr txBox="1">
            <a:spLocks noChangeArrowheads="1"/>
          </p:cNvSpPr>
          <p:nvPr/>
        </p:nvSpPr>
        <p:spPr bwMode="auto">
          <a:xfrm>
            <a:off x="1600200" y="762000"/>
            <a:ext cx="5334000" cy="579438"/>
          </a:xfrm>
          <a:prstGeom prst="rect">
            <a:avLst/>
          </a:prstGeom>
          <a:noFill/>
          <a:ln w="9525">
            <a:noFill/>
            <a:miter lim="800000"/>
            <a:headEnd/>
            <a:tailEnd/>
          </a:ln>
        </p:spPr>
        <p:txBody>
          <a:bodyPr>
            <a:spAutoFit/>
          </a:bodyPr>
          <a:lstStyle/>
          <a:p>
            <a:pPr eaLnBrk="1" hangingPunct="1">
              <a:spcBef>
                <a:spcPct val="50000"/>
              </a:spcBef>
            </a:pPr>
            <a:r>
              <a:rPr lang="en-US" altLang="zh-CN" sz="3200" b="1">
                <a:solidFill>
                  <a:schemeClr val="hlink"/>
                </a:solidFill>
              </a:rPr>
              <a:t>3.1 </a:t>
            </a:r>
            <a:r>
              <a:rPr lang="zh-CN" altLang="en-US" sz="3200" b="1">
                <a:solidFill>
                  <a:schemeClr val="hlink"/>
                </a:solidFill>
              </a:rPr>
              <a:t>多级放大电路的耦合方式</a:t>
            </a:r>
          </a:p>
        </p:txBody>
      </p:sp>
      <p:sp>
        <p:nvSpPr>
          <p:cNvPr id="138245" name="Text Box 5"/>
          <p:cNvSpPr txBox="1">
            <a:spLocks noChangeArrowheads="1"/>
          </p:cNvSpPr>
          <p:nvPr/>
        </p:nvSpPr>
        <p:spPr bwMode="auto">
          <a:xfrm>
            <a:off x="990600" y="1676400"/>
            <a:ext cx="7543800" cy="457200"/>
          </a:xfrm>
          <a:prstGeom prst="rect">
            <a:avLst/>
          </a:prstGeom>
          <a:noFill/>
          <a:ln w="9525">
            <a:noFill/>
            <a:miter lim="800000"/>
            <a:headEnd/>
            <a:tailEnd/>
          </a:ln>
        </p:spPr>
        <p:txBody>
          <a:bodyPr>
            <a:spAutoFit/>
          </a:bodyPr>
          <a:lstStyle/>
          <a:p>
            <a:pPr eaLnBrk="1" hangingPunct="1">
              <a:spcBef>
                <a:spcPct val="50000"/>
              </a:spcBef>
            </a:pPr>
            <a:r>
              <a:rPr lang="zh-CN" altLang="en-US" b="1"/>
              <a:t>将多个单级基本放大电路合理联接，构成多级放大电路</a:t>
            </a:r>
          </a:p>
        </p:txBody>
      </p:sp>
      <p:sp>
        <p:nvSpPr>
          <p:cNvPr id="138246" name="Rectangle 6"/>
          <p:cNvSpPr>
            <a:spLocks noChangeArrowheads="1"/>
          </p:cNvSpPr>
          <p:nvPr/>
        </p:nvSpPr>
        <p:spPr bwMode="auto">
          <a:xfrm>
            <a:off x="914400" y="2362200"/>
            <a:ext cx="7467600" cy="946150"/>
          </a:xfrm>
          <a:prstGeom prst="rect">
            <a:avLst/>
          </a:prstGeom>
          <a:noFill/>
          <a:ln w="9525">
            <a:noFill/>
            <a:miter lim="800000"/>
            <a:headEnd/>
            <a:tailEnd/>
          </a:ln>
        </p:spPr>
        <p:txBody>
          <a:bodyPr>
            <a:spAutoFit/>
          </a:bodyPr>
          <a:lstStyle/>
          <a:p>
            <a:pPr eaLnBrk="1" hangingPunct="1"/>
            <a:r>
              <a:rPr lang="zh-CN" altLang="en-US" sz="2800" b="1"/>
              <a:t>组成多级放大电路的每一个基本电路称为</a:t>
            </a:r>
            <a:r>
              <a:rPr lang="zh-CN" altLang="en-US" sz="2800" b="1">
                <a:solidFill>
                  <a:srgbClr val="FF3300"/>
                </a:solidFill>
              </a:rPr>
              <a:t>一级</a:t>
            </a:r>
            <a:r>
              <a:rPr lang="zh-CN" altLang="en-US" sz="2800" b="1"/>
              <a:t>，</a:t>
            </a:r>
          </a:p>
          <a:p>
            <a:pPr eaLnBrk="1" hangingPunct="1"/>
            <a:r>
              <a:rPr lang="zh-CN" altLang="en-US" sz="2800" b="1"/>
              <a:t>级与级之间的连接称为</a:t>
            </a:r>
            <a:r>
              <a:rPr lang="zh-CN" altLang="en-US" sz="2800" b="1">
                <a:solidFill>
                  <a:srgbClr val="FF3300"/>
                </a:solidFill>
              </a:rPr>
              <a:t>级间耦合</a:t>
            </a:r>
            <a:r>
              <a:rPr lang="zh-CN" altLang="en-US" sz="2800" b="1"/>
              <a:t>。</a:t>
            </a:r>
          </a:p>
        </p:txBody>
      </p:sp>
      <p:sp>
        <p:nvSpPr>
          <p:cNvPr id="138247" name="Text Box 7"/>
          <p:cNvSpPr txBox="1">
            <a:spLocks noChangeArrowheads="1"/>
          </p:cNvSpPr>
          <p:nvPr/>
        </p:nvSpPr>
        <p:spPr bwMode="auto">
          <a:xfrm>
            <a:off x="1066800" y="3429000"/>
            <a:ext cx="4953000" cy="2709863"/>
          </a:xfrm>
          <a:prstGeom prst="rect">
            <a:avLst/>
          </a:prstGeom>
          <a:noFill/>
          <a:ln w="9525">
            <a:noFill/>
            <a:miter lim="800000"/>
            <a:headEnd/>
            <a:tailEnd/>
          </a:ln>
        </p:spPr>
        <p:txBody>
          <a:bodyPr>
            <a:spAutoFit/>
          </a:bodyPr>
          <a:lstStyle/>
          <a:p>
            <a:pPr eaLnBrk="1" hangingPunct="1">
              <a:spcBef>
                <a:spcPct val="50000"/>
              </a:spcBef>
            </a:pPr>
            <a:r>
              <a:rPr lang="zh-CN" altLang="en-US" sz="2800" b="1">
                <a:solidFill>
                  <a:srgbClr val="FF3300"/>
                </a:solidFill>
              </a:rPr>
              <a:t>四种常见的耦合方式</a:t>
            </a:r>
            <a:r>
              <a:rPr lang="zh-CN" altLang="en-US">
                <a:solidFill>
                  <a:srgbClr val="FF3300"/>
                </a:solidFill>
              </a:rPr>
              <a:t>：</a:t>
            </a:r>
          </a:p>
          <a:p>
            <a:pPr eaLnBrk="1" hangingPunct="1">
              <a:spcBef>
                <a:spcPct val="50000"/>
              </a:spcBef>
            </a:pPr>
            <a:r>
              <a:rPr lang="zh-CN" altLang="en-US" b="1">
                <a:solidFill>
                  <a:schemeClr val="hlink"/>
                </a:solidFill>
              </a:rPr>
              <a:t>　　直接耦合</a:t>
            </a:r>
          </a:p>
          <a:p>
            <a:pPr eaLnBrk="1" hangingPunct="1">
              <a:spcBef>
                <a:spcPct val="50000"/>
              </a:spcBef>
            </a:pPr>
            <a:r>
              <a:rPr lang="zh-CN" altLang="en-US" b="1">
                <a:solidFill>
                  <a:schemeClr val="hlink"/>
                </a:solidFill>
              </a:rPr>
              <a:t>　　阻容耦合</a:t>
            </a:r>
          </a:p>
          <a:p>
            <a:pPr eaLnBrk="1" hangingPunct="1">
              <a:spcBef>
                <a:spcPct val="50000"/>
              </a:spcBef>
            </a:pPr>
            <a:r>
              <a:rPr lang="zh-CN" altLang="en-US" b="1">
                <a:solidFill>
                  <a:schemeClr val="hlink"/>
                </a:solidFill>
              </a:rPr>
              <a:t>　　变压器耦合</a:t>
            </a:r>
          </a:p>
          <a:p>
            <a:pPr eaLnBrk="1" hangingPunct="1">
              <a:spcBef>
                <a:spcPct val="50000"/>
              </a:spcBef>
            </a:pPr>
            <a:r>
              <a:rPr lang="zh-CN" altLang="en-US" b="1">
                <a:solidFill>
                  <a:schemeClr val="hlink"/>
                </a:solidFill>
              </a:rPr>
              <a:t>　　光电耦合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8245">
                                            <p:txEl>
                                              <p:pRg st="0" end="0"/>
                                            </p:txEl>
                                          </p:spTgt>
                                        </p:tgtEl>
                                        <p:attrNameLst>
                                          <p:attrName>style.visibility</p:attrName>
                                        </p:attrNameLst>
                                      </p:cBhvr>
                                      <p:to>
                                        <p:strVal val="visible"/>
                                      </p:to>
                                    </p:set>
                                    <p:animEffect transition="in" filter="box(out)">
                                      <p:cBhvr>
                                        <p:cTn id="7" dur="500"/>
                                        <p:tgtEl>
                                          <p:spTgt spid="13824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8246">
                                            <p:txEl>
                                              <p:pRg st="0" end="0"/>
                                            </p:txEl>
                                          </p:spTgt>
                                        </p:tgtEl>
                                        <p:attrNameLst>
                                          <p:attrName>style.visibility</p:attrName>
                                        </p:attrNameLst>
                                      </p:cBhvr>
                                      <p:to>
                                        <p:strVal val="visible"/>
                                      </p:to>
                                    </p:set>
                                    <p:animEffect transition="in" filter="box(out)">
                                      <p:cBhvr>
                                        <p:cTn id="12" dur="500"/>
                                        <p:tgtEl>
                                          <p:spTgt spid="138246">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8246">
                                            <p:txEl>
                                              <p:pRg st="1" end="1"/>
                                            </p:txEl>
                                          </p:spTgt>
                                        </p:tgtEl>
                                        <p:attrNameLst>
                                          <p:attrName>style.visibility</p:attrName>
                                        </p:attrNameLst>
                                      </p:cBhvr>
                                      <p:to>
                                        <p:strVal val="visible"/>
                                      </p:to>
                                    </p:set>
                                    <p:animEffect transition="in" filter="box(out)">
                                      <p:cBhvr>
                                        <p:cTn id="17" dur="500"/>
                                        <p:tgtEl>
                                          <p:spTgt spid="138246">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38247">
                                            <p:txEl>
                                              <p:pRg st="0" end="0"/>
                                            </p:txEl>
                                          </p:spTgt>
                                        </p:tgtEl>
                                        <p:attrNameLst>
                                          <p:attrName>style.visibility</p:attrName>
                                        </p:attrNameLst>
                                      </p:cBhvr>
                                      <p:to>
                                        <p:strVal val="visible"/>
                                      </p:to>
                                    </p:set>
                                    <p:animEffect transition="in" filter="box(out)">
                                      <p:cBhvr>
                                        <p:cTn id="22" dur="500"/>
                                        <p:tgtEl>
                                          <p:spTgt spid="13824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38247">
                                            <p:txEl>
                                              <p:pRg st="1" end="1"/>
                                            </p:txEl>
                                          </p:spTgt>
                                        </p:tgtEl>
                                        <p:attrNameLst>
                                          <p:attrName>style.visibility</p:attrName>
                                        </p:attrNameLst>
                                      </p:cBhvr>
                                      <p:to>
                                        <p:strVal val="visible"/>
                                      </p:to>
                                    </p:set>
                                    <p:animEffect transition="in" filter="box(out)">
                                      <p:cBhvr>
                                        <p:cTn id="27" dur="500"/>
                                        <p:tgtEl>
                                          <p:spTgt spid="138247">
                                            <p:txEl>
                                              <p:pRg st="1" end="1"/>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38247">
                                            <p:txEl>
                                              <p:pRg st="2" end="2"/>
                                            </p:txEl>
                                          </p:spTgt>
                                        </p:tgtEl>
                                        <p:attrNameLst>
                                          <p:attrName>style.visibility</p:attrName>
                                        </p:attrNameLst>
                                      </p:cBhvr>
                                      <p:to>
                                        <p:strVal val="visible"/>
                                      </p:to>
                                    </p:set>
                                    <p:animEffect transition="in" filter="box(out)">
                                      <p:cBhvr>
                                        <p:cTn id="32" dur="500"/>
                                        <p:tgtEl>
                                          <p:spTgt spid="138247">
                                            <p:txEl>
                                              <p:pRg st="2" end="2"/>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38247">
                                            <p:txEl>
                                              <p:pRg st="3" end="3"/>
                                            </p:txEl>
                                          </p:spTgt>
                                        </p:tgtEl>
                                        <p:attrNameLst>
                                          <p:attrName>style.visibility</p:attrName>
                                        </p:attrNameLst>
                                      </p:cBhvr>
                                      <p:to>
                                        <p:strVal val="visible"/>
                                      </p:to>
                                    </p:set>
                                    <p:animEffect transition="in" filter="box(out)">
                                      <p:cBhvr>
                                        <p:cTn id="37" dur="500"/>
                                        <p:tgtEl>
                                          <p:spTgt spid="138247">
                                            <p:txEl>
                                              <p:pRg st="3" end="3"/>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38247">
                                            <p:txEl>
                                              <p:pRg st="4" end="4"/>
                                            </p:txEl>
                                          </p:spTgt>
                                        </p:tgtEl>
                                        <p:attrNameLst>
                                          <p:attrName>style.visibility</p:attrName>
                                        </p:attrNameLst>
                                      </p:cBhvr>
                                      <p:to>
                                        <p:strVal val="visible"/>
                                      </p:to>
                                    </p:set>
                                    <p:animEffect transition="in" filter="box(out)">
                                      <p:cBhvr>
                                        <p:cTn id="42" dur="500"/>
                                        <p:tgtEl>
                                          <p:spTgt spid="138247">
                                            <p:txEl>
                                              <p:pRg st="4" end="4"/>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build="p" autoUpdateAnimBg="0"/>
      <p:bldP spid="138246" grpId="0" build="p" autoUpdateAnimBg="0"/>
      <p:bldP spid="1382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323850" y="908050"/>
            <a:ext cx="4398963" cy="533400"/>
          </a:xfrm>
        </p:spPr>
        <p:txBody>
          <a:bodyPr/>
          <a:lstStyle/>
          <a:p>
            <a:pPr algn="l" eaLnBrk="1" hangingPunct="1"/>
            <a:r>
              <a:rPr lang="en-US" altLang="zh-CN" sz="3600">
                <a:latin typeface="华文行楷" pitchFamily="2" charset="-122"/>
                <a:ea typeface="华文行楷" pitchFamily="2" charset="-122"/>
              </a:rPr>
              <a:t>3.1.1</a:t>
            </a:r>
            <a:r>
              <a:rPr lang="zh-CN" altLang="en-US" sz="3600">
                <a:latin typeface="华文行楷" pitchFamily="2" charset="-122"/>
                <a:ea typeface="华文行楷" pitchFamily="2" charset="-122"/>
              </a:rPr>
              <a:t>、直接耦合</a:t>
            </a:r>
          </a:p>
        </p:txBody>
      </p:sp>
      <p:graphicFrame>
        <p:nvGraphicFramePr>
          <p:cNvPr id="1026" name="Object 3"/>
          <p:cNvGraphicFramePr>
            <a:graphicFrameLocks noChangeAspect="1"/>
          </p:cNvGraphicFramePr>
          <p:nvPr/>
        </p:nvGraphicFramePr>
        <p:xfrm>
          <a:off x="990600" y="1676400"/>
          <a:ext cx="3879850" cy="2728913"/>
        </p:xfrm>
        <a:graphic>
          <a:graphicData uri="http://schemas.openxmlformats.org/presentationml/2006/ole">
            <mc:AlternateContent xmlns:mc="http://schemas.openxmlformats.org/markup-compatibility/2006">
              <mc:Choice xmlns:v="urn:schemas-microsoft-com:vml" Requires="v">
                <p:oleObj spid="_x0000_s1027" name="Photo Editor 照片" r:id="rId3" imgW="12527124" imgH="8809524" progId="">
                  <p:embed/>
                </p:oleObj>
              </mc:Choice>
              <mc:Fallback>
                <p:oleObj name="Photo Editor 照片" r:id="rId3" imgW="12527124" imgH="8809524"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676400"/>
                        <a:ext cx="3879850" cy="272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4" name="Line 4"/>
          <p:cNvSpPr>
            <a:spLocks noChangeShapeType="1"/>
          </p:cNvSpPr>
          <p:nvPr/>
        </p:nvSpPr>
        <p:spPr bwMode="auto">
          <a:xfrm>
            <a:off x="3352800" y="1600200"/>
            <a:ext cx="0" cy="2895600"/>
          </a:xfrm>
          <a:prstGeom prst="line">
            <a:avLst/>
          </a:prstGeom>
          <a:noFill/>
          <a:ln w="19050">
            <a:solidFill>
              <a:srgbClr val="FF3300"/>
            </a:solidFill>
            <a:prstDash val="lgDashDot"/>
            <a:round/>
            <a:headEnd/>
            <a:tailEnd/>
          </a:ln>
        </p:spPr>
        <p:txBody>
          <a:bodyPr/>
          <a:lstStyle/>
          <a:p>
            <a:endParaRPr lang="zh-CN" altLang="en-US"/>
          </a:p>
        </p:txBody>
      </p:sp>
      <p:sp>
        <p:nvSpPr>
          <p:cNvPr id="20485" name="AutoShape 5"/>
          <p:cNvSpPr>
            <a:spLocks/>
          </p:cNvSpPr>
          <p:nvPr/>
        </p:nvSpPr>
        <p:spPr bwMode="auto">
          <a:xfrm>
            <a:off x="4859338" y="1341438"/>
            <a:ext cx="4044950" cy="838200"/>
          </a:xfrm>
          <a:prstGeom prst="borderCallout1">
            <a:avLst>
              <a:gd name="adj1" fmla="val 13634"/>
              <a:gd name="adj2" fmla="val -1884"/>
              <a:gd name="adj3" fmla="val 104546"/>
              <a:gd name="adj4" fmla="val -45056"/>
            </a:avLst>
          </a:prstGeom>
          <a:solidFill>
            <a:srgbClr val="66FFFF"/>
          </a:solidFill>
          <a:ln w="19050">
            <a:solidFill>
              <a:srgbClr val="FF3300"/>
            </a:solidFill>
            <a:miter lim="800000"/>
            <a:headEnd/>
            <a:tailEnd/>
          </a:ln>
        </p:spPr>
        <p:txBody>
          <a:bodyPr/>
          <a:lstStyle/>
          <a:p>
            <a:pPr algn="ctr" eaLnBrk="1" hangingPunct="1"/>
            <a:r>
              <a:rPr lang="zh-CN" altLang="en-US" b="1"/>
              <a:t>既是第一级的集电极电阻，又是第二级的基极电阻</a:t>
            </a:r>
          </a:p>
        </p:txBody>
      </p:sp>
      <p:sp>
        <p:nvSpPr>
          <p:cNvPr id="20486" name="Text Box 6"/>
          <p:cNvSpPr txBox="1">
            <a:spLocks noChangeArrowheads="1"/>
          </p:cNvSpPr>
          <p:nvPr/>
        </p:nvSpPr>
        <p:spPr bwMode="auto">
          <a:xfrm>
            <a:off x="5003800" y="2349500"/>
            <a:ext cx="3863975" cy="1187450"/>
          </a:xfrm>
          <a:prstGeom prst="rect">
            <a:avLst/>
          </a:prstGeom>
          <a:noFill/>
          <a:ln w="9525">
            <a:noFill/>
            <a:miter lim="800000"/>
            <a:headEnd/>
            <a:tailEnd/>
          </a:ln>
        </p:spPr>
        <p:txBody>
          <a:bodyPr>
            <a:spAutoFit/>
          </a:bodyPr>
          <a:lstStyle/>
          <a:p>
            <a:pPr algn="ctr" eaLnBrk="1" hangingPunct="1">
              <a:spcBef>
                <a:spcPct val="50000"/>
              </a:spcBef>
            </a:pPr>
            <a:r>
              <a:rPr lang="en-US" altLang="zh-CN"/>
              <a:t>        </a:t>
            </a:r>
            <a:r>
              <a:rPr lang="zh-CN" altLang="en-US" b="1">
                <a:solidFill>
                  <a:srgbClr val="A50021"/>
                </a:solidFill>
              </a:rPr>
              <a:t>能够放大变化缓慢的信号，便于集成化， </a:t>
            </a:r>
            <a:r>
              <a:rPr lang="en-US" altLang="zh-CN" b="1" i="1">
                <a:solidFill>
                  <a:srgbClr val="A50021"/>
                </a:solidFill>
              </a:rPr>
              <a:t>Q</a:t>
            </a:r>
            <a:r>
              <a:rPr lang="zh-CN" altLang="zh-CN" b="1">
                <a:solidFill>
                  <a:srgbClr val="A50021"/>
                </a:solidFill>
              </a:rPr>
              <a:t>点相互影响，</a:t>
            </a:r>
            <a:r>
              <a:rPr lang="zh-CN" altLang="en-US" b="1">
                <a:solidFill>
                  <a:srgbClr val="A50021"/>
                </a:solidFill>
              </a:rPr>
              <a:t>存在零点漂移现象。</a:t>
            </a:r>
          </a:p>
        </p:txBody>
      </p:sp>
      <p:sp>
        <p:nvSpPr>
          <p:cNvPr id="20487" name="Text Box 7"/>
          <p:cNvSpPr txBox="1">
            <a:spLocks noChangeArrowheads="1"/>
          </p:cNvSpPr>
          <p:nvPr/>
        </p:nvSpPr>
        <p:spPr bwMode="auto">
          <a:xfrm>
            <a:off x="755650" y="5229225"/>
            <a:ext cx="8137525" cy="822325"/>
          </a:xfrm>
          <a:prstGeom prst="rect">
            <a:avLst/>
          </a:prstGeom>
          <a:noFill/>
          <a:ln w="9525">
            <a:noFill/>
            <a:miter lim="800000"/>
            <a:headEnd/>
            <a:tailEnd/>
          </a:ln>
        </p:spPr>
        <p:txBody>
          <a:bodyPr>
            <a:spAutoFit/>
          </a:bodyPr>
          <a:lstStyle/>
          <a:p>
            <a:pPr algn="ctr" eaLnBrk="1" hangingPunct="1">
              <a:spcBef>
                <a:spcPct val="50000"/>
              </a:spcBef>
            </a:pPr>
            <a:r>
              <a:rPr lang="en-US" altLang="zh-CN" b="1"/>
              <a:t>    </a:t>
            </a:r>
            <a:r>
              <a:rPr lang="zh-CN" altLang="en-US" b="1"/>
              <a:t>当输入信号为零时，前级由温度变化所引起的电流、电位的变化会逐级放大。</a:t>
            </a:r>
          </a:p>
        </p:txBody>
      </p:sp>
      <p:grpSp>
        <p:nvGrpSpPr>
          <p:cNvPr id="2" name="Group 8"/>
          <p:cNvGrpSpPr>
            <a:grpSpLocks/>
          </p:cNvGrpSpPr>
          <p:nvPr/>
        </p:nvGrpSpPr>
        <p:grpSpPr bwMode="auto">
          <a:xfrm>
            <a:off x="1524000" y="4267200"/>
            <a:ext cx="3124200" cy="457200"/>
            <a:chOff x="960" y="2688"/>
            <a:chExt cx="1968" cy="288"/>
          </a:xfrm>
        </p:grpSpPr>
        <p:sp>
          <p:nvSpPr>
            <p:cNvPr id="1041" name="Text Box 9"/>
            <p:cNvSpPr txBox="1">
              <a:spLocks noChangeArrowheads="1"/>
            </p:cNvSpPr>
            <p:nvPr/>
          </p:nvSpPr>
          <p:spPr bwMode="auto">
            <a:xfrm>
              <a:off x="2160" y="2688"/>
              <a:ext cx="768" cy="288"/>
            </a:xfrm>
            <a:prstGeom prst="rect">
              <a:avLst/>
            </a:prstGeom>
            <a:noFill/>
            <a:ln w="9525">
              <a:noFill/>
              <a:miter lim="800000"/>
              <a:headEnd/>
              <a:tailEnd/>
            </a:ln>
          </p:spPr>
          <p:txBody>
            <a:bodyPr>
              <a:spAutoFit/>
            </a:bodyPr>
            <a:lstStyle/>
            <a:p>
              <a:pPr algn="ctr" eaLnBrk="1" hangingPunct="1">
                <a:spcBef>
                  <a:spcPct val="50000"/>
                </a:spcBef>
              </a:pPr>
              <a:r>
                <a:rPr lang="zh-CN" altLang="en-US" b="1"/>
                <a:t>第二级</a:t>
              </a:r>
            </a:p>
          </p:txBody>
        </p:sp>
        <p:sp>
          <p:nvSpPr>
            <p:cNvPr id="1042" name="Text Box 10"/>
            <p:cNvSpPr txBox="1">
              <a:spLocks noChangeArrowheads="1"/>
            </p:cNvSpPr>
            <p:nvPr/>
          </p:nvSpPr>
          <p:spPr bwMode="auto">
            <a:xfrm>
              <a:off x="960" y="2688"/>
              <a:ext cx="768" cy="288"/>
            </a:xfrm>
            <a:prstGeom prst="rect">
              <a:avLst/>
            </a:prstGeom>
            <a:noFill/>
            <a:ln w="9525">
              <a:noFill/>
              <a:miter lim="800000"/>
              <a:headEnd/>
              <a:tailEnd/>
            </a:ln>
          </p:spPr>
          <p:txBody>
            <a:bodyPr>
              <a:spAutoFit/>
            </a:bodyPr>
            <a:lstStyle/>
            <a:p>
              <a:pPr algn="ctr" eaLnBrk="1" hangingPunct="1">
                <a:spcBef>
                  <a:spcPct val="50000"/>
                </a:spcBef>
              </a:pPr>
              <a:r>
                <a:rPr lang="zh-CN" altLang="en-US" b="1"/>
                <a:t>第一级</a:t>
              </a:r>
            </a:p>
          </p:txBody>
        </p:sp>
      </p:grpSp>
      <p:sp>
        <p:nvSpPr>
          <p:cNvPr id="20496" name="AutoShape 16"/>
          <p:cNvSpPr>
            <a:spLocks/>
          </p:cNvSpPr>
          <p:nvPr/>
        </p:nvSpPr>
        <p:spPr bwMode="auto">
          <a:xfrm>
            <a:off x="395288" y="4724400"/>
            <a:ext cx="1993900" cy="498475"/>
          </a:xfrm>
          <a:prstGeom prst="borderCallout2">
            <a:avLst>
              <a:gd name="adj1" fmla="val 22931"/>
              <a:gd name="adj2" fmla="val 103819"/>
              <a:gd name="adj3" fmla="val 22931"/>
              <a:gd name="adj4" fmla="val 111861"/>
              <a:gd name="adj5" fmla="val -225157"/>
              <a:gd name="adj6" fmla="val 120463"/>
            </a:avLst>
          </a:prstGeom>
          <a:solidFill>
            <a:srgbClr val="66FFFF"/>
          </a:solidFill>
          <a:ln w="19050">
            <a:solidFill>
              <a:srgbClr val="FF3300"/>
            </a:solidFill>
            <a:miter lim="800000"/>
            <a:headEnd/>
            <a:tailEnd/>
          </a:ln>
        </p:spPr>
        <p:txBody>
          <a:bodyPr/>
          <a:lstStyle/>
          <a:p>
            <a:pPr algn="ctr"/>
            <a:r>
              <a:rPr lang="en-US" altLang="zh-CN" b="1" i="1"/>
              <a:t>Q</a:t>
            </a:r>
            <a:r>
              <a:rPr lang="en-US" altLang="zh-CN" b="1" baseline="-25000"/>
              <a:t>1</a:t>
            </a:r>
            <a:r>
              <a:rPr lang="zh-CN" altLang="en-US" b="1"/>
              <a:t>合适吗？</a:t>
            </a:r>
          </a:p>
        </p:txBody>
      </p:sp>
      <p:sp>
        <p:nvSpPr>
          <p:cNvPr id="20497" name="AutoShape 17"/>
          <p:cNvSpPr>
            <a:spLocks/>
          </p:cNvSpPr>
          <p:nvPr/>
        </p:nvSpPr>
        <p:spPr bwMode="auto">
          <a:xfrm>
            <a:off x="611188" y="1557338"/>
            <a:ext cx="1003300" cy="835025"/>
          </a:xfrm>
          <a:prstGeom prst="borderCallout1">
            <a:avLst>
              <a:gd name="adj1" fmla="val 13690"/>
              <a:gd name="adj2" fmla="val 107597"/>
              <a:gd name="adj3" fmla="val 153991"/>
              <a:gd name="adj4" fmla="val 264241"/>
            </a:avLst>
          </a:prstGeom>
          <a:solidFill>
            <a:srgbClr val="66FFFF"/>
          </a:solidFill>
          <a:ln w="19050">
            <a:solidFill>
              <a:srgbClr val="FF0000"/>
            </a:solidFill>
            <a:miter lim="800000"/>
            <a:headEnd/>
            <a:tailEnd/>
          </a:ln>
        </p:spPr>
        <p:txBody>
          <a:bodyPr/>
          <a:lstStyle/>
          <a:p>
            <a:pPr algn="ctr" eaLnBrk="1" hangingPunct="1"/>
            <a:r>
              <a:rPr lang="zh-CN" altLang="en-US" b="1"/>
              <a:t>直接连接</a:t>
            </a:r>
          </a:p>
        </p:txBody>
      </p:sp>
      <p:grpSp>
        <p:nvGrpSpPr>
          <p:cNvPr id="3" name="Group 18"/>
          <p:cNvGrpSpPr>
            <a:grpSpLocks/>
          </p:cNvGrpSpPr>
          <p:nvPr/>
        </p:nvGrpSpPr>
        <p:grpSpPr bwMode="auto">
          <a:xfrm>
            <a:off x="5181600" y="3500438"/>
            <a:ext cx="3278188" cy="1519237"/>
            <a:chOff x="3264" y="2205"/>
            <a:chExt cx="2065" cy="957"/>
          </a:xfrm>
        </p:grpSpPr>
        <p:sp>
          <p:nvSpPr>
            <p:cNvPr id="1039" name="AutoShape 19"/>
            <p:cNvSpPr>
              <a:spLocks/>
            </p:cNvSpPr>
            <p:nvPr/>
          </p:nvSpPr>
          <p:spPr bwMode="auto">
            <a:xfrm>
              <a:off x="3264" y="2400"/>
              <a:ext cx="1515" cy="762"/>
            </a:xfrm>
            <a:prstGeom prst="borderCallout1">
              <a:avLst>
                <a:gd name="adj1" fmla="val 9449"/>
                <a:gd name="adj2" fmla="val 103167"/>
                <a:gd name="adj3" fmla="val -25593"/>
                <a:gd name="adj4" fmla="val 111023"/>
              </a:avLst>
            </a:prstGeom>
            <a:solidFill>
              <a:srgbClr val="66FFFF"/>
            </a:solidFill>
            <a:ln w="19050">
              <a:solidFill>
                <a:schemeClr val="tx2"/>
              </a:solidFill>
              <a:miter lim="800000"/>
              <a:headEnd/>
              <a:tailEnd/>
            </a:ln>
          </p:spPr>
          <p:txBody>
            <a:bodyPr/>
            <a:lstStyle/>
            <a:p>
              <a:pPr algn="ctr" eaLnBrk="1" hangingPunct="1"/>
              <a:r>
                <a:rPr lang="zh-CN" altLang="en-US" b="1"/>
                <a:t>输入为零，输出产生变化的现象称为零点漂移</a:t>
              </a:r>
            </a:p>
          </p:txBody>
        </p:sp>
        <p:sp>
          <p:nvSpPr>
            <p:cNvPr id="1040" name="Line 20"/>
            <p:cNvSpPr>
              <a:spLocks noChangeShapeType="1"/>
            </p:cNvSpPr>
            <p:nvPr/>
          </p:nvSpPr>
          <p:spPr bwMode="auto">
            <a:xfrm>
              <a:off x="4195" y="2205"/>
              <a:ext cx="1134" cy="0"/>
            </a:xfrm>
            <a:prstGeom prst="line">
              <a:avLst/>
            </a:prstGeom>
            <a:noFill/>
            <a:ln w="28575">
              <a:solidFill>
                <a:schemeClr val="tx2"/>
              </a:solidFill>
              <a:round/>
              <a:headEnd/>
              <a:tailEnd/>
            </a:ln>
          </p:spPr>
          <p:txBody>
            <a:bodyPr/>
            <a:lstStyle/>
            <a:p>
              <a:endParaRPr lang="zh-CN" altLang="en-US"/>
            </a:p>
          </p:txBody>
        </p:sp>
      </p:grpSp>
      <p:sp>
        <p:nvSpPr>
          <p:cNvPr id="20501" name="Text Box 21"/>
          <p:cNvSpPr txBox="1">
            <a:spLocks noChangeArrowheads="1"/>
          </p:cNvSpPr>
          <p:nvPr/>
        </p:nvSpPr>
        <p:spPr bwMode="auto">
          <a:xfrm>
            <a:off x="1116013" y="6021388"/>
            <a:ext cx="7850187" cy="457200"/>
          </a:xfrm>
          <a:prstGeom prst="rect">
            <a:avLst/>
          </a:prstGeom>
          <a:noFill/>
          <a:ln w="9525">
            <a:noFill/>
            <a:miter lim="800000"/>
            <a:headEnd/>
            <a:tailEnd/>
          </a:ln>
        </p:spPr>
        <p:txBody>
          <a:bodyPr>
            <a:spAutoFit/>
          </a:bodyPr>
          <a:lstStyle/>
          <a:p>
            <a:pPr algn="ctr" eaLnBrk="1" hangingPunct="1">
              <a:spcBef>
                <a:spcPct val="50000"/>
              </a:spcBef>
            </a:pPr>
            <a:r>
              <a:rPr lang="zh-CN" altLang="en-US" b="1"/>
              <a:t>求解</a:t>
            </a:r>
            <a:r>
              <a:rPr lang="en-US" altLang="zh-CN" b="1" i="1"/>
              <a:t>Q</a:t>
            </a:r>
            <a:r>
              <a:rPr lang="zh-CN" altLang="en-US" b="1"/>
              <a:t>点时应按</a:t>
            </a:r>
            <a:r>
              <a:rPr lang="zh-CN" altLang="en-US" b="1">
                <a:solidFill>
                  <a:schemeClr val="accent2"/>
                </a:solidFill>
              </a:rPr>
              <a:t>各回路列多元一次方程</a:t>
            </a:r>
            <a:r>
              <a:rPr lang="zh-CN" altLang="en-US" b="1"/>
              <a:t>，然后解方程组。</a:t>
            </a:r>
          </a:p>
        </p:txBody>
      </p:sp>
      <p:sp>
        <p:nvSpPr>
          <p:cNvPr id="17" name="TextBox 16"/>
          <p:cNvSpPr txBox="1">
            <a:spLocks noChangeArrowheads="1"/>
          </p:cNvSpPr>
          <p:nvPr/>
        </p:nvSpPr>
        <p:spPr bwMode="auto">
          <a:xfrm>
            <a:off x="2506663" y="4776788"/>
            <a:ext cx="2759075" cy="461962"/>
          </a:xfrm>
          <a:prstGeom prst="rect">
            <a:avLst/>
          </a:prstGeom>
          <a:solidFill>
            <a:schemeClr val="accent1"/>
          </a:solidFill>
          <a:ln w="9525">
            <a:noFill/>
            <a:miter lim="800000"/>
            <a:headEnd/>
            <a:tailEnd/>
          </a:ln>
        </p:spPr>
        <p:txBody>
          <a:bodyPr>
            <a:spAutoFit/>
          </a:bodyPr>
          <a:lstStyle/>
          <a:p>
            <a:pPr algn="ctr" eaLnBrk="1" hangingPunct="1"/>
            <a:r>
              <a:rPr lang="zh-CN" altLang="en-US"/>
              <a:t>第一级接近饱和区</a:t>
            </a:r>
          </a:p>
        </p:txBody>
      </p:sp>
      <p:sp>
        <p:nvSpPr>
          <p:cNvPr id="4" name="标注: 线形 3"/>
          <p:cNvSpPr>
            <a:spLocks/>
          </p:cNvSpPr>
          <p:nvPr/>
        </p:nvSpPr>
        <p:spPr bwMode="auto">
          <a:xfrm>
            <a:off x="2201863" y="2590800"/>
            <a:ext cx="490537" cy="300038"/>
          </a:xfrm>
          <a:prstGeom prst="borderCallout1">
            <a:avLst>
              <a:gd name="adj1" fmla="val 45431"/>
              <a:gd name="adj2" fmla="val 106565"/>
              <a:gd name="adj3" fmla="val 79889"/>
              <a:gd name="adj4" fmla="val 151037"/>
            </a:avLst>
          </a:prstGeom>
          <a:solidFill>
            <a:schemeClr val="accent1"/>
          </a:solidFill>
          <a:ln w="9525" algn="ctr">
            <a:solidFill>
              <a:schemeClr val="tx1"/>
            </a:solidFill>
            <a:round/>
            <a:headEnd/>
            <a:tailEnd/>
          </a:ln>
        </p:spPr>
        <p:txBody>
          <a:bodyPr/>
          <a:lstStyle/>
          <a:p>
            <a:pPr algn="ctr" eaLnBrk="1" hangingPunct="1"/>
            <a:r>
              <a:rPr lang="zh-CN" altLang="en-US" sz="1200" b="1"/>
              <a:t>电位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wipe(up)">
                                      <p:cBhvr>
                                        <p:cTn id="7" dur="500"/>
                                        <p:tgtEl>
                                          <p:spTgt spid="20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0497"/>
                                        </p:tgtEl>
                                        <p:attrNameLst>
                                          <p:attrName>style.visibility</p:attrName>
                                        </p:attrNameLst>
                                      </p:cBhvr>
                                      <p:to>
                                        <p:strVal val="visible"/>
                                      </p:to>
                                    </p:set>
                                    <p:animEffect transition="in" filter="wipe(right)">
                                      <p:cBhvr>
                                        <p:cTn id="17" dur="500"/>
                                        <p:tgtEl>
                                          <p:spTgt spid="204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048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486">
                                            <p:txEl>
                                              <p:pRg st="0" end="0"/>
                                            </p:txEl>
                                          </p:spTgt>
                                        </p:tgtEl>
                                        <p:attrNameLst>
                                          <p:attrName>style.visibility</p:attrName>
                                        </p:attrNameLst>
                                      </p:cBhvr>
                                      <p:to>
                                        <p:strVal val="visible"/>
                                      </p:to>
                                    </p:set>
                                    <p:animEffect transition="in" filter="wipe(left)">
                                      <p:cBhvr>
                                        <p:cTn id="26" dur="500"/>
                                        <p:tgtEl>
                                          <p:spTgt spid="2048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487">
                                            <p:txEl>
                                              <p:pRg st="0" end="0"/>
                                            </p:txEl>
                                          </p:spTgt>
                                        </p:tgtEl>
                                        <p:attrNameLst>
                                          <p:attrName>style.visibility</p:attrName>
                                        </p:attrNameLst>
                                      </p:cBhvr>
                                      <p:to>
                                        <p:strVal val="visible"/>
                                      </p:to>
                                    </p:set>
                                    <p:animEffect transition="in" filter="wipe(left)">
                                      <p:cBhvr>
                                        <p:cTn id="36" dur="500"/>
                                        <p:tgtEl>
                                          <p:spTgt spid="20487">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0496"/>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0501"/>
                                        </p:tgtEl>
                                        <p:attrNameLst>
                                          <p:attrName>style.visibility</p:attrName>
                                        </p:attrNameLst>
                                      </p:cBhvr>
                                      <p:to>
                                        <p:strVal val="visible"/>
                                      </p:to>
                                    </p:set>
                                    <p:animEffect transition="in" filter="wipe(left)">
                                      <p:cBhvr>
                                        <p:cTn id="54" dur="500"/>
                                        <p:tgtEl>
                                          <p:spTgt spid="20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85" grpId="0" animBg="1" autoUpdateAnimBg="0"/>
      <p:bldP spid="20486" grpId="0" build="p" autoUpdateAnimBg="0"/>
      <p:bldP spid="20487" grpId="0" build="p" autoUpdateAnimBg="0"/>
      <p:bldP spid="20496" grpId="0" animBg="1" autoUpdateAnimBg="0"/>
      <p:bldP spid="20497" grpId="0" animBg="1"/>
      <p:bldP spid="20501" grpId="0"/>
      <p:bldP spid="17"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1066800" y="700088"/>
            <a:ext cx="5105400" cy="519112"/>
          </a:xfrm>
          <a:prstGeom prst="rect">
            <a:avLst/>
          </a:prstGeom>
          <a:noFill/>
          <a:ln w="9525">
            <a:noFill/>
            <a:miter lim="800000"/>
            <a:headEnd/>
            <a:tailEnd/>
          </a:ln>
        </p:spPr>
        <p:txBody>
          <a:bodyPr>
            <a:spAutoFit/>
          </a:bodyPr>
          <a:lstStyle/>
          <a:p>
            <a:pPr eaLnBrk="1" hangingPunct="1">
              <a:spcBef>
                <a:spcPct val="50000"/>
              </a:spcBef>
            </a:pPr>
            <a:r>
              <a:rPr lang="en-US" altLang="zh-CN" sz="2800" b="1">
                <a:solidFill>
                  <a:srgbClr val="FF3300"/>
                </a:solidFill>
              </a:rPr>
              <a:t>3.1.1</a:t>
            </a:r>
            <a:r>
              <a:rPr lang="zh-CN" altLang="en-US" sz="2800" b="1">
                <a:solidFill>
                  <a:srgbClr val="FF3300"/>
                </a:solidFill>
              </a:rPr>
              <a:t>　直接耦合</a:t>
            </a:r>
          </a:p>
        </p:txBody>
      </p:sp>
      <p:sp>
        <p:nvSpPr>
          <p:cNvPr id="139324" name="Text Box 60"/>
          <p:cNvSpPr txBox="1">
            <a:spLocks noChangeArrowheads="1"/>
          </p:cNvSpPr>
          <p:nvPr/>
        </p:nvSpPr>
        <p:spPr bwMode="auto">
          <a:xfrm>
            <a:off x="1447800" y="3886200"/>
            <a:ext cx="6858000" cy="457200"/>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FF00FF"/>
                </a:solidFill>
                <a:ea typeface="黑体" pitchFamily="49" charset="-122"/>
              </a:rPr>
              <a:t>图 </a:t>
            </a:r>
            <a:r>
              <a:rPr lang="en-US" altLang="zh-CN" b="1">
                <a:solidFill>
                  <a:srgbClr val="FF00FF"/>
                </a:solidFill>
                <a:ea typeface="黑体" pitchFamily="49" charset="-122"/>
              </a:rPr>
              <a:t>3.1.1</a:t>
            </a:r>
            <a:r>
              <a:rPr lang="zh-CN" altLang="en-US" b="1">
                <a:solidFill>
                  <a:srgbClr val="FF00FF"/>
                </a:solidFill>
                <a:ea typeface="黑体" pitchFamily="49" charset="-122"/>
              </a:rPr>
              <a:t>（</a:t>
            </a:r>
            <a:r>
              <a:rPr lang="en-US" altLang="zh-CN" b="1">
                <a:solidFill>
                  <a:srgbClr val="FF00FF"/>
                </a:solidFill>
                <a:ea typeface="黑体" pitchFamily="49" charset="-122"/>
              </a:rPr>
              <a:t>a)</a:t>
            </a:r>
            <a:r>
              <a:rPr lang="zh-CN" altLang="en-US" b="1">
                <a:solidFill>
                  <a:srgbClr val="FF00FF"/>
                </a:solidFill>
                <a:ea typeface="黑体" pitchFamily="49" charset="-122"/>
              </a:rPr>
              <a:t>　两个单管放大电路简单的直接耦合</a:t>
            </a:r>
          </a:p>
        </p:txBody>
      </p:sp>
      <p:sp>
        <p:nvSpPr>
          <p:cNvPr id="139325" name="Text Box 61"/>
          <p:cNvSpPr txBox="1">
            <a:spLocks noChangeArrowheads="1"/>
          </p:cNvSpPr>
          <p:nvPr/>
        </p:nvSpPr>
        <p:spPr bwMode="auto">
          <a:xfrm>
            <a:off x="1143000" y="4267200"/>
            <a:ext cx="2209800" cy="488950"/>
          </a:xfrm>
          <a:prstGeom prst="rect">
            <a:avLst/>
          </a:prstGeom>
          <a:noFill/>
          <a:ln w="9525">
            <a:noFill/>
            <a:miter lim="800000"/>
            <a:headEnd/>
            <a:tailEnd/>
          </a:ln>
        </p:spPr>
        <p:txBody>
          <a:bodyPr>
            <a:spAutoFit/>
          </a:bodyPr>
          <a:lstStyle/>
          <a:p>
            <a:pPr eaLnBrk="1" hangingPunct="1">
              <a:spcBef>
                <a:spcPct val="50000"/>
              </a:spcBef>
            </a:pPr>
            <a:r>
              <a:rPr lang="zh-CN" altLang="en-US" sz="2600" b="1">
                <a:solidFill>
                  <a:srgbClr val="0000FF"/>
                </a:solidFill>
              </a:rPr>
              <a:t>特点：</a:t>
            </a:r>
          </a:p>
        </p:txBody>
      </p:sp>
      <p:sp>
        <p:nvSpPr>
          <p:cNvPr id="139326" name="Text Box 62"/>
          <p:cNvSpPr txBox="1">
            <a:spLocks noChangeArrowheads="1"/>
          </p:cNvSpPr>
          <p:nvPr/>
        </p:nvSpPr>
        <p:spPr bwMode="auto">
          <a:xfrm>
            <a:off x="152400" y="4724400"/>
            <a:ext cx="3810000" cy="1639888"/>
          </a:xfrm>
          <a:prstGeom prst="rect">
            <a:avLst/>
          </a:prstGeom>
          <a:noFill/>
          <a:ln w="9525">
            <a:noFill/>
            <a:miter lim="800000"/>
            <a:headEnd/>
            <a:tailEnd/>
          </a:ln>
        </p:spPr>
        <p:txBody>
          <a:bodyPr>
            <a:spAutoFit/>
          </a:bodyPr>
          <a:lstStyle/>
          <a:p>
            <a:pPr eaLnBrk="1" hangingPunct="1">
              <a:lnSpc>
                <a:spcPct val="120000"/>
              </a:lnSpc>
              <a:spcBef>
                <a:spcPct val="50000"/>
              </a:spcBef>
            </a:pPr>
            <a:r>
              <a:rPr lang="zh-CN" altLang="en-US" sz="2600" b="1"/>
              <a:t>　　</a:t>
            </a:r>
            <a:r>
              <a:rPr lang="en-US" altLang="zh-CN" sz="2600" b="1">
                <a:latin typeface="宋体" pitchFamily="2" charset="-122"/>
              </a:rPr>
              <a:t>(</a:t>
            </a:r>
            <a:r>
              <a:rPr lang="en-US" altLang="zh-CN" sz="2600" b="1"/>
              <a:t>1</a:t>
            </a:r>
            <a:r>
              <a:rPr lang="en-US" altLang="zh-CN" sz="2600" b="1">
                <a:latin typeface="宋体" pitchFamily="2" charset="-122"/>
              </a:rPr>
              <a:t>)</a:t>
            </a:r>
            <a:r>
              <a:rPr lang="en-US" altLang="zh-CN" sz="2600" b="1"/>
              <a:t> </a:t>
            </a:r>
            <a:r>
              <a:rPr lang="zh-CN" altLang="en-US" sz="2600" b="1"/>
              <a:t>可以放大交流和缓慢变化及直流信号；</a:t>
            </a:r>
          </a:p>
          <a:p>
            <a:pPr algn="just" eaLnBrk="1" hangingPunct="1">
              <a:spcBef>
                <a:spcPct val="50000"/>
              </a:spcBef>
            </a:pPr>
            <a:r>
              <a:rPr lang="zh-CN" altLang="en-US" sz="2600" b="1"/>
              <a:t>　　</a:t>
            </a:r>
            <a:r>
              <a:rPr lang="en-US" altLang="zh-CN" sz="2600" b="1">
                <a:latin typeface="宋体" pitchFamily="2" charset="-122"/>
              </a:rPr>
              <a:t>(</a:t>
            </a:r>
            <a:r>
              <a:rPr lang="en-US" altLang="zh-CN" sz="2600" b="1"/>
              <a:t>2</a:t>
            </a:r>
            <a:r>
              <a:rPr lang="en-US" altLang="zh-CN" sz="2600" b="1">
                <a:latin typeface="宋体" pitchFamily="2" charset="-122"/>
              </a:rPr>
              <a:t>)</a:t>
            </a:r>
            <a:r>
              <a:rPr lang="en-US" altLang="zh-CN" sz="2600" b="1"/>
              <a:t> </a:t>
            </a:r>
            <a:r>
              <a:rPr lang="zh-CN" altLang="en-US" sz="2600" b="1">
                <a:solidFill>
                  <a:srgbClr val="FF0000"/>
                </a:solidFill>
              </a:rPr>
              <a:t>便于集成化</a:t>
            </a:r>
            <a:r>
              <a:rPr lang="zh-CN" altLang="en-US" sz="2600" b="1"/>
              <a:t>。</a:t>
            </a:r>
          </a:p>
        </p:txBody>
      </p:sp>
      <p:sp>
        <p:nvSpPr>
          <p:cNvPr id="139327" name="Line 63"/>
          <p:cNvSpPr>
            <a:spLocks noChangeShapeType="1"/>
          </p:cNvSpPr>
          <p:nvPr/>
        </p:nvSpPr>
        <p:spPr bwMode="auto">
          <a:xfrm>
            <a:off x="4038600" y="4800600"/>
            <a:ext cx="0" cy="1752600"/>
          </a:xfrm>
          <a:prstGeom prst="line">
            <a:avLst/>
          </a:prstGeom>
          <a:noFill/>
          <a:ln w="19050">
            <a:solidFill>
              <a:srgbClr val="9900FF"/>
            </a:solidFill>
            <a:prstDash val="dash"/>
            <a:round/>
            <a:headEnd/>
            <a:tailEnd/>
          </a:ln>
        </p:spPr>
        <p:txBody>
          <a:bodyPr/>
          <a:lstStyle/>
          <a:p>
            <a:endParaRPr lang="zh-CN" altLang="en-US"/>
          </a:p>
        </p:txBody>
      </p:sp>
      <p:sp>
        <p:nvSpPr>
          <p:cNvPr id="139328" name="Text Box 64"/>
          <p:cNvSpPr txBox="1">
            <a:spLocks noChangeArrowheads="1"/>
          </p:cNvSpPr>
          <p:nvPr/>
        </p:nvSpPr>
        <p:spPr bwMode="auto">
          <a:xfrm>
            <a:off x="4191000" y="4721225"/>
            <a:ext cx="4724400" cy="1758950"/>
          </a:xfrm>
          <a:prstGeom prst="rect">
            <a:avLst/>
          </a:prstGeom>
          <a:noFill/>
          <a:ln w="9525">
            <a:noFill/>
            <a:miter lim="800000"/>
            <a:headEnd/>
            <a:tailEnd/>
          </a:ln>
        </p:spPr>
        <p:txBody>
          <a:bodyPr>
            <a:spAutoFit/>
          </a:bodyPr>
          <a:lstStyle/>
          <a:p>
            <a:pPr algn="just" eaLnBrk="1" hangingPunct="1"/>
            <a:r>
              <a:rPr lang="zh-CN" altLang="en-US" sz="2600" b="1"/>
              <a:t>　　</a:t>
            </a:r>
            <a:r>
              <a:rPr lang="en-US" altLang="zh-CN" sz="2600" b="1">
                <a:latin typeface="宋体" pitchFamily="2" charset="-122"/>
              </a:rPr>
              <a:t>(</a:t>
            </a:r>
            <a:r>
              <a:rPr lang="en-US" altLang="zh-CN" sz="2600" b="1"/>
              <a:t>3</a:t>
            </a:r>
            <a:r>
              <a:rPr lang="en-US" altLang="zh-CN" sz="2600" b="1">
                <a:latin typeface="宋体" pitchFamily="2" charset="-122"/>
              </a:rPr>
              <a:t>)</a:t>
            </a:r>
            <a:r>
              <a:rPr lang="zh-CN" altLang="en-US" sz="2600" b="1"/>
              <a:t>各级静态工作点互相影响；基极和集电极电位会随着级数增加而上升；</a:t>
            </a:r>
          </a:p>
          <a:p>
            <a:pPr algn="just" eaLnBrk="1" hangingPunct="1">
              <a:spcBef>
                <a:spcPct val="20000"/>
              </a:spcBef>
            </a:pPr>
            <a:r>
              <a:rPr lang="zh-CN" altLang="en-US" sz="2600" b="1"/>
              <a:t>　　</a:t>
            </a:r>
            <a:r>
              <a:rPr lang="en-US" altLang="zh-CN" sz="2600" b="1">
                <a:latin typeface="宋体" pitchFamily="2" charset="-122"/>
              </a:rPr>
              <a:t>(</a:t>
            </a:r>
            <a:r>
              <a:rPr lang="en-US" altLang="zh-CN" sz="2600" b="1"/>
              <a:t>4</a:t>
            </a:r>
            <a:r>
              <a:rPr lang="en-US" altLang="zh-CN" sz="2600" b="1">
                <a:latin typeface="宋体" pitchFamily="2" charset="-122"/>
              </a:rPr>
              <a:t>)</a:t>
            </a:r>
            <a:r>
              <a:rPr lang="zh-CN" altLang="en-US" sz="2600" b="1"/>
              <a:t>零点漂移（</a:t>
            </a:r>
            <a:r>
              <a:rPr lang="zh-CN" altLang="en-US" sz="2600" b="1">
                <a:solidFill>
                  <a:srgbClr val="FF0000"/>
                </a:solidFill>
              </a:rPr>
              <a:t>如何克服</a:t>
            </a:r>
            <a:r>
              <a:rPr lang="zh-CN" altLang="en-US" sz="2600" b="1"/>
              <a:t>）。</a:t>
            </a:r>
          </a:p>
        </p:txBody>
      </p:sp>
      <p:sp>
        <p:nvSpPr>
          <p:cNvPr id="2057" name="Text Box 67"/>
          <p:cNvSpPr txBox="1">
            <a:spLocks noChangeArrowheads="1"/>
          </p:cNvSpPr>
          <p:nvPr/>
        </p:nvSpPr>
        <p:spPr bwMode="auto">
          <a:xfrm>
            <a:off x="2590800" y="304800"/>
            <a:ext cx="609600" cy="457200"/>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sp>
        <p:nvSpPr>
          <p:cNvPr id="2058" name="Text Box 68"/>
          <p:cNvSpPr txBox="1">
            <a:spLocks noChangeArrowheads="1"/>
          </p:cNvSpPr>
          <p:nvPr/>
        </p:nvSpPr>
        <p:spPr bwMode="auto">
          <a:xfrm>
            <a:off x="6019800" y="304800"/>
            <a:ext cx="914400" cy="457200"/>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aphicFrame>
        <p:nvGraphicFramePr>
          <p:cNvPr id="2050" name="Object 8"/>
          <p:cNvGraphicFramePr>
            <a:graphicFrameLocks noChangeAspect="1"/>
          </p:cNvGraphicFramePr>
          <p:nvPr/>
        </p:nvGraphicFramePr>
        <p:xfrm>
          <a:off x="4089400" y="1020763"/>
          <a:ext cx="3873500" cy="2717800"/>
        </p:xfrm>
        <a:graphic>
          <a:graphicData uri="http://schemas.openxmlformats.org/presentationml/2006/ole">
            <mc:AlternateContent xmlns:mc="http://schemas.openxmlformats.org/markup-compatibility/2006">
              <mc:Choice xmlns:v="urn:schemas-microsoft-com:vml" Requires="v">
                <p:oleObj spid="_x0000_s2051" name="Photo Editor 照片" r:id="rId4" imgW="12527124" imgH="8809524" progId="">
                  <p:embed/>
                </p:oleObj>
              </mc:Choice>
              <mc:Fallback>
                <p:oleObj name="Photo Editor 照片" r:id="rId4" imgW="12527124" imgH="8809524"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9400" y="1020763"/>
                        <a:ext cx="38735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dissolve">
                                      <p:cBhvr>
                                        <p:cTn id="7" dur="500"/>
                                        <p:tgtEl>
                                          <p:spTgt spid="139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324"/>
                                        </p:tgtEl>
                                        <p:attrNameLst>
                                          <p:attrName>style.visibility</p:attrName>
                                        </p:attrNameLst>
                                      </p:cBhvr>
                                      <p:to>
                                        <p:strVal val="visible"/>
                                      </p:to>
                                    </p:set>
                                    <p:animEffect transition="in" filter="wipe(left)">
                                      <p:cBhvr>
                                        <p:cTn id="12" dur="500"/>
                                        <p:tgtEl>
                                          <p:spTgt spid="1393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9325"/>
                                        </p:tgtEl>
                                        <p:attrNameLst>
                                          <p:attrName>style.visibility</p:attrName>
                                        </p:attrNameLst>
                                      </p:cBhvr>
                                      <p:to>
                                        <p:strVal val="visible"/>
                                      </p:to>
                                    </p:set>
                                    <p:animEffect transition="in" filter="dissolve">
                                      <p:cBhvr>
                                        <p:cTn id="17" dur="500"/>
                                        <p:tgtEl>
                                          <p:spTgt spid="1393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9326">
                                            <p:txEl>
                                              <p:pRg st="0" end="0"/>
                                            </p:txEl>
                                          </p:spTgt>
                                        </p:tgtEl>
                                        <p:attrNameLst>
                                          <p:attrName>style.visibility</p:attrName>
                                        </p:attrNameLst>
                                      </p:cBhvr>
                                      <p:to>
                                        <p:strVal val="visible"/>
                                      </p:to>
                                    </p:set>
                                    <p:animEffect transition="in" filter="wipe(up)">
                                      <p:cBhvr>
                                        <p:cTn id="22" dur="500"/>
                                        <p:tgtEl>
                                          <p:spTgt spid="13932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9326">
                                            <p:txEl>
                                              <p:pRg st="1" end="1"/>
                                            </p:txEl>
                                          </p:spTgt>
                                        </p:tgtEl>
                                        <p:attrNameLst>
                                          <p:attrName>style.visibility</p:attrName>
                                        </p:attrNameLst>
                                      </p:cBhvr>
                                      <p:to>
                                        <p:strVal val="visible"/>
                                      </p:to>
                                    </p:set>
                                    <p:animEffect transition="in" filter="wipe(up)">
                                      <p:cBhvr>
                                        <p:cTn id="27" dur="500"/>
                                        <p:tgtEl>
                                          <p:spTgt spid="139326">
                                            <p:txEl>
                                              <p:pRg st="1" end="1"/>
                                            </p:txEl>
                                          </p:spTgt>
                                        </p:tgtEl>
                                      </p:cBhvr>
                                    </p:animEffect>
                                  </p:childTnLst>
                                </p:cTn>
                              </p:par>
                            </p:childTnLst>
                          </p:cTn>
                        </p:par>
                        <p:par>
                          <p:cTn id="28" fill="hold" nodeType="afterGroup">
                            <p:stCondLst>
                              <p:cond delay="500"/>
                            </p:stCondLst>
                            <p:childTnLst>
                              <p:par>
                                <p:cTn id="29" presetID="22" presetClass="entr" presetSubtype="1" fill="hold" grpId="0" nodeType="afterEffect">
                                  <p:stCondLst>
                                    <p:cond delay="1000"/>
                                  </p:stCondLst>
                                  <p:childTnLst>
                                    <p:set>
                                      <p:cBhvr>
                                        <p:cTn id="30" dur="1" fill="hold">
                                          <p:stCondLst>
                                            <p:cond delay="0"/>
                                          </p:stCondLst>
                                        </p:cTn>
                                        <p:tgtEl>
                                          <p:spTgt spid="139327"/>
                                        </p:tgtEl>
                                        <p:attrNameLst>
                                          <p:attrName>style.visibility</p:attrName>
                                        </p:attrNameLst>
                                      </p:cBhvr>
                                      <p:to>
                                        <p:strVal val="visible"/>
                                      </p:to>
                                    </p:set>
                                    <p:animEffect transition="in" filter="wipe(up)">
                                      <p:cBhvr>
                                        <p:cTn id="31" dur="500"/>
                                        <p:tgtEl>
                                          <p:spTgt spid="1393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39328">
                                            <p:txEl>
                                              <p:pRg st="0" end="0"/>
                                            </p:txEl>
                                          </p:spTgt>
                                        </p:tgtEl>
                                        <p:attrNameLst>
                                          <p:attrName>style.visibility</p:attrName>
                                        </p:attrNameLst>
                                      </p:cBhvr>
                                      <p:to>
                                        <p:strVal val="visible"/>
                                      </p:to>
                                    </p:set>
                                    <p:animEffect transition="in" filter="wipe(up)">
                                      <p:cBhvr>
                                        <p:cTn id="36" dur="500"/>
                                        <p:tgtEl>
                                          <p:spTgt spid="139328">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39328">
                                            <p:txEl>
                                              <p:pRg st="1" end="1"/>
                                            </p:txEl>
                                          </p:spTgt>
                                        </p:tgtEl>
                                        <p:attrNameLst>
                                          <p:attrName>style.visibility</p:attrName>
                                        </p:attrNameLst>
                                      </p:cBhvr>
                                      <p:to>
                                        <p:strVal val="visible"/>
                                      </p:to>
                                    </p:set>
                                    <p:animEffect transition="in" filter="wipe(up)">
                                      <p:cBhvr>
                                        <p:cTn id="41" dur="500"/>
                                        <p:tgtEl>
                                          <p:spTgt spid="1393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utoUpdateAnimBg="0"/>
      <p:bldP spid="139324" grpId="0" autoUpdateAnimBg="0"/>
      <p:bldP spid="139325" grpId="0" autoUpdateAnimBg="0"/>
      <p:bldP spid="139326" grpId="0" build="p" autoUpdateAnimBg="0"/>
      <p:bldP spid="139327" grpId="0" animBg="1"/>
      <p:bldP spid="139328"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2" descr="Dz030101"/>
          <p:cNvPicPr>
            <a:picLocks noChangeAspect="1" noChangeArrowheads="1"/>
          </p:cNvPicPr>
          <p:nvPr/>
        </p:nvPicPr>
        <p:blipFill>
          <a:blip r:embed="rId4"/>
          <a:srcRect r="53165" b="55202"/>
          <a:stretch>
            <a:fillRect/>
          </a:stretch>
        </p:blipFill>
        <p:spPr bwMode="auto">
          <a:xfrm>
            <a:off x="539750" y="1054100"/>
            <a:ext cx="3886200" cy="2835275"/>
          </a:xfrm>
          <a:prstGeom prst="rect">
            <a:avLst/>
          </a:prstGeom>
          <a:noFill/>
          <a:ln w="9525">
            <a:noFill/>
            <a:miter lim="800000"/>
            <a:headEnd/>
            <a:tailEnd/>
          </a:ln>
        </p:spPr>
      </p:pic>
      <p:sp>
        <p:nvSpPr>
          <p:cNvPr id="3079" name="Rectangle 3"/>
          <p:cNvSpPr>
            <a:spLocks noGrp="1" noChangeArrowheads="1"/>
          </p:cNvSpPr>
          <p:nvPr>
            <p:ph type="title"/>
          </p:nvPr>
        </p:nvSpPr>
        <p:spPr>
          <a:xfrm>
            <a:off x="755650" y="188913"/>
            <a:ext cx="5616575" cy="431800"/>
          </a:xfrm>
          <a:solidFill>
            <a:schemeClr val="bg1"/>
          </a:solidFill>
        </p:spPr>
        <p:txBody>
          <a:bodyPr/>
          <a:lstStyle/>
          <a:p>
            <a:pPr algn="l">
              <a:lnSpc>
                <a:spcPct val="80000"/>
              </a:lnSpc>
            </a:pPr>
            <a:r>
              <a:rPr lang="zh-CN" altLang="en-US" sz="3200">
                <a:solidFill>
                  <a:schemeClr val="tx1"/>
                </a:solidFill>
                <a:latin typeface="华文行楷" pitchFamily="2" charset="-122"/>
                <a:ea typeface="华文行楷" pitchFamily="2" charset="-122"/>
              </a:rPr>
              <a:t>如何设置合适的静态工作点？</a:t>
            </a:r>
          </a:p>
        </p:txBody>
      </p:sp>
      <p:sp>
        <p:nvSpPr>
          <p:cNvPr id="21508" name="AutoShape 4"/>
          <p:cNvSpPr>
            <a:spLocks/>
          </p:cNvSpPr>
          <p:nvPr/>
        </p:nvSpPr>
        <p:spPr bwMode="auto">
          <a:xfrm>
            <a:off x="4356100" y="2133600"/>
            <a:ext cx="2286000" cy="823913"/>
          </a:xfrm>
          <a:prstGeom prst="borderCallout2">
            <a:avLst>
              <a:gd name="adj1" fmla="val 13875"/>
              <a:gd name="adj2" fmla="val -3333"/>
              <a:gd name="adj3" fmla="val 13875"/>
              <a:gd name="adj4" fmla="val -20486"/>
              <a:gd name="adj5" fmla="val 106935"/>
              <a:gd name="adj6" fmla="val -38472"/>
            </a:avLst>
          </a:prstGeom>
          <a:solidFill>
            <a:srgbClr val="66FFFF"/>
          </a:solidFill>
          <a:ln w="19050">
            <a:solidFill>
              <a:srgbClr val="FF3300"/>
            </a:solidFill>
            <a:miter lim="800000"/>
            <a:headEnd/>
            <a:tailEnd/>
          </a:ln>
        </p:spPr>
        <p:txBody>
          <a:bodyPr/>
          <a:lstStyle/>
          <a:p>
            <a:pPr algn="ctr"/>
            <a:r>
              <a:rPr lang="zh-CN" altLang="en-US" b="1"/>
              <a:t>对哪些动态参数产生影响？</a:t>
            </a:r>
          </a:p>
        </p:txBody>
      </p:sp>
      <p:graphicFrame>
        <p:nvGraphicFramePr>
          <p:cNvPr id="21509" name="Object 2"/>
          <p:cNvGraphicFramePr>
            <a:graphicFrameLocks noChangeAspect="1"/>
          </p:cNvGraphicFramePr>
          <p:nvPr/>
        </p:nvGraphicFramePr>
        <p:xfrm>
          <a:off x="3587750" y="2897188"/>
          <a:ext cx="346075" cy="690562"/>
        </p:xfrm>
        <a:graphic>
          <a:graphicData uri="http://schemas.openxmlformats.org/presentationml/2006/ole">
            <mc:AlternateContent xmlns:mc="http://schemas.openxmlformats.org/markup-compatibility/2006">
              <mc:Choice xmlns:v="urn:schemas-microsoft-com:vml" Requires="v">
                <p:oleObj spid="_x0000_s3078" name="Photo Editor 照片" r:id="rId5" imgW="1228571" imgH="2448267" progId="">
                  <p:embed/>
                </p:oleObj>
              </mc:Choice>
              <mc:Fallback>
                <p:oleObj name="Photo Editor 照片" r:id="rId5" imgW="1228571" imgH="2448267" progId="">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7750" y="2897188"/>
                        <a:ext cx="3460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0" name="Text Box 6"/>
          <p:cNvSpPr txBox="1">
            <a:spLocks noChangeArrowheads="1"/>
          </p:cNvSpPr>
          <p:nvPr/>
        </p:nvSpPr>
        <p:spPr bwMode="auto">
          <a:xfrm>
            <a:off x="900113" y="4078288"/>
            <a:ext cx="7467600" cy="822325"/>
          </a:xfrm>
          <a:prstGeom prst="rect">
            <a:avLst/>
          </a:prstGeom>
          <a:noFill/>
          <a:ln w="9525">
            <a:noFill/>
            <a:miter lim="800000"/>
            <a:headEnd/>
            <a:tailEnd/>
          </a:ln>
        </p:spPr>
        <p:txBody>
          <a:bodyPr>
            <a:spAutoFit/>
          </a:bodyPr>
          <a:lstStyle/>
          <a:p>
            <a:pPr algn="ctr" eaLnBrk="1" hangingPunct="1">
              <a:spcBef>
                <a:spcPct val="50000"/>
              </a:spcBef>
            </a:pPr>
            <a:r>
              <a:rPr lang="en-US" altLang="zh-CN" b="1"/>
              <a:t>     </a:t>
            </a:r>
            <a:r>
              <a:rPr lang="zh-CN" altLang="en-US" b="1"/>
              <a:t>用什么元件取代</a:t>
            </a:r>
            <a:r>
              <a:rPr lang="en-US" altLang="zh-CN" b="1" i="1"/>
              <a:t>R</a:t>
            </a:r>
            <a:r>
              <a:rPr lang="en-US" altLang="zh-CN" b="1" baseline="-25000"/>
              <a:t>e</a:t>
            </a:r>
            <a:r>
              <a:rPr lang="zh-CN" altLang="en-US" b="1"/>
              <a:t>既可设置合适的</a:t>
            </a:r>
            <a:r>
              <a:rPr lang="en-US" altLang="zh-CN" b="1" i="1"/>
              <a:t>Q</a:t>
            </a:r>
            <a:r>
              <a:rPr lang="zh-CN" altLang="en-US" b="1"/>
              <a:t>点，又可使第二级放大倍数不至于下降太多？</a:t>
            </a:r>
          </a:p>
        </p:txBody>
      </p:sp>
      <p:sp>
        <p:nvSpPr>
          <p:cNvPr id="21511" name="Text Box 7"/>
          <p:cNvSpPr txBox="1">
            <a:spLocks noChangeArrowheads="1"/>
          </p:cNvSpPr>
          <p:nvPr/>
        </p:nvSpPr>
        <p:spPr bwMode="auto">
          <a:xfrm>
            <a:off x="1258888" y="5302250"/>
            <a:ext cx="6781800" cy="457200"/>
          </a:xfrm>
          <a:prstGeom prst="rect">
            <a:avLst/>
          </a:prstGeom>
          <a:noFill/>
          <a:ln w="9525">
            <a:noFill/>
            <a:miter lim="800000"/>
            <a:headEnd/>
            <a:tailEnd/>
          </a:ln>
        </p:spPr>
        <p:txBody>
          <a:bodyPr>
            <a:spAutoFit/>
          </a:bodyPr>
          <a:lstStyle/>
          <a:p>
            <a:pPr algn="ctr" eaLnBrk="1" hangingPunct="1">
              <a:spcBef>
                <a:spcPct val="50000"/>
              </a:spcBef>
            </a:pPr>
            <a:r>
              <a:rPr lang="zh-CN" altLang="en-US" b="1"/>
              <a:t>若要</a:t>
            </a:r>
            <a:r>
              <a:rPr lang="en-US" altLang="zh-CN" b="1" i="1"/>
              <a:t>U</a:t>
            </a:r>
            <a:r>
              <a:rPr lang="en-US" altLang="zh-CN" b="1" baseline="-25000"/>
              <a:t>CEQ</a:t>
            </a:r>
            <a:r>
              <a:rPr lang="zh-CN" altLang="en-US" b="1"/>
              <a:t>＝</a:t>
            </a:r>
            <a:r>
              <a:rPr lang="en-US" altLang="zh-CN" b="1"/>
              <a:t>5V</a:t>
            </a:r>
            <a:r>
              <a:rPr lang="zh-CN" altLang="en-US" b="1"/>
              <a:t>，则应怎么办？用多个二极管吗？</a:t>
            </a:r>
          </a:p>
        </p:txBody>
      </p:sp>
      <p:sp>
        <p:nvSpPr>
          <p:cNvPr id="21512" name="Text Box 8"/>
          <p:cNvSpPr txBox="1">
            <a:spLocks noChangeArrowheads="1"/>
          </p:cNvSpPr>
          <p:nvPr/>
        </p:nvSpPr>
        <p:spPr bwMode="auto">
          <a:xfrm>
            <a:off x="1258888" y="4870450"/>
            <a:ext cx="6477000" cy="457200"/>
          </a:xfrm>
          <a:prstGeom prst="rect">
            <a:avLst/>
          </a:prstGeom>
          <a:noFill/>
          <a:ln w="9525">
            <a:noFill/>
            <a:miter lim="800000"/>
            <a:headEnd/>
            <a:tailEnd/>
          </a:ln>
        </p:spPr>
        <p:txBody>
          <a:bodyPr>
            <a:spAutoFit/>
          </a:bodyPr>
          <a:lstStyle/>
          <a:p>
            <a:pPr algn="ctr" eaLnBrk="1" hangingPunct="1">
              <a:spcBef>
                <a:spcPct val="50000"/>
              </a:spcBef>
            </a:pPr>
            <a:r>
              <a:rPr lang="zh-CN" altLang="en-US" b="1"/>
              <a:t>二极管导通电压</a:t>
            </a:r>
            <a:r>
              <a:rPr lang="en-US" altLang="zh-CN" b="1" i="1"/>
              <a:t>U</a:t>
            </a:r>
            <a:r>
              <a:rPr lang="en-US" altLang="zh-CN" b="1" baseline="-25000"/>
              <a:t>D</a:t>
            </a:r>
            <a:r>
              <a:rPr lang="en-US" altLang="zh-CN" b="1"/>
              <a:t>≈</a:t>
            </a:r>
            <a:r>
              <a:rPr lang="zh-CN" altLang="en-US" b="1"/>
              <a:t>？动态电阻</a:t>
            </a:r>
            <a:r>
              <a:rPr lang="en-US" altLang="zh-CN" b="1" i="1"/>
              <a:t>r</a:t>
            </a:r>
            <a:r>
              <a:rPr lang="en-US" altLang="zh-CN" b="1" baseline="-25000"/>
              <a:t>d</a:t>
            </a:r>
            <a:r>
              <a:rPr lang="zh-CN" altLang="en-US" b="1"/>
              <a:t>特点？几欧姆</a:t>
            </a:r>
          </a:p>
        </p:txBody>
      </p:sp>
      <p:grpSp>
        <p:nvGrpSpPr>
          <p:cNvPr id="2" name="Group 9"/>
          <p:cNvGrpSpPr>
            <a:grpSpLocks/>
          </p:cNvGrpSpPr>
          <p:nvPr/>
        </p:nvGrpSpPr>
        <p:grpSpPr bwMode="auto">
          <a:xfrm>
            <a:off x="2901950" y="2820988"/>
            <a:ext cx="636588" cy="685800"/>
            <a:chOff x="3072" y="1872"/>
            <a:chExt cx="401" cy="432"/>
          </a:xfrm>
        </p:grpSpPr>
        <p:graphicFrame>
          <p:nvGraphicFramePr>
            <p:cNvPr id="3077" name="Object 5"/>
            <p:cNvGraphicFramePr>
              <a:graphicFrameLocks noChangeAspect="1"/>
            </p:cNvGraphicFramePr>
            <p:nvPr/>
          </p:nvGraphicFramePr>
          <p:xfrm>
            <a:off x="3312" y="1872"/>
            <a:ext cx="161" cy="432"/>
          </p:xfrm>
          <a:graphic>
            <a:graphicData uri="http://schemas.openxmlformats.org/presentationml/2006/ole">
              <mc:AlternateContent xmlns:mc="http://schemas.openxmlformats.org/markup-compatibility/2006">
                <mc:Choice xmlns:v="urn:schemas-microsoft-com:vml" Requires="v">
                  <p:oleObj spid="_x0000_s3079" name="Photo Editor 照片" r:id="rId7" imgW="733333" imgH="1838095" progId="">
                    <p:embed/>
                  </p:oleObj>
                </mc:Choice>
                <mc:Fallback>
                  <p:oleObj name="Photo Editor 照片" r:id="rId7" imgW="733333" imgH="1838095" progId="">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2" y="1872"/>
                          <a:ext cx="161"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9" name="Text Box 11"/>
            <p:cNvSpPr txBox="1">
              <a:spLocks noChangeArrowheads="1"/>
            </p:cNvSpPr>
            <p:nvPr/>
          </p:nvSpPr>
          <p:spPr bwMode="auto">
            <a:xfrm>
              <a:off x="3072" y="1968"/>
              <a:ext cx="336" cy="250"/>
            </a:xfrm>
            <a:prstGeom prst="rect">
              <a:avLst/>
            </a:prstGeom>
            <a:noFill/>
            <a:ln w="9525">
              <a:noFill/>
              <a:miter lim="800000"/>
              <a:headEnd/>
              <a:tailEnd/>
            </a:ln>
          </p:spPr>
          <p:txBody>
            <a:bodyPr>
              <a:spAutoFit/>
            </a:bodyPr>
            <a:lstStyle/>
            <a:p>
              <a:pPr algn="ctr" eaLnBrk="1" hangingPunct="1">
                <a:spcBef>
                  <a:spcPct val="50000"/>
                </a:spcBef>
              </a:pPr>
              <a:r>
                <a:rPr lang="en-US" altLang="zh-CN" sz="2000" i="1"/>
                <a:t>R</a:t>
              </a:r>
              <a:r>
                <a:rPr lang="en-US" altLang="zh-CN" sz="2000" baseline="-25000"/>
                <a:t>e</a:t>
              </a:r>
              <a:endParaRPr lang="en-US" altLang="zh-CN" sz="2000"/>
            </a:p>
          </p:txBody>
        </p:sp>
      </p:grpSp>
      <p:graphicFrame>
        <p:nvGraphicFramePr>
          <p:cNvPr id="21516" name="Object 3"/>
          <p:cNvGraphicFramePr>
            <a:graphicFrameLocks noGrp="1" noChangeAspect="1"/>
          </p:cNvGraphicFramePr>
          <p:nvPr>
            <p:ph idx="1"/>
          </p:nvPr>
        </p:nvGraphicFramePr>
        <p:xfrm>
          <a:off x="6948488" y="1125538"/>
          <a:ext cx="1585912" cy="2578100"/>
        </p:xfrm>
        <a:graphic>
          <a:graphicData uri="http://schemas.openxmlformats.org/presentationml/2006/ole">
            <mc:AlternateContent xmlns:mc="http://schemas.openxmlformats.org/markup-compatibility/2006">
              <mc:Choice xmlns:v="urn:schemas-microsoft-com:vml" Requires="v">
                <p:oleObj spid="_x0000_s3080" name="Photo Editor 照片" r:id="rId9" imgW="5229955" imgH="8504762" progId="">
                  <p:embed/>
                </p:oleObj>
              </mc:Choice>
              <mc:Fallback>
                <p:oleObj name="Photo Editor 照片" r:id="rId9" imgW="5229955" imgH="8504762" progId="">
                  <p:embed/>
                  <p:pic>
                    <p:nvPicPr>
                      <p:cNvPr id="0" name="Object 3"/>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488" y="1125538"/>
                        <a:ext cx="1585912" cy="257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7" name="AutoShape 13"/>
          <p:cNvSpPr>
            <a:spLocks/>
          </p:cNvSpPr>
          <p:nvPr/>
        </p:nvSpPr>
        <p:spPr bwMode="auto">
          <a:xfrm>
            <a:off x="5219700" y="3213100"/>
            <a:ext cx="1447800" cy="533400"/>
          </a:xfrm>
          <a:prstGeom prst="borderCallout1">
            <a:avLst>
              <a:gd name="adj1" fmla="val 21431"/>
              <a:gd name="adj2" fmla="val 105264"/>
              <a:gd name="adj3" fmla="val -251190"/>
              <a:gd name="adj4" fmla="val 117653"/>
            </a:avLst>
          </a:prstGeom>
          <a:solidFill>
            <a:srgbClr val="66FFFF"/>
          </a:solidFill>
          <a:ln w="19050">
            <a:solidFill>
              <a:srgbClr val="FF3300"/>
            </a:solidFill>
            <a:miter lim="800000"/>
            <a:headEnd/>
            <a:tailEnd/>
          </a:ln>
        </p:spPr>
        <p:txBody>
          <a:bodyPr/>
          <a:lstStyle/>
          <a:p>
            <a:pPr algn="ctr" eaLnBrk="1" hangingPunct="1"/>
            <a:r>
              <a:rPr lang="zh-CN" altLang="en-US" b="1"/>
              <a:t>必要性？</a:t>
            </a:r>
          </a:p>
        </p:txBody>
      </p:sp>
      <p:grpSp>
        <p:nvGrpSpPr>
          <p:cNvPr id="3" name="Group 14"/>
          <p:cNvGrpSpPr>
            <a:grpSpLocks/>
          </p:cNvGrpSpPr>
          <p:nvPr/>
        </p:nvGrpSpPr>
        <p:grpSpPr bwMode="auto">
          <a:xfrm>
            <a:off x="900113" y="1054100"/>
            <a:ext cx="3390900" cy="2951163"/>
            <a:chOff x="4032" y="0"/>
            <a:chExt cx="1728" cy="1655"/>
          </a:xfrm>
        </p:grpSpPr>
        <p:graphicFrame>
          <p:nvGraphicFramePr>
            <p:cNvPr id="3076" name="Object 4"/>
            <p:cNvGraphicFramePr>
              <a:graphicFrameLocks noChangeAspect="1"/>
            </p:cNvGraphicFramePr>
            <p:nvPr/>
          </p:nvGraphicFramePr>
          <p:xfrm>
            <a:off x="4080" y="0"/>
            <a:ext cx="1680" cy="1655"/>
          </p:xfrm>
          <a:graphic>
            <a:graphicData uri="http://schemas.openxmlformats.org/presentationml/2006/ole">
              <mc:AlternateContent xmlns:mc="http://schemas.openxmlformats.org/markup-compatibility/2006">
                <mc:Choice xmlns:v="urn:schemas-microsoft-com:vml" Requires="v">
                  <p:oleObj spid="_x0000_s3081" name="Photo Editor 照片" r:id="rId11" imgW="10488489" imgH="10333333" progId="">
                    <p:embed/>
                  </p:oleObj>
                </mc:Choice>
                <mc:Fallback>
                  <p:oleObj name="Photo Editor 照片" r:id="rId11" imgW="10488489" imgH="10333333" progId="">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0"/>
                          <a:ext cx="1680" cy="1655"/>
                        </a:xfrm>
                        <a:prstGeom prst="rect">
                          <a:avLst/>
                        </a:prstGeom>
                        <a:solidFill>
                          <a:srgbClr val="66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8" name="Text Box 16"/>
            <p:cNvSpPr txBox="1">
              <a:spLocks noChangeArrowheads="1"/>
            </p:cNvSpPr>
            <p:nvPr/>
          </p:nvSpPr>
          <p:spPr bwMode="auto">
            <a:xfrm>
              <a:off x="4032" y="0"/>
              <a:ext cx="816" cy="393"/>
            </a:xfrm>
            <a:prstGeom prst="rect">
              <a:avLst/>
            </a:prstGeom>
            <a:noFill/>
            <a:ln w="9525">
              <a:noFill/>
              <a:miter lim="800000"/>
              <a:headEnd/>
              <a:tailEnd/>
            </a:ln>
          </p:spPr>
          <p:txBody>
            <a:bodyPr>
              <a:spAutoFit/>
            </a:bodyPr>
            <a:lstStyle/>
            <a:p>
              <a:pPr algn="ctr" eaLnBrk="1" hangingPunct="1"/>
              <a:r>
                <a:rPr lang="zh-CN" altLang="en-US" sz="2000" b="1"/>
                <a:t>稳压管</a:t>
              </a:r>
            </a:p>
            <a:p>
              <a:pPr algn="ctr" eaLnBrk="1" hangingPunct="1"/>
              <a:r>
                <a:rPr lang="zh-CN" altLang="en-US" sz="2000" b="1"/>
                <a:t>伏安特性</a:t>
              </a:r>
            </a:p>
          </p:txBody>
        </p:sp>
      </p:grpSp>
      <p:sp>
        <p:nvSpPr>
          <p:cNvPr id="21521" name="Text Box 17"/>
          <p:cNvSpPr txBox="1">
            <a:spLocks noChangeArrowheads="1"/>
          </p:cNvSpPr>
          <p:nvPr/>
        </p:nvSpPr>
        <p:spPr bwMode="auto">
          <a:xfrm>
            <a:off x="938213" y="5711825"/>
            <a:ext cx="7848600" cy="830263"/>
          </a:xfrm>
          <a:prstGeom prst="rect">
            <a:avLst/>
          </a:prstGeom>
          <a:noFill/>
          <a:ln w="9525">
            <a:noFill/>
            <a:miter lim="800000"/>
            <a:headEnd/>
            <a:tailEnd/>
          </a:ln>
        </p:spPr>
        <p:txBody>
          <a:bodyPr>
            <a:spAutoFit/>
          </a:bodyPr>
          <a:lstStyle/>
          <a:p>
            <a:pPr>
              <a:spcBef>
                <a:spcPct val="50000"/>
              </a:spcBef>
            </a:pPr>
            <a:r>
              <a:rPr lang="en-US" altLang="zh-CN" b="1" i="1">
                <a:solidFill>
                  <a:srgbClr val="9900FF"/>
                </a:solidFill>
              </a:rPr>
              <a:t>      U</a:t>
            </a:r>
            <a:r>
              <a:rPr lang="en-US" altLang="zh-CN" b="1" baseline="-25000">
                <a:solidFill>
                  <a:srgbClr val="9900FF"/>
                </a:solidFill>
              </a:rPr>
              <a:t>CEQ1</a:t>
            </a:r>
            <a:r>
              <a:rPr lang="zh-CN" altLang="en-US" b="1">
                <a:solidFill>
                  <a:srgbClr val="9900FF"/>
                </a:solidFill>
              </a:rPr>
              <a:t>太小→加</a:t>
            </a:r>
            <a:r>
              <a:rPr lang="en-US" altLang="zh-CN" b="1" i="1">
                <a:solidFill>
                  <a:srgbClr val="9900FF"/>
                </a:solidFill>
              </a:rPr>
              <a:t>R</a:t>
            </a:r>
            <a:r>
              <a:rPr lang="en-US" altLang="zh-CN" b="1" baseline="-25000">
                <a:solidFill>
                  <a:srgbClr val="9900FF"/>
                </a:solidFill>
              </a:rPr>
              <a:t>e</a:t>
            </a:r>
            <a:r>
              <a:rPr lang="zh-CN" altLang="en-US" b="1">
                <a:solidFill>
                  <a:srgbClr val="9900FF"/>
                </a:solidFill>
              </a:rPr>
              <a:t>（</a:t>
            </a:r>
            <a:r>
              <a:rPr lang="en-US" altLang="zh-CN" b="1" i="1">
                <a:solidFill>
                  <a:srgbClr val="9900FF"/>
                </a:solidFill>
              </a:rPr>
              <a:t>A</a:t>
            </a:r>
            <a:r>
              <a:rPr lang="en-US" altLang="zh-CN" b="1" i="1" baseline="-25000">
                <a:solidFill>
                  <a:srgbClr val="9900FF"/>
                </a:solidFill>
              </a:rPr>
              <a:t>u</a:t>
            </a:r>
            <a:r>
              <a:rPr lang="en-US" altLang="zh-CN" b="1" baseline="-25000">
                <a:solidFill>
                  <a:srgbClr val="9900FF"/>
                </a:solidFill>
              </a:rPr>
              <a:t>2</a:t>
            </a:r>
            <a:r>
              <a:rPr lang="zh-CN" altLang="en-US" b="1">
                <a:solidFill>
                  <a:srgbClr val="9900FF"/>
                </a:solidFill>
              </a:rPr>
              <a:t>数值↓）→改用</a:t>
            </a:r>
            <a:r>
              <a:rPr lang="en-US" altLang="zh-CN" b="1">
                <a:solidFill>
                  <a:srgbClr val="9900FF"/>
                </a:solidFill>
              </a:rPr>
              <a:t>D→</a:t>
            </a:r>
            <a:r>
              <a:rPr lang="zh-CN" altLang="en-US" b="1">
                <a:solidFill>
                  <a:srgbClr val="9900FF"/>
                </a:solidFill>
              </a:rPr>
              <a:t>若要</a:t>
            </a:r>
            <a:r>
              <a:rPr lang="en-US" altLang="zh-CN" b="1" i="1">
                <a:solidFill>
                  <a:srgbClr val="9900FF"/>
                </a:solidFill>
              </a:rPr>
              <a:t>U</a:t>
            </a:r>
            <a:r>
              <a:rPr lang="en-US" altLang="zh-CN" b="1" baseline="-25000">
                <a:solidFill>
                  <a:srgbClr val="9900FF"/>
                </a:solidFill>
              </a:rPr>
              <a:t>CEQ1</a:t>
            </a:r>
            <a:r>
              <a:rPr lang="zh-CN" altLang="en-US" b="1">
                <a:solidFill>
                  <a:srgbClr val="9900FF"/>
                </a:solidFill>
              </a:rPr>
              <a:t>大，则改用</a:t>
            </a:r>
            <a:r>
              <a:rPr lang="en-US" altLang="zh-CN" b="1">
                <a:solidFill>
                  <a:srgbClr val="9900FF"/>
                </a:solidFill>
              </a:rPr>
              <a:t>D</a:t>
            </a:r>
            <a:r>
              <a:rPr lang="en-US" altLang="zh-CN" b="1" baseline="-25000">
                <a:solidFill>
                  <a:srgbClr val="9900FF"/>
                </a:solidFill>
              </a:rPr>
              <a:t>Z</a:t>
            </a:r>
            <a:r>
              <a:rPr lang="zh-CN" altLang="en-US" b="1">
                <a:solidFill>
                  <a:srgbClr val="99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5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1510">
                                            <p:txEl>
                                              <p:pRg st="0" end="0"/>
                                            </p:txEl>
                                          </p:spTgt>
                                        </p:tgtEl>
                                        <p:attrNameLst>
                                          <p:attrName>style.visibility</p:attrName>
                                        </p:attrNameLst>
                                      </p:cBhvr>
                                      <p:to>
                                        <p:strVal val="visible"/>
                                      </p:to>
                                    </p:set>
                                    <p:animEffect transition="in" filter="wipe(left)">
                                      <p:cBhvr>
                                        <p:cTn id="15" dur="500"/>
                                        <p:tgtEl>
                                          <p:spTgt spid="21510">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2150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512">
                                            <p:txEl>
                                              <p:pRg st="0" end="0"/>
                                            </p:txEl>
                                          </p:spTgt>
                                        </p:tgtEl>
                                        <p:attrNameLst>
                                          <p:attrName>style.visibility</p:attrName>
                                        </p:attrNameLst>
                                      </p:cBhvr>
                                      <p:to>
                                        <p:strVal val="visible"/>
                                      </p:to>
                                    </p:set>
                                    <p:animEffect transition="in" filter="wipe(left)">
                                      <p:cBhvr>
                                        <p:cTn id="24" dur="500"/>
                                        <p:tgtEl>
                                          <p:spTgt spid="21512">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511">
                                            <p:txEl>
                                              <p:pRg st="0" end="0"/>
                                            </p:txEl>
                                          </p:spTgt>
                                        </p:tgtEl>
                                        <p:attrNameLst>
                                          <p:attrName>style.visibility</p:attrName>
                                        </p:attrNameLst>
                                      </p:cBhvr>
                                      <p:to>
                                        <p:strVal val="visible"/>
                                      </p:to>
                                    </p:set>
                                    <p:animEffect transition="in" filter="wipe(left)">
                                      <p:cBhvr>
                                        <p:cTn id="29" dur="500"/>
                                        <p:tgtEl>
                                          <p:spTgt spid="21511">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1516"/>
                                        </p:tgtEl>
                                        <p:attrNameLst>
                                          <p:attrName>style.visibility</p:attrName>
                                        </p:attrNameLst>
                                      </p:cBhvr>
                                      <p:to>
                                        <p:strVal val="visible"/>
                                      </p:to>
                                    </p:set>
                                    <p:animEffect transition="in" filter="wipe(left)">
                                      <p:cBhvr>
                                        <p:cTn id="34" dur="500"/>
                                        <p:tgtEl>
                                          <p:spTgt spid="2151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151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521"/>
                                        </p:tgtEl>
                                        <p:attrNameLst>
                                          <p:attrName>style.visibility</p:attrName>
                                        </p:attrNameLst>
                                      </p:cBhvr>
                                      <p:to>
                                        <p:strVal val="visible"/>
                                      </p:to>
                                    </p:set>
                                    <p:animEffect transition="in" filter="wipe(left)">
                                      <p:cBhvr>
                                        <p:cTn id="48" dur="500"/>
                                        <p:tgtEl>
                                          <p:spTgt spid="21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autoUpdateAnimBg="0"/>
      <p:bldP spid="21510" grpId="0" build="p" autoUpdateAnimBg="0"/>
      <p:bldP spid="21511" grpId="0" build="p" autoUpdateAnimBg="0"/>
      <p:bldP spid="21512" grpId="0" build="p" autoUpdateAnimBg="0"/>
      <p:bldP spid="21517" grpId="0" animBg="1" autoUpdateAnimBg="0"/>
      <p:bldP spid="2152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600075"/>
            <a:ext cx="5545138" cy="620713"/>
          </a:xfrm>
        </p:spPr>
        <p:txBody>
          <a:bodyPr/>
          <a:lstStyle/>
          <a:p>
            <a:pPr algn="l"/>
            <a:r>
              <a:rPr lang="en-US" altLang="zh-CN" sz="2800" b="1">
                <a:solidFill>
                  <a:schemeClr val="tx1"/>
                </a:solidFill>
              </a:rPr>
              <a:t>NPN</a:t>
            </a:r>
            <a:r>
              <a:rPr lang="zh-CN" altLang="zh-CN" sz="2800">
                <a:solidFill>
                  <a:schemeClr val="tx1"/>
                </a:solidFill>
                <a:ea typeface="华文行楷" pitchFamily="2" charset="-122"/>
              </a:rPr>
              <a:t>型管和</a:t>
            </a:r>
            <a:r>
              <a:rPr lang="zh-CN" altLang="zh-CN" sz="2800" b="1">
                <a:solidFill>
                  <a:schemeClr val="tx1"/>
                </a:solidFill>
              </a:rPr>
              <a:t>PNP</a:t>
            </a:r>
            <a:r>
              <a:rPr lang="zh-CN" altLang="zh-CN" sz="2800">
                <a:solidFill>
                  <a:schemeClr val="tx1"/>
                </a:solidFill>
                <a:ea typeface="华文行楷" pitchFamily="2" charset="-122"/>
              </a:rPr>
              <a:t>型管混合使用</a:t>
            </a:r>
            <a:endParaRPr lang="zh-CN" altLang="en-US" sz="2800">
              <a:solidFill>
                <a:schemeClr val="tx1"/>
              </a:solidFill>
              <a:ea typeface="华文行楷" pitchFamily="2" charset="-122"/>
            </a:endParaRPr>
          </a:p>
        </p:txBody>
      </p:sp>
      <p:sp>
        <p:nvSpPr>
          <p:cNvPr id="23555" name="Text Box 3"/>
          <p:cNvSpPr txBox="1">
            <a:spLocks noChangeArrowheads="1"/>
          </p:cNvSpPr>
          <p:nvPr/>
        </p:nvSpPr>
        <p:spPr bwMode="auto">
          <a:xfrm>
            <a:off x="362078" y="5157788"/>
            <a:ext cx="8375522" cy="1379545"/>
          </a:xfrm>
          <a:prstGeom prst="rect">
            <a:avLst/>
          </a:prstGeom>
          <a:noFill/>
          <a:ln w="9525">
            <a:noFill/>
            <a:miter lim="800000"/>
            <a:headEnd/>
            <a:tailEnd/>
          </a:ln>
        </p:spPr>
        <p:txBody>
          <a:bodyPr wrap="square">
            <a:spAutoFit/>
          </a:bodyPr>
          <a:lstStyle/>
          <a:p>
            <a:pPr eaLnBrk="1" hangingPunct="1">
              <a:lnSpc>
                <a:spcPct val="120000"/>
              </a:lnSpc>
            </a:pPr>
            <a:r>
              <a:rPr lang="zh-CN" altLang="en-US" b="1" dirty="0"/>
              <a:t>在用</a:t>
            </a:r>
            <a:r>
              <a:rPr lang="en-US" altLang="zh-CN" b="1" dirty="0"/>
              <a:t>NPN</a:t>
            </a:r>
            <a:r>
              <a:rPr lang="zh-CN" altLang="zh-CN" b="1" dirty="0"/>
              <a:t>型管组成</a:t>
            </a:r>
            <a:r>
              <a:rPr lang="zh-CN" altLang="zh-CN" b="1" i="1" dirty="0"/>
              <a:t>N</a:t>
            </a:r>
            <a:r>
              <a:rPr lang="zh-CN" altLang="zh-CN" b="1" dirty="0"/>
              <a:t>级共射放大电路，</a:t>
            </a:r>
            <a:r>
              <a:rPr lang="zh-CN" altLang="en-US" b="1" dirty="0"/>
              <a:t>采用措施后，</a:t>
            </a:r>
            <a:r>
              <a:rPr lang="zh-CN" altLang="zh-CN" b="1" dirty="0"/>
              <a:t>由于</a:t>
            </a:r>
            <a:r>
              <a:rPr lang="zh-CN" altLang="zh-CN" b="1" i="1" dirty="0"/>
              <a:t>U</a:t>
            </a:r>
            <a:r>
              <a:rPr lang="zh-CN" altLang="zh-CN" b="1" baseline="-25000" dirty="0"/>
              <a:t>CQ</a:t>
            </a:r>
            <a:r>
              <a:rPr lang="zh-CN" altLang="zh-CN" b="1" i="1" baseline="-25000" dirty="0"/>
              <a:t>i</a:t>
            </a:r>
            <a:r>
              <a:rPr lang="zh-CN" altLang="zh-CN" b="1" dirty="0"/>
              <a:t>＞ </a:t>
            </a:r>
            <a:r>
              <a:rPr lang="zh-CN" altLang="zh-CN" b="1" i="1" dirty="0"/>
              <a:t>U</a:t>
            </a:r>
            <a:r>
              <a:rPr lang="zh-CN" altLang="zh-CN" b="1" baseline="-25000" dirty="0"/>
              <a:t>BQ</a:t>
            </a:r>
            <a:r>
              <a:rPr lang="zh-CN" altLang="zh-CN" b="1" i="1" baseline="-25000" dirty="0"/>
              <a:t>i</a:t>
            </a:r>
            <a:r>
              <a:rPr lang="zh-CN" altLang="zh-CN" b="1" dirty="0"/>
              <a:t>，所以 </a:t>
            </a:r>
            <a:r>
              <a:rPr lang="zh-CN" altLang="zh-CN" b="1" i="1" dirty="0"/>
              <a:t>U</a:t>
            </a:r>
            <a:r>
              <a:rPr lang="zh-CN" altLang="zh-CN" b="1" baseline="-25000" dirty="0"/>
              <a:t>CQ</a:t>
            </a:r>
            <a:r>
              <a:rPr lang="zh-CN" altLang="zh-CN" b="1" i="1" baseline="-25000" dirty="0"/>
              <a:t>i</a:t>
            </a:r>
            <a:r>
              <a:rPr lang="zh-CN" altLang="zh-CN" b="1" dirty="0"/>
              <a:t>＞ </a:t>
            </a:r>
            <a:r>
              <a:rPr lang="zh-CN" altLang="zh-CN" b="1" i="1" dirty="0"/>
              <a:t>U</a:t>
            </a:r>
            <a:r>
              <a:rPr lang="zh-CN" altLang="zh-CN" b="1" baseline="-25000" dirty="0"/>
              <a:t>CQ(</a:t>
            </a:r>
            <a:r>
              <a:rPr lang="zh-CN" altLang="zh-CN" b="1" i="1" baseline="-25000" dirty="0"/>
              <a:t>i</a:t>
            </a:r>
            <a:r>
              <a:rPr lang="zh-CN" altLang="zh-CN" b="1" baseline="-25000" dirty="0"/>
              <a:t>-1</a:t>
            </a:r>
            <a:r>
              <a:rPr lang="zh-CN" altLang="en-US" b="1" baseline="-25000" dirty="0"/>
              <a:t>）</a:t>
            </a:r>
            <a:r>
              <a:rPr lang="zh-CN" altLang="zh-CN" b="1" dirty="0"/>
              <a:t>（</a:t>
            </a:r>
            <a:r>
              <a:rPr lang="zh-CN" altLang="zh-CN" b="1" i="1" dirty="0"/>
              <a:t>i</a:t>
            </a:r>
            <a:r>
              <a:rPr lang="zh-CN" altLang="zh-CN" b="1" dirty="0"/>
              <a:t>=1～</a:t>
            </a:r>
            <a:r>
              <a:rPr lang="zh-CN" altLang="zh-CN" b="1" i="1" dirty="0"/>
              <a:t>N</a:t>
            </a:r>
            <a:r>
              <a:rPr lang="zh-CN" altLang="zh-CN" b="1" dirty="0"/>
              <a:t>），</a:t>
            </a:r>
            <a:r>
              <a:rPr lang="zh-CN" altLang="en-US" b="1" dirty="0"/>
              <a:t>逐级升高，</a:t>
            </a:r>
            <a:r>
              <a:rPr lang="zh-CN" altLang="zh-CN" b="1" dirty="0"/>
              <a:t>以致于后级集电极电位接近电源电压</a:t>
            </a:r>
            <a:r>
              <a:rPr lang="en-US" altLang="zh-CN" b="1" dirty="0"/>
              <a:t>(</a:t>
            </a:r>
            <a:r>
              <a:rPr lang="zh-CN" altLang="en-US" b="1" dirty="0">
                <a:solidFill>
                  <a:srgbClr val="FF0000"/>
                </a:solidFill>
              </a:rPr>
              <a:t>什么失真？</a:t>
            </a:r>
            <a:r>
              <a:rPr lang="en-US" altLang="zh-CN" b="1" dirty="0"/>
              <a:t>)</a:t>
            </a:r>
            <a:r>
              <a:rPr lang="zh-CN" altLang="zh-CN" b="1" dirty="0"/>
              <a:t>，</a:t>
            </a:r>
            <a:r>
              <a:rPr lang="zh-CN" altLang="zh-CN" b="1" i="1" dirty="0"/>
              <a:t>Q</a:t>
            </a:r>
            <a:r>
              <a:rPr lang="zh-CN" altLang="zh-CN" b="1" dirty="0"/>
              <a:t>点不合适。</a:t>
            </a:r>
            <a:endParaRPr lang="zh-CN" altLang="en-US" b="1" dirty="0"/>
          </a:p>
        </p:txBody>
      </p:sp>
      <p:pic>
        <p:nvPicPr>
          <p:cNvPr id="23556" name="Picture 4" descr="Dz030101"/>
          <p:cNvPicPr>
            <a:picLocks noChangeAspect="1" noChangeArrowheads="1"/>
          </p:cNvPicPr>
          <p:nvPr/>
        </p:nvPicPr>
        <p:blipFill>
          <a:blip r:embed="rId3"/>
          <a:srcRect l="54546" t="51328" b="5594"/>
          <a:stretch>
            <a:fillRect/>
          </a:stretch>
        </p:blipFill>
        <p:spPr bwMode="auto">
          <a:xfrm>
            <a:off x="4714875" y="1320800"/>
            <a:ext cx="3810000" cy="2755900"/>
          </a:xfrm>
          <a:prstGeom prst="rect">
            <a:avLst/>
          </a:prstGeom>
          <a:noFill/>
          <a:ln w="9525">
            <a:noFill/>
            <a:miter lim="800000"/>
            <a:headEnd/>
            <a:tailEnd/>
          </a:ln>
        </p:spPr>
      </p:pic>
      <p:sp>
        <p:nvSpPr>
          <p:cNvPr id="23557" name="Text Box 5"/>
          <p:cNvSpPr txBox="1">
            <a:spLocks noChangeArrowheads="1"/>
          </p:cNvSpPr>
          <p:nvPr/>
        </p:nvSpPr>
        <p:spPr bwMode="auto">
          <a:xfrm>
            <a:off x="5002213" y="3911600"/>
            <a:ext cx="3581400" cy="1114425"/>
          </a:xfrm>
          <a:prstGeom prst="rect">
            <a:avLst/>
          </a:prstGeom>
          <a:noFill/>
          <a:ln w="9525">
            <a:noFill/>
            <a:miter lim="800000"/>
            <a:headEnd/>
            <a:tailEnd/>
          </a:ln>
        </p:spPr>
        <p:txBody>
          <a:bodyPr>
            <a:spAutoFit/>
          </a:bodyPr>
          <a:lstStyle/>
          <a:p>
            <a:pPr algn="ctr" eaLnBrk="1" hangingPunct="1">
              <a:lnSpc>
                <a:spcPct val="140000"/>
              </a:lnSpc>
            </a:pPr>
            <a:r>
              <a:rPr lang="zh-CN" altLang="zh-CN" b="1" i="1">
                <a:solidFill>
                  <a:srgbClr val="A50021"/>
                </a:solidFill>
              </a:rPr>
              <a:t>U</a:t>
            </a:r>
            <a:r>
              <a:rPr lang="zh-CN" altLang="zh-CN" b="1" baseline="-25000">
                <a:solidFill>
                  <a:srgbClr val="A50021"/>
                </a:solidFill>
              </a:rPr>
              <a:t>CQ1</a:t>
            </a:r>
            <a:r>
              <a:rPr lang="zh-CN" altLang="zh-CN" b="1" i="1">
                <a:solidFill>
                  <a:srgbClr val="A50021"/>
                </a:solidFill>
              </a:rPr>
              <a:t> </a:t>
            </a:r>
            <a:r>
              <a:rPr lang="zh-CN" altLang="zh-CN" b="1">
                <a:solidFill>
                  <a:srgbClr val="A50021"/>
                </a:solidFill>
              </a:rPr>
              <a:t>（ </a:t>
            </a:r>
            <a:r>
              <a:rPr lang="zh-CN" altLang="zh-CN" b="1" i="1">
                <a:solidFill>
                  <a:srgbClr val="A50021"/>
                </a:solidFill>
              </a:rPr>
              <a:t>U</a:t>
            </a:r>
            <a:r>
              <a:rPr lang="zh-CN" altLang="zh-CN" b="1" baseline="-25000">
                <a:solidFill>
                  <a:srgbClr val="A50021"/>
                </a:solidFill>
              </a:rPr>
              <a:t>BQ2</a:t>
            </a:r>
            <a:r>
              <a:rPr lang="zh-CN" altLang="zh-CN" b="1">
                <a:solidFill>
                  <a:srgbClr val="A50021"/>
                </a:solidFill>
              </a:rPr>
              <a:t> ）</a:t>
            </a:r>
            <a:r>
              <a:rPr lang="zh-CN" altLang="zh-CN" b="1" i="1">
                <a:solidFill>
                  <a:srgbClr val="A50021"/>
                </a:solidFill>
              </a:rPr>
              <a:t> </a:t>
            </a:r>
            <a:r>
              <a:rPr lang="zh-CN" altLang="zh-CN" b="1">
                <a:solidFill>
                  <a:srgbClr val="A50021"/>
                </a:solidFill>
              </a:rPr>
              <a:t>＞</a:t>
            </a:r>
            <a:r>
              <a:rPr lang="zh-CN" altLang="zh-CN" b="1" i="1">
                <a:solidFill>
                  <a:srgbClr val="A50021"/>
                </a:solidFill>
              </a:rPr>
              <a:t> U</a:t>
            </a:r>
            <a:r>
              <a:rPr lang="zh-CN" altLang="zh-CN" b="1" baseline="-25000">
                <a:solidFill>
                  <a:srgbClr val="A50021"/>
                </a:solidFill>
              </a:rPr>
              <a:t>BQ1</a:t>
            </a:r>
            <a:endParaRPr lang="zh-CN" altLang="zh-CN" b="1">
              <a:solidFill>
                <a:srgbClr val="A50021"/>
              </a:solidFill>
            </a:endParaRPr>
          </a:p>
          <a:p>
            <a:pPr algn="ctr" eaLnBrk="1" hangingPunct="1">
              <a:lnSpc>
                <a:spcPct val="140000"/>
              </a:lnSpc>
            </a:pPr>
            <a:r>
              <a:rPr lang="zh-CN" altLang="zh-CN" b="1" i="1">
                <a:solidFill>
                  <a:srgbClr val="A50021"/>
                </a:solidFill>
              </a:rPr>
              <a:t>U</a:t>
            </a:r>
            <a:r>
              <a:rPr lang="zh-CN" altLang="zh-CN" b="1" baseline="-25000">
                <a:solidFill>
                  <a:srgbClr val="A50021"/>
                </a:solidFill>
              </a:rPr>
              <a:t>CQ2 </a:t>
            </a:r>
            <a:r>
              <a:rPr lang="zh-CN" altLang="zh-CN" b="1">
                <a:solidFill>
                  <a:srgbClr val="A50021"/>
                </a:solidFill>
              </a:rPr>
              <a:t>＜</a:t>
            </a:r>
            <a:r>
              <a:rPr lang="zh-CN" altLang="zh-CN" b="1" baseline="-25000">
                <a:solidFill>
                  <a:srgbClr val="A50021"/>
                </a:solidFill>
              </a:rPr>
              <a:t> </a:t>
            </a:r>
            <a:r>
              <a:rPr lang="zh-CN" altLang="zh-CN" b="1" i="1">
                <a:solidFill>
                  <a:srgbClr val="A50021"/>
                </a:solidFill>
              </a:rPr>
              <a:t>U</a:t>
            </a:r>
            <a:r>
              <a:rPr lang="zh-CN" altLang="zh-CN" b="1" baseline="-25000">
                <a:solidFill>
                  <a:srgbClr val="A50021"/>
                </a:solidFill>
              </a:rPr>
              <a:t>CQ1</a:t>
            </a:r>
            <a:r>
              <a:rPr lang="zh-CN" altLang="zh-CN" b="1">
                <a:solidFill>
                  <a:srgbClr val="A50021"/>
                </a:solidFill>
              </a:rPr>
              <a:t> </a:t>
            </a:r>
            <a:endParaRPr lang="en-US" altLang="zh-CN" b="1">
              <a:solidFill>
                <a:srgbClr val="A50021"/>
              </a:solidFill>
            </a:endParaRPr>
          </a:p>
        </p:txBody>
      </p:sp>
      <p:graphicFrame>
        <p:nvGraphicFramePr>
          <p:cNvPr id="4098" name="Object 2"/>
          <p:cNvGraphicFramePr>
            <a:graphicFrameLocks noGrp="1" noChangeAspect="1"/>
          </p:cNvGraphicFramePr>
          <p:nvPr>
            <p:ph idx="1"/>
          </p:nvPr>
        </p:nvGraphicFramePr>
        <p:xfrm>
          <a:off x="611188" y="1412875"/>
          <a:ext cx="3743325" cy="2633663"/>
        </p:xfrm>
        <a:graphic>
          <a:graphicData uri="http://schemas.openxmlformats.org/presentationml/2006/ole">
            <mc:AlternateContent xmlns:mc="http://schemas.openxmlformats.org/markup-compatibility/2006">
              <mc:Choice xmlns:v="urn:schemas-microsoft-com:vml" Requires="v">
                <p:oleObj spid="_x0000_s4099" name="Photo Editor 照片" r:id="rId4" imgW="12527124" imgH="8809524" progId="">
                  <p:embed/>
                </p:oleObj>
              </mc:Choice>
              <mc:Fallback>
                <p:oleObj name="Photo Editor 照片" r:id="rId4" imgW="12527124" imgH="8809524" progId="">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1412875"/>
                        <a:ext cx="3743325" cy="263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59" name="Text Box 7"/>
          <p:cNvSpPr txBox="1">
            <a:spLocks noChangeArrowheads="1"/>
          </p:cNvSpPr>
          <p:nvPr/>
        </p:nvSpPr>
        <p:spPr bwMode="auto">
          <a:xfrm>
            <a:off x="827088" y="3984625"/>
            <a:ext cx="3581400" cy="1114425"/>
          </a:xfrm>
          <a:prstGeom prst="rect">
            <a:avLst/>
          </a:prstGeom>
          <a:noFill/>
          <a:ln w="9525">
            <a:noFill/>
            <a:miter lim="800000"/>
            <a:headEnd/>
            <a:tailEnd/>
          </a:ln>
        </p:spPr>
        <p:txBody>
          <a:bodyPr>
            <a:spAutoFit/>
          </a:bodyPr>
          <a:lstStyle/>
          <a:p>
            <a:pPr algn="ctr" eaLnBrk="1" hangingPunct="1">
              <a:lnSpc>
                <a:spcPct val="140000"/>
              </a:lnSpc>
            </a:pPr>
            <a:r>
              <a:rPr lang="zh-CN" altLang="zh-CN" b="1" i="1">
                <a:solidFill>
                  <a:srgbClr val="A50021"/>
                </a:solidFill>
              </a:rPr>
              <a:t>U</a:t>
            </a:r>
            <a:r>
              <a:rPr lang="zh-CN" altLang="zh-CN" b="1" baseline="-25000">
                <a:solidFill>
                  <a:srgbClr val="A50021"/>
                </a:solidFill>
              </a:rPr>
              <a:t>CQ1</a:t>
            </a:r>
            <a:r>
              <a:rPr lang="zh-CN" altLang="zh-CN" b="1" i="1">
                <a:solidFill>
                  <a:srgbClr val="A50021"/>
                </a:solidFill>
              </a:rPr>
              <a:t> </a:t>
            </a:r>
            <a:r>
              <a:rPr lang="zh-CN" altLang="zh-CN" b="1">
                <a:solidFill>
                  <a:srgbClr val="A50021"/>
                </a:solidFill>
              </a:rPr>
              <a:t>（ </a:t>
            </a:r>
            <a:r>
              <a:rPr lang="zh-CN" altLang="zh-CN" b="1" i="1">
                <a:solidFill>
                  <a:srgbClr val="A50021"/>
                </a:solidFill>
              </a:rPr>
              <a:t>U</a:t>
            </a:r>
            <a:r>
              <a:rPr lang="zh-CN" altLang="zh-CN" b="1" baseline="-25000">
                <a:solidFill>
                  <a:srgbClr val="A50021"/>
                </a:solidFill>
              </a:rPr>
              <a:t>BQ2</a:t>
            </a:r>
            <a:r>
              <a:rPr lang="zh-CN" altLang="zh-CN" b="1">
                <a:solidFill>
                  <a:srgbClr val="A50021"/>
                </a:solidFill>
              </a:rPr>
              <a:t> ）</a:t>
            </a:r>
            <a:r>
              <a:rPr lang="zh-CN" altLang="zh-CN" b="1" i="1">
                <a:solidFill>
                  <a:srgbClr val="A50021"/>
                </a:solidFill>
              </a:rPr>
              <a:t> </a:t>
            </a:r>
            <a:r>
              <a:rPr lang="zh-CN" altLang="zh-CN" b="1">
                <a:solidFill>
                  <a:srgbClr val="A50021"/>
                </a:solidFill>
              </a:rPr>
              <a:t>＞</a:t>
            </a:r>
            <a:r>
              <a:rPr lang="zh-CN" altLang="zh-CN" b="1" i="1">
                <a:solidFill>
                  <a:srgbClr val="A50021"/>
                </a:solidFill>
              </a:rPr>
              <a:t> U</a:t>
            </a:r>
            <a:r>
              <a:rPr lang="zh-CN" altLang="zh-CN" b="1" baseline="-25000">
                <a:solidFill>
                  <a:srgbClr val="A50021"/>
                </a:solidFill>
              </a:rPr>
              <a:t>BQ1</a:t>
            </a:r>
            <a:endParaRPr lang="zh-CN" altLang="zh-CN" b="1">
              <a:solidFill>
                <a:srgbClr val="A50021"/>
              </a:solidFill>
            </a:endParaRPr>
          </a:p>
          <a:p>
            <a:pPr algn="ctr" eaLnBrk="1" hangingPunct="1">
              <a:lnSpc>
                <a:spcPct val="140000"/>
              </a:lnSpc>
            </a:pPr>
            <a:r>
              <a:rPr lang="zh-CN" altLang="zh-CN" b="1" i="1">
                <a:solidFill>
                  <a:srgbClr val="A50021"/>
                </a:solidFill>
              </a:rPr>
              <a:t>U</a:t>
            </a:r>
            <a:r>
              <a:rPr lang="zh-CN" altLang="zh-CN" b="1" baseline="-25000">
                <a:solidFill>
                  <a:srgbClr val="A50021"/>
                </a:solidFill>
              </a:rPr>
              <a:t>CQ2 </a:t>
            </a:r>
            <a:r>
              <a:rPr lang="zh-CN" altLang="zh-CN" b="1">
                <a:solidFill>
                  <a:srgbClr val="A50021"/>
                </a:solidFill>
              </a:rPr>
              <a:t>＞</a:t>
            </a:r>
            <a:r>
              <a:rPr lang="zh-CN" altLang="zh-CN" b="1" baseline="-25000">
                <a:solidFill>
                  <a:srgbClr val="A50021"/>
                </a:solidFill>
              </a:rPr>
              <a:t> </a:t>
            </a:r>
            <a:r>
              <a:rPr lang="zh-CN" altLang="zh-CN" b="1" i="1">
                <a:solidFill>
                  <a:srgbClr val="A50021"/>
                </a:solidFill>
              </a:rPr>
              <a:t>U</a:t>
            </a:r>
            <a:r>
              <a:rPr lang="zh-CN" altLang="zh-CN" b="1" baseline="-25000">
                <a:solidFill>
                  <a:srgbClr val="A50021"/>
                </a:solidFill>
              </a:rPr>
              <a:t>CQ1</a:t>
            </a:r>
            <a:r>
              <a:rPr lang="zh-CN" altLang="zh-CN" b="1">
                <a:solidFill>
                  <a:srgbClr val="A50021"/>
                </a:solidFill>
              </a:rPr>
              <a:t> </a:t>
            </a:r>
            <a:endParaRPr lang="en-US" altLang="zh-CN" b="1">
              <a:solidFill>
                <a:srgbClr val="A50021"/>
              </a:solidFill>
            </a:endParaRPr>
          </a:p>
        </p:txBody>
      </p:sp>
      <p:sp>
        <p:nvSpPr>
          <p:cNvPr id="8" name="Rectangle 2"/>
          <p:cNvSpPr txBox="1">
            <a:spLocks noChangeArrowheads="1"/>
          </p:cNvSpPr>
          <p:nvPr/>
        </p:nvSpPr>
        <p:spPr bwMode="auto">
          <a:xfrm>
            <a:off x="5272088" y="568325"/>
            <a:ext cx="3540125" cy="746125"/>
          </a:xfrm>
          <a:prstGeom prst="rect">
            <a:avLst/>
          </a:prstGeom>
          <a:solidFill>
            <a:schemeClr val="accent1"/>
          </a:solidFill>
          <a:ln w="9525">
            <a:noFill/>
            <a:miter lim="800000"/>
            <a:headEnd/>
            <a:tailEnd/>
          </a:ln>
        </p:spPr>
        <p:txBody>
          <a:bodyPr anchor="ctr"/>
          <a:lstStyle/>
          <a:p>
            <a:pPr>
              <a:defRPr/>
            </a:pPr>
            <a:r>
              <a:rPr lang="zh-CN" altLang="en-US" sz="2000" b="1" kern="0" dirty="0">
                <a:latin typeface="+mj-lt"/>
                <a:ea typeface="+mj-ea"/>
                <a:cs typeface="+mj-cs"/>
              </a:rPr>
              <a:t>共射</a:t>
            </a:r>
            <a:r>
              <a:rPr lang="en-US" altLang="zh-CN" sz="2000" b="1" kern="0" dirty="0">
                <a:latin typeface="+mj-lt"/>
                <a:ea typeface="+mj-ea"/>
                <a:cs typeface="+mj-cs"/>
              </a:rPr>
              <a:t>NPN</a:t>
            </a:r>
            <a:r>
              <a:rPr lang="zh-CN" altLang="zh-CN" sz="2000" b="1" kern="0" dirty="0">
                <a:latin typeface="+mj-lt"/>
                <a:ea typeface="+mj-ea"/>
                <a:cs typeface="+mj-cs"/>
              </a:rPr>
              <a:t>型管和</a:t>
            </a:r>
            <a:r>
              <a:rPr lang="zh-CN" altLang="en-US" sz="2000" b="1" kern="0" dirty="0">
                <a:latin typeface="+mj-lt"/>
                <a:ea typeface="+mj-ea"/>
                <a:cs typeface="+mj-cs"/>
              </a:rPr>
              <a:t>共射</a:t>
            </a:r>
            <a:r>
              <a:rPr lang="zh-CN" altLang="zh-CN" sz="2000" b="1" kern="0" dirty="0">
                <a:latin typeface="+mj-lt"/>
                <a:ea typeface="+mj-ea"/>
                <a:cs typeface="+mj-cs"/>
              </a:rPr>
              <a:t>PNP型管混合使用</a:t>
            </a:r>
            <a:r>
              <a:rPr lang="zh-CN" altLang="en-US" sz="2000" b="1" kern="0" dirty="0">
                <a:latin typeface="+mj-lt"/>
                <a:ea typeface="+mj-ea"/>
                <a:cs typeface="+mj-cs"/>
              </a:rPr>
              <a:t>，问每一级接法？</a:t>
            </a:r>
          </a:p>
        </p:txBody>
      </p:sp>
      <p:sp>
        <p:nvSpPr>
          <p:cNvPr id="9" name="TextBox 8"/>
          <p:cNvSpPr txBox="1"/>
          <p:nvPr/>
        </p:nvSpPr>
        <p:spPr>
          <a:xfrm>
            <a:off x="7656513" y="6298414"/>
            <a:ext cx="1487487" cy="477837"/>
          </a:xfrm>
          <a:prstGeom prst="rect">
            <a:avLst/>
          </a:prstGeom>
          <a:solidFill>
            <a:schemeClr val="accent5"/>
          </a:solidFill>
          <a:ln>
            <a:solidFill>
              <a:srgbClr val="FF0000"/>
            </a:solidFill>
          </a:ln>
        </p:spPr>
        <p:txBody>
          <a:bodyPr>
            <a:spAutoFit/>
          </a:bodyPr>
          <a:lstStyle/>
          <a:p>
            <a:pPr algn="ctr" eaLnBrk="1" hangingPunct="1">
              <a:defRPr/>
            </a:pPr>
            <a:r>
              <a:rPr lang="zh-CN" altLang="en-US" b="1" i="1" dirty="0">
                <a:ea typeface="黑体" pitchFamily="49" charset="-122"/>
              </a:rPr>
              <a:t>截止区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9">
                                            <p:txEl>
                                              <p:pRg st="0" end="0"/>
                                            </p:txEl>
                                          </p:spTgt>
                                        </p:tgtEl>
                                        <p:attrNameLst>
                                          <p:attrName>style.visibility</p:attrName>
                                        </p:attrNameLst>
                                      </p:cBhvr>
                                      <p:to>
                                        <p:strVal val="visible"/>
                                      </p:to>
                                    </p:set>
                                    <p:animEffect transition="in" filter="wipe(left)">
                                      <p:cBhvr>
                                        <p:cTn id="7" dur="500"/>
                                        <p:tgtEl>
                                          <p:spTgt spid="235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9">
                                            <p:txEl>
                                              <p:pRg st="1" end="1"/>
                                            </p:txEl>
                                          </p:spTgt>
                                        </p:tgtEl>
                                        <p:attrNameLst>
                                          <p:attrName>style.visibility</p:attrName>
                                        </p:attrNameLst>
                                      </p:cBhvr>
                                      <p:to>
                                        <p:strVal val="visible"/>
                                      </p:to>
                                    </p:set>
                                    <p:animEffect transition="in" filter="wipe(left)">
                                      <p:cBhvr>
                                        <p:cTn id="12" dur="500"/>
                                        <p:tgtEl>
                                          <p:spTgt spid="235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5">
                                            <p:txEl>
                                              <p:pRg st="0" end="0"/>
                                            </p:txEl>
                                          </p:spTgt>
                                        </p:tgtEl>
                                        <p:attrNameLst>
                                          <p:attrName>style.visibility</p:attrName>
                                        </p:attrNameLst>
                                      </p:cBhvr>
                                      <p:to>
                                        <p:strVal val="visible"/>
                                      </p:to>
                                    </p:set>
                                    <p:animEffect transition="in" filter="wipe(left)">
                                      <p:cBhvr>
                                        <p:cTn id="17" dur="500"/>
                                        <p:tgtEl>
                                          <p:spTgt spid="235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556"/>
                                        </p:tgtEl>
                                        <p:attrNameLst>
                                          <p:attrName>style.visibility</p:attrName>
                                        </p:attrNameLst>
                                      </p:cBhvr>
                                      <p:to>
                                        <p:strVal val="visible"/>
                                      </p:to>
                                    </p:set>
                                    <p:animEffect transition="in" filter="wipe(left)">
                                      <p:cBhvr>
                                        <p:cTn id="27" dur="500"/>
                                        <p:tgtEl>
                                          <p:spTgt spid="235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557">
                                            <p:txEl>
                                              <p:pRg st="0" end="0"/>
                                            </p:txEl>
                                          </p:spTgt>
                                        </p:tgtEl>
                                        <p:attrNameLst>
                                          <p:attrName>style.visibility</p:attrName>
                                        </p:attrNameLst>
                                      </p:cBhvr>
                                      <p:to>
                                        <p:strVal val="visible"/>
                                      </p:to>
                                    </p:set>
                                    <p:animEffect transition="in" filter="wipe(left)">
                                      <p:cBhvr>
                                        <p:cTn id="32" dur="500"/>
                                        <p:tgtEl>
                                          <p:spTgt spid="2355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57">
                                            <p:txEl>
                                              <p:pRg st="1" end="1"/>
                                            </p:txEl>
                                          </p:spTgt>
                                        </p:tgtEl>
                                        <p:attrNameLst>
                                          <p:attrName>style.visibility</p:attrName>
                                        </p:attrNameLst>
                                      </p:cBhvr>
                                      <p:to>
                                        <p:strVal val="visible"/>
                                      </p:to>
                                    </p:set>
                                    <p:animEffect transition="in" filter="wipe(left)">
                                      <p:cBhvr>
                                        <p:cTn id="37" dur="500"/>
                                        <p:tgtEl>
                                          <p:spTgt spid="23557">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ox(in)">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P spid="23557" grpId="0" build="p" autoUpdateAnimBg="0"/>
      <p:bldP spid="23559" grpId="0" build="p" autoUpdateAnimBg="0"/>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3" descr="Dz030102"/>
          <p:cNvPicPr>
            <a:picLocks noChangeAspect="1" noChangeArrowheads="1"/>
          </p:cNvPicPr>
          <p:nvPr/>
        </p:nvPicPr>
        <p:blipFill>
          <a:blip r:embed="rId4"/>
          <a:srcRect/>
          <a:stretch>
            <a:fillRect/>
          </a:stretch>
        </p:blipFill>
        <p:spPr bwMode="auto">
          <a:xfrm>
            <a:off x="755650" y="1844675"/>
            <a:ext cx="4419600" cy="2559050"/>
          </a:xfrm>
          <a:prstGeom prst="rect">
            <a:avLst/>
          </a:prstGeom>
          <a:noFill/>
          <a:ln w="9525">
            <a:noFill/>
            <a:miter lim="800000"/>
            <a:headEnd/>
            <a:tailEnd/>
          </a:ln>
        </p:spPr>
      </p:pic>
      <p:sp>
        <p:nvSpPr>
          <p:cNvPr id="24580" name="Text Box 4"/>
          <p:cNvSpPr txBox="1">
            <a:spLocks noChangeArrowheads="1"/>
          </p:cNvSpPr>
          <p:nvPr/>
        </p:nvSpPr>
        <p:spPr bwMode="auto">
          <a:xfrm>
            <a:off x="4946650" y="4240213"/>
            <a:ext cx="4197350" cy="461962"/>
          </a:xfrm>
          <a:prstGeom prst="rect">
            <a:avLst/>
          </a:prstGeom>
          <a:noFill/>
          <a:ln w="9525">
            <a:noFill/>
            <a:miter lim="800000"/>
            <a:headEnd/>
            <a:tailEnd/>
          </a:ln>
        </p:spPr>
        <p:txBody>
          <a:bodyPr>
            <a:spAutoFit/>
          </a:bodyPr>
          <a:lstStyle/>
          <a:p>
            <a:pPr algn="ctr" eaLnBrk="1" hangingPunct="1">
              <a:spcBef>
                <a:spcPct val="50000"/>
              </a:spcBef>
            </a:pPr>
            <a:r>
              <a:rPr lang="en-US" altLang="zh-CN">
                <a:solidFill>
                  <a:srgbClr val="D60093"/>
                </a:solidFill>
              </a:rPr>
              <a:t>     </a:t>
            </a:r>
            <a:r>
              <a:rPr lang="en-US" altLang="zh-CN" b="1" i="1">
                <a:solidFill>
                  <a:srgbClr val="A50021"/>
                </a:solidFill>
              </a:rPr>
              <a:t>Q</a:t>
            </a:r>
            <a:r>
              <a:rPr lang="zh-CN" altLang="zh-CN" b="1">
                <a:solidFill>
                  <a:srgbClr val="A50021"/>
                </a:solidFill>
              </a:rPr>
              <a:t>点相互独立</a:t>
            </a:r>
            <a:r>
              <a:rPr lang="zh-CN" altLang="en-US" b="1">
                <a:solidFill>
                  <a:srgbClr val="A50021"/>
                </a:solidFill>
              </a:rPr>
              <a:t>。</a:t>
            </a:r>
          </a:p>
        </p:txBody>
      </p:sp>
      <p:grpSp>
        <p:nvGrpSpPr>
          <p:cNvPr id="2" name="Group 5"/>
          <p:cNvGrpSpPr>
            <a:grpSpLocks/>
          </p:cNvGrpSpPr>
          <p:nvPr/>
        </p:nvGrpSpPr>
        <p:grpSpPr bwMode="auto">
          <a:xfrm>
            <a:off x="1212850" y="4359275"/>
            <a:ext cx="3810000" cy="457200"/>
            <a:chOff x="768" y="2640"/>
            <a:chExt cx="2400" cy="288"/>
          </a:xfrm>
        </p:grpSpPr>
        <p:sp>
          <p:nvSpPr>
            <p:cNvPr id="105484" name="Text Box 6"/>
            <p:cNvSpPr txBox="1">
              <a:spLocks noChangeArrowheads="1"/>
            </p:cNvSpPr>
            <p:nvPr/>
          </p:nvSpPr>
          <p:spPr bwMode="auto">
            <a:xfrm>
              <a:off x="768" y="2640"/>
              <a:ext cx="1056" cy="288"/>
            </a:xfrm>
            <a:prstGeom prst="rect">
              <a:avLst/>
            </a:prstGeom>
            <a:noFill/>
            <a:ln w="9525">
              <a:noFill/>
              <a:miter lim="800000"/>
              <a:headEnd/>
              <a:tailEnd/>
            </a:ln>
          </p:spPr>
          <p:txBody>
            <a:bodyPr>
              <a:spAutoFit/>
            </a:bodyPr>
            <a:lstStyle/>
            <a:p>
              <a:pPr algn="ctr" eaLnBrk="1" hangingPunct="1">
                <a:spcBef>
                  <a:spcPct val="50000"/>
                </a:spcBef>
              </a:pPr>
              <a:r>
                <a:rPr lang="zh-CN" altLang="en-US" b="1"/>
                <a:t>共射电路</a:t>
              </a:r>
            </a:p>
          </p:txBody>
        </p:sp>
        <p:sp>
          <p:nvSpPr>
            <p:cNvPr id="105485" name="Text Box 7"/>
            <p:cNvSpPr txBox="1">
              <a:spLocks noChangeArrowheads="1"/>
            </p:cNvSpPr>
            <p:nvPr/>
          </p:nvSpPr>
          <p:spPr bwMode="auto">
            <a:xfrm>
              <a:off x="2112" y="2640"/>
              <a:ext cx="1056" cy="288"/>
            </a:xfrm>
            <a:prstGeom prst="rect">
              <a:avLst/>
            </a:prstGeom>
            <a:noFill/>
            <a:ln w="9525">
              <a:noFill/>
              <a:miter lim="800000"/>
              <a:headEnd/>
              <a:tailEnd/>
            </a:ln>
          </p:spPr>
          <p:txBody>
            <a:bodyPr>
              <a:spAutoFit/>
            </a:bodyPr>
            <a:lstStyle/>
            <a:p>
              <a:pPr algn="ctr" eaLnBrk="1" hangingPunct="1">
                <a:spcBef>
                  <a:spcPct val="50000"/>
                </a:spcBef>
              </a:pPr>
              <a:r>
                <a:rPr lang="zh-CN" altLang="en-US" b="1"/>
                <a:t>共集电路</a:t>
              </a:r>
            </a:p>
          </p:txBody>
        </p:sp>
      </p:grpSp>
      <p:sp>
        <p:nvSpPr>
          <p:cNvPr id="24584" name="Text Box 8"/>
          <p:cNvSpPr txBox="1">
            <a:spLocks noChangeArrowheads="1"/>
          </p:cNvSpPr>
          <p:nvPr/>
        </p:nvSpPr>
        <p:spPr bwMode="auto">
          <a:xfrm>
            <a:off x="5737225" y="2940050"/>
            <a:ext cx="2884488" cy="457200"/>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A50021"/>
                </a:solidFill>
              </a:rPr>
              <a:t>有零点漂移吗？</a:t>
            </a:r>
          </a:p>
        </p:txBody>
      </p:sp>
      <p:sp>
        <p:nvSpPr>
          <p:cNvPr id="24585" name="Text Box 9"/>
          <p:cNvSpPr txBox="1">
            <a:spLocks noChangeArrowheads="1"/>
          </p:cNvSpPr>
          <p:nvPr/>
        </p:nvSpPr>
        <p:spPr bwMode="auto">
          <a:xfrm>
            <a:off x="5416550" y="971550"/>
            <a:ext cx="3048000" cy="1917700"/>
          </a:xfrm>
          <a:prstGeom prst="rect">
            <a:avLst/>
          </a:prstGeom>
          <a:noFill/>
          <a:ln w="9525">
            <a:noFill/>
            <a:miter lim="800000"/>
            <a:headEnd/>
            <a:tailEnd/>
          </a:ln>
        </p:spPr>
        <p:txBody>
          <a:bodyPr>
            <a:spAutoFit/>
          </a:bodyPr>
          <a:lstStyle/>
          <a:p>
            <a:pPr algn="ctr" eaLnBrk="1" hangingPunct="1">
              <a:spcBef>
                <a:spcPct val="50000"/>
              </a:spcBef>
            </a:pPr>
            <a:r>
              <a:rPr lang="en-US" altLang="zh-CN" b="1"/>
              <a:t>    </a:t>
            </a:r>
            <a:r>
              <a:rPr lang="zh-CN" altLang="en-US" b="1"/>
              <a:t>利用电容连接信号源与放大电路、放大电路的前后级、放大电路与负载，为阻容耦合。</a:t>
            </a:r>
          </a:p>
        </p:txBody>
      </p:sp>
      <p:sp>
        <p:nvSpPr>
          <p:cNvPr id="24591" name="Oval 15"/>
          <p:cNvSpPr>
            <a:spLocks noChangeArrowheads="1"/>
          </p:cNvSpPr>
          <p:nvPr/>
        </p:nvSpPr>
        <p:spPr bwMode="auto">
          <a:xfrm>
            <a:off x="2478088" y="2228850"/>
            <a:ext cx="647700" cy="647700"/>
          </a:xfrm>
          <a:prstGeom prst="ellipse">
            <a:avLst/>
          </a:prstGeom>
          <a:noFill/>
          <a:ln w="28575">
            <a:solidFill>
              <a:srgbClr val="FF0000"/>
            </a:solidFill>
            <a:round/>
            <a:headEnd/>
            <a:tailEnd/>
          </a:ln>
        </p:spPr>
        <p:txBody>
          <a:bodyPr wrap="none" anchor="ctr"/>
          <a:lstStyle/>
          <a:p>
            <a:pPr algn="ctr" eaLnBrk="1" hangingPunct="1"/>
            <a:endParaRPr lang="zh-CN" altLang="en-US"/>
          </a:p>
        </p:txBody>
      </p:sp>
      <p:sp>
        <p:nvSpPr>
          <p:cNvPr id="105480" name="Text Box 9"/>
          <p:cNvSpPr txBox="1">
            <a:spLocks noChangeArrowheads="1"/>
          </p:cNvSpPr>
          <p:nvPr/>
        </p:nvSpPr>
        <p:spPr bwMode="auto">
          <a:xfrm>
            <a:off x="838200" y="762000"/>
            <a:ext cx="3505200" cy="646113"/>
          </a:xfrm>
          <a:prstGeom prst="rect">
            <a:avLst/>
          </a:prstGeom>
          <a:noFill/>
          <a:ln w="9525">
            <a:noFill/>
            <a:miter lim="800000"/>
            <a:headEnd/>
            <a:tailEnd/>
          </a:ln>
        </p:spPr>
        <p:txBody>
          <a:bodyPr>
            <a:spAutoFit/>
          </a:bodyPr>
          <a:lstStyle/>
          <a:p>
            <a:pPr eaLnBrk="1" hangingPunct="1">
              <a:spcBef>
                <a:spcPct val="50000"/>
              </a:spcBef>
            </a:pPr>
            <a:r>
              <a:rPr lang="en-US" altLang="zh-CN" sz="3600" b="1"/>
              <a:t>3.1.2</a:t>
            </a:r>
            <a:r>
              <a:rPr lang="zh-CN" altLang="en-US" sz="3600" b="1"/>
              <a:t>　阻容耦合</a:t>
            </a:r>
          </a:p>
        </p:txBody>
      </p:sp>
      <p:sp>
        <p:nvSpPr>
          <p:cNvPr id="13" name="Text Box 4"/>
          <p:cNvSpPr txBox="1">
            <a:spLocks noChangeArrowheads="1"/>
          </p:cNvSpPr>
          <p:nvPr/>
        </p:nvSpPr>
        <p:spPr bwMode="auto">
          <a:xfrm>
            <a:off x="915988" y="4787900"/>
            <a:ext cx="6824662" cy="461963"/>
          </a:xfrm>
          <a:prstGeom prst="rect">
            <a:avLst/>
          </a:prstGeom>
          <a:noFill/>
          <a:ln w="9525">
            <a:noFill/>
            <a:miter lim="800000"/>
            <a:headEnd/>
            <a:tailEnd/>
          </a:ln>
        </p:spPr>
        <p:txBody>
          <a:bodyPr>
            <a:spAutoFit/>
          </a:bodyPr>
          <a:lstStyle/>
          <a:p>
            <a:pPr algn="ctr" eaLnBrk="1" hangingPunct="1">
              <a:spcBef>
                <a:spcPct val="50000"/>
              </a:spcBef>
            </a:pPr>
            <a:r>
              <a:rPr lang="en-US" altLang="zh-CN">
                <a:solidFill>
                  <a:srgbClr val="D60093"/>
                </a:solidFill>
              </a:rPr>
              <a:t>     </a:t>
            </a:r>
            <a:r>
              <a:rPr lang="zh-CN" altLang="en-US">
                <a:solidFill>
                  <a:srgbClr val="D60093"/>
                </a:solidFill>
              </a:rPr>
              <a:t>第一级是一个典型的工作点稳定的共射电路</a:t>
            </a:r>
            <a:endParaRPr lang="zh-CN" altLang="en-US" b="1">
              <a:solidFill>
                <a:srgbClr val="A50021"/>
              </a:solidFill>
            </a:endParaRPr>
          </a:p>
        </p:txBody>
      </p:sp>
      <p:sp>
        <p:nvSpPr>
          <p:cNvPr id="14" name="Text Box 8"/>
          <p:cNvSpPr txBox="1">
            <a:spLocks noChangeArrowheads="1"/>
          </p:cNvSpPr>
          <p:nvPr/>
        </p:nvSpPr>
        <p:spPr bwMode="auto">
          <a:xfrm>
            <a:off x="5732463" y="3471863"/>
            <a:ext cx="2884487" cy="830262"/>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A50021"/>
                </a:solidFill>
              </a:rPr>
              <a:t>零点漂移不会传递到下一级</a:t>
            </a:r>
          </a:p>
        </p:txBody>
      </p:sp>
      <p:sp>
        <p:nvSpPr>
          <p:cNvPr id="15" name="Text Box 90"/>
          <p:cNvSpPr txBox="1">
            <a:spLocks noChangeArrowheads="1"/>
          </p:cNvSpPr>
          <p:nvPr/>
        </p:nvSpPr>
        <p:spPr bwMode="auto">
          <a:xfrm>
            <a:off x="346075" y="5287963"/>
            <a:ext cx="8504238" cy="1570037"/>
          </a:xfrm>
          <a:prstGeom prst="rect">
            <a:avLst/>
          </a:prstGeom>
          <a:solidFill>
            <a:schemeClr val="accent1">
              <a:lumMod val="20000"/>
              <a:lumOff val="80000"/>
            </a:schemeClr>
          </a:solidFill>
          <a:ln w="9525">
            <a:noFill/>
            <a:miter lim="800000"/>
            <a:headEnd/>
            <a:tailEnd/>
          </a:ln>
        </p:spPr>
        <p:txBody>
          <a:bodyPr>
            <a:spAutoFit/>
          </a:bodyPr>
          <a:lstStyle/>
          <a:p>
            <a:pPr eaLnBrk="1" hangingPunct="1">
              <a:spcBef>
                <a:spcPct val="50000"/>
              </a:spcBef>
              <a:defRPr/>
            </a:pPr>
            <a:r>
              <a:rPr lang="zh-CN" altLang="en-US" b="1" dirty="0"/>
              <a:t>特点：静态工作点相互独立，在分立元件电路中广泛使用。</a:t>
            </a:r>
            <a:endParaRPr lang="en-US" altLang="zh-CN" b="1" dirty="0"/>
          </a:p>
          <a:p>
            <a:pPr eaLnBrk="1" hangingPunct="1">
              <a:spcBef>
                <a:spcPct val="50000"/>
              </a:spcBef>
              <a:defRPr/>
            </a:pPr>
            <a:r>
              <a:rPr lang="zh-CN" altLang="en-US" b="1" dirty="0">
                <a:solidFill>
                  <a:srgbClr val="A50021"/>
                </a:solidFill>
              </a:rPr>
              <a:t>             不能放大变化缓慢的信号，</a:t>
            </a:r>
            <a:r>
              <a:rPr lang="zh-CN" altLang="en-US" b="1" u="sng" dirty="0">
                <a:solidFill>
                  <a:srgbClr val="A50021"/>
                </a:solidFill>
              </a:rPr>
              <a:t>低频特性差</a:t>
            </a:r>
            <a:r>
              <a:rPr lang="zh-CN" altLang="en-US" b="1" dirty="0">
                <a:solidFill>
                  <a:srgbClr val="A50021"/>
                </a:solidFill>
              </a:rPr>
              <a:t>。</a:t>
            </a:r>
            <a:endParaRPr lang="zh-CN" altLang="en-US" b="1" dirty="0"/>
          </a:p>
          <a:p>
            <a:pPr eaLnBrk="1" hangingPunct="1">
              <a:spcBef>
                <a:spcPct val="50000"/>
              </a:spcBef>
              <a:defRPr/>
            </a:pPr>
            <a:r>
              <a:rPr lang="zh-CN" altLang="en-US" b="1" dirty="0"/>
              <a:t>在集成电路中无法制造大容量电容，</a:t>
            </a:r>
            <a:r>
              <a:rPr lang="zh-CN" altLang="en-US" b="1" u="sng" dirty="0">
                <a:solidFill>
                  <a:srgbClr val="FF0000"/>
                </a:solidFill>
              </a:rPr>
              <a:t>不便于集成化</a:t>
            </a:r>
            <a:r>
              <a:rPr lang="zh-CN" altLang="en-US" b="1" dirty="0"/>
              <a:t>，尽量不用。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4591"/>
                                        </p:tgtEl>
                                        <p:attrNameLst>
                                          <p:attrName>style.visibility</p:attrName>
                                        </p:attrNameLst>
                                      </p:cBhvr>
                                      <p:to>
                                        <p:strVal val="visible"/>
                                      </p:to>
                                    </p:set>
                                    <p:anim calcmode="lin" valueType="num">
                                      <p:cBhvr>
                                        <p:cTn id="7" dur="500" fill="hold"/>
                                        <p:tgtEl>
                                          <p:spTgt spid="24591"/>
                                        </p:tgtEl>
                                        <p:attrNameLst>
                                          <p:attrName>ppt_w</p:attrName>
                                        </p:attrNameLst>
                                      </p:cBhvr>
                                      <p:tavLst>
                                        <p:tav tm="0">
                                          <p:val>
                                            <p:fltVal val="0"/>
                                          </p:val>
                                        </p:tav>
                                        <p:tav tm="100000">
                                          <p:val>
                                            <p:strVal val="#ppt_w"/>
                                          </p:val>
                                        </p:tav>
                                      </p:tavLst>
                                    </p:anim>
                                    <p:anim calcmode="lin" valueType="num">
                                      <p:cBhvr>
                                        <p:cTn id="8" dur="500" fill="hold"/>
                                        <p:tgtEl>
                                          <p:spTgt spid="24591"/>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4585">
                                            <p:txEl>
                                              <p:pRg st="0" end="0"/>
                                            </p:txEl>
                                          </p:spTgt>
                                        </p:tgtEl>
                                        <p:attrNameLst>
                                          <p:attrName>style.visibility</p:attrName>
                                        </p:attrNameLst>
                                      </p:cBhvr>
                                      <p:to>
                                        <p:strVal val="visible"/>
                                      </p:to>
                                    </p:set>
                                    <p:animEffect transition="in" filter="wipe(left)">
                                      <p:cBhvr>
                                        <p:cTn id="13" dur="500"/>
                                        <p:tgtEl>
                                          <p:spTgt spid="2458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584">
                                            <p:txEl>
                                              <p:pRg st="0" end="0"/>
                                            </p:txEl>
                                          </p:spTgt>
                                        </p:tgtEl>
                                        <p:attrNameLst>
                                          <p:attrName>style.visibility</p:attrName>
                                        </p:attrNameLst>
                                      </p:cBhvr>
                                      <p:to>
                                        <p:strVal val="visible"/>
                                      </p:to>
                                    </p:set>
                                    <p:animEffect transition="in" filter="wipe(left)">
                                      <p:cBhvr>
                                        <p:cTn id="23" dur="500"/>
                                        <p:tgtEl>
                                          <p:spTgt spid="24584">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Effect transition="in" filter="wipe(left)">
                                      <p:cBhvr>
                                        <p:cTn id="28" dur="500"/>
                                        <p:tgtEl>
                                          <p:spTgt spid="14">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580"/>
                                        </p:tgtEl>
                                        <p:attrNameLst>
                                          <p:attrName>style.visibility</p:attrName>
                                        </p:attrNameLst>
                                      </p:cBhvr>
                                      <p:to>
                                        <p:strVal val="visible"/>
                                      </p:to>
                                    </p:set>
                                    <p:animEffect transition="in" filter="wipe(left)">
                                      <p:cBhvr>
                                        <p:cTn id="38" dur="500"/>
                                        <p:tgtEl>
                                          <p:spTgt spid="245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5">
                                            <p:txEl>
                                              <p:pRg st="0" end="0"/>
                                            </p:txEl>
                                          </p:spTgt>
                                        </p:tgtEl>
                                        <p:attrNameLst>
                                          <p:attrName>style.visibility</p:attrName>
                                        </p:attrNameLst>
                                      </p:cBhvr>
                                      <p:to>
                                        <p:strVal val="visible"/>
                                      </p:to>
                                    </p:set>
                                    <p:animEffect transition="in" filter="box(out)">
                                      <p:cBhvr>
                                        <p:cTn id="43" dur="500"/>
                                        <p:tgtEl>
                                          <p:spTgt spid="15">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5">
                                            <p:txEl>
                                              <p:pRg st="1" end="1"/>
                                            </p:txEl>
                                          </p:spTgt>
                                        </p:tgtEl>
                                        <p:attrNameLst>
                                          <p:attrName>style.visibility</p:attrName>
                                        </p:attrNameLst>
                                      </p:cBhvr>
                                      <p:to>
                                        <p:strVal val="visible"/>
                                      </p:to>
                                    </p:set>
                                    <p:animEffect transition="in" filter="box(out)">
                                      <p:cBhvr>
                                        <p:cTn id="48" dur="500"/>
                                        <p:tgtEl>
                                          <p:spTgt spid="15">
                                            <p:txEl>
                                              <p:pRg st="1" end="1"/>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5">
                                            <p:txEl>
                                              <p:pRg st="2" end="2"/>
                                            </p:txEl>
                                          </p:spTgt>
                                        </p:tgtEl>
                                        <p:attrNameLst>
                                          <p:attrName>style.visibility</p:attrName>
                                        </p:attrNameLst>
                                      </p:cBhvr>
                                      <p:to>
                                        <p:strVal val="visible"/>
                                      </p:to>
                                    </p:set>
                                    <p:animEffect transition="in" filter="box(out)">
                                      <p:cBhvr>
                                        <p:cTn id="53" dur="500"/>
                                        <p:tgtEl>
                                          <p:spTgt spid="15">
                                            <p:txEl>
                                              <p:pRg st="2" end="2"/>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utoUpdateAnimBg="0"/>
      <p:bldP spid="24584" grpId="0" build="p" autoUpdateAnimBg="0"/>
      <p:bldP spid="24585" grpId="0" build="p" autoUpdateAnimBg="0"/>
      <p:bldP spid="24591" grpId="0" animBg="1"/>
      <p:bldP spid="13" grpId="0" autoUpdateAnimBg="0"/>
      <p:bldP spid="14" grpId="0" build="p" autoUpdateAnimBg="0"/>
      <p:bldP spid="1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3" descr="Dz020404"/>
          <p:cNvPicPr>
            <a:picLocks noChangeAspect="1" noChangeArrowheads="1"/>
          </p:cNvPicPr>
          <p:nvPr/>
        </p:nvPicPr>
        <p:blipFill>
          <a:blip r:embed="rId3"/>
          <a:srcRect b="59172"/>
          <a:stretch>
            <a:fillRect/>
          </a:stretch>
        </p:blipFill>
        <p:spPr bwMode="auto">
          <a:xfrm>
            <a:off x="903288" y="4402138"/>
            <a:ext cx="4114800" cy="1554162"/>
          </a:xfrm>
          <a:prstGeom prst="rect">
            <a:avLst/>
          </a:prstGeom>
          <a:noFill/>
          <a:ln w="9525">
            <a:noFill/>
            <a:miter lim="800000"/>
            <a:headEnd/>
            <a:tailEnd/>
          </a:ln>
        </p:spPr>
      </p:pic>
      <p:graphicFrame>
        <p:nvGraphicFramePr>
          <p:cNvPr id="103428" name="Object 2"/>
          <p:cNvGraphicFramePr>
            <a:graphicFrameLocks noChangeAspect="1"/>
          </p:cNvGraphicFramePr>
          <p:nvPr/>
        </p:nvGraphicFramePr>
        <p:xfrm>
          <a:off x="5348288" y="4090988"/>
          <a:ext cx="2098675" cy="838200"/>
        </p:xfrm>
        <a:graphic>
          <a:graphicData uri="http://schemas.openxmlformats.org/presentationml/2006/ole">
            <mc:AlternateContent xmlns:mc="http://schemas.openxmlformats.org/markup-compatibility/2006">
              <mc:Choice xmlns:v="urn:schemas-microsoft-com:vml" Requires="v">
                <p:oleObj spid="_x0000_s5125" name="公式" r:id="rId4" imgW="27432000" imgH="10972800" progId="Equation.3">
                  <p:embed/>
                </p:oleObj>
              </mc:Choice>
              <mc:Fallback>
                <p:oleObj name="公式" r:id="rId4" imgW="27432000" imgH="10972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8288" y="4090988"/>
                        <a:ext cx="2098675" cy="838200"/>
                      </a:xfrm>
                      <a:prstGeom prst="rect">
                        <a:avLst/>
                      </a:prstGeom>
                      <a:solidFill>
                        <a:srgbClr val="00FFFF"/>
                      </a:solidFill>
                      <a:ln w="9525">
                        <a:solidFill>
                          <a:srgbClr val="FF3300"/>
                        </a:solidFill>
                        <a:miter lim="800000"/>
                        <a:headEnd/>
                        <a:tailEnd/>
                      </a:ln>
                    </p:spPr>
                  </p:pic>
                </p:oleObj>
              </mc:Fallback>
            </mc:AlternateContent>
          </a:graphicData>
        </a:graphic>
      </p:graphicFrame>
      <p:graphicFrame>
        <p:nvGraphicFramePr>
          <p:cNvPr id="103429" name="Object 3"/>
          <p:cNvGraphicFramePr>
            <a:graphicFrameLocks noChangeAspect="1"/>
          </p:cNvGraphicFramePr>
          <p:nvPr/>
        </p:nvGraphicFramePr>
        <p:xfrm>
          <a:off x="5348288" y="5027613"/>
          <a:ext cx="2362200" cy="441325"/>
        </p:xfrm>
        <a:graphic>
          <a:graphicData uri="http://schemas.openxmlformats.org/presentationml/2006/ole">
            <mc:AlternateContent xmlns:mc="http://schemas.openxmlformats.org/markup-compatibility/2006">
              <mc:Choice xmlns:v="urn:schemas-microsoft-com:vml" Requires="v">
                <p:oleObj spid="_x0000_s5126" name="公式" r:id="rId6" imgW="29260800" imgH="5486400" progId="Equation.3">
                  <p:embed/>
                </p:oleObj>
              </mc:Choice>
              <mc:Fallback>
                <p:oleObj name="公式" r:id="rId6" imgW="29260800" imgH="5486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48288" y="5027613"/>
                        <a:ext cx="2362200" cy="441325"/>
                      </a:xfrm>
                      <a:prstGeom prst="rect">
                        <a:avLst/>
                      </a:prstGeom>
                      <a:solidFill>
                        <a:srgbClr val="00FFFF"/>
                      </a:solidFill>
                      <a:ln w="9525">
                        <a:solidFill>
                          <a:srgbClr val="FF3300"/>
                        </a:solidFill>
                        <a:miter lim="800000"/>
                        <a:headEnd/>
                        <a:tailEnd/>
                      </a:ln>
                    </p:spPr>
                  </p:pic>
                </p:oleObj>
              </mc:Fallback>
            </mc:AlternateContent>
          </a:graphicData>
        </a:graphic>
      </p:graphicFrame>
      <p:graphicFrame>
        <p:nvGraphicFramePr>
          <p:cNvPr id="103430" name="Object 4"/>
          <p:cNvGraphicFramePr>
            <a:graphicFrameLocks noChangeAspect="1"/>
          </p:cNvGraphicFramePr>
          <p:nvPr/>
        </p:nvGraphicFramePr>
        <p:xfrm>
          <a:off x="5348288" y="5532438"/>
          <a:ext cx="914400" cy="423862"/>
        </p:xfrm>
        <a:graphic>
          <a:graphicData uri="http://schemas.openxmlformats.org/presentationml/2006/ole">
            <mc:AlternateContent xmlns:mc="http://schemas.openxmlformats.org/markup-compatibility/2006">
              <mc:Choice xmlns:v="urn:schemas-microsoft-com:vml" Requires="v">
                <p:oleObj spid="_x0000_s5127" name="公式" r:id="rId8" imgW="11887200" imgH="5486400" progId="Equation.3">
                  <p:embed/>
                </p:oleObj>
              </mc:Choice>
              <mc:Fallback>
                <p:oleObj name="公式" r:id="rId8" imgW="11887200" imgH="54864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8288" y="5532438"/>
                        <a:ext cx="914400" cy="423862"/>
                      </a:xfrm>
                      <a:prstGeom prst="rect">
                        <a:avLst/>
                      </a:prstGeom>
                      <a:solidFill>
                        <a:srgbClr val="00FFFF"/>
                      </a:solidFill>
                      <a:ln w="9525">
                        <a:solidFill>
                          <a:srgbClr val="FF3300"/>
                        </a:solidFill>
                        <a:miter lim="800000"/>
                        <a:headEnd/>
                        <a:tailEnd/>
                      </a:ln>
                    </p:spPr>
                  </p:pic>
                </p:oleObj>
              </mc:Fallback>
            </mc:AlternateContent>
          </a:graphicData>
        </a:graphic>
      </p:graphicFrame>
      <p:sp>
        <p:nvSpPr>
          <p:cNvPr id="103437" name="AutoShape 13"/>
          <p:cNvSpPr>
            <a:spLocks/>
          </p:cNvSpPr>
          <p:nvPr/>
        </p:nvSpPr>
        <p:spPr bwMode="auto">
          <a:xfrm>
            <a:off x="6808788" y="3249613"/>
            <a:ext cx="2149475" cy="765175"/>
          </a:xfrm>
          <a:prstGeom prst="borderCallout1">
            <a:avLst>
              <a:gd name="adj1" fmla="val 14940"/>
              <a:gd name="adj2" fmla="val -4069"/>
              <a:gd name="adj3" fmla="val 105394"/>
              <a:gd name="adj4" fmla="val -40593"/>
            </a:avLst>
          </a:prstGeom>
          <a:solidFill>
            <a:srgbClr val="FFFFCC"/>
          </a:solidFill>
          <a:ln w="19050">
            <a:solidFill>
              <a:srgbClr val="FF0000"/>
            </a:solidFill>
            <a:miter lim="800000"/>
            <a:headEnd/>
            <a:tailEnd/>
          </a:ln>
        </p:spPr>
        <p:txBody>
          <a:bodyPr/>
          <a:lstStyle/>
          <a:p>
            <a:pPr algn="ctr" eaLnBrk="1" hangingPunct="1"/>
            <a:r>
              <a:rPr lang="en-US" altLang="zh-CN"/>
              <a:t>R</a:t>
            </a:r>
            <a:r>
              <a:rPr lang="en-US" altLang="zh-CN" sz="1400"/>
              <a:t>L</a:t>
            </a:r>
            <a:r>
              <a:rPr lang="en-US" altLang="zh-CN"/>
              <a:t>=3</a:t>
            </a:r>
            <a:r>
              <a:rPr lang="zh-CN" altLang="en-US"/>
              <a:t>欧姆</a:t>
            </a:r>
            <a:endParaRPr lang="en-US" altLang="zh-CN"/>
          </a:p>
          <a:p>
            <a:pPr algn="ctr" eaLnBrk="1" hangingPunct="1"/>
            <a:r>
              <a:rPr lang="zh-CN" altLang="en-US"/>
              <a:t>电压放大倍数？</a:t>
            </a:r>
          </a:p>
        </p:txBody>
      </p:sp>
      <p:pic>
        <p:nvPicPr>
          <p:cNvPr id="7175" name="Picture 3" descr="Dz020402"/>
          <p:cNvPicPr>
            <a:picLocks noChangeAspect="1" noChangeArrowheads="1"/>
          </p:cNvPicPr>
          <p:nvPr/>
        </p:nvPicPr>
        <p:blipFill>
          <a:blip r:embed="rId10"/>
          <a:srcRect r="29347" b="13513"/>
          <a:stretch>
            <a:fillRect/>
          </a:stretch>
        </p:blipFill>
        <p:spPr bwMode="auto">
          <a:xfrm>
            <a:off x="1073150" y="974725"/>
            <a:ext cx="5105400" cy="2513013"/>
          </a:xfrm>
          <a:prstGeom prst="rect">
            <a:avLst/>
          </a:prstGeom>
          <a:noFill/>
          <a:ln w="9525">
            <a:noFill/>
            <a:miter lim="800000"/>
            <a:headEnd/>
            <a:tailEnd/>
          </a:ln>
        </p:spPr>
      </p:pic>
      <p:sp>
        <p:nvSpPr>
          <p:cNvPr id="2" name="文本框 1">
            <a:extLst>
              <a:ext uri="{FF2B5EF4-FFF2-40B4-BE49-F238E27FC236}">
                <a16:creationId xmlns:a16="http://schemas.microsoft.com/office/drawing/2014/main" id="{96DE9886-EB58-41D3-ABCE-99C17E213906}"/>
              </a:ext>
            </a:extLst>
          </p:cNvPr>
          <p:cNvSpPr txBox="1"/>
          <p:nvPr/>
        </p:nvSpPr>
        <p:spPr>
          <a:xfrm>
            <a:off x="6871317" y="2231231"/>
            <a:ext cx="1899821" cy="830997"/>
          </a:xfrm>
          <a:prstGeom prst="rect">
            <a:avLst/>
          </a:prstGeom>
          <a:solidFill>
            <a:schemeClr val="accent5"/>
          </a:solidFill>
        </p:spPr>
        <p:txBody>
          <a:bodyPr wrap="square" rtlCol="0">
            <a:spAutoFit/>
          </a:bodyPr>
          <a:lstStyle/>
          <a:p>
            <a:r>
              <a:rPr lang="zh-CN" altLang="en-US" dirty="0"/>
              <a:t>负载会影响放大倍数！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wipe(left)">
                                      <p:cBhvr>
                                        <p:cTn id="12" dur="500"/>
                                        <p:tgtEl>
                                          <p:spTgt spid="1034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3430"/>
                                        </p:tgtEl>
                                        <p:attrNameLst>
                                          <p:attrName>style.visibility</p:attrName>
                                        </p:attrNameLst>
                                      </p:cBhvr>
                                      <p:to>
                                        <p:strVal val="visible"/>
                                      </p:to>
                                    </p:set>
                                    <p:animEffect transition="in" filter="wipe(left)">
                                      <p:cBhvr>
                                        <p:cTn id="17" dur="500"/>
                                        <p:tgtEl>
                                          <p:spTgt spid="1034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37"/>
                                        </p:tgtEl>
                                        <p:attrNameLst>
                                          <p:attrName>style.visibility</p:attrName>
                                        </p:attrNameLst>
                                      </p:cBhvr>
                                      <p:to>
                                        <p:strVal val="visible"/>
                                      </p:to>
                                    </p:set>
                                    <p:animEffect transition="in" filter="wipe(left)">
                                      <p:cBhvr>
                                        <p:cTn id="22" dur="500"/>
                                        <p:tgtEl>
                                          <p:spTgt spid="10343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7"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p:cNvSpPr>
            <a:spLocks/>
          </p:cNvSpPr>
          <p:nvPr/>
        </p:nvSpPr>
        <p:spPr bwMode="auto">
          <a:xfrm>
            <a:off x="4211638" y="1341438"/>
            <a:ext cx="3748087" cy="884237"/>
          </a:xfrm>
          <a:prstGeom prst="borderCallout1">
            <a:avLst>
              <a:gd name="adj1" fmla="val 12926"/>
              <a:gd name="adj2" fmla="val -2032"/>
              <a:gd name="adj3" fmla="val 86713"/>
              <a:gd name="adj4" fmla="val -13639"/>
            </a:avLst>
          </a:prstGeom>
          <a:solidFill>
            <a:srgbClr val="FFFFCC"/>
          </a:solidFill>
          <a:ln w="19050">
            <a:solidFill>
              <a:srgbClr val="FF3300"/>
            </a:solidFill>
            <a:miter lim="800000"/>
            <a:headEnd/>
            <a:tailEnd/>
          </a:ln>
        </p:spPr>
        <p:txBody>
          <a:bodyPr/>
          <a:lstStyle/>
          <a:p>
            <a:pPr algn="ctr" eaLnBrk="1" hangingPunct="1"/>
            <a:r>
              <a:rPr lang="en-US" altLang="zh-CN"/>
              <a:t>    </a:t>
            </a:r>
            <a:r>
              <a:rPr lang="zh-CN" altLang="en-US" b="1"/>
              <a:t>可能是实际的负载，也可能是下级放大电路</a:t>
            </a:r>
          </a:p>
        </p:txBody>
      </p:sp>
      <p:sp>
        <p:nvSpPr>
          <p:cNvPr id="8199" name="Rectangle 3"/>
          <p:cNvSpPr>
            <a:spLocks noGrp="1" noChangeArrowheads="1"/>
          </p:cNvSpPr>
          <p:nvPr>
            <p:ph type="title"/>
          </p:nvPr>
        </p:nvSpPr>
        <p:spPr>
          <a:xfrm>
            <a:off x="179388" y="836613"/>
            <a:ext cx="7340600" cy="650875"/>
          </a:xfrm>
        </p:spPr>
        <p:txBody>
          <a:bodyPr/>
          <a:lstStyle/>
          <a:p>
            <a:pPr algn="l"/>
            <a:r>
              <a:rPr lang="en-US" altLang="zh-CN" sz="3600">
                <a:solidFill>
                  <a:schemeClr val="tx1"/>
                </a:solidFill>
                <a:latin typeface="华文行楷" pitchFamily="2" charset="-122"/>
                <a:ea typeface="华文行楷" pitchFamily="2" charset="-122"/>
              </a:rPr>
              <a:t>3.1.3</a:t>
            </a:r>
            <a:r>
              <a:rPr lang="zh-CN" altLang="en-US" sz="3600">
                <a:solidFill>
                  <a:schemeClr val="tx1"/>
                </a:solidFill>
                <a:latin typeface="华文行楷" pitchFamily="2" charset="-122"/>
                <a:ea typeface="华文行楷" pitchFamily="2" charset="-122"/>
              </a:rPr>
              <a:t>、变压器耦合</a:t>
            </a:r>
          </a:p>
        </p:txBody>
      </p:sp>
      <p:graphicFrame>
        <p:nvGraphicFramePr>
          <p:cNvPr id="26628" name="Object 2"/>
          <p:cNvGraphicFramePr>
            <a:graphicFrameLocks noChangeAspect="1"/>
          </p:cNvGraphicFramePr>
          <p:nvPr/>
        </p:nvGraphicFramePr>
        <p:xfrm>
          <a:off x="395288" y="1557338"/>
          <a:ext cx="3352800" cy="2551112"/>
        </p:xfrm>
        <a:graphic>
          <a:graphicData uri="http://schemas.openxmlformats.org/presentationml/2006/ole">
            <mc:AlternateContent xmlns:mc="http://schemas.openxmlformats.org/markup-compatibility/2006">
              <mc:Choice xmlns:v="urn:schemas-microsoft-com:vml" Requires="v">
                <p:oleObj spid="_x0000_s6150" name="Photo Editor 照片" r:id="rId3" imgW="10031225" imgH="7628571" progId="">
                  <p:embed/>
                </p:oleObj>
              </mc:Choice>
              <mc:Fallback>
                <p:oleObj name="Photo Editor 照片" r:id="rId3" imgW="10031225" imgH="7628571"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557338"/>
                        <a:ext cx="3352800" cy="255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3"/>
          <p:cNvGraphicFramePr>
            <a:graphicFrameLocks noChangeAspect="1"/>
          </p:cNvGraphicFramePr>
          <p:nvPr/>
        </p:nvGraphicFramePr>
        <p:xfrm>
          <a:off x="3203575" y="4652963"/>
          <a:ext cx="2555875" cy="465137"/>
        </p:xfrm>
        <a:graphic>
          <a:graphicData uri="http://schemas.openxmlformats.org/presentationml/2006/ole">
            <mc:AlternateContent xmlns:mc="http://schemas.openxmlformats.org/markup-compatibility/2006">
              <mc:Choice xmlns:v="urn:schemas-microsoft-com:vml" Requires="v">
                <p:oleObj spid="_x0000_s6151" name="Equation" r:id="rId5" imgW="31699200" imgH="5791200" progId="Equation.3">
                  <p:embed/>
                </p:oleObj>
              </mc:Choice>
              <mc:Fallback>
                <p:oleObj name="Equation" r:id="rId5" imgW="31699200" imgH="5791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4652963"/>
                        <a:ext cx="2555875" cy="465137"/>
                      </a:xfrm>
                      <a:prstGeom prst="rect">
                        <a:avLst/>
                      </a:prstGeom>
                      <a:solidFill>
                        <a:srgbClr val="FFFFCC"/>
                      </a:solidFill>
                      <a:ln w="9525">
                        <a:solidFill>
                          <a:srgbClr val="FF0000"/>
                        </a:solidFill>
                        <a:miter lim="800000"/>
                        <a:headEnd/>
                        <a:tailEnd/>
                      </a:ln>
                    </p:spPr>
                  </p:pic>
                </p:oleObj>
              </mc:Fallback>
            </mc:AlternateContent>
          </a:graphicData>
        </a:graphic>
      </p:graphicFrame>
      <p:sp>
        <p:nvSpPr>
          <p:cNvPr id="26630" name="Text Box 6"/>
          <p:cNvSpPr txBox="1">
            <a:spLocks noChangeArrowheads="1"/>
          </p:cNvSpPr>
          <p:nvPr/>
        </p:nvSpPr>
        <p:spPr bwMode="auto">
          <a:xfrm>
            <a:off x="611188" y="4437063"/>
            <a:ext cx="2362200" cy="1552575"/>
          </a:xfrm>
          <a:prstGeom prst="rect">
            <a:avLst/>
          </a:prstGeom>
          <a:noFill/>
          <a:ln w="9525">
            <a:noFill/>
            <a:miter lim="800000"/>
            <a:headEnd/>
            <a:tailEnd/>
          </a:ln>
        </p:spPr>
        <p:txBody>
          <a:bodyPr>
            <a:spAutoFit/>
          </a:bodyPr>
          <a:lstStyle/>
          <a:p>
            <a:pPr algn="ctr" eaLnBrk="1" hangingPunct="1">
              <a:spcBef>
                <a:spcPct val="50000"/>
              </a:spcBef>
            </a:pPr>
            <a:r>
              <a:rPr lang="en-US" altLang="zh-CN"/>
              <a:t>    </a:t>
            </a:r>
            <a:r>
              <a:rPr lang="zh-CN" altLang="en-US" b="1"/>
              <a:t>理想变压器情况下，负载上获得的功率等于原边消耗的功率。</a:t>
            </a:r>
          </a:p>
        </p:txBody>
      </p:sp>
      <p:graphicFrame>
        <p:nvGraphicFramePr>
          <p:cNvPr id="26631" name="Object 4"/>
          <p:cNvGraphicFramePr>
            <a:graphicFrameLocks noChangeAspect="1"/>
          </p:cNvGraphicFramePr>
          <p:nvPr/>
        </p:nvGraphicFramePr>
        <p:xfrm>
          <a:off x="3203575" y="5157788"/>
          <a:ext cx="5430838" cy="884237"/>
        </p:xfrm>
        <a:graphic>
          <a:graphicData uri="http://schemas.openxmlformats.org/presentationml/2006/ole">
            <mc:AlternateContent xmlns:mc="http://schemas.openxmlformats.org/markup-compatibility/2006">
              <mc:Choice xmlns:v="urn:schemas-microsoft-com:vml" Requires="v">
                <p:oleObj spid="_x0000_s6152" name="公式" r:id="rId7" imgW="67360800" imgH="10972800" progId="Equation.3">
                  <p:embed/>
                </p:oleObj>
              </mc:Choice>
              <mc:Fallback>
                <p:oleObj name="公式" r:id="rId7" imgW="67360800" imgH="109728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5157788"/>
                        <a:ext cx="5430838" cy="884237"/>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26637" name="Object 5"/>
          <p:cNvGraphicFramePr>
            <a:graphicFrameLocks noChangeAspect="1"/>
          </p:cNvGraphicFramePr>
          <p:nvPr/>
        </p:nvGraphicFramePr>
        <p:xfrm>
          <a:off x="4140200" y="1268413"/>
          <a:ext cx="3887788" cy="1820862"/>
        </p:xfrm>
        <a:graphic>
          <a:graphicData uri="http://schemas.openxmlformats.org/presentationml/2006/ole">
            <mc:AlternateContent xmlns:mc="http://schemas.openxmlformats.org/markup-compatibility/2006">
              <mc:Choice xmlns:v="urn:schemas-microsoft-com:vml" Requires="v">
                <p:oleObj spid="_x0000_s6153" name="Photo Editor 照片" r:id="rId9" imgW="12847619" imgH="6257143" progId="">
                  <p:embed/>
                </p:oleObj>
              </mc:Choice>
              <mc:Fallback>
                <p:oleObj name="Photo Editor 照片" r:id="rId9" imgW="12847619" imgH="6257143" progId="">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0200" y="1268413"/>
                        <a:ext cx="3887788" cy="182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9"/>
          <p:cNvGrpSpPr>
            <a:grpSpLocks/>
          </p:cNvGrpSpPr>
          <p:nvPr/>
        </p:nvGrpSpPr>
        <p:grpSpPr bwMode="auto">
          <a:xfrm>
            <a:off x="3203575" y="3213100"/>
            <a:ext cx="3289300" cy="1385888"/>
            <a:chOff x="2018" y="2341"/>
            <a:chExt cx="2072" cy="873"/>
          </a:xfrm>
        </p:grpSpPr>
        <p:pic>
          <p:nvPicPr>
            <p:cNvPr id="8203" name="Picture 15" descr="Dz030104"/>
            <p:cNvPicPr>
              <a:picLocks noChangeAspect="1" noChangeArrowheads="1"/>
            </p:cNvPicPr>
            <p:nvPr/>
          </p:nvPicPr>
          <p:blipFill>
            <a:blip r:embed="rId11"/>
            <a:srcRect r="51033"/>
            <a:stretch>
              <a:fillRect/>
            </a:stretch>
          </p:blipFill>
          <p:spPr bwMode="auto">
            <a:xfrm>
              <a:off x="2018" y="2341"/>
              <a:ext cx="1198" cy="873"/>
            </a:xfrm>
            <a:prstGeom prst="rect">
              <a:avLst/>
            </a:prstGeom>
            <a:noFill/>
            <a:ln w="9525">
              <a:noFill/>
              <a:miter lim="800000"/>
              <a:headEnd/>
              <a:tailEnd/>
            </a:ln>
          </p:spPr>
        </p:pic>
        <p:pic>
          <p:nvPicPr>
            <p:cNvPr id="8204" name="Picture 16" descr="Dz030104"/>
            <p:cNvPicPr>
              <a:picLocks noChangeAspect="1" noChangeArrowheads="1"/>
            </p:cNvPicPr>
            <p:nvPr/>
          </p:nvPicPr>
          <p:blipFill>
            <a:blip r:embed="rId12"/>
            <a:srcRect l="73459"/>
            <a:stretch>
              <a:fillRect/>
            </a:stretch>
          </p:blipFill>
          <p:spPr bwMode="auto">
            <a:xfrm>
              <a:off x="3588" y="2341"/>
              <a:ext cx="502" cy="862"/>
            </a:xfrm>
            <a:prstGeom prst="rect">
              <a:avLst/>
            </a:prstGeom>
            <a:noFill/>
            <a:ln w="9525">
              <a:noFill/>
              <a:miter lim="800000"/>
              <a:headEnd/>
              <a:tailEnd/>
            </a:ln>
          </p:spPr>
        </p:pic>
        <p:sp>
          <p:nvSpPr>
            <p:cNvPr id="8205" name="AutoShape 17"/>
            <p:cNvSpPr>
              <a:spLocks noChangeArrowheads="1"/>
            </p:cNvSpPr>
            <p:nvPr/>
          </p:nvSpPr>
          <p:spPr bwMode="auto">
            <a:xfrm>
              <a:off x="3288" y="2795"/>
              <a:ext cx="272" cy="136"/>
            </a:xfrm>
            <a:prstGeom prst="rightArrow">
              <a:avLst>
                <a:gd name="adj1" fmla="val 50000"/>
                <a:gd name="adj2" fmla="val 50000"/>
              </a:avLst>
            </a:prstGeom>
            <a:solidFill>
              <a:srgbClr val="66FFFF"/>
            </a:solidFill>
            <a:ln w="28575">
              <a:solidFill>
                <a:srgbClr val="CC0000"/>
              </a:solidFill>
              <a:miter lim="800000"/>
              <a:headEnd/>
              <a:tailEnd/>
            </a:ln>
          </p:spPr>
          <p:txBody>
            <a:bodyPr wrap="none" anchor="ctr"/>
            <a:lstStyle/>
            <a:p>
              <a:pPr algn="ctr" eaLnBrk="1" hangingPunct="1"/>
              <a:endParaRPr lang="zh-CN" altLang="en-US"/>
            </a:p>
          </p:txBody>
        </p:sp>
      </p:grpSp>
      <p:sp>
        <p:nvSpPr>
          <p:cNvPr id="26642" name="AutoShape 18"/>
          <p:cNvSpPr>
            <a:spLocks/>
          </p:cNvSpPr>
          <p:nvPr/>
        </p:nvSpPr>
        <p:spPr bwMode="auto">
          <a:xfrm>
            <a:off x="6877050" y="3213100"/>
            <a:ext cx="1800225" cy="1219200"/>
          </a:xfrm>
          <a:prstGeom prst="borderCallout2">
            <a:avLst>
              <a:gd name="adj1" fmla="val 9375"/>
              <a:gd name="adj2" fmla="val -4231"/>
              <a:gd name="adj3" fmla="val 9375"/>
              <a:gd name="adj4" fmla="val -15167"/>
              <a:gd name="adj5" fmla="val 48958"/>
              <a:gd name="adj6" fmla="val -26806"/>
            </a:avLst>
          </a:prstGeom>
          <a:solidFill>
            <a:srgbClr val="FFFFCC"/>
          </a:solidFill>
          <a:ln w="19050">
            <a:solidFill>
              <a:srgbClr val="FF3300"/>
            </a:solidFill>
            <a:miter lim="800000"/>
            <a:headEnd/>
            <a:tailEnd/>
          </a:ln>
        </p:spPr>
        <p:txBody>
          <a:bodyPr/>
          <a:lstStyle/>
          <a:p>
            <a:pPr algn="ctr" eaLnBrk="1" hangingPunct="1"/>
            <a:r>
              <a:rPr lang="zh-CN" altLang="en-US" b="1">
                <a:latin typeface="Verdana" pitchFamily="34" charset="0"/>
              </a:rPr>
              <a:t>从变压器原边看到的等效电阻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left)">
                                      <p:cBhvr>
                                        <p:cTn id="7" dur="500"/>
                                        <p:tgtEl>
                                          <p:spTgt spid="26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626"/>
                                        </p:tgtEl>
                                        <p:attrNameLst>
                                          <p:attrName>style.visibility</p:attrName>
                                        </p:attrNameLst>
                                      </p:cBhvr>
                                      <p:to>
                                        <p:strVal val="visible"/>
                                      </p:to>
                                    </p:set>
                                  </p:childTnLst>
                                  <p:subTnLst>
                                    <p:set>
                                      <p:cBhvr override="childStyle">
                                        <p:cTn dur="1" fill="hold" display="0" masterRel="nextClick" afterEffect="1"/>
                                        <p:tgtEl>
                                          <p:spTgt spid="26626"/>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6637"/>
                                        </p:tgtEl>
                                        <p:attrNameLst>
                                          <p:attrName>style.visibility</p:attrName>
                                        </p:attrNameLst>
                                      </p:cBhvr>
                                      <p:to>
                                        <p:strVal val="visible"/>
                                      </p:to>
                                    </p:set>
                                    <p:animEffect transition="in" filter="wipe(left)">
                                      <p:cBhvr>
                                        <p:cTn id="16" dur="500"/>
                                        <p:tgtEl>
                                          <p:spTgt spid="266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630">
                                            <p:txEl>
                                              <p:pRg st="0" end="0"/>
                                            </p:txEl>
                                          </p:spTgt>
                                        </p:tgtEl>
                                        <p:attrNameLst>
                                          <p:attrName>style.visibility</p:attrName>
                                        </p:attrNameLst>
                                      </p:cBhvr>
                                      <p:to>
                                        <p:strVal val="visible"/>
                                      </p:to>
                                    </p:set>
                                    <p:animEffect transition="in" filter="wipe(left)">
                                      <p:cBhvr>
                                        <p:cTn id="21" dur="500"/>
                                        <p:tgtEl>
                                          <p:spTgt spid="26630">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1000" fill="hold"/>
                                        <p:tgtEl>
                                          <p:spTgt spid="2"/>
                                        </p:tgtEl>
                                        <p:attrNameLst>
                                          <p:attrName>ppt_w</p:attrName>
                                        </p:attrNameLst>
                                      </p:cBhvr>
                                      <p:tavLst>
                                        <p:tav tm="0">
                                          <p:val>
                                            <p:strVal val="#ppt_w*0.70"/>
                                          </p:val>
                                        </p:tav>
                                        <p:tav tm="100000">
                                          <p:val>
                                            <p:strVal val="#ppt_w"/>
                                          </p:val>
                                        </p:tav>
                                      </p:tavLst>
                                    </p:anim>
                                    <p:anim calcmode="lin" valueType="num">
                                      <p:cBhvr>
                                        <p:cTn id="27" dur="1000" fill="hold"/>
                                        <p:tgtEl>
                                          <p:spTgt spid="2"/>
                                        </p:tgtEl>
                                        <p:attrNameLst>
                                          <p:attrName>ppt_h</p:attrName>
                                        </p:attrNameLst>
                                      </p:cBhvr>
                                      <p:tavLst>
                                        <p:tav tm="0">
                                          <p:val>
                                            <p:strVal val="#ppt_h"/>
                                          </p:val>
                                        </p:tav>
                                        <p:tav tm="100000">
                                          <p:val>
                                            <p:strVal val="#ppt_h"/>
                                          </p:val>
                                        </p:tav>
                                      </p:tavLst>
                                    </p:anim>
                                    <p:animEffect transition="in" filter="fade">
                                      <p:cBhvr>
                                        <p:cTn id="28" dur="10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664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629"/>
                                        </p:tgtEl>
                                        <p:attrNameLst>
                                          <p:attrName>style.visibility</p:attrName>
                                        </p:attrNameLst>
                                      </p:cBhvr>
                                      <p:to>
                                        <p:strVal val="visible"/>
                                      </p:to>
                                    </p:set>
                                    <p:animEffect transition="in" filter="wipe(left)">
                                      <p:cBhvr>
                                        <p:cTn id="37" dur="500"/>
                                        <p:tgtEl>
                                          <p:spTgt spid="266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31"/>
                                        </p:tgtEl>
                                        <p:attrNameLst>
                                          <p:attrName>style.visibility</p:attrName>
                                        </p:attrNameLst>
                                      </p:cBhvr>
                                      <p:to>
                                        <p:strVal val="visible"/>
                                      </p:to>
                                    </p:set>
                                    <p:animEffect transition="in" filter="wipe(left)">
                                      <p:cBhvr>
                                        <p:cTn id="42"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30" grpId="0" build="p" autoUpdateAnimBg="0"/>
      <p:bldP spid="26642"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bwMode="auto">
          <a:xfrm>
            <a:off x="568325" y="1870075"/>
            <a:ext cx="8258175" cy="2071688"/>
          </a:xfrm>
          <a:prstGeom prst="rect">
            <a:avLst/>
          </a:prstGeom>
          <a:noFill/>
          <a:ln w="9525">
            <a:noFill/>
            <a:miter lim="800000"/>
            <a:headEnd/>
            <a:tailEnd/>
          </a:ln>
        </p:spPr>
        <p:txBody>
          <a:bodyPr anchor="ctr"/>
          <a:lstStyle/>
          <a:p>
            <a:pPr>
              <a:defRPr/>
            </a:pPr>
            <a:r>
              <a:rPr lang="zh-CN" altLang="en-US" sz="3200" b="1" kern="0" dirty="0">
                <a:solidFill>
                  <a:schemeClr val="tx2"/>
                </a:solidFill>
                <a:latin typeface="+mj-lt"/>
                <a:ea typeface="+mj-ea"/>
                <a:cs typeface="+mj-cs"/>
              </a:rPr>
              <a:t>变压器耦合：</a:t>
            </a:r>
            <a:br>
              <a:rPr lang="en-US" sz="3200" b="1" kern="0" dirty="0">
                <a:solidFill>
                  <a:schemeClr val="tx2"/>
                </a:solidFill>
                <a:latin typeface="+mj-lt"/>
                <a:ea typeface="+mj-ea"/>
                <a:cs typeface="+mj-cs"/>
              </a:rPr>
            </a:br>
            <a:r>
              <a:rPr lang="zh-CN" altLang="en-US" sz="3200" b="1" kern="0" dirty="0">
                <a:solidFill>
                  <a:schemeClr val="tx2"/>
                </a:solidFill>
                <a:latin typeface="+mj-lt"/>
                <a:ea typeface="+mj-ea"/>
                <a:cs typeface="+mj-cs"/>
              </a:rPr>
              <a:t>优点：静态各自独立，动态相互牵连，具有变阻抗作用；</a:t>
            </a:r>
            <a:br>
              <a:rPr lang="en-US" sz="3200" b="1" kern="0" dirty="0">
                <a:solidFill>
                  <a:schemeClr val="tx2"/>
                </a:solidFill>
                <a:latin typeface="+mj-lt"/>
                <a:ea typeface="+mj-ea"/>
                <a:cs typeface="+mj-cs"/>
              </a:rPr>
            </a:br>
            <a:r>
              <a:rPr lang="zh-CN" altLang="en-US" sz="3200" b="1" kern="0" dirty="0">
                <a:solidFill>
                  <a:schemeClr val="tx2"/>
                </a:solidFill>
                <a:latin typeface="+mj-lt"/>
                <a:ea typeface="+mj-ea"/>
                <a:cs typeface="+mj-cs"/>
              </a:rPr>
              <a:t>缺点：</a:t>
            </a:r>
            <a:r>
              <a:rPr lang="zh-CN" altLang="en-US" sz="3200" b="1" kern="0" dirty="0">
                <a:solidFill>
                  <a:srgbClr val="0000FF"/>
                </a:solidFill>
                <a:latin typeface="+mj-lt"/>
                <a:ea typeface="+mj-ea"/>
                <a:cs typeface="+mj-cs"/>
              </a:rPr>
              <a:t>低频特性差，体积大，不易集成</a:t>
            </a:r>
            <a:r>
              <a:rPr lang="zh-CN" altLang="en-US" sz="3200" b="1" kern="0" dirty="0">
                <a:solidFill>
                  <a:schemeClr val="tx2"/>
                </a:solidFill>
                <a:latin typeface="+mj-lt"/>
                <a:ea typeface="+mj-ea"/>
                <a:cs typeface="+mj-cs"/>
              </a:rPr>
              <a:t>。</a:t>
            </a:r>
          </a:p>
        </p:txBody>
      </p:sp>
      <p:sp>
        <p:nvSpPr>
          <p:cNvPr id="106499" name="TextBox 4"/>
          <p:cNvSpPr txBox="1">
            <a:spLocks noChangeArrowheads="1"/>
          </p:cNvSpPr>
          <p:nvPr/>
        </p:nvSpPr>
        <p:spPr bwMode="auto">
          <a:xfrm>
            <a:off x="682625" y="4013200"/>
            <a:ext cx="8001000" cy="646113"/>
          </a:xfrm>
          <a:prstGeom prst="rect">
            <a:avLst/>
          </a:prstGeom>
          <a:noFill/>
          <a:ln w="9525">
            <a:noFill/>
            <a:miter lim="800000"/>
            <a:headEnd/>
            <a:tailEnd/>
          </a:ln>
        </p:spPr>
        <p:txBody>
          <a:bodyPr>
            <a:spAutoFit/>
          </a:bodyPr>
          <a:lstStyle/>
          <a:p>
            <a:pPr algn="ctr" eaLnBrk="1" hangingPunct="1"/>
            <a:r>
              <a:rPr lang="zh-CN" altLang="en-US" sz="3600" b="1"/>
              <a:t>目前主要用于</a:t>
            </a:r>
            <a:r>
              <a:rPr lang="zh-CN" altLang="en-US" sz="3600" b="1">
                <a:solidFill>
                  <a:srgbClr val="FF0000"/>
                </a:solidFill>
              </a:rPr>
              <a:t>特大功率</a:t>
            </a:r>
            <a:r>
              <a:rPr lang="zh-CN" altLang="en-US" sz="3600" b="1"/>
              <a:t>等场合。</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2"/>
          <p:cNvSpPr>
            <a:spLocks noGrp="1" noChangeArrowheads="1"/>
          </p:cNvSpPr>
          <p:nvPr>
            <p:ph idx="1"/>
          </p:nvPr>
        </p:nvSpPr>
        <p:spPr>
          <a:xfrm>
            <a:off x="685800" y="1981200"/>
            <a:ext cx="7772400" cy="2936875"/>
          </a:xfrm>
        </p:spPr>
        <p:txBody>
          <a:bodyPr/>
          <a:lstStyle/>
          <a:p>
            <a:r>
              <a:rPr lang="zh-CN" altLang="en-US" b="1"/>
              <a:t>集成放大电路广泛应用后：阻容耦合放大电路和变压器耦合放大电路就比较少用了，只有在</a:t>
            </a:r>
            <a:r>
              <a:rPr lang="zh-CN" altLang="en-US" b="1">
                <a:solidFill>
                  <a:srgbClr val="FF0000"/>
                </a:solidFill>
              </a:rPr>
              <a:t>特别大的功率</a:t>
            </a:r>
            <a:r>
              <a:rPr lang="zh-CN" altLang="en-US" b="1"/>
              <a:t>情况下，才用变压器耦合；或者</a:t>
            </a:r>
            <a:r>
              <a:rPr lang="zh-CN" altLang="en-US" b="1">
                <a:solidFill>
                  <a:srgbClr val="FF0000"/>
                </a:solidFill>
              </a:rPr>
              <a:t>频率比较高</a:t>
            </a:r>
            <a:r>
              <a:rPr lang="zh-CN" altLang="en-US" b="1"/>
              <a:t>的情况下，采用阻容耦合放大电路。</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68313" y="2276475"/>
            <a:ext cx="8382000" cy="1143000"/>
          </a:xfrm>
        </p:spPr>
        <p:txBody>
          <a:bodyPr/>
          <a:lstStyle/>
          <a:p>
            <a:r>
              <a:rPr lang="en-US" altLang="zh-CN" sz="4000" b="1">
                <a:latin typeface="华文行楷" pitchFamily="2" charset="-122"/>
                <a:ea typeface="华文行楷" pitchFamily="2" charset="-122"/>
                <a:cs typeface="Times New Roman" pitchFamily="18" charset="0"/>
              </a:rPr>
              <a:t>§3.2  </a:t>
            </a:r>
            <a:r>
              <a:rPr lang="zh-CN" altLang="en-US" sz="4000" b="1">
                <a:latin typeface="华文行楷" pitchFamily="2" charset="-122"/>
                <a:ea typeface="华文行楷" pitchFamily="2" charset="-122"/>
                <a:cs typeface="Times New Roman" pitchFamily="18" charset="0"/>
              </a:rPr>
              <a:t>多级放大电路的动态分析</a:t>
            </a:r>
          </a:p>
        </p:txBody>
      </p:sp>
      <p:sp>
        <p:nvSpPr>
          <p:cNvPr id="108547" name="Rectangle 10">
            <a:hlinkClick r:id="rId2" action="ppaction://hlinksldjump"/>
          </p:cNvPr>
          <p:cNvSpPr>
            <a:spLocks noChangeArrowheads="1"/>
          </p:cNvSpPr>
          <p:nvPr/>
        </p:nvSpPr>
        <p:spPr bwMode="auto">
          <a:xfrm>
            <a:off x="2484438" y="4365625"/>
            <a:ext cx="4310062" cy="576263"/>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altLang="zh-CN" sz="2800" b="1">
                <a:ea typeface="华文楷体" pitchFamily="2" charset="-122"/>
              </a:rPr>
              <a:t>3.2.2</a:t>
            </a:r>
            <a:r>
              <a:rPr lang="zh-CN" altLang="en-US" sz="2800" b="1">
                <a:ea typeface="华文楷体" pitchFamily="2" charset="-122"/>
              </a:rPr>
              <a:t>、分析举例</a:t>
            </a:r>
          </a:p>
        </p:txBody>
      </p:sp>
      <p:sp>
        <p:nvSpPr>
          <p:cNvPr id="108548" name="Rectangle 11">
            <a:hlinkClick r:id="rId3" action="ppaction://hlinksldjump"/>
          </p:cNvPr>
          <p:cNvSpPr>
            <a:spLocks noChangeArrowheads="1"/>
          </p:cNvSpPr>
          <p:nvPr/>
        </p:nvSpPr>
        <p:spPr bwMode="auto">
          <a:xfrm>
            <a:off x="2411413" y="3586163"/>
            <a:ext cx="4398962" cy="523875"/>
          </a:xfrm>
          <a:prstGeom prst="rect">
            <a:avLst/>
          </a:prstGeom>
          <a:noFill/>
          <a:ln w="9525">
            <a:noFill/>
            <a:miter lim="800000"/>
            <a:headEnd/>
            <a:tailEnd/>
          </a:ln>
        </p:spPr>
        <p:txBody>
          <a:bodyPr>
            <a:spAutoFit/>
          </a:bodyPr>
          <a:lstStyle/>
          <a:p>
            <a:pPr eaLnBrk="1" hangingPunct="1"/>
            <a:r>
              <a:rPr lang="en-US" altLang="zh-CN" sz="2800" b="1">
                <a:ea typeface="华文楷体" pitchFamily="2" charset="-122"/>
              </a:rPr>
              <a:t>3.2.1</a:t>
            </a:r>
            <a:r>
              <a:rPr lang="zh-CN" altLang="en-US" sz="2800" b="1">
                <a:ea typeface="华文楷体" pitchFamily="2" charset="-122"/>
              </a:rPr>
              <a:t>、动态参数分析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p:cNvSpPr txBox="1">
            <a:spLocks noChangeArrowheads="1"/>
          </p:cNvSpPr>
          <p:nvPr/>
        </p:nvSpPr>
        <p:spPr bwMode="auto">
          <a:xfrm>
            <a:off x="-522288" y="3516313"/>
            <a:ext cx="4648201" cy="5207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1. </a:t>
            </a:r>
            <a:r>
              <a:rPr lang="zh-CN" altLang="en-US"/>
              <a:t>电压放大倍数</a:t>
            </a:r>
          </a:p>
        </p:txBody>
      </p:sp>
      <p:grpSp>
        <p:nvGrpSpPr>
          <p:cNvPr id="2" name="Group 111"/>
          <p:cNvGrpSpPr>
            <a:grpSpLocks/>
          </p:cNvGrpSpPr>
          <p:nvPr/>
        </p:nvGrpSpPr>
        <p:grpSpPr bwMode="auto">
          <a:xfrm>
            <a:off x="3124200" y="2743200"/>
            <a:ext cx="5451475" cy="1595438"/>
            <a:chOff x="1968" y="1728"/>
            <a:chExt cx="3434" cy="1005"/>
          </a:xfrm>
        </p:grpSpPr>
        <p:sp>
          <p:nvSpPr>
            <p:cNvPr id="110602" name="Rectangle 6"/>
            <p:cNvSpPr>
              <a:spLocks noChangeArrowheads="1"/>
            </p:cNvSpPr>
            <p:nvPr/>
          </p:nvSpPr>
          <p:spPr bwMode="auto">
            <a:xfrm>
              <a:off x="3252" y="1728"/>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sp>
          <p:nvSpPr>
            <p:cNvPr id="110603" name="Rectangle 8"/>
            <p:cNvSpPr>
              <a:spLocks noChangeArrowheads="1"/>
            </p:cNvSpPr>
            <p:nvPr/>
          </p:nvSpPr>
          <p:spPr bwMode="auto">
            <a:xfrm>
              <a:off x="1968" y="2166"/>
              <a:ext cx="63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3200" i="1">
                  <a:solidFill>
                    <a:schemeClr val="accent2"/>
                  </a:solidFill>
                  <a:ea typeface="方正琥珀繁体"/>
                  <a:cs typeface="方正琥珀繁体"/>
                </a:rPr>
                <a:t> =</a:t>
              </a:r>
            </a:p>
          </p:txBody>
        </p:sp>
        <p:sp>
          <p:nvSpPr>
            <p:cNvPr id="110604" name="Rectangle 10"/>
            <p:cNvSpPr>
              <a:spLocks noChangeArrowheads="1"/>
            </p:cNvSpPr>
            <p:nvPr/>
          </p:nvSpPr>
          <p:spPr bwMode="auto">
            <a:xfrm>
              <a:off x="4272" y="2154"/>
              <a:ext cx="50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2000">
                  <a:solidFill>
                    <a:schemeClr val="accent2"/>
                  </a:solidFill>
                  <a:ea typeface="方正琥珀繁体"/>
                  <a:cs typeface="方正琥珀繁体"/>
                </a:rPr>
                <a:t>1</a:t>
              </a:r>
              <a:endParaRPr lang="en-US" altLang="zh-CN" sz="2000" i="1">
                <a:solidFill>
                  <a:schemeClr val="accent2"/>
                </a:solidFill>
                <a:ea typeface="方正琥珀繁体"/>
                <a:cs typeface="方正琥珀繁体"/>
              </a:endParaRPr>
            </a:p>
          </p:txBody>
        </p:sp>
        <p:sp>
          <p:nvSpPr>
            <p:cNvPr id="110605" name="Rectangle 11"/>
            <p:cNvSpPr>
              <a:spLocks noChangeArrowheads="1"/>
            </p:cNvSpPr>
            <p:nvPr/>
          </p:nvSpPr>
          <p:spPr bwMode="auto">
            <a:xfrm>
              <a:off x="4896" y="2154"/>
              <a:ext cx="50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2000">
                  <a:solidFill>
                    <a:schemeClr val="accent2"/>
                  </a:solidFill>
                  <a:ea typeface="方正琥珀繁体"/>
                  <a:cs typeface="方正琥珀繁体"/>
                </a:rPr>
                <a:t>2</a:t>
              </a:r>
              <a:endParaRPr lang="en-US" altLang="zh-CN" sz="2000" i="1">
                <a:solidFill>
                  <a:schemeClr val="accent2"/>
                </a:solidFill>
                <a:ea typeface="方正琥珀繁体"/>
                <a:cs typeface="方正琥珀繁体"/>
              </a:endParaRPr>
            </a:p>
          </p:txBody>
        </p:sp>
        <p:sp>
          <p:nvSpPr>
            <p:cNvPr id="110606" name="Text Box 12"/>
            <p:cNvSpPr txBox="1">
              <a:spLocks noChangeArrowheads="1"/>
            </p:cNvSpPr>
            <p:nvPr/>
          </p:nvSpPr>
          <p:spPr bwMode="auto">
            <a:xfrm>
              <a:off x="4751" y="2250"/>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0607" name="Text Box 13"/>
            <p:cNvSpPr txBox="1">
              <a:spLocks noChangeArrowheads="1"/>
            </p:cNvSpPr>
            <p:nvPr/>
          </p:nvSpPr>
          <p:spPr bwMode="auto">
            <a:xfrm>
              <a:off x="4967" y="2082"/>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0608" name="Text Box 14"/>
            <p:cNvSpPr txBox="1">
              <a:spLocks noChangeArrowheads="1"/>
            </p:cNvSpPr>
            <p:nvPr/>
          </p:nvSpPr>
          <p:spPr bwMode="auto">
            <a:xfrm>
              <a:off x="4339" y="2076"/>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0609" name="Text Box 15"/>
            <p:cNvSpPr txBox="1">
              <a:spLocks noChangeArrowheads="1"/>
            </p:cNvSpPr>
            <p:nvPr/>
          </p:nvSpPr>
          <p:spPr bwMode="auto">
            <a:xfrm>
              <a:off x="2041" y="2100"/>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0610" name="Rectangle 18"/>
            <p:cNvSpPr>
              <a:spLocks noChangeArrowheads="1"/>
            </p:cNvSpPr>
            <p:nvPr/>
          </p:nvSpPr>
          <p:spPr bwMode="auto">
            <a:xfrm>
              <a:off x="2572" y="2022"/>
              <a:ext cx="354"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p>
          </p:txBody>
        </p:sp>
        <p:sp>
          <p:nvSpPr>
            <p:cNvPr id="110611" name="Line 19"/>
            <p:cNvSpPr>
              <a:spLocks noChangeShapeType="1"/>
            </p:cNvSpPr>
            <p:nvPr/>
          </p:nvSpPr>
          <p:spPr bwMode="auto">
            <a:xfrm>
              <a:off x="2599" y="2358"/>
              <a:ext cx="384" cy="0"/>
            </a:xfrm>
            <a:prstGeom prst="line">
              <a:avLst/>
            </a:prstGeom>
            <a:noFill/>
            <a:ln w="38100">
              <a:solidFill>
                <a:schemeClr val="accent2"/>
              </a:solidFill>
              <a:round/>
              <a:headEnd/>
              <a:tailEnd/>
            </a:ln>
          </p:spPr>
          <p:txBody>
            <a:bodyPr wrap="none" anchor="ctr">
              <a:spAutoFit/>
            </a:bodyPr>
            <a:lstStyle/>
            <a:p>
              <a:endParaRPr lang="zh-CN" altLang="en-US"/>
            </a:p>
          </p:txBody>
        </p:sp>
        <p:sp>
          <p:nvSpPr>
            <p:cNvPr id="110612" name="Rectangle 21"/>
            <p:cNvSpPr>
              <a:spLocks noChangeArrowheads="1"/>
            </p:cNvSpPr>
            <p:nvPr/>
          </p:nvSpPr>
          <p:spPr bwMode="auto">
            <a:xfrm>
              <a:off x="2599" y="2406"/>
              <a:ext cx="320"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rPr>
                <a:t>U</a:t>
              </a:r>
              <a:r>
                <a:rPr lang="en-US" altLang="zh-CN" baseline="-25000">
                  <a:solidFill>
                    <a:schemeClr val="accent2"/>
                  </a:solidFill>
                </a:rPr>
                <a:t>i</a:t>
              </a:r>
            </a:p>
          </p:txBody>
        </p:sp>
        <p:sp>
          <p:nvSpPr>
            <p:cNvPr id="110613" name="Rectangle 22"/>
            <p:cNvSpPr>
              <a:spLocks noChangeArrowheads="1"/>
            </p:cNvSpPr>
            <p:nvPr/>
          </p:nvSpPr>
          <p:spPr bwMode="auto">
            <a:xfrm>
              <a:off x="2677" y="2136"/>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sp>
          <p:nvSpPr>
            <p:cNvPr id="110614" name="Text Box 23"/>
            <p:cNvSpPr txBox="1">
              <a:spLocks noChangeArrowheads="1"/>
            </p:cNvSpPr>
            <p:nvPr/>
          </p:nvSpPr>
          <p:spPr bwMode="auto">
            <a:xfrm>
              <a:off x="2935" y="2166"/>
              <a:ext cx="384" cy="365"/>
            </a:xfrm>
            <a:prstGeom prst="rect">
              <a:avLst/>
            </a:prstGeom>
            <a:noFill/>
            <a:ln w="38100">
              <a:noFill/>
              <a:miter lim="800000"/>
              <a:headEnd/>
              <a:tailEnd/>
            </a:ln>
          </p:spPr>
          <p:txBody>
            <a:bodyPr>
              <a:spAutoFit/>
            </a:bodyPr>
            <a:lstStyle/>
            <a:p>
              <a:pPr algn="ctr">
                <a:spcBef>
                  <a:spcPct val="50000"/>
                </a:spcBef>
              </a:pPr>
              <a:r>
                <a:rPr lang="en-US" altLang="zh-CN" sz="3200">
                  <a:solidFill>
                    <a:schemeClr val="accent2"/>
                  </a:solidFill>
                </a:rPr>
                <a:t>=</a:t>
              </a:r>
            </a:p>
          </p:txBody>
        </p:sp>
        <p:sp>
          <p:nvSpPr>
            <p:cNvPr id="110615" name="Rectangle 26"/>
            <p:cNvSpPr>
              <a:spLocks noChangeArrowheads="1"/>
            </p:cNvSpPr>
            <p:nvPr/>
          </p:nvSpPr>
          <p:spPr bwMode="auto">
            <a:xfrm>
              <a:off x="3186" y="2022"/>
              <a:ext cx="430"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o1</a:t>
              </a:r>
            </a:p>
          </p:txBody>
        </p:sp>
        <p:sp>
          <p:nvSpPr>
            <p:cNvPr id="110616" name="Line 27"/>
            <p:cNvSpPr>
              <a:spLocks noChangeShapeType="1"/>
            </p:cNvSpPr>
            <p:nvPr/>
          </p:nvSpPr>
          <p:spPr bwMode="auto">
            <a:xfrm>
              <a:off x="3251" y="2358"/>
              <a:ext cx="384" cy="0"/>
            </a:xfrm>
            <a:prstGeom prst="line">
              <a:avLst/>
            </a:prstGeom>
            <a:noFill/>
            <a:ln w="38100">
              <a:solidFill>
                <a:schemeClr val="accent2"/>
              </a:solidFill>
              <a:round/>
              <a:headEnd/>
              <a:tailEnd/>
            </a:ln>
          </p:spPr>
          <p:txBody>
            <a:bodyPr wrap="none" anchor="ctr">
              <a:spAutoFit/>
            </a:bodyPr>
            <a:lstStyle/>
            <a:p>
              <a:endParaRPr lang="zh-CN" altLang="en-US"/>
            </a:p>
          </p:txBody>
        </p:sp>
        <p:sp>
          <p:nvSpPr>
            <p:cNvPr id="110617" name="Rectangle 29"/>
            <p:cNvSpPr>
              <a:spLocks noChangeArrowheads="1"/>
            </p:cNvSpPr>
            <p:nvPr/>
          </p:nvSpPr>
          <p:spPr bwMode="auto">
            <a:xfrm>
              <a:off x="3251" y="2406"/>
              <a:ext cx="320"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rPr>
                <a:t>U</a:t>
              </a:r>
              <a:r>
                <a:rPr lang="en-US" altLang="zh-CN" baseline="-25000">
                  <a:solidFill>
                    <a:schemeClr val="accent2"/>
                  </a:solidFill>
                </a:rPr>
                <a:t>i</a:t>
              </a:r>
            </a:p>
          </p:txBody>
        </p:sp>
        <p:sp>
          <p:nvSpPr>
            <p:cNvPr id="110618" name="Rectangle 30"/>
            <p:cNvSpPr>
              <a:spLocks noChangeArrowheads="1"/>
            </p:cNvSpPr>
            <p:nvPr/>
          </p:nvSpPr>
          <p:spPr bwMode="auto">
            <a:xfrm>
              <a:off x="3323" y="2136"/>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sp>
          <p:nvSpPr>
            <p:cNvPr id="110619" name="Text Box 31"/>
            <p:cNvSpPr txBox="1">
              <a:spLocks noChangeArrowheads="1"/>
            </p:cNvSpPr>
            <p:nvPr/>
          </p:nvSpPr>
          <p:spPr bwMode="auto">
            <a:xfrm>
              <a:off x="3587" y="2166"/>
              <a:ext cx="384" cy="365"/>
            </a:xfrm>
            <a:prstGeom prst="rect">
              <a:avLst/>
            </a:prstGeom>
            <a:noFill/>
            <a:ln w="38100">
              <a:noFill/>
              <a:miter lim="800000"/>
              <a:headEnd/>
              <a:tailEnd/>
            </a:ln>
          </p:spPr>
          <p:txBody>
            <a:bodyPr>
              <a:spAutoFit/>
            </a:bodyPr>
            <a:lstStyle/>
            <a:p>
              <a:pPr algn="ctr">
                <a:spcBef>
                  <a:spcPct val="50000"/>
                </a:spcBef>
              </a:pPr>
              <a:endParaRPr lang="zh-CN" altLang="zh-CN" sz="3200"/>
            </a:p>
          </p:txBody>
        </p:sp>
        <p:sp>
          <p:nvSpPr>
            <p:cNvPr id="110620" name="Rectangle 32"/>
            <p:cNvSpPr>
              <a:spLocks noChangeArrowheads="1"/>
            </p:cNvSpPr>
            <p:nvPr/>
          </p:nvSpPr>
          <p:spPr bwMode="auto">
            <a:xfrm>
              <a:off x="3676" y="2022"/>
              <a:ext cx="354"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p>
          </p:txBody>
        </p:sp>
        <p:sp>
          <p:nvSpPr>
            <p:cNvPr id="110621" name="Line 33"/>
            <p:cNvSpPr>
              <a:spLocks noChangeShapeType="1"/>
            </p:cNvSpPr>
            <p:nvPr/>
          </p:nvSpPr>
          <p:spPr bwMode="auto">
            <a:xfrm>
              <a:off x="3683" y="2358"/>
              <a:ext cx="384" cy="0"/>
            </a:xfrm>
            <a:prstGeom prst="line">
              <a:avLst/>
            </a:prstGeom>
            <a:noFill/>
            <a:ln w="38100">
              <a:solidFill>
                <a:schemeClr val="accent2"/>
              </a:solidFill>
              <a:round/>
              <a:headEnd/>
              <a:tailEnd/>
            </a:ln>
          </p:spPr>
          <p:txBody>
            <a:bodyPr wrap="none" anchor="ctr">
              <a:spAutoFit/>
            </a:bodyPr>
            <a:lstStyle/>
            <a:p>
              <a:endParaRPr lang="zh-CN" altLang="en-US"/>
            </a:p>
          </p:txBody>
        </p:sp>
        <p:sp>
          <p:nvSpPr>
            <p:cNvPr id="110622" name="Rectangle 34"/>
            <p:cNvSpPr>
              <a:spLocks noChangeArrowheads="1"/>
            </p:cNvSpPr>
            <p:nvPr/>
          </p:nvSpPr>
          <p:spPr bwMode="auto">
            <a:xfrm>
              <a:off x="3724" y="2406"/>
              <a:ext cx="430" cy="327"/>
            </a:xfrm>
            <a:prstGeom prst="rect">
              <a:avLst/>
            </a:prstGeom>
            <a:noFill/>
            <a:ln w="38100">
              <a:noFill/>
              <a:miter lim="800000"/>
              <a:headEnd/>
              <a:tailEnd/>
            </a:ln>
          </p:spPr>
          <p:txBody>
            <a:bodyPr wrap="none">
              <a:spAutoFit/>
            </a:bodyPr>
            <a:lstStyle/>
            <a:p>
              <a:pPr algn="ctr">
                <a:spcBef>
                  <a:spcPct val="50000"/>
                </a:spcBef>
              </a:pPr>
              <a:r>
                <a:rPr lang="en-US" altLang="zh-CN">
                  <a:solidFill>
                    <a:schemeClr val="accent2"/>
                  </a:solidFill>
                </a:rPr>
                <a:t>U</a:t>
              </a:r>
              <a:r>
                <a:rPr lang="en-US" altLang="zh-CN" baseline="-25000">
                  <a:solidFill>
                    <a:schemeClr val="accent2"/>
                  </a:solidFill>
                </a:rPr>
                <a:t>o1</a:t>
              </a:r>
            </a:p>
          </p:txBody>
        </p:sp>
        <p:sp>
          <p:nvSpPr>
            <p:cNvPr id="110623" name="Rectangle 35"/>
            <p:cNvSpPr>
              <a:spLocks noChangeArrowheads="1"/>
            </p:cNvSpPr>
            <p:nvPr/>
          </p:nvSpPr>
          <p:spPr bwMode="auto">
            <a:xfrm>
              <a:off x="3803" y="2142"/>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sp>
          <p:nvSpPr>
            <p:cNvPr id="110624" name="Text Box 36"/>
            <p:cNvSpPr txBox="1">
              <a:spLocks noChangeArrowheads="1"/>
            </p:cNvSpPr>
            <p:nvPr/>
          </p:nvSpPr>
          <p:spPr bwMode="auto">
            <a:xfrm>
              <a:off x="4019" y="2166"/>
              <a:ext cx="384" cy="365"/>
            </a:xfrm>
            <a:prstGeom prst="rect">
              <a:avLst/>
            </a:prstGeom>
            <a:noFill/>
            <a:ln w="38100">
              <a:noFill/>
              <a:miter lim="800000"/>
              <a:headEnd/>
              <a:tailEnd/>
            </a:ln>
          </p:spPr>
          <p:txBody>
            <a:bodyPr>
              <a:spAutoFit/>
            </a:bodyPr>
            <a:lstStyle/>
            <a:p>
              <a:pPr algn="ctr">
                <a:spcBef>
                  <a:spcPct val="50000"/>
                </a:spcBef>
              </a:pPr>
              <a:r>
                <a:rPr lang="en-US" altLang="zh-CN" sz="3200">
                  <a:solidFill>
                    <a:schemeClr val="accent2"/>
                  </a:solidFill>
                </a:rPr>
                <a:t>=</a:t>
              </a:r>
            </a:p>
          </p:txBody>
        </p:sp>
        <p:sp>
          <p:nvSpPr>
            <p:cNvPr id="110625" name="Rectangle 37"/>
            <p:cNvSpPr>
              <a:spLocks noChangeArrowheads="1"/>
            </p:cNvSpPr>
            <p:nvPr/>
          </p:nvSpPr>
          <p:spPr bwMode="auto">
            <a:xfrm>
              <a:off x="3744" y="1734"/>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sp>
          <p:nvSpPr>
            <p:cNvPr id="110626" name="Rectangle 38"/>
            <p:cNvSpPr>
              <a:spLocks noChangeArrowheads="1"/>
            </p:cNvSpPr>
            <p:nvPr/>
          </p:nvSpPr>
          <p:spPr bwMode="auto">
            <a:xfrm>
              <a:off x="2634" y="1734"/>
              <a:ext cx="196"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grpSp>
      <p:grpSp>
        <p:nvGrpSpPr>
          <p:cNvPr id="3" name="Group 180"/>
          <p:cNvGrpSpPr>
            <a:grpSpLocks/>
          </p:cNvGrpSpPr>
          <p:nvPr/>
        </p:nvGrpSpPr>
        <p:grpSpPr bwMode="auto">
          <a:xfrm>
            <a:off x="1246188" y="5334000"/>
            <a:ext cx="6602412" cy="1371600"/>
            <a:chOff x="1584" y="3360"/>
            <a:chExt cx="3360" cy="864"/>
          </a:xfrm>
        </p:grpSpPr>
        <p:sp>
          <p:nvSpPr>
            <p:cNvPr id="110600" name="AutoShape 107"/>
            <p:cNvSpPr>
              <a:spLocks noChangeArrowheads="1"/>
            </p:cNvSpPr>
            <p:nvPr/>
          </p:nvSpPr>
          <p:spPr bwMode="auto">
            <a:xfrm>
              <a:off x="1584" y="3360"/>
              <a:ext cx="3360" cy="864"/>
            </a:xfrm>
            <a:prstGeom prst="horizontalScroll">
              <a:avLst>
                <a:gd name="adj" fmla="val 12500"/>
              </a:avLst>
            </a:prstGeom>
            <a:solidFill>
              <a:srgbClr val="CBF5DC"/>
            </a:solidFill>
            <a:ln w="38100">
              <a:solidFill>
                <a:srgbClr val="FF0000"/>
              </a:solidFill>
              <a:round/>
              <a:headEnd/>
              <a:tailEnd type="none" w="sm" len="lg"/>
            </a:ln>
          </p:spPr>
          <p:txBody>
            <a:bodyPr wrap="none" anchor="ctr"/>
            <a:lstStyle/>
            <a:p>
              <a:pPr algn="ctr" eaLnBrk="1" hangingPunct="1"/>
              <a:endParaRPr lang="zh-CN" altLang="zh-CN" b="1"/>
            </a:p>
          </p:txBody>
        </p:sp>
        <p:sp>
          <p:nvSpPr>
            <p:cNvPr id="110601" name="Text Box 104"/>
            <p:cNvSpPr txBox="1">
              <a:spLocks noChangeArrowheads="1"/>
            </p:cNvSpPr>
            <p:nvPr/>
          </p:nvSpPr>
          <p:spPr bwMode="auto">
            <a:xfrm>
              <a:off x="1680" y="3504"/>
              <a:ext cx="3264" cy="523"/>
            </a:xfrm>
            <a:prstGeom prst="rect">
              <a:avLst/>
            </a:prstGeom>
            <a:noFill/>
            <a:ln w="19050">
              <a:noFill/>
              <a:miter lim="800000"/>
              <a:headEnd/>
              <a:tailEnd/>
            </a:ln>
          </p:spPr>
          <p:txBody>
            <a:bodyPr>
              <a:spAutoFit/>
            </a:bodyPr>
            <a:lstStyle/>
            <a:p>
              <a:pPr algn="ctr" eaLnBrk="1" hangingPunct="1">
                <a:spcBef>
                  <a:spcPct val="50000"/>
                </a:spcBef>
              </a:pPr>
              <a:r>
                <a:rPr lang="zh-CN" altLang="en-US" b="1"/>
                <a:t>在算前级放大倍数时，要把后级的</a:t>
              </a:r>
              <a:r>
                <a:rPr lang="zh-CN" altLang="en-US" b="1">
                  <a:solidFill>
                    <a:srgbClr val="FF0000"/>
                  </a:solidFill>
                </a:rPr>
                <a:t>输入电阻作为前级的负载</a:t>
              </a:r>
            </a:p>
          </p:txBody>
        </p:sp>
      </p:grpSp>
      <p:sp>
        <p:nvSpPr>
          <p:cNvPr id="11374" name="Text Box 110"/>
          <p:cNvSpPr txBox="1">
            <a:spLocks noChangeArrowheads="1"/>
          </p:cNvSpPr>
          <p:nvPr/>
        </p:nvSpPr>
        <p:spPr bwMode="auto">
          <a:xfrm>
            <a:off x="0" y="4495800"/>
            <a:ext cx="9601200" cy="519113"/>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a:t>多级放大电路的电压放大倍数等于各级放大倍数的乘积。</a:t>
            </a:r>
          </a:p>
        </p:txBody>
      </p:sp>
      <p:pic>
        <p:nvPicPr>
          <p:cNvPr id="110599" name="Picture 181"/>
          <p:cNvPicPr>
            <a:picLocks noChangeAspect="1" noChangeArrowheads="1"/>
          </p:cNvPicPr>
          <p:nvPr/>
        </p:nvPicPr>
        <p:blipFill>
          <a:blip r:embed="rId2"/>
          <a:srcRect/>
          <a:stretch>
            <a:fillRect/>
          </a:stretch>
        </p:blipFill>
        <p:spPr bwMode="auto">
          <a:xfrm>
            <a:off x="468313" y="1125538"/>
            <a:ext cx="7772400" cy="1546225"/>
          </a:xfrm>
          <a:prstGeom prst="rect">
            <a:avLst/>
          </a:prstGeom>
          <a:noFill/>
          <a:ln w="9525">
            <a:noFill/>
            <a:miter lim="800000"/>
            <a:headEnd/>
            <a:tailEnd/>
          </a:ln>
        </p:spPr>
      </p:pic>
      <p:sp>
        <p:nvSpPr>
          <p:cNvPr id="35" name="Rectangle 11">
            <a:hlinkClick r:id="rId3" action="ppaction://hlinksldjump"/>
            <a:extLst>
              <a:ext uri="{FF2B5EF4-FFF2-40B4-BE49-F238E27FC236}">
                <a16:creationId xmlns:a16="http://schemas.microsoft.com/office/drawing/2014/main" id="{BF5A74DC-CCB5-4947-B9E5-37F309E37DCD}"/>
              </a:ext>
            </a:extLst>
          </p:cNvPr>
          <p:cNvSpPr>
            <a:spLocks noChangeArrowheads="1"/>
          </p:cNvSpPr>
          <p:nvPr/>
        </p:nvSpPr>
        <p:spPr bwMode="auto">
          <a:xfrm>
            <a:off x="468313" y="327025"/>
            <a:ext cx="4398962" cy="585787"/>
          </a:xfrm>
          <a:prstGeom prst="rect">
            <a:avLst/>
          </a:prstGeom>
          <a:noFill/>
          <a:ln w="9525">
            <a:noFill/>
            <a:miter lim="800000"/>
            <a:headEnd/>
            <a:tailEnd/>
          </a:ln>
        </p:spPr>
        <p:txBody>
          <a:bodyPr>
            <a:spAutoFit/>
          </a:bodyPr>
          <a:lstStyle/>
          <a:p>
            <a:pPr eaLnBrk="1" hangingPunct="1"/>
            <a:r>
              <a:rPr lang="en-US" altLang="zh-CN" sz="3200" b="1" dirty="0">
                <a:ea typeface="华文楷体" pitchFamily="2" charset="-122"/>
              </a:rPr>
              <a:t>3.2.1</a:t>
            </a:r>
            <a:r>
              <a:rPr lang="zh-CN" altLang="en-US" sz="3200" b="1" dirty="0">
                <a:ea typeface="华文楷体" pitchFamily="2" charset="-122"/>
              </a:rPr>
              <a:t>、动态参数分析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ipe(left)">
                                      <p:cBhvr>
                                        <p:cTn id="7" dur="3000"/>
                                        <p:tgtEl>
                                          <p:spTgt spid="11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3000" fill="hold"/>
                                        <p:tgtEl>
                                          <p:spTgt spid="2"/>
                                        </p:tgtEl>
                                        <p:attrNameLst>
                                          <p:attrName>ppt_x</p:attrName>
                                        </p:attrNameLst>
                                      </p:cBhvr>
                                      <p:tavLst>
                                        <p:tav tm="0">
                                          <p:val>
                                            <p:strVal val="#ppt_x"/>
                                          </p:val>
                                        </p:tav>
                                        <p:tav tm="100000">
                                          <p:val>
                                            <p:strVal val="#ppt_x"/>
                                          </p:val>
                                        </p:tav>
                                      </p:tavLst>
                                    </p:anim>
                                    <p:anim calcmode="lin" valueType="num">
                                      <p:cBhvr additive="base">
                                        <p:cTn id="13" dur="3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374"/>
                                        </p:tgtEl>
                                        <p:attrNameLst>
                                          <p:attrName>style.visibility</p:attrName>
                                        </p:attrNameLst>
                                      </p:cBhvr>
                                      <p:to>
                                        <p:strVal val="visible"/>
                                      </p:to>
                                    </p:set>
                                    <p:anim calcmode="lin" valueType="num">
                                      <p:cBhvr additive="base">
                                        <p:cTn id="18" dur="3000" fill="hold"/>
                                        <p:tgtEl>
                                          <p:spTgt spid="11374"/>
                                        </p:tgtEl>
                                        <p:attrNameLst>
                                          <p:attrName>ppt_x</p:attrName>
                                        </p:attrNameLst>
                                      </p:cBhvr>
                                      <p:tavLst>
                                        <p:tav tm="0">
                                          <p:val>
                                            <p:strVal val="#ppt_x"/>
                                          </p:val>
                                        </p:tav>
                                        <p:tav tm="100000">
                                          <p:val>
                                            <p:strVal val="#ppt_x"/>
                                          </p:val>
                                        </p:tav>
                                      </p:tavLst>
                                    </p:anim>
                                    <p:anim calcmode="lin" valueType="num">
                                      <p:cBhvr additive="base">
                                        <p:cTn id="19" dur="3000" fill="hold"/>
                                        <p:tgtEl>
                                          <p:spTgt spid="11374"/>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3000" fill="hold"/>
                                        <p:tgtEl>
                                          <p:spTgt spid="3"/>
                                        </p:tgtEl>
                                        <p:attrNameLst>
                                          <p:attrName>ppt_x</p:attrName>
                                        </p:attrNameLst>
                                      </p:cBhvr>
                                      <p:tavLst>
                                        <p:tav tm="0">
                                          <p:val>
                                            <p:strVal val="#ppt_x"/>
                                          </p:val>
                                        </p:tav>
                                        <p:tav tm="100000">
                                          <p:val>
                                            <p:strVal val="#ppt_x"/>
                                          </p:val>
                                        </p:tav>
                                      </p:tavLst>
                                    </p:anim>
                                    <p:anim calcmode="lin" valueType="num">
                                      <p:cBhvr additive="base">
                                        <p:cTn id="25" dur="3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P spid="113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Oval 3"/>
          <p:cNvSpPr>
            <a:spLocks noChangeArrowheads="1"/>
          </p:cNvSpPr>
          <p:nvPr/>
        </p:nvSpPr>
        <p:spPr bwMode="auto">
          <a:xfrm>
            <a:off x="3700463" y="1752600"/>
            <a:ext cx="374650" cy="381000"/>
          </a:xfrm>
          <a:prstGeom prst="ellipse">
            <a:avLst/>
          </a:prstGeom>
          <a:solidFill>
            <a:srgbClr val="FFFF99"/>
          </a:solidFill>
          <a:ln w="38100">
            <a:solidFill>
              <a:srgbClr val="FF0000"/>
            </a:solidFill>
            <a:round/>
            <a:headEnd/>
            <a:tailEnd type="none" w="med" len="lg"/>
          </a:ln>
        </p:spPr>
        <p:txBody>
          <a:bodyPr wrap="none" anchor="ctr"/>
          <a:lstStyle/>
          <a:p>
            <a:pPr algn="ctr" eaLnBrk="1" hangingPunct="1"/>
            <a:endParaRPr lang="zh-CN" altLang="en-US"/>
          </a:p>
        </p:txBody>
      </p:sp>
      <p:sp>
        <p:nvSpPr>
          <p:cNvPr id="111619" name="Oval 4"/>
          <p:cNvSpPr>
            <a:spLocks noChangeArrowheads="1"/>
          </p:cNvSpPr>
          <p:nvPr/>
        </p:nvSpPr>
        <p:spPr bwMode="auto">
          <a:xfrm>
            <a:off x="496888" y="1752600"/>
            <a:ext cx="373062" cy="381000"/>
          </a:xfrm>
          <a:prstGeom prst="ellipse">
            <a:avLst/>
          </a:prstGeom>
          <a:solidFill>
            <a:srgbClr val="FFFF99"/>
          </a:solidFill>
          <a:ln w="38100">
            <a:solidFill>
              <a:srgbClr val="FF0000"/>
            </a:solidFill>
            <a:round/>
            <a:headEnd/>
            <a:tailEnd type="none" w="med" len="lg"/>
          </a:ln>
        </p:spPr>
        <p:txBody>
          <a:bodyPr wrap="none" anchor="ctr"/>
          <a:lstStyle/>
          <a:p>
            <a:pPr algn="ctr" eaLnBrk="1" hangingPunct="1"/>
            <a:endParaRPr lang="zh-CN" altLang="en-US"/>
          </a:p>
        </p:txBody>
      </p:sp>
      <p:sp>
        <p:nvSpPr>
          <p:cNvPr id="111620" name="Rectangle 5"/>
          <p:cNvSpPr>
            <a:spLocks noChangeArrowheads="1"/>
          </p:cNvSpPr>
          <p:nvPr/>
        </p:nvSpPr>
        <p:spPr bwMode="auto">
          <a:xfrm>
            <a:off x="674688" y="1066800"/>
            <a:ext cx="1497012" cy="1219200"/>
          </a:xfrm>
          <a:prstGeom prst="rect">
            <a:avLst/>
          </a:prstGeom>
          <a:noFill/>
          <a:ln w="38100">
            <a:solidFill>
              <a:srgbClr val="000000"/>
            </a:solidFill>
            <a:miter lim="800000"/>
            <a:headEnd/>
            <a:tailEnd type="none" w="med" len="lg"/>
          </a:ln>
        </p:spPr>
        <p:txBody>
          <a:bodyPr wrap="none" anchor="ctr"/>
          <a:lstStyle/>
          <a:p>
            <a:pPr algn="ctr" eaLnBrk="1" hangingPunct="1"/>
            <a:endParaRPr lang="zh-CN" altLang="en-US"/>
          </a:p>
        </p:txBody>
      </p:sp>
      <p:sp>
        <p:nvSpPr>
          <p:cNvPr id="111621" name="Rectangle 6"/>
          <p:cNvSpPr>
            <a:spLocks noChangeArrowheads="1"/>
          </p:cNvSpPr>
          <p:nvPr/>
        </p:nvSpPr>
        <p:spPr bwMode="auto">
          <a:xfrm>
            <a:off x="2097088" y="1447800"/>
            <a:ext cx="149225" cy="381000"/>
          </a:xfrm>
          <a:prstGeom prst="rect">
            <a:avLst/>
          </a:prstGeom>
          <a:solidFill>
            <a:schemeClr val="accent1"/>
          </a:solidFill>
          <a:ln w="38100">
            <a:solidFill>
              <a:srgbClr val="000000"/>
            </a:solidFill>
            <a:miter lim="800000"/>
            <a:headEnd/>
            <a:tailEnd type="none" w="med" len="lg"/>
          </a:ln>
        </p:spPr>
        <p:txBody>
          <a:bodyPr wrap="none" anchor="ctr"/>
          <a:lstStyle/>
          <a:p>
            <a:pPr algn="ctr" eaLnBrk="1" hangingPunct="1"/>
            <a:endParaRPr lang="zh-CN" altLang="en-US"/>
          </a:p>
        </p:txBody>
      </p:sp>
      <p:sp>
        <p:nvSpPr>
          <p:cNvPr id="111622" name="Rectangle 7"/>
          <p:cNvSpPr>
            <a:spLocks noChangeArrowheads="1"/>
          </p:cNvSpPr>
          <p:nvPr/>
        </p:nvSpPr>
        <p:spPr bwMode="auto">
          <a:xfrm>
            <a:off x="598488" y="1219200"/>
            <a:ext cx="150812" cy="381000"/>
          </a:xfrm>
          <a:prstGeom prst="rect">
            <a:avLst/>
          </a:prstGeom>
          <a:solidFill>
            <a:srgbClr val="FFFF99"/>
          </a:solidFill>
          <a:ln w="38100">
            <a:solidFill>
              <a:srgbClr val="FF0000"/>
            </a:solidFill>
            <a:miter lim="800000"/>
            <a:headEnd/>
            <a:tailEnd type="none" w="med" len="lg"/>
          </a:ln>
        </p:spPr>
        <p:txBody>
          <a:bodyPr wrap="none" anchor="ctr"/>
          <a:lstStyle/>
          <a:p>
            <a:pPr algn="ctr" eaLnBrk="1" hangingPunct="1"/>
            <a:endParaRPr lang="zh-CN" altLang="en-US"/>
          </a:p>
        </p:txBody>
      </p:sp>
      <p:sp>
        <p:nvSpPr>
          <p:cNvPr id="111623" name="Oval 8"/>
          <p:cNvSpPr>
            <a:spLocks noChangeArrowheads="1"/>
          </p:cNvSpPr>
          <p:nvPr/>
        </p:nvSpPr>
        <p:spPr bwMode="auto">
          <a:xfrm>
            <a:off x="1047750" y="990600"/>
            <a:ext cx="150813"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24" name="Oval 9"/>
          <p:cNvSpPr>
            <a:spLocks noChangeArrowheads="1"/>
          </p:cNvSpPr>
          <p:nvPr/>
        </p:nvSpPr>
        <p:spPr bwMode="auto">
          <a:xfrm>
            <a:off x="1047750" y="2209800"/>
            <a:ext cx="150813"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25" name="Line 10"/>
          <p:cNvSpPr>
            <a:spLocks noChangeShapeType="1"/>
          </p:cNvSpPr>
          <p:nvPr/>
        </p:nvSpPr>
        <p:spPr bwMode="auto">
          <a:xfrm>
            <a:off x="1273175" y="990600"/>
            <a:ext cx="449263" cy="0"/>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1626" name="Rectangle 11"/>
          <p:cNvSpPr>
            <a:spLocks noChangeArrowheads="1"/>
          </p:cNvSpPr>
          <p:nvPr/>
        </p:nvSpPr>
        <p:spPr bwMode="auto">
          <a:xfrm>
            <a:off x="1573213" y="1295400"/>
            <a:ext cx="665162" cy="457200"/>
          </a:xfrm>
          <a:prstGeom prst="rect">
            <a:avLst/>
          </a:prstGeom>
          <a:noFill/>
          <a:ln w="38100">
            <a:noFill/>
            <a:miter lim="800000"/>
            <a:headEnd/>
            <a:tailEnd type="none" w="med" len="lg"/>
          </a:ln>
        </p:spPr>
        <p:txBody>
          <a:bodyPr>
            <a:spAutoFit/>
          </a:bodyPr>
          <a:lstStyle/>
          <a:p>
            <a:pPr algn="ctr"/>
            <a:r>
              <a:rPr lang="en-US" altLang="zh-CN" i="1"/>
              <a:t>R</a:t>
            </a:r>
            <a:r>
              <a:rPr lang="en-US" altLang="zh-CN" baseline="-25000"/>
              <a:t>i1</a:t>
            </a:r>
          </a:p>
        </p:txBody>
      </p:sp>
      <p:sp>
        <p:nvSpPr>
          <p:cNvPr id="111627" name="Rectangle 12"/>
          <p:cNvSpPr>
            <a:spLocks noChangeArrowheads="1"/>
          </p:cNvSpPr>
          <p:nvPr/>
        </p:nvSpPr>
        <p:spPr bwMode="auto">
          <a:xfrm>
            <a:off x="-4763" y="990600"/>
            <a:ext cx="576263" cy="519113"/>
          </a:xfrm>
          <a:prstGeom prst="rect">
            <a:avLst/>
          </a:prstGeom>
          <a:noFill/>
          <a:ln w="38100">
            <a:noFill/>
            <a:miter lim="800000"/>
            <a:headEnd/>
            <a:tailEnd type="none" w="med" len="lg"/>
          </a:ln>
        </p:spPr>
        <p:txBody>
          <a:bodyPr wrap="none">
            <a:spAutoFit/>
          </a:bodyPr>
          <a:lstStyle/>
          <a:p>
            <a:pPr algn="ctr"/>
            <a:r>
              <a:rPr lang="en-US" altLang="zh-CN"/>
              <a:t>R</a:t>
            </a:r>
            <a:r>
              <a:rPr lang="en-US" altLang="zh-CN" baseline="-25000"/>
              <a:t>S</a:t>
            </a:r>
          </a:p>
        </p:txBody>
      </p:sp>
      <p:sp>
        <p:nvSpPr>
          <p:cNvPr id="111628" name="Rectangle 13"/>
          <p:cNvSpPr>
            <a:spLocks noChangeArrowheads="1"/>
          </p:cNvSpPr>
          <p:nvPr/>
        </p:nvSpPr>
        <p:spPr bwMode="auto">
          <a:xfrm>
            <a:off x="222250" y="1371600"/>
            <a:ext cx="387350" cy="519113"/>
          </a:xfrm>
          <a:prstGeom prst="rect">
            <a:avLst/>
          </a:prstGeom>
          <a:noFill/>
          <a:ln w="38100">
            <a:noFill/>
            <a:miter lim="800000"/>
            <a:headEnd/>
            <a:tailEnd type="none" w="med" len="lg"/>
          </a:ln>
        </p:spPr>
        <p:txBody>
          <a:bodyPr wrap="none">
            <a:spAutoFit/>
          </a:bodyPr>
          <a:lstStyle/>
          <a:p>
            <a:pPr algn="ctr"/>
            <a:r>
              <a:rPr lang="en-US" altLang="zh-CN" i="1">
                <a:solidFill>
                  <a:srgbClr val="FF3300"/>
                </a:solidFill>
              </a:rPr>
              <a:t>+</a:t>
            </a:r>
          </a:p>
        </p:txBody>
      </p:sp>
      <p:sp>
        <p:nvSpPr>
          <p:cNvPr id="111629" name="Rectangle 14"/>
          <p:cNvSpPr>
            <a:spLocks noChangeArrowheads="1"/>
          </p:cNvSpPr>
          <p:nvPr/>
        </p:nvSpPr>
        <p:spPr bwMode="auto">
          <a:xfrm>
            <a:off x="223838" y="1828800"/>
            <a:ext cx="374650" cy="519113"/>
          </a:xfrm>
          <a:prstGeom prst="rect">
            <a:avLst/>
          </a:prstGeom>
          <a:noFill/>
          <a:ln w="38100">
            <a:noFill/>
            <a:miter lim="800000"/>
            <a:headEnd/>
            <a:tailEnd type="none" w="med" len="lg"/>
          </a:ln>
        </p:spPr>
        <p:txBody>
          <a:bodyPr>
            <a:spAutoFit/>
          </a:bodyPr>
          <a:lstStyle/>
          <a:p>
            <a:pPr algn="ctr"/>
            <a:r>
              <a:rPr lang="en-US" altLang="zh-CN" i="1">
                <a:solidFill>
                  <a:srgbClr val="FF3300"/>
                </a:solidFill>
              </a:rPr>
              <a:t>_</a:t>
            </a:r>
          </a:p>
        </p:txBody>
      </p:sp>
      <p:grpSp>
        <p:nvGrpSpPr>
          <p:cNvPr id="111630" name="Group 15"/>
          <p:cNvGrpSpPr>
            <a:grpSpLocks/>
          </p:cNvGrpSpPr>
          <p:nvPr/>
        </p:nvGrpSpPr>
        <p:grpSpPr bwMode="auto">
          <a:xfrm>
            <a:off x="0" y="1295400"/>
            <a:ext cx="598488" cy="938213"/>
            <a:chOff x="0" y="1704"/>
            <a:chExt cx="384" cy="591"/>
          </a:xfrm>
        </p:grpSpPr>
        <p:sp>
          <p:nvSpPr>
            <p:cNvPr id="111690" name="Text Box 16"/>
            <p:cNvSpPr txBox="1">
              <a:spLocks noChangeArrowheads="1"/>
            </p:cNvSpPr>
            <p:nvPr/>
          </p:nvSpPr>
          <p:spPr bwMode="auto">
            <a:xfrm>
              <a:off x="0" y="1968"/>
              <a:ext cx="384" cy="327"/>
            </a:xfrm>
            <a:prstGeom prst="rect">
              <a:avLst/>
            </a:prstGeom>
            <a:noFill/>
            <a:ln w="38100">
              <a:noFill/>
              <a:miter lim="800000"/>
              <a:headEnd/>
              <a:tailEnd type="none" w="med" len="lg"/>
            </a:ln>
          </p:spPr>
          <p:txBody>
            <a:bodyPr>
              <a:spAutoFit/>
            </a:bodyPr>
            <a:lstStyle/>
            <a:p>
              <a:pPr algn="ctr">
                <a:spcBef>
                  <a:spcPct val="50000"/>
                </a:spcBef>
              </a:pPr>
              <a:r>
                <a:rPr lang="en-US" altLang="zh-CN"/>
                <a:t>U</a:t>
              </a:r>
              <a:r>
                <a:rPr lang="en-US" altLang="zh-CN" baseline="-25000"/>
                <a:t>S</a:t>
              </a:r>
            </a:p>
          </p:txBody>
        </p:sp>
        <p:sp>
          <p:nvSpPr>
            <p:cNvPr id="111691" name="Rectangle 17"/>
            <p:cNvSpPr>
              <a:spLocks noChangeArrowheads="1"/>
            </p:cNvSpPr>
            <p:nvPr/>
          </p:nvSpPr>
          <p:spPr bwMode="auto">
            <a:xfrm>
              <a:off x="78" y="1704"/>
              <a:ext cx="172" cy="442"/>
            </a:xfrm>
            <a:prstGeom prst="rect">
              <a:avLst/>
            </a:prstGeom>
            <a:noFill/>
            <a:ln w="38100">
              <a:noFill/>
              <a:miter lim="800000"/>
              <a:headEnd/>
              <a:tailEnd type="none" w="med" len="lg"/>
            </a:ln>
          </p:spPr>
          <p:txBody>
            <a:bodyPr>
              <a:spAutoFit/>
            </a:bodyPr>
            <a:lstStyle/>
            <a:p>
              <a:pPr algn="ctr"/>
              <a:r>
                <a:rPr lang="en-US" altLang="zh-CN" sz="4000" i="1"/>
                <a:t>.</a:t>
              </a:r>
            </a:p>
          </p:txBody>
        </p:sp>
      </p:grpSp>
      <p:grpSp>
        <p:nvGrpSpPr>
          <p:cNvPr id="111631" name="Group 18"/>
          <p:cNvGrpSpPr>
            <a:grpSpLocks/>
          </p:cNvGrpSpPr>
          <p:nvPr/>
        </p:nvGrpSpPr>
        <p:grpSpPr bwMode="auto">
          <a:xfrm>
            <a:off x="823913" y="990600"/>
            <a:ext cx="749300" cy="938213"/>
            <a:chOff x="576" y="1512"/>
            <a:chExt cx="480" cy="591"/>
          </a:xfrm>
        </p:grpSpPr>
        <p:sp>
          <p:nvSpPr>
            <p:cNvPr id="111688" name="Text Box 19"/>
            <p:cNvSpPr txBox="1">
              <a:spLocks noChangeArrowheads="1"/>
            </p:cNvSpPr>
            <p:nvPr/>
          </p:nvSpPr>
          <p:spPr bwMode="auto">
            <a:xfrm>
              <a:off x="576" y="1776"/>
              <a:ext cx="480" cy="327"/>
            </a:xfrm>
            <a:prstGeom prst="rect">
              <a:avLst/>
            </a:prstGeom>
            <a:noFill/>
            <a:ln w="38100">
              <a:noFill/>
              <a:miter lim="800000"/>
              <a:headEnd/>
              <a:tailEnd type="none" w="med" len="lg"/>
            </a:ln>
          </p:spPr>
          <p:txBody>
            <a:bodyPr>
              <a:spAutoFit/>
            </a:bodyPr>
            <a:lstStyle/>
            <a:p>
              <a:pPr algn="ctr">
                <a:spcBef>
                  <a:spcPct val="50000"/>
                </a:spcBef>
              </a:pPr>
              <a:r>
                <a:rPr lang="en-US" altLang="zh-CN">
                  <a:solidFill>
                    <a:schemeClr val="accent2"/>
                  </a:solidFill>
                </a:rPr>
                <a:t>U</a:t>
              </a:r>
              <a:r>
                <a:rPr lang="en-US" altLang="zh-CN" baseline="-25000">
                  <a:solidFill>
                    <a:schemeClr val="accent2"/>
                  </a:solidFill>
                </a:rPr>
                <a:t>i</a:t>
              </a:r>
            </a:p>
          </p:txBody>
        </p:sp>
        <p:sp>
          <p:nvSpPr>
            <p:cNvPr id="111689" name="Rectangle 20"/>
            <p:cNvSpPr>
              <a:spLocks noChangeArrowheads="1"/>
            </p:cNvSpPr>
            <p:nvPr/>
          </p:nvSpPr>
          <p:spPr bwMode="auto">
            <a:xfrm>
              <a:off x="720" y="1512"/>
              <a:ext cx="172" cy="442"/>
            </a:xfrm>
            <a:prstGeom prst="rect">
              <a:avLst/>
            </a:prstGeom>
            <a:noFill/>
            <a:ln w="38100">
              <a:noFill/>
              <a:miter lim="800000"/>
              <a:headEnd/>
              <a:tailEnd type="none" w="med" len="lg"/>
            </a:ln>
          </p:spPr>
          <p:txBody>
            <a:bodyPr>
              <a:spAutoFit/>
            </a:bodyPr>
            <a:lstStyle/>
            <a:p>
              <a:pPr algn="ctr"/>
              <a:r>
                <a:rPr lang="en-US" altLang="zh-CN" sz="4000" i="1">
                  <a:solidFill>
                    <a:schemeClr val="accent2"/>
                  </a:solidFill>
                </a:rPr>
                <a:t>.</a:t>
              </a:r>
            </a:p>
          </p:txBody>
        </p:sp>
      </p:grpSp>
      <p:sp>
        <p:nvSpPr>
          <p:cNvPr id="111632" name="Rectangle 21"/>
          <p:cNvSpPr>
            <a:spLocks noChangeArrowheads="1"/>
          </p:cNvSpPr>
          <p:nvPr/>
        </p:nvSpPr>
        <p:spPr bwMode="auto">
          <a:xfrm>
            <a:off x="2471738" y="1066800"/>
            <a:ext cx="749300" cy="579438"/>
          </a:xfrm>
          <a:prstGeom prst="rect">
            <a:avLst/>
          </a:prstGeom>
          <a:noFill/>
          <a:ln w="38100">
            <a:noFill/>
            <a:miter lim="800000"/>
            <a:headEnd/>
            <a:tailEnd type="none" w="med" len="lg"/>
          </a:ln>
        </p:spPr>
        <p:txBody>
          <a:bodyPr>
            <a:spAutoFit/>
          </a:bodyPr>
          <a:lstStyle/>
          <a:p>
            <a:pPr algn="ctr">
              <a:spcBef>
                <a:spcPct val="50000"/>
              </a:spcBef>
            </a:pPr>
            <a:r>
              <a:rPr lang="en-US" altLang="zh-CN" sz="3200">
                <a:solidFill>
                  <a:schemeClr val="accent2"/>
                </a:solidFill>
              </a:rPr>
              <a:t>A</a:t>
            </a:r>
            <a:r>
              <a:rPr lang="en-US" altLang="zh-CN" sz="3200" baseline="-25000">
                <a:solidFill>
                  <a:schemeClr val="accent2"/>
                </a:solidFill>
              </a:rPr>
              <a:t>1</a:t>
            </a:r>
          </a:p>
        </p:txBody>
      </p:sp>
      <p:sp>
        <p:nvSpPr>
          <p:cNvPr id="111633" name="Rectangle 22"/>
          <p:cNvSpPr>
            <a:spLocks noChangeArrowheads="1"/>
          </p:cNvSpPr>
          <p:nvPr/>
        </p:nvSpPr>
        <p:spPr bwMode="auto">
          <a:xfrm>
            <a:off x="7716838" y="1295400"/>
            <a:ext cx="601662" cy="519113"/>
          </a:xfrm>
          <a:prstGeom prst="rect">
            <a:avLst/>
          </a:prstGeom>
          <a:noFill/>
          <a:ln w="38100">
            <a:noFill/>
            <a:miter lim="800000"/>
            <a:headEnd/>
            <a:tailEnd type="none" w="med" len="lg"/>
          </a:ln>
        </p:spPr>
        <p:txBody>
          <a:bodyPr wrap="none">
            <a:spAutoFit/>
          </a:bodyPr>
          <a:lstStyle/>
          <a:p>
            <a:pPr algn="ctr"/>
            <a:r>
              <a:rPr lang="en-US" altLang="zh-CN"/>
              <a:t>R</a:t>
            </a:r>
            <a:r>
              <a:rPr lang="en-US" altLang="zh-CN" baseline="-25000"/>
              <a:t>L</a:t>
            </a:r>
          </a:p>
        </p:txBody>
      </p:sp>
      <p:sp>
        <p:nvSpPr>
          <p:cNvPr id="111634" name="Rectangle 23"/>
          <p:cNvSpPr>
            <a:spLocks noChangeArrowheads="1"/>
          </p:cNvSpPr>
          <p:nvPr/>
        </p:nvSpPr>
        <p:spPr bwMode="auto">
          <a:xfrm>
            <a:off x="3894138" y="1066800"/>
            <a:ext cx="1498600" cy="1143000"/>
          </a:xfrm>
          <a:prstGeom prst="rect">
            <a:avLst/>
          </a:prstGeom>
          <a:noFill/>
          <a:ln w="38100">
            <a:solidFill>
              <a:srgbClr val="000000"/>
            </a:solidFill>
            <a:miter lim="800000"/>
            <a:headEnd/>
            <a:tailEnd type="none" w="med" len="lg"/>
          </a:ln>
        </p:spPr>
        <p:txBody>
          <a:bodyPr wrap="none" anchor="ctr"/>
          <a:lstStyle/>
          <a:p>
            <a:pPr algn="ctr" eaLnBrk="1" hangingPunct="1"/>
            <a:endParaRPr lang="zh-CN" altLang="en-US"/>
          </a:p>
        </p:txBody>
      </p:sp>
      <p:sp>
        <p:nvSpPr>
          <p:cNvPr id="111635" name="Rectangle 24"/>
          <p:cNvSpPr>
            <a:spLocks noChangeArrowheads="1"/>
          </p:cNvSpPr>
          <p:nvPr/>
        </p:nvSpPr>
        <p:spPr bwMode="auto">
          <a:xfrm>
            <a:off x="3813175" y="1219200"/>
            <a:ext cx="150813" cy="381000"/>
          </a:xfrm>
          <a:prstGeom prst="rect">
            <a:avLst/>
          </a:prstGeom>
          <a:solidFill>
            <a:srgbClr val="FFFF99"/>
          </a:solidFill>
          <a:ln w="38100">
            <a:solidFill>
              <a:srgbClr val="FF0000"/>
            </a:solidFill>
            <a:miter lim="800000"/>
            <a:headEnd/>
            <a:tailEnd type="none" w="med" len="lg"/>
          </a:ln>
        </p:spPr>
        <p:txBody>
          <a:bodyPr wrap="none" anchor="ctr"/>
          <a:lstStyle/>
          <a:p>
            <a:pPr algn="ctr" eaLnBrk="1" hangingPunct="1"/>
            <a:endParaRPr lang="zh-CN" altLang="en-US"/>
          </a:p>
        </p:txBody>
      </p:sp>
      <p:sp>
        <p:nvSpPr>
          <p:cNvPr id="111636" name="Oval 25"/>
          <p:cNvSpPr>
            <a:spLocks noChangeArrowheads="1"/>
          </p:cNvSpPr>
          <p:nvPr/>
        </p:nvSpPr>
        <p:spPr bwMode="auto">
          <a:xfrm>
            <a:off x="4568825" y="990600"/>
            <a:ext cx="149225"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37" name="Oval 26"/>
          <p:cNvSpPr>
            <a:spLocks noChangeArrowheads="1"/>
          </p:cNvSpPr>
          <p:nvPr/>
        </p:nvSpPr>
        <p:spPr bwMode="auto">
          <a:xfrm>
            <a:off x="4568825" y="2133600"/>
            <a:ext cx="149225"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38" name="Rectangle 27"/>
          <p:cNvSpPr>
            <a:spLocks noChangeArrowheads="1"/>
          </p:cNvSpPr>
          <p:nvPr/>
        </p:nvSpPr>
        <p:spPr bwMode="auto">
          <a:xfrm>
            <a:off x="3132138" y="990600"/>
            <a:ext cx="717550" cy="457200"/>
          </a:xfrm>
          <a:prstGeom prst="rect">
            <a:avLst/>
          </a:prstGeom>
          <a:noFill/>
          <a:ln w="38100">
            <a:noFill/>
            <a:miter lim="800000"/>
            <a:headEnd/>
            <a:tailEnd type="none" w="med" len="lg"/>
          </a:ln>
        </p:spPr>
        <p:txBody>
          <a:bodyPr>
            <a:spAutoFit/>
          </a:bodyPr>
          <a:lstStyle/>
          <a:p>
            <a:pPr algn="ctr"/>
            <a:r>
              <a:rPr lang="en-US" altLang="zh-CN" i="1"/>
              <a:t>R</a:t>
            </a:r>
            <a:r>
              <a:rPr lang="en-US" altLang="zh-CN" baseline="-25000"/>
              <a:t>o1</a:t>
            </a:r>
            <a:endParaRPr lang="en-US" altLang="zh-CN" sz="1800" baseline="-25000"/>
          </a:p>
        </p:txBody>
      </p:sp>
      <p:sp>
        <p:nvSpPr>
          <p:cNvPr id="111639" name="Rectangle 28"/>
          <p:cNvSpPr>
            <a:spLocks noChangeArrowheads="1"/>
          </p:cNvSpPr>
          <p:nvPr/>
        </p:nvSpPr>
        <p:spPr bwMode="auto">
          <a:xfrm>
            <a:off x="3441700" y="1447800"/>
            <a:ext cx="387350" cy="519113"/>
          </a:xfrm>
          <a:prstGeom prst="rect">
            <a:avLst/>
          </a:prstGeom>
          <a:noFill/>
          <a:ln w="38100">
            <a:noFill/>
            <a:miter lim="800000"/>
            <a:headEnd/>
            <a:tailEnd type="none" w="med" len="lg"/>
          </a:ln>
        </p:spPr>
        <p:txBody>
          <a:bodyPr wrap="none">
            <a:spAutoFit/>
          </a:bodyPr>
          <a:lstStyle/>
          <a:p>
            <a:pPr algn="ctr"/>
            <a:r>
              <a:rPr lang="en-US" altLang="zh-CN" i="1">
                <a:solidFill>
                  <a:srgbClr val="FF3300"/>
                </a:solidFill>
              </a:rPr>
              <a:t>+</a:t>
            </a:r>
          </a:p>
        </p:txBody>
      </p:sp>
      <p:grpSp>
        <p:nvGrpSpPr>
          <p:cNvPr id="111640" name="Group 29"/>
          <p:cNvGrpSpPr>
            <a:grpSpLocks/>
          </p:cNvGrpSpPr>
          <p:nvPr/>
        </p:nvGrpSpPr>
        <p:grpSpPr bwMode="auto">
          <a:xfrm>
            <a:off x="2989263" y="1219200"/>
            <a:ext cx="742950" cy="944563"/>
            <a:chOff x="1964" y="1604"/>
            <a:chExt cx="476" cy="595"/>
          </a:xfrm>
        </p:grpSpPr>
        <p:sp>
          <p:nvSpPr>
            <p:cNvPr id="111686" name="Rectangle 30"/>
            <p:cNvSpPr>
              <a:spLocks noChangeArrowheads="1"/>
            </p:cNvSpPr>
            <p:nvPr/>
          </p:nvSpPr>
          <p:spPr bwMode="auto">
            <a:xfrm>
              <a:off x="1964" y="1872"/>
              <a:ext cx="476" cy="327"/>
            </a:xfrm>
            <a:prstGeom prst="rect">
              <a:avLst/>
            </a:prstGeom>
            <a:noFill/>
            <a:ln w="38100">
              <a:noFill/>
              <a:miter lim="800000"/>
              <a:headEnd/>
              <a:tailEnd type="none" w="med" len="lg"/>
            </a:ln>
          </p:spPr>
          <p:txBody>
            <a:bodyPr wrap="none">
              <a:spAutoFit/>
            </a:bodyPr>
            <a:lstStyle/>
            <a:p>
              <a:pPr algn="ctr">
                <a:spcBef>
                  <a:spcPct val="50000"/>
                </a:spcBef>
              </a:pPr>
              <a:r>
                <a:rPr lang="en-US" altLang="zh-CN"/>
                <a:t>U</a:t>
              </a:r>
              <a:r>
                <a:rPr lang="en-US" altLang="zh-CN" baseline="30000">
                  <a:cs typeface="Times New Roman" pitchFamily="18" charset="0"/>
                  <a:sym typeface="Symbol" pitchFamily="18" charset="2"/>
                </a:rPr>
                <a:t></a:t>
              </a:r>
              <a:r>
                <a:rPr lang="en-US" altLang="zh-CN" baseline="-25000"/>
                <a:t>o1</a:t>
              </a:r>
              <a:endParaRPr lang="en-US" altLang="zh-CN" baseline="30000">
                <a:cs typeface="Times New Roman" pitchFamily="18" charset="0"/>
              </a:endParaRPr>
            </a:p>
          </p:txBody>
        </p:sp>
        <p:sp>
          <p:nvSpPr>
            <p:cNvPr id="111687" name="Rectangle 31"/>
            <p:cNvSpPr>
              <a:spLocks noChangeArrowheads="1"/>
            </p:cNvSpPr>
            <p:nvPr/>
          </p:nvSpPr>
          <p:spPr bwMode="auto">
            <a:xfrm>
              <a:off x="2034" y="1604"/>
              <a:ext cx="172" cy="442"/>
            </a:xfrm>
            <a:prstGeom prst="rect">
              <a:avLst/>
            </a:prstGeom>
            <a:noFill/>
            <a:ln w="38100">
              <a:noFill/>
              <a:miter lim="800000"/>
              <a:headEnd/>
              <a:tailEnd type="none" w="med" len="lg"/>
            </a:ln>
          </p:spPr>
          <p:txBody>
            <a:bodyPr>
              <a:spAutoFit/>
            </a:bodyPr>
            <a:lstStyle/>
            <a:p>
              <a:pPr algn="ctr"/>
              <a:r>
                <a:rPr lang="en-US" altLang="zh-CN" sz="4000" i="1"/>
                <a:t>.</a:t>
              </a:r>
            </a:p>
          </p:txBody>
        </p:sp>
      </p:grpSp>
      <p:sp>
        <p:nvSpPr>
          <p:cNvPr id="111641" name="Rectangle 32"/>
          <p:cNvSpPr>
            <a:spLocks noChangeArrowheads="1"/>
          </p:cNvSpPr>
          <p:nvPr/>
        </p:nvSpPr>
        <p:spPr bwMode="auto">
          <a:xfrm>
            <a:off x="3517900" y="1828800"/>
            <a:ext cx="361950" cy="519113"/>
          </a:xfrm>
          <a:prstGeom prst="rect">
            <a:avLst/>
          </a:prstGeom>
          <a:noFill/>
          <a:ln w="38100">
            <a:noFill/>
            <a:miter lim="800000"/>
            <a:headEnd/>
            <a:tailEnd type="none" w="med" len="lg"/>
          </a:ln>
        </p:spPr>
        <p:txBody>
          <a:bodyPr wrap="none">
            <a:spAutoFit/>
          </a:bodyPr>
          <a:lstStyle/>
          <a:p>
            <a:pPr algn="ctr"/>
            <a:r>
              <a:rPr lang="en-US" altLang="zh-CN" i="1">
                <a:solidFill>
                  <a:srgbClr val="FF3300"/>
                </a:solidFill>
              </a:rPr>
              <a:t>_</a:t>
            </a:r>
          </a:p>
        </p:txBody>
      </p:sp>
      <p:sp>
        <p:nvSpPr>
          <p:cNvPr id="111642" name="Rectangle 33"/>
          <p:cNvSpPr>
            <a:spLocks noChangeArrowheads="1"/>
          </p:cNvSpPr>
          <p:nvPr/>
        </p:nvSpPr>
        <p:spPr bwMode="auto">
          <a:xfrm>
            <a:off x="1722438" y="914400"/>
            <a:ext cx="2546350" cy="1447800"/>
          </a:xfrm>
          <a:prstGeom prst="rect">
            <a:avLst/>
          </a:prstGeom>
          <a:noFill/>
          <a:ln w="38100">
            <a:solidFill>
              <a:srgbClr val="000000"/>
            </a:solidFill>
            <a:miter lim="800000"/>
            <a:headEnd/>
            <a:tailEnd type="none" w="med" len="lg"/>
          </a:ln>
        </p:spPr>
        <p:txBody>
          <a:bodyPr wrap="none" anchor="ctr"/>
          <a:lstStyle/>
          <a:p>
            <a:pPr algn="ctr" eaLnBrk="1" hangingPunct="1"/>
            <a:endParaRPr lang="zh-CN" altLang="en-US"/>
          </a:p>
        </p:txBody>
      </p:sp>
      <p:sp>
        <p:nvSpPr>
          <p:cNvPr id="111643" name="Rectangle 34"/>
          <p:cNvSpPr>
            <a:spLocks noChangeArrowheads="1"/>
          </p:cNvSpPr>
          <p:nvPr/>
        </p:nvSpPr>
        <p:spPr bwMode="auto">
          <a:xfrm>
            <a:off x="4868863" y="914400"/>
            <a:ext cx="2471737" cy="1447800"/>
          </a:xfrm>
          <a:prstGeom prst="rect">
            <a:avLst/>
          </a:prstGeom>
          <a:noFill/>
          <a:ln w="38100">
            <a:solidFill>
              <a:srgbClr val="000000"/>
            </a:solidFill>
            <a:miter lim="800000"/>
            <a:headEnd/>
            <a:tailEnd type="none" w="med" len="lg"/>
          </a:ln>
        </p:spPr>
        <p:txBody>
          <a:bodyPr wrap="none" anchor="ctr"/>
          <a:lstStyle/>
          <a:p>
            <a:pPr algn="ctr" eaLnBrk="1" hangingPunct="1"/>
            <a:endParaRPr lang="zh-CN" altLang="en-US"/>
          </a:p>
        </p:txBody>
      </p:sp>
      <p:sp>
        <p:nvSpPr>
          <p:cNvPr id="111644" name="Rectangle 35"/>
          <p:cNvSpPr>
            <a:spLocks noChangeArrowheads="1"/>
          </p:cNvSpPr>
          <p:nvPr/>
        </p:nvSpPr>
        <p:spPr bwMode="auto">
          <a:xfrm>
            <a:off x="5318125" y="1447800"/>
            <a:ext cx="149225" cy="381000"/>
          </a:xfrm>
          <a:prstGeom prst="rect">
            <a:avLst/>
          </a:prstGeom>
          <a:solidFill>
            <a:schemeClr val="accent1"/>
          </a:solidFill>
          <a:ln w="38100">
            <a:solidFill>
              <a:srgbClr val="000000"/>
            </a:solidFill>
            <a:miter lim="800000"/>
            <a:headEnd/>
            <a:tailEnd type="none" w="med" len="lg"/>
          </a:ln>
        </p:spPr>
        <p:txBody>
          <a:bodyPr wrap="none" anchor="ctr"/>
          <a:lstStyle/>
          <a:p>
            <a:pPr algn="ctr" eaLnBrk="1" hangingPunct="1"/>
            <a:endParaRPr lang="zh-CN" altLang="en-US"/>
          </a:p>
        </p:txBody>
      </p:sp>
      <p:sp>
        <p:nvSpPr>
          <p:cNvPr id="111645" name="Rectangle 36"/>
          <p:cNvSpPr>
            <a:spLocks noChangeArrowheads="1"/>
          </p:cNvSpPr>
          <p:nvPr/>
        </p:nvSpPr>
        <p:spPr bwMode="auto">
          <a:xfrm>
            <a:off x="4740275" y="1295400"/>
            <a:ext cx="606425" cy="519113"/>
          </a:xfrm>
          <a:prstGeom prst="rect">
            <a:avLst/>
          </a:prstGeom>
          <a:noFill/>
          <a:ln w="38100">
            <a:noFill/>
            <a:miter lim="800000"/>
            <a:headEnd/>
            <a:tailEnd/>
          </a:ln>
        </p:spPr>
        <p:txBody>
          <a:bodyPr wrap="none">
            <a:spAutoFit/>
          </a:bodyPr>
          <a:lstStyle/>
          <a:p>
            <a:pPr algn="ctr">
              <a:spcBef>
                <a:spcPct val="50000"/>
              </a:spcBef>
            </a:pPr>
            <a:r>
              <a:rPr lang="en-US" altLang="zh-CN" i="1"/>
              <a:t>R</a:t>
            </a:r>
            <a:r>
              <a:rPr lang="en-US" altLang="zh-CN" baseline="-25000"/>
              <a:t>i2</a:t>
            </a:r>
          </a:p>
        </p:txBody>
      </p:sp>
      <p:sp>
        <p:nvSpPr>
          <p:cNvPr id="111646" name="Rectangle 37"/>
          <p:cNvSpPr>
            <a:spLocks noChangeArrowheads="1"/>
          </p:cNvSpPr>
          <p:nvPr/>
        </p:nvSpPr>
        <p:spPr bwMode="auto">
          <a:xfrm>
            <a:off x="7040563" y="1066800"/>
            <a:ext cx="1354137" cy="1143000"/>
          </a:xfrm>
          <a:prstGeom prst="rect">
            <a:avLst/>
          </a:prstGeom>
          <a:noFill/>
          <a:ln w="38100">
            <a:solidFill>
              <a:srgbClr val="000000"/>
            </a:solidFill>
            <a:miter lim="800000"/>
            <a:headEnd/>
            <a:tailEnd type="none" w="med" len="lg"/>
          </a:ln>
        </p:spPr>
        <p:txBody>
          <a:bodyPr wrap="none" anchor="ctr"/>
          <a:lstStyle/>
          <a:p>
            <a:pPr algn="ctr" eaLnBrk="1" hangingPunct="1"/>
            <a:endParaRPr lang="zh-CN" altLang="en-US"/>
          </a:p>
        </p:txBody>
      </p:sp>
      <p:sp>
        <p:nvSpPr>
          <p:cNvPr id="111647" name="Rectangle 38"/>
          <p:cNvSpPr>
            <a:spLocks noChangeArrowheads="1"/>
          </p:cNvSpPr>
          <p:nvPr/>
        </p:nvSpPr>
        <p:spPr bwMode="auto">
          <a:xfrm>
            <a:off x="6965950" y="1219200"/>
            <a:ext cx="149225" cy="381000"/>
          </a:xfrm>
          <a:prstGeom prst="rect">
            <a:avLst/>
          </a:prstGeom>
          <a:solidFill>
            <a:srgbClr val="FFFF99"/>
          </a:solidFill>
          <a:ln w="38100">
            <a:solidFill>
              <a:srgbClr val="FF0000"/>
            </a:solidFill>
            <a:miter lim="800000"/>
            <a:headEnd/>
            <a:tailEnd type="none" w="med" len="lg"/>
          </a:ln>
        </p:spPr>
        <p:txBody>
          <a:bodyPr wrap="none" anchor="ctr"/>
          <a:lstStyle/>
          <a:p>
            <a:pPr algn="ctr" eaLnBrk="1" hangingPunct="1"/>
            <a:endParaRPr lang="zh-CN" altLang="en-US"/>
          </a:p>
        </p:txBody>
      </p:sp>
      <p:sp>
        <p:nvSpPr>
          <p:cNvPr id="111648" name="Oval 39"/>
          <p:cNvSpPr>
            <a:spLocks noChangeArrowheads="1"/>
          </p:cNvSpPr>
          <p:nvPr/>
        </p:nvSpPr>
        <p:spPr bwMode="auto">
          <a:xfrm>
            <a:off x="6859588" y="1752600"/>
            <a:ext cx="374650" cy="381000"/>
          </a:xfrm>
          <a:prstGeom prst="ellipse">
            <a:avLst/>
          </a:prstGeom>
          <a:solidFill>
            <a:srgbClr val="FFFF99"/>
          </a:solidFill>
          <a:ln w="38100">
            <a:solidFill>
              <a:srgbClr val="FF0000"/>
            </a:solidFill>
            <a:round/>
            <a:headEnd/>
            <a:tailEnd type="none" w="med" len="lg"/>
          </a:ln>
        </p:spPr>
        <p:txBody>
          <a:bodyPr wrap="none" anchor="ctr"/>
          <a:lstStyle/>
          <a:p>
            <a:pPr algn="ctr" eaLnBrk="1" hangingPunct="1"/>
            <a:endParaRPr lang="zh-CN" altLang="en-US"/>
          </a:p>
        </p:txBody>
      </p:sp>
      <p:sp>
        <p:nvSpPr>
          <p:cNvPr id="111649" name="Oval 40"/>
          <p:cNvSpPr>
            <a:spLocks noChangeArrowheads="1"/>
          </p:cNvSpPr>
          <p:nvPr/>
        </p:nvSpPr>
        <p:spPr bwMode="auto">
          <a:xfrm>
            <a:off x="7945438" y="990600"/>
            <a:ext cx="149225"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50" name="Oval 41"/>
          <p:cNvSpPr>
            <a:spLocks noChangeArrowheads="1"/>
          </p:cNvSpPr>
          <p:nvPr/>
        </p:nvSpPr>
        <p:spPr bwMode="auto">
          <a:xfrm>
            <a:off x="7945438" y="2133600"/>
            <a:ext cx="149225" cy="152400"/>
          </a:xfrm>
          <a:prstGeom prst="ellipse">
            <a:avLst/>
          </a:prstGeom>
          <a:solidFill>
            <a:schemeClr val="accent2"/>
          </a:solidFill>
          <a:ln w="38100">
            <a:solidFill>
              <a:srgbClr val="000000"/>
            </a:solidFill>
            <a:round/>
            <a:headEnd/>
            <a:tailEnd type="none" w="med" len="lg"/>
          </a:ln>
        </p:spPr>
        <p:txBody>
          <a:bodyPr wrap="none" anchor="ctr"/>
          <a:lstStyle/>
          <a:p>
            <a:pPr algn="ctr" eaLnBrk="1" hangingPunct="1"/>
            <a:endParaRPr lang="zh-CN" altLang="en-US"/>
          </a:p>
        </p:txBody>
      </p:sp>
      <p:sp>
        <p:nvSpPr>
          <p:cNvPr id="111651" name="Line 42"/>
          <p:cNvSpPr>
            <a:spLocks noChangeShapeType="1"/>
          </p:cNvSpPr>
          <p:nvPr/>
        </p:nvSpPr>
        <p:spPr bwMode="auto">
          <a:xfrm flipH="1">
            <a:off x="7415213" y="990600"/>
            <a:ext cx="449262" cy="0"/>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1652" name="Rectangle 43"/>
          <p:cNvSpPr>
            <a:spLocks noChangeArrowheads="1"/>
          </p:cNvSpPr>
          <p:nvPr/>
        </p:nvSpPr>
        <p:spPr bwMode="auto">
          <a:xfrm>
            <a:off x="6392863" y="1066800"/>
            <a:ext cx="661987" cy="519113"/>
          </a:xfrm>
          <a:prstGeom prst="rect">
            <a:avLst/>
          </a:prstGeom>
          <a:noFill/>
          <a:ln w="38100">
            <a:noFill/>
            <a:miter lim="800000"/>
            <a:headEnd/>
            <a:tailEnd type="none" w="med" len="lg"/>
          </a:ln>
        </p:spPr>
        <p:txBody>
          <a:bodyPr wrap="none">
            <a:spAutoFit/>
          </a:bodyPr>
          <a:lstStyle/>
          <a:p>
            <a:pPr algn="ctr"/>
            <a:r>
              <a:rPr lang="en-US" altLang="zh-CN" i="1"/>
              <a:t>R</a:t>
            </a:r>
            <a:r>
              <a:rPr lang="en-US" altLang="zh-CN" baseline="-25000"/>
              <a:t>o2</a:t>
            </a:r>
          </a:p>
        </p:txBody>
      </p:sp>
      <p:sp>
        <p:nvSpPr>
          <p:cNvPr id="111653" name="Rectangle 44"/>
          <p:cNvSpPr>
            <a:spLocks noChangeArrowheads="1"/>
          </p:cNvSpPr>
          <p:nvPr/>
        </p:nvSpPr>
        <p:spPr bwMode="auto">
          <a:xfrm>
            <a:off x="6597650" y="1447800"/>
            <a:ext cx="381000" cy="519113"/>
          </a:xfrm>
          <a:prstGeom prst="rect">
            <a:avLst/>
          </a:prstGeom>
          <a:noFill/>
          <a:ln w="38100">
            <a:noFill/>
            <a:miter lim="800000"/>
            <a:headEnd/>
            <a:tailEnd type="none" w="med" len="lg"/>
          </a:ln>
        </p:spPr>
        <p:txBody>
          <a:bodyPr>
            <a:spAutoFit/>
          </a:bodyPr>
          <a:lstStyle/>
          <a:p>
            <a:pPr algn="ctr"/>
            <a:r>
              <a:rPr lang="en-US" altLang="zh-CN" i="1">
                <a:solidFill>
                  <a:srgbClr val="FF3300"/>
                </a:solidFill>
              </a:rPr>
              <a:t>+</a:t>
            </a:r>
          </a:p>
        </p:txBody>
      </p:sp>
      <p:sp>
        <p:nvSpPr>
          <p:cNvPr id="111654" name="Rectangle 45"/>
          <p:cNvSpPr>
            <a:spLocks noChangeArrowheads="1"/>
          </p:cNvSpPr>
          <p:nvPr/>
        </p:nvSpPr>
        <p:spPr bwMode="auto">
          <a:xfrm>
            <a:off x="6669088" y="1828800"/>
            <a:ext cx="361950" cy="519113"/>
          </a:xfrm>
          <a:prstGeom prst="rect">
            <a:avLst/>
          </a:prstGeom>
          <a:noFill/>
          <a:ln w="38100">
            <a:noFill/>
            <a:miter lim="800000"/>
            <a:headEnd/>
            <a:tailEnd type="none" w="med" len="lg"/>
          </a:ln>
        </p:spPr>
        <p:txBody>
          <a:bodyPr wrap="none">
            <a:spAutoFit/>
          </a:bodyPr>
          <a:lstStyle/>
          <a:p>
            <a:pPr algn="ctr"/>
            <a:r>
              <a:rPr lang="en-US" altLang="zh-CN" i="1">
                <a:solidFill>
                  <a:srgbClr val="FF3300"/>
                </a:solidFill>
              </a:rPr>
              <a:t>_</a:t>
            </a:r>
          </a:p>
        </p:txBody>
      </p:sp>
      <p:sp>
        <p:nvSpPr>
          <p:cNvPr id="111655" name="Rectangle 46"/>
          <p:cNvSpPr>
            <a:spLocks noChangeArrowheads="1"/>
          </p:cNvSpPr>
          <p:nvPr/>
        </p:nvSpPr>
        <p:spPr bwMode="auto">
          <a:xfrm>
            <a:off x="8320088" y="1371600"/>
            <a:ext cx="149225" cy="457200"/>
          </a:xfrm>
          <a:prstGeom prst="rect">
            <a:avLst/>
          </a:prstGeom>
          <a:solidFill>
            <a:schemeClr val="bg2"/>
          </a:solidFill>
          <a:ln w="38100">
            <a:solidFill>
              <a:schemeClr val="tx1"/>
            </a:solidFill>
            <a:miter lim="800000"/>
            <a:headEnd/>
            <a:tailEnd/>
          </a:ln>
        </p:spPr>
        <p:txBody>
          <a:bodyPr wrap="none" anchor="ctr">
            <a:spAutoFit/>
          </a:bodyPr>
          <a:lstStyle/>
          <a:p>
            <a:pPr algn="ctr" eaLnBrk="1" hangingPunct="1"/>
            <a:endParaRPr lang="zh-CN" altLang="en-US"/>
          </a:p>
        </p:txBody>
      </p:sp>
      <p:grpSp>
        <p:nvGrpSpPr>
          <p:cNvPr id="111656" name="Group 47"/>
          <p:cNvGrpSpPr>
            <a:grpSpLocks/>
          </p:cNvGrpSpPr>
          <p:nvPr/>
        </p:nvGrpSpPr>
        <p:grpSpPr bwMode="auto">
          <a:xfrm>
            <a:off x="7410450" y="0"/>
            <a:ext cx="561975" cy="938213"/>
            <a:chOff x="4761" y="792"/>
            <a:chExt cx="360" cy="591"/>
          </a:xfrm>
        </p:grpSpPr>
        <p:sp>
          <p:nvSpPr>
            <p:cNvPr id="111684" name="Rectangle 48"/>
            <p:cNvSpPr>
              <a:spLocks noChangeArrowheads="1"/>
            </p:cNvSpPr>
            <p:nvPr/>
          </p:nvSpPr>
          <p:spPr bwMode="auto">
            <a:xfrm>
              <a:off x="4800" y="1056"/>
              <a:ext cx="321" cy="327"/>
            </a:xfrm>
            <a:prstGeom prst="rect">
              <a:avLst/>
            </a:prstGeom>
            <a:noFill/>
            <a:ln w="38100">
              <a:noFill/>
              <a:miter lim="800000"/>
              <a:headEnd/>
              <a:tailEnd type="none" w="med" len="lg"/>
            </a:ln>
          </p:spPr>
          <p:txBody>
            <a:bodyPr>
              <a:spAutoFit/>
            </a:bodyPr>
            <a:lstStyle/>
            <a:p>
              <a:pPr algn="ctr"/>
              <a:r>
                <a:rPr lang="en-US" altLang="zh-CN">
                  <a:solidFill>
                    <a:schemeClr val="accent2"/>
                  </a:solidFill>
                </a:rPr>
                <a:t>I</a:t>
              </a:r>
              <a:r>
                <a:rPr lang="en-US" altLang="zh-CN" baseline="-25000">
                  <a:solidFill>
                    <a:schemeClr val="accent2"/>
                  </a:solidFill>
                </a:rPr>
                <a:t>o</a:t>
              </a:r>
            </a:p>
          </p:txBody>
        </p:sp>
        <p:sp>
          <p:nvSpPr>
            <p:cNvPr id="111685" name="Rectangle 49"/>
            <p:cNvSpPr>
              <a:spLocks noChangeArrowheads="1"/>
            </p:cNvSpPr>
            <p:nvPr/>
          </p:nvSpPr>
          <p:spPr bwMode="auto">
            <a:xfrm>
              <a:off x="4761" y="792"/>
              <a:ext cx="281" cy="442"/>
            </a:xfrm>
            <a:prstGeom prst="rect">
              <a:avLst/>
            </a:prstGeom>
            <a:noFill/>
            <a:ln w="38100">
              <a:noFill/>
              <a:miter lim="800000"/>
              <a:headEnd/>
              <a:tailEnd/>
            </a:ln>
          </p:spPr>
          <p:txBody>
            <a:bodyPr wrap="none">
              <a:spAutoFit/>
            </a:bodyPr>
            <a:lstStyle/>
            <a:p>
              <a:pPr algn="ctr">
                <a:spcBef>
                  <a:spcPct val="50000"/>
                </a:spcBef>
              </a:pPr>
              <a:r>
                <a:rPr lang="en-US" altLang="zh-CN" sz="4000" i="1"/>
                <a:t> </a:t>
              </a:r>
              <a:r>
                <a:rPr lang="en-US" altLang="zh-CN" sz="4000" i="1">
                  <a:solidFill>
                    <a:schemeClr val="accent2"/>
                  </a:solidFill>
                </a:rPr>
                <a:t>.</a:t>
              </a:r>
            </a:p>
          </p:txBody>
        </p:sp>
      </p:grpSp>
      <p:grpSp>
        <p:nvGrpSpPr>
          <p:cNvPr id="111657" name="Group 50"/>
          <p:cNvGrpSpPr>
            <a:grpSpLocks/>
          </p:cNvGrpSpPr>
          <p:nvPr/>
        </p:nvGrpSpPr>
        <p:grpSpPr bwMode="auto">
          <a:xfrm>
            <a:off x="973138" y="38100"/>
            <a:ext cx="823912" cy="938213"/>
            <a:chOff x="624" y="840"/>
            <a:chExt cx="528" cy="591"/>
          </a:xfrm>
        </p:grpSpPr>
        <p:sp>
          <p:nvSpPr>
            <p:cNvPr id="111682" name="Text Box 51"/>
            <p:cNvSpPr txBox="1">
              <a:spLocks noChangeArrowheads="1"/>
            </p:cNvSpPr>
            <p:nvPr/>
          </p:nvSpPr>
          <p:spPr bwMode="auto">
            <a:xfrm>
              <a:off x="624" y="1104"/>
              <a:ext cx="528" cy="327"/>
            </a:xfrm>
            <a:prstGeom prst="rect">
              <a:avLst/>
            </a:prstGeom>
            <a:noFill/>
            <a:ln w="38100">
              <a:noFill/>
              <a:miter lim="800000"/>
              <a:headEnd/>
              <a:tailEnd type="none" w="med" len="lg"/>
            </a:ln>
          </p:spPr>
          <p:txBody>
            <a:bodyPr>
              <a:spAutoFit/>
            </a:bodyPr>
            <a:lstStyle/>
            <a:p>
              <a:pPr algn="ctr">
                <a:spcBef>
                  <a:spcPct val="50000"/>
                </a:spcBef>
              </a:pPr>
              <a:r>
                <a:rPr lang="en-US" altLang="zh-CN">
                  <a:solidFill>
                    <a:schemeClr val="accent2"/>
                  </a:solidFill>
                </a:rPr>
                <a:t>I</a:t>
              </a:r>
              <a:r>
                <a:rPr lang="en-US" altLang="zh-CN" baseline="-25000">
                  <a:solidFill>
                    <a:schemeClr val="accent2"/>
                  </a:solidFill>
                </a:rPr>
                <a:t>i</a:t>
              </a:r>
            </a:p>
          </p:txBody>
        </p:sp>
        <p:sp>
          <p:nvSpPr>
            <p:cNvPr id="111683" name="Rectangle 52"/>
            <p:cNvSpPr>
              <a:spLocks noChangeArrowheads="1"/>
            </p:cNvSpPr>
            <p:nvPr/>
          </p:nvSpPr>
          <p:spPr bwMode="auto">
            <a:xfrm>
              <a:off x="802" y="840"/>
              <a:ext cx="199" cy="442"/>
            </a:xfrm>
            <a:prstGeom prst="rect">
              <a:avLst/>
            </a:prstGeom>
            <a:noFill/>
            <a:ln w="38100">
              <a:noFill/>
              <a:miter lim="800000"/>
              <a:headEnd/>
              <a:tailEnd/>
            </a:ln>
          </p:spPr>
          <p:txBody>
            <a:bodyPr wrap="none">
              <a:spAutoFit/>
            </a:bodyPr>
            <a:lstStyle/>
            <a:p>
              <a:pPr algn="ctr">
                <a:spcBef>
                  <a:spcPct val="50000"/>
                </a:spcBef>
              </a:pPr>
              <a:r>
                <a:rPr lang="en-US" altLang="zh-CN" sz="4000" i="1">
                  <a:solidFill>
                    <a:schemeClr val="accent2"/>
                  </a:solidFill>
                </a:rPr>
                <a:t>.</a:t>
              </a:r>
            </a:p>
          </p:txBody>
        </p:sp>
      </p:grpSp>
      <p:sp>
        <p:nvSpPr>
          <p:cNvPr id="111658" name="Line 53"/>
          <p:cNvSpPr>
            <a:spLocks noChangeShapeType="1"/>
          </p:cNvSpPr>
          <p:nvPr/>
        </p:nvSpPr>
        <p:spPr bwMode="auto">
          <a:xfrm>
            <a:off x="973138" y="1143000"/>
            <a:ext cx="0" cy="1066800"/>
          </a:xfrm>
          <a:prstGeom prst="line">
            <a:avLst/>
          </a:prstGeom>
          <a:noFill/>
          <a:ln w="28575">
            <a:solidFill>
              <a:schemeClr val="accent2"/>
            </a:solidFill>
            <a:round/>
            <a:headEnd/>
            <a:tailEnd type="triangle" w="sm" len="lg"/>
          </a:ln>
        </p:spPr>
        <p:txBody>
          <a:bodyPr/>
          <a:lstStyle/>
          <a:p>
            <a:endParaRPr lang="zh-CN" altLang="en-US"/>
          </a:p>
        </p:txBody>
      </p:sp>
      <p:grpSp>
        <p:nvGrpSpPr>
          <p:cNvPr id="111659" name="Group 54"/>
          <p:cNvGrpSpPr>
            <a:grpSpLocks/>
          </p:cNvGrpSpPr>
          <p:nvPr/>
        </p:nvGrpSpPr>
        <p:grpSpPr bwMode="auto">
          <a:xfrm>
            <a:off x="6216650" y="1295400"/>
            <a:ext cx="742950" cy="944563"/>
            <a:chOff x="1964" y="1604"/>
            <a:chExt cx="476" cy="595"/>
          </a:xfrm>
        </p:grpSpPr>
        <p:sp>
          <p:nvSpPr>
            <p:cNvPr id="111680" name="Rectangle 55"/>
            <p:cNvSpPr>
              <a:spLocks noChangeArrowheads="1"/>
            </p:cNvSpPr>
            <p:nvPr/>
          </p:nvSpPr>
          <p:spPr bwMode="auto">
            <a:xfrm>
              <a:off x="1964" y="1872"/>
              <a:ext cx="476" cy="327"/>
            </a:xfrm>
            <a:prstGeom prst="rect">
              <a:avLst/>
            </a:prstGeom>
            <a:noFill/>
            <a:ln w="38100">
              <a:noFill/>
              <a:miter lim="800000"/>
              <a:headEnd/>
              <a:tailEnd type="none" w="med" len="lg"/>
            </a:ln>
          </p:spPr>
          <p:txBody>
            <a:bodyPr wrap="none">
              <a:spAutoFit/>
            </a:bodyPr>
            <a:lstStyle/>
            <a:p>
              <a:pPr algn="ctr">
                <a:spcBef>
                  <a:spcPct val="50000"/>
                </a:spcBef>
              </a:pPr>
              <a:r>
                <a:rPr lang="en-US" altLang="zh-CN"/>
                <a:t>U</a:t>
              </a:r>
              <a:r>
                <a:rPr lang="en-US" altLang="zh-CN" baseline="30000">
                  <a:cs typeface="Times New Roman" pitchFamily="18" charset="0"/>
                  <a:sym typeface="Symbol" pitchFamily="18" charset="2"/>
                </a:rPr>
                <a:t></a:t>
              </a:r>
              <a:r>
                <a:rPr lang="en-US" altLang="zh-CN" baseline="-25000"/>
                <a:t>o2</a:t>
              </a:r>
              <a:endParaRPr lang="en-US" altLang="zh-CN" baseline="30000">
                <a:cs typeface="Times New Roman" pitchFamily="18" charset="0"/>
              </a:endParaRPr>
            </a:p>
          </p:txBody>
        </p:sp>
        <p:sp>
          <p:nvSpPr>
            <p:cNvPr id="111681" name="Rectangle 56"/>
            <p:cNvSpPr>
              <a:spLocks noChangeArrowheads="1"/>
            </p:cNvSpPr>
            <p:nvPr/>
          </p:nvSpPr>
          <p:spPr bwMode="auto">
            <a:xfrm>
              <a:off x="2034" y="1604"/>
              <a:ext cx="172" cy="442"/>
            </a:xfrm>
            <a:prstGeom prst="rect">
              <a:avLst/>
            </a:prstGeom>
            <a:noFill/>
            <a:ln w="38100">
              <a:noFill/>
              <a:miter lim="800000"/>
              <a:headEnd/>
              <a:tailEnd type="none" w="med" len="lg"/>
            </a:ln>
          </p:spPr>
          <p:txBody>
            <a:bodyPr>
              <a:spAutoFit/>
            </a:bodyPr>
            <a:lstStyle/>
            <a:p>
              <a:pPr algn="ctr"/>
              <a:r>
                <a:rPr lang="en-US" altLang="zh-CN" sz="4000" i="1"/>
                <a:t>.</a:t>
              </a:r>
            </a:p>
          </p:txBody>
        </p:sp>
      </p:grpSp>
      <p:sp>
        <p:nvSpPr>
          <p:cNvPr id="111660" name="Line 57"/>
          <p:cNvSpPr>
            <a:spLocks noChangeShapeType="1"/>
          </p:cNvSpPr>
          <p:nvPr/>
        </p:nvSpPr>
        <p:spPr bwMode="auto">
          <a:xfrm>
            <a:off x="8545513" y="1066800"/>
            <a:ext cx="0" cy="1066800"/>
          </a:xfrm>
          <a:prstGeom prst="line">
            <a:avLst/>
          </a:prstGeom>
          <a:noFill/>
          <a:ln w="28575">
            <a:solidFill>
              <a:schemeClr val="accent2"/>
            </a:solidFill>
            <a:round/>
            <a:headEnd/>
            <a:tailEnd type="triangle" w="sm" len="lg"/>
          </a:ln>
        </p:spPr>
        <p:txBody>
          <a:bodyPr/>
          <a:lstStyle/>
          <a:p>
            <a:endParaRPr lang="zh-CN" altLang="en-US"/>
          </a:p>
        </p:txBody>
      </p:sp>
      <p:grpSp>
        <p:nvGrpSpPr>
          <p:cNvPr id="111661" name="Group 58"/>
          <p:cNvGrpSpPr>
            <a:grpSpLocks/>
          </p:cNvGrpSpPr>
          <p:nvPr/>
        </p:nvGrpSpPr>
        <p:grpSpPr bwMode="auto">
          <a:xfrm>
            <a:off x="8394700" y="914400"/>
            <a:ext cx="749300" cy="938213"/>
            <a:chOff x="576" y="1512"/>
            <a:chExt cx="480" cy="591"/>
          </a:xfrm>
        </p:grpSpPr>
        <p:sp>
          <p:nvSpPr>
            <p:cNvPr id="111678" name="Text Box 59"/>
            <p:cNvSpPr txBox="1">
              <a:spLocks noChangeArrowheads="1"/>
            </p:cNvSpPr>
            <p:nvPr/>
          </p:nvSpPr>
          <p:spPr bwMode="auto">
            <a:xfrm>
              <a:off x="576" y="1776"/>
              <a:ext cx="480" cy="327"/>
            </a:xfrm>
            <a:prstGeom prst="rect">
              <a:avLst/>
            </a:prstGeom>
            <a:noFill/>
            <a:ln w="38100">
              <a:noFill/>
              <a:miter lim="800000"/>
              <a:headEnd/>
              <a:tailEnd type="none" w="med" len="lg"/>
            </a:ln>
          </p:spPr>
          <p:txBody>
            <a:bodyPr>
              <a:spAutoFit/>
            </a:bodyPr>
            <a:lstStyle/>
            <a:p>
              <a:pPr algn="ctr">
                <a:spcBef>
                  <a:spcPct val="50000"/>
                </a:spcBef>
              </a:pPr>
              <a:r>
                <a:rPr lang="en-US" altLang="zh-CN">
                  <a:solidFill>
                    <a:schemeClr val="accent2"/>
                  </a:solidFill>
                </a:rPr>
                <a:t>U</a:t>
              </a:r>
              <a:r>
                <a:rPr lang="en-US" altLang="zh-CN" baseline="-25000">
                  <a:solidFill>
                    <a:schemeClr val="accent2"/>
                  </a:solidFill>
                </a:rPr>
                <a:t>o</a:t>
              </a:r>
            </a:p>
          </p:txBody>
        </p:sp>
        <p:sp>
          <p:nvSpPr>
            <p:cNvPr id="111679" name="Rectangle 60"/>
            <p:cNvSpPr>
              <a:spLocks noChangeArrowheads="1"/>
            </p:cNvSpPr>
            <p:nvPr/>
          </p:nvSpPr>
          <p:spPr bwMode="auto">
            <a:xfrm>
              <a:off x="720" y="1512"/>
              <a:ext cx="172" cy="442"/>
            </a:xfrm>
            <a:prstGeom prst="rect">
              <a:avLst/>
            </a:prstGeom>
            <a:noFill/>
            <a:ln w="38100">
              <a:noFill/>
              <a:miter lim="800000"/>
              <a:headEnd/>
              <a:tailEnd type="none" w="med" len="lg"/>
            </a:ln>
          </p:spPr>
          <p:txBody>
            <a:bodyPr>
              <a:spAutoFit/>
            </a:bodyPr>
            <a:lstStyle/>
            <a:p>
              <a:pPr algn="ctr"/>
              <a:r>
                <a:rPr lang="en-US" altLang="zh-CN" sz="4000" i="1">
                  <a:solidFill>
                    <a:schemeClr val="accent2"/>
                  </a:solidFill>
                </a:rPr>
                <a:t>.</a:t>
              </a:r>
            </a:p>
          </p:txBody>
        </p:sp>
      </p:grpSp>
      <p:sp>
        <p:nvSpPr>
          <p:cNvPr id="111662" name="Rectangle 61"/>
          <p:cNvSpPr>
            <a:spLocks noChangeArrowheads="1"/>
          </p:cNvSpPr>
          <p:nvPr/>
        </p:nvSpPr>
        <p:spPr bwMode="auto">
          <a:xfrm>
            <a:off x="5692775" y="1066800"/>
            <a:ext cx="749300" cy="579438"/>
          </a:xfrm>
          <a:prstGeom prst="rect">
            <a:avLst/>
          </a:prstGeom>
          <a:noFill/>
          <a:ln w="38100">
            <a:noFill/>
            <a:miter lim="800000"/>
            <a:headEnd/>
            <a:tailEnd type="none" w="med" len="lg"/>
          </a:ln>
        </p:spPr>
        <p:txBody>
          <a:bodyPr>
            <a:spAutoFit/>
          </a:bodyPr>
          <a:lstStyle/>
          <a:p>
            <a:pPr algn="ctr">
              <a:spcBef>
                <a:spcPct val="50000"/>
              </a:spcBef>
            </a:pPr>
            <a:r>
              <a:rPr lang="en-US" altLang="zh-CN" sz="3200">
                <a:solidFill>
                  <a:schemeClr val="accent2"/>
                </a:solidFill>
              </a:rPr>
              <a:t>A</a:t>
            </a:r>
            <a:r>
              <a:rPr lang="en-US" altLang="zh-CN" sz="3200" baseline="-25000">
                <a:solidFill>
                  <a:schemeClr val="accent2"/>
                </a:solidFill>
              </a:rPr>
              <a:t>2</a:t>
            </a:r>
          </a:p>
        </p:txBody>
      </p:sp>
      <p:sp>
        <p:nvSpPr>
          <p:cNvPr id="111663" name="Freeform 62"/>
          <p:cNvSpPr>
            <a:spLocks/>
          </p:cNvSpPr>
          <p:nvPr/>
        </p:nvSpPr>
        <p:spPr bwMode="auto">
          <a:xfrm>
            <a:off x="1347788" y="2057400"/>
            <a:ext cx="300037" cy="609600"/>
          </a:xfrm>
          <a:custGeom>
            <a:avLst/>
            <a:gdLst>
              <a:gd name="T0" fmla="*/ 0 w 192"/>
              <a:gd name="T1" fmla="*/ 2147483647 h 384"/>
              <a:gd name="T2" fmla="*/ 0 w 192"/>
              <a:gd name="T3" fmla="*/ 0 h 384"/>
              <a:gd name="T4" fmla="*/ 2147483647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11664" name="Freeform 63"/>
          <p:cNvSpPr>
            <a:spLocks/>
          </p:cNvSpPr>
          <p:nvPr/>
        </p:nvSpPr>
        <p:spPr bwMode="auto">
          <a:xfrm flipH="1">
            <a:off x="7415213" y="1981200"/>
            <a:ext cx="300037" cy="609600"/>
          </a:xfrm>
          <a:custGeom>
            <a:avLst/>
            <a:gdLst>
              <a:gd name="T0" fmla="*/ 0 w 192"/>
              <a:gd name="T1" fmla="*/ 2147483647 h 384"/>
              <a:gd name="T2" fmla="*/ 0 w 192"/>
              <a:gd name="T3" fmla="*/ 0 h 384"/>
              <a:gd name="T4" fmla="*/ 2147483647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11665" name="Rectangle 64"/>
          <p:cNvSpPr>
            <a:spLocks noChangeArrowheads="1"/>
          </p:cNvSpPr>
          <p:nvPr/>
        </p:nvSpPr>
        <p:spPr bwMode="auto">
          <a:xfrm>
            <a:off x="1273175" y="2362200"/>
            <a:ext cx="666750" cy="579438"/>
          </a:xfrm>
          <a:prstGeom prst="rect">
            <a:avLst/>
          </a:prstGeom>
          <a:noFill/>
          <a:ln w="38100">
            <a:noFill/>
            <a:miter lim="800000"/>
            <a:headEnd/>
            <a:tailEnd type="none" w="med" len="lg"/>
          </a:ln>
        </p:spPr>
        <p:txBody>
          <a:bodyPr>
            <a:spAutoFit/>
          </a:bodyPr>
          <a:lstStyle/>
          <a:p>
            <a:pPr algn="ctr"/>
            <a:r>
              <a:rPr lang="en-US" altLang="zh-CN" sz="3200" i="1">
                <a:solidFill>
                  <a:srgbClr val="CC3300"/>
                </a:solidFill>
              </a:rPr>
              <a:t>R</a:t>
            </a:r>
            <a:r>
              <a:rPr lang="en-US" altLang="zh-CN" sz="3200" baseline="-25000">
                <a:solidFill>
                  <a:srgbClr val="CC3300"/>
                </a:solidFill>
              </a:rPr>
              <a:t>i</a:t>
            </a:r>
          </a:p>
        </p:txBody>
      </p:sp>
      <p:sp>
        <p:nvSpPr>
          <p:cNvPr id="111666" name="Rectangle 65"/>
          <p:cNvSpPr>
            <a:spLocks noChangeArrowheads="1"/>
          </p:cNvSpPr>
          <p:nvPr/>
        </p:nvSpPr>
        <p:spPr bwMode="auto">
          <a:xfrm>
            <a:off x="7639050" y="2238375"/>
            <a:ext cx="588963" cy="579438"/>
          </a:xfrm>
          <a:prstGeom prst="rect">
            <a:avLst/>
          </a:prstGeom>
          <a:noFill/>
          <a:ln w="38100">
            <a:noFill/>
            <a:miter lim="800000"/>
            <a:headEnd/>
            <a:tailEnd type="none" w="med" len="lg"/>
          </a:ln>
        </p:spPr>
        <p:txBody>
          <a:bodyPr wrap="none">
            <a:spAutoFit/>
          </a:bodyPr>
          <a:lstStyle/>
          <a:p>
            <a:pPr algn="ctr"/>
            <a:r>
              <a:rPr lang="en-US" altLang="zh-CN" sz="3200" i="1">
                <a:solidFill>
                  <a:srgbClr val="CC3300"/>
                </a:solidFill>
              </a:rPr>
              <a:t>R</a:t>
            </a:r>
            <a:r>
              <a:rPr lang="en-US" altLang="zh-CN" sz="3200" baseline="-25000">
                <a:solidFill>
                  <a:srgbClr val="CC3300"/>
                </a:solidFill>
              </a:rPr>
              <a:t>o</a:t>
            </a:r>
          </a:p>
        </p:txBody>
      </p:sp>
      <p:sp>
        <p:nvSpPr>
          <p:cNvPr id="12355" name="Text Box 67"/>
          <p:cNvSpPr txBox="1">
            <a:spLocks noChangeArrowheads="1"/>
          </p:cNvSpPr>
          <p:nvPr/>
        </p:nvSpPr>
        <p:spPr bwMode="auto">
          <a:xfrm>
            <a:off x="0" y="2895600"/>
            <a:ext cx="4343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2. </a:t>
            </a:r>
            <a:r>
              <a:rPr lang="zh-CN" altLang="en-US"/>
              <a:t>输入电阻</a:t>
            </a:r>
          </a:p>
        </p:txBody>
      </p:sp>
      <p:sp>
        <p:nvSpPr>
          <p:cNvPr id="12356" name="Rectangle 68"/>
          <p:cNvSpPr>
            <a:spLocks noChangeArrowheads="1"/>
          </p:cNvSpPr>
          <p:nvPr/>
        </p:nvSpPr>
        <p:spPr bwMode="auto">
          <a:xfrm>
            <a:off x="2924175" y="2817813"/>
            <a:ext cx="1444625" cy="579437"/>
          </a:xfrm>
          <a:prstGeom prst="rect">
            <a:avLst/>
          </a:prstGeom>
          <a:noFill/>
          <a:ln w="38100">
            <a:noFill/>
            <a:miter lim="800000"/>
            <a:headEnd/>
            <a:tailEnd/>
          </a:ln>
        </p:spPr>
        <p:txBody>
          <a:bodyPr wrap="none">
            <a:spAutoFit/>
          </a:bodyPr>
          <a:lstStyle/>
          <a:p>
            <a:pPr algn="ctr">
              <a:spcBef>
                <a:spcPct val="50000"/>
              </a:spcBef>
            </a:pPr>
            <a:r>
              <a:rPr lang="en-US" altLang="zh-CN" sz="3200" i="1">
                <a:solidFill>
                  <a:schemeClr val="accent2"/>
                </a:solidFill>
                <a:ea typeface="方正琥珀繁体"/>
                <a:cs typeface="方正琥珀繁体"/>
              </a:rPr>
              <a:t>R</a:t>
            </a:r>
            <a:r>
              <a:rPr lang="en-US" altLang="zh-CN" sz="3200" baseline="-25000">
                <a:solidFill>
                  <a:schemeClr val="accent2"/>
                </a:solidFill>
                <a:ea typeface="方正琥珀繁体"/>
                <a:cs typeface="方正琥珀繁体"/>
              </a:rPr>
              <a:t>i</a:t>
            </a:r>
            <a:r>
              <a:rPr lang="en-US" altLang="zh-CN" sz="3200" i="1">
                <a:solidFill>
                  <a:schemeClr val="accent2"/>
                </a:solidFill>
                <a:ea typeface="方正琥珀繁体"/>
                <a:cs typeface="方正琥珀繁体"/>
              </a:rPr>
              <a:t> </a:t>
            </a:r>
            <a:r>
              <a:rPr lang="en-US" altLang="zh-CN" sz="3200">
                <a:solidFill>
                  <a:schemeClr val="accent2"/>
                </a:solidFill>
                <a:ea typeface="方正琥珀繁体"/>
                <a:cs typeface="方正琥珀繁体"/>
              </a:rPr>
              <a:t>= </a:t>
            </a:r>
            <a:r>
              <a:rPr lang="en-US" altLang="zh-CN" sz="3200" i="1">
                <a:solidFill>
                  <a:schemeClr val="accent2"/>
                </a:solidFill>
                <a:ea typeface="方正琥珀繁体"/>
                <a:cs typeface="方正琥珀繁体"/>
              </a:rPr>
              <a:t>R</a:t>
            </a:r>
            <a:r>
              <a:rPr lang="en-US" altLang="zh-CN" sz="3200" baseline="-25000">
                <a:solidFill>
                  <a:schemeClr val="accent2"/>
                </a:solidFill>
                <a:ea typeface="方正琥珀繁体"/>
                <a:cs typeface="方正琥珀繁体"/>
              </a:rPr>
              <a:t>i1</a:t>
            </a:r>
          </a:p>
        </p:txBody>
      </p:sp>
      <p:sp>
        <p:nvSpPr>
          <p:cNvPr id="12357" name="Text Box 69"/>
          <p:cNvSpPr txBox="1">
            <a:spLocks noChangeArrowheads="1"/>
          </p:cNvSpPr>
          <p:nvPr/>
        </p:nvSpPr>
        <p:spPr bwMode="auto">
          <a:xfrm>
            <a:off x="755650" y="3505200"/>
            <a:ext cx="8235950" cy="519113"/>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a:t>多级放大电路的输入电阻等于第一级的输入电阻</a:t>
            </a:r>
          </a:p>
        </p:txBody>
      </p:sp>
      <p:sp>
        <p:nvSpPr>
          <p:cNvPr id="12358" name="Text Box 70"/>
          <p:cNvSpPr txBox="1">
            <a:spLocks noChangeArrowheads="1"/>
          </p:cNvSpPr>
          <p:nvPr/>
        </p:nvSpPr>
        <p:spPr bwMode="auto">
          <a:xfrm>
            <a:off x="0" y="4191000"/>
            <a:ext cx="4343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3. </a:t>
            </a:r>
            <a:r>
              <a:rPr lang="zh-CN" altLang="en-US"/>
              <a:t>输出电阻</a:t>
            </a:r>
          </a:p>
        </p:txBody>
      </p:sp>
      <p:sp>
        <p:nvSpPr>
          <p:cNvPr id="12359" name="Rectangle 71"/>
          <p:cNvSpPr>
            <a:spLocks noChangeArrowheads="1"/>
          </p:cNvSpPr>
          <p:nvPr/>
        </p:nvSpPr>
        <p:spPr bwMode="auto">
          <a:xfrm>
            <a:off x="3024188" y="4114800"/>
            <a:ext cx="1562100" cy="579438"/>
          </a:xfrm>
          <a:prstGeom prst="rect">
            <a:avLst/>
          </a:prstGeom>
          <a:noFill/>
          <a:ln w="38100">
            <a:noFill/>
            <a:miter lim="800000"/>
            <a:headEnd/>
            <a:tailEnd/>
          </a:ln>
        </p:spPr>
        <p:txBody>
          <a:bodyPr wrap="none">
            <a:spAutoFit/>
          </a:bodyPr>
          <a:lstStyle/>
          <a:p>
            <a:pPr algn="ctr">
              <a:spcBef>
                <a:spcPct val="50000"/>
              </a:spcBef>
            </a:pPr>
            <a:r>
              <a:rPr lang="en-US" altLang="zh-CN" sz="3200" i="1">
                <a:solidFill>
                  <a:schemeClr val="accent2"/>
                </a:solidFill>
                <a:ea typeface="方正琥珀繁体"/>
                <a:cs typeface="方正琥珀繁体"/>
              </a:rPr>
              <a:t>R</a:t>
            </a:r>
            <a:r>
              <a:rPr lang="en-US" altLang="zh-CN" sz="3200" baseline="-25000">
                <a:solidFill>
                  <a:schemeClr val="accent2"/>
                </a:solidFill>
                <a:ea typeface="方正琥珀繁体"/>
                <a:cs typeface="方正琥珀繁体"/>
              </a:rPr>
              <a:t>o</a:t>
            </a:r>
            <a:r>
              <a:rPr lang="en-US" altLang="zh-CN" sz="3200" i="1">
                <a:solidFill>
                  <a:schemeClr val="accent2"/>
                </a:solidFill>
                <a:ea typeface="方正琥珀繁体"/>
                <a:cs typeface="方正琥珀繁体"/>
              </a:rPr>
              <a:t> </a:t>
            </a:r>
            <a:r>
              <a:rPr lang="en-US" altLang="zh-CN" sz="3200">
                <a:solidFill>
                  <a:schemeClr val="accent2"/>
                </a:solidFill>
                <a:ea typeface="方正琥珀繁体"/>
                <a:cs typeface="方正琥珀繁体"/>
              </a:rPr>
              <a:t>= </a:t>
            </a:r>
            <a:r>
              <a:rPr lang="en-US" altLang="zh-CN" sz="3200" i="1">
                <a:solidFill>
                  <a:schemeClr val="accent2"/>
                </a:solidFill>
                <a:ea typeface="方正琥珀繁体"/>
                <a:cs typeface="方正琥珀繁体"/>
              </a:rPr>
              <a:t>R</a:t>
            </a:r>
            <a:r>
              <a:rPr lang="en-US" altLang="zh-CN" sz="3200" baseline="-25000">
                <a:solidFill>
                  <a:schemeClr val="accent2"/>
                </a:solidFill>
                <a:ea typeface="方正琥珀繁体"/>
                <a:cs typeface="方正琥珀繁体"/>
              </a:rPr>
              <a:t>o2</a:t>
            </a:r>
          </a:p>
        </p:txBody>
      </p:sp>
      <p:sp>
        <p:nvSpPr>
          <p:cNvPr id="12360" name="AutoShape 72"/>
          <p:cNvSpPr>
            <a:spLocks noChangeArrowheads="1"/>
          </p:cNvSpPr>
          <p:nvPr/>
        </p:nvSpPr>
        <p:spPr bwMode="auto">
          <a:xfrm>
            <a:off x="228600" y="4724400"/>
            <a:ext cx="533400" cy="533400"/>
          </a:xfrm>
          <a:prstGeom prst="star5">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ffectLst/>
        </p:spPr>
        <p:txBody>
          <a:bodyPr wrap="none" anchor="ctr"/>
          <a:lstStyle/>
          <a:p>
            <a:pPr algn="ctr" eaLnBrk="1" hangingPunct="1">
              <a:defRPr/>
            </a:pPr>
            <a:endParaRPr lang="zh-CN" altLang="en-US"/>
          </a:p>
        </p:txBody>
      </p:sp>
      <p:sp>
        <p:nvSpPr>
          <p:cNvPr id="12361" name="AutoShape 73"/>
          <p:cNvSpPr>
            <a:spLocks noChangeArrowheads="1"/>
          </p:cNvSpPr>
          <p:nvPr/>
        </p:nvSpPr>
        <p:spPr bwMode="auto">
          <a:xfrm>
            <a:off x="228600" y="3505200"/>
            <a:ext cx="533400" cy="533400"/>
          </a:xfrm>
          <a:prstGeom prst="star5">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ffectLst/>
        </p:spPr>
        <p:txBody>
          <a:bodyPr wrap="none" anchor="ctr"/>
          <a:lstStyle/>
          <a:p>
            <a:pPr algn="ctr" eaLnBrk="1" hangingPunct="1">
              <a:defRPr/>
            </a:pPr>
            <a:endParaRPr lang="zh-CN" altLang="en-US"/>
          </a:p>
        </p:txBody>
      </p:sp>
      <p:sp>
        <p:nvSpPr>
          <p:cNvPr id="12362" name="Text Box 74"/>
          <p:cNvSpPr txBox="1">
            <a:spLocks noChangeArrowheads="1"/>
          </p:cNvSpPr>
          <p:nvPr/>
        </p:nvSpPr>
        <p:spPr bwMode="auto">
          <a:xfrm>
            <a:off x="684213" y="4724400"/>
            <a:ext cx="8459787" cy="519113"/>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a:t>多级放大电路的输出电阻等于最后一级的输出电阻</a:t>
            </a:r>
          </a:p>
        </p:txBody>
      </p:sp>
      <p:sp>
        <p:nvSpPr>
          <p:cNvPr id="111675" name="Text Box 75"/>
          <p:cNvSpPr txBox="1">
            <a:spLocks noChangeArrowheads="1"/>
          </p:cNvSpPr>
          <p:nvPr/>
        </p:nvSpPr>
        <p:spPr bwMode="auto">
          <a:xfrm>
            <a:off x="8763000" y="5638800"/>
            <a:ext cx="381000" cy="519113"/>
          </a:xfrm>
          <a:prstGeom prst="rect">
            <a:avLst/>
          </a:prstGeom>
          <a:noFill/>
          <a:ln w="38100">
            <a:noFill/>
            <a:miter lim="800000"/>
            <a:headEnd/>
            <a:tailEnd type="none" w="sm" len="lg"/>
          </a:ln>
        </p:spPr>
        <p:txBody>
          <a:bodyPr>
            <a:spAutoFit/>
          </a:bodyPr>
          <a:lstStyle/>
          <a:p>
            <a:pPr algn="ctr" eaLnBrk="1" hangingPunct="1">
              <a:spcBef>
                <a:spcPct val="50000"/>
              </a:spcBef>
            </a:pPr>
            <a:endParaRPr lang="zh-CN" altLang="zh-CN"/>
          </a:p>
        </p:txBody>
      </p:sp>
      <p:sp>
        <p:nvSpPr>
          <p:cNvPr id="12365" name="Text Box 77"/>
          <p:cNvSpPr txBox="1">
            <a:spLocks noChangeArrowheads="1"/>
          </p:cNvSpPr>
          <p:nvPr/>
        </p:nvSpPr>
        <p:spPr bwMode="auto">
          <a:xfrm>
            <a:off x="107950" y="5300663"/>
            <a:ext cx="8893175" cy="1200150"/>
          </a:xfrm>
          <a:prstGeom prst="rect">
            <a:avLst/>
          </a:prstGeom>
          <a:solidFill>
            <a:srgbClr val="CBF5DC"/>
          </a:solidFill>
          <a:ln w="19050">
            <a:solidFill>
              <a:srgbClr val="FF0000"/>
            </a:solidFill>
            <a:miter lim="800000"/>
            <a:headEnd/>
            <a:tailEnd type="none" w="sm" len="lg"/>
          </a:ln>
        </p:spPr>
        <p:txBody>
          <a:bodyPr>
            <a:spAutoFit/>
          </a:bodyPr>
          <a:lstStyle/>
          <a:p>
            <a:pPr algn="ctr" eaLnBrk="1" hangingPunct="1">
              <a:spcBef>
                <a:spcPct val="50000"/>
              </a:spcBef>
            </a:pPr>
            <a:r>
              <a:rPr lang="zh-CN" altLang="en-US" b="1"/>
              <a:t>当</a:t>
            </a:r>
            <a:r>
              <a:rPr lang="zh-CN" altLang="en-US" b="1">
                <a:solidFill>
                  <a:srgbClr val="FF0000"/>
                </a:solidFill>
              </a:rPr>
              <a:t>共集放大电路</a:t>
            </a:r>
            <a:r>
              <a:rPr lang="zh-CN" altLang="en-US" b="1"/>
              <a:t>作第一级时，输入电阻</a:t>
            </a:r>
            <a:r>
              <a:rPr lang="en-US" altLang="zh-CN" b="1" i="1">
                <a:solidFill>
                  <a:schemeClr val="accent2"/>
                </a:solidFill>
              </a:rPr>
              <a:t>R</a:t>
            </a:r>
            <a:r>
              <a:rPr lang="en-US" altLang="zh-CN" sz="1600" b="1">
                <a:solidFill>
                  <a:schemeClr val="accent2"/>
                </a:solidFill>
              </a:rPr>
              <a:t>i</a:t>
            </a:r>
            <a:r>
              <a:rPr lang="zh-CN" altLang="en-US" b="1"/>
              <a:t>与其负载，即</a:t>
            </a:r>
            <a:r>
              <a:rPr lang="zh-CN" altLang="en-US" b="1">
                <a:solidFill>
                  <a:srgbClr val="0000FF"/>
                </a:solidFill>
              </a:rPr>
              <a:t>第二级的输入电阻</a:t>
            </a:r>
            <a:r>
              <a:rPr lang="en-US" altLang="zh-CN" b="1" i="1">
                <a:solidFill>
                  <a:srgbClr val="0000FF"/>
                </a:solidFill>
              </a:rPr>
              <a:t>R</a:t>
            </a:r>
            <a:r>
              <a:rPr lang="en-US" altLang="zh-CN" sz="1600" b="1">
                <a:solidFill>
                  <a:srgbClr val="0000FF"/>
                </a:solidFill>
              </a:rPr>
              <a:t>i2</a:t>
            </a:r>
            <a:r>
              <a:rPr lang="zh-CN" altLang="en-US" b="1">
                <a:solidFill>
                  <a:srgbClr val="0000FF"/>
                </a:solidFill>
              </a:rPr>
              <a:t>有关</a:t>
            </a:r>
            <a:r>
              <a:rPr lang="zh-CN" altLang="en-US" b="1"/>
              <a:t>；而当</a:t>
            </a:r>
            <a:r>
              <a:rPr lang="zh-CN" altLang="en-US" b="1">
                <a:solidFill>
                  <a:srgbClr val="FF0000"/>
                </a:solidFill>
              </a:rPr>
              <a:t>共集放大电路</a:t>
            </a:r>
            <a:r>
              <a:rPr lang="zh-CN" altLang="en-US" b="1"/>
              <a:t>作最后一级时，输出电阻</a:t>
            </a:r>
            <a:r>
              <a:rPr lang="en-US" altLang="zh-CN" b="1" i="1">
                <a:solidFill>
                  <a:schemeClr val="accent2"/>
                </a:solidFill>
              </a:rPr>
              <a:t>R</a:t>
            </a:r>
            <a:r>
              <a:rPr lang="en-US" altLang="zh-CN" sz="1800" b="1">
                <a:solidFill>
                  <a:schemeClr val="accent2"/>
                </a:solidFill>
              </a:rPr>
              <a:t>o</a:t>
            </a:r>
            <a:r>
              <a:rPr lang="zh-CN" altLang="en-US" b="1"/>
              <a:t>与其信号源内阻，即</a:t>
            </a:r>
            <a:r>
              <a:rPr lang="zh-CN" altLang="en-US" b="1">
                <a:solidFill>
                  <a:srgbClr val="0000FF"/>
                </a:solidFill>
              </a:rPr>
              <a:t>第一级的输出电阻</a:t>
            </a:r>
            <a:r>
              <a:rPr lang="en-US" altLang="zh-CN" b="1" i="1">
                <a:solidFill>
                  <a:srgbClr val="0000FF"/>
                </a:solidFill>
              </a:rPr>
              <a:t>R</a:t>
            </a:r>
            <a:r>
              <a:rPr lang="en-US" altLang="zh-CN" sz="1600" b="1">
                <a:solidFill>
                  <a:srgbClr val="0000FF"/>
                </a:solidFill>
              </a:rPr>
              <a:t>o1</a:t>
            </a:r>
            <a:r>
              <a:rPr lang="zh-CN" altLang="en-US" b="1">
                <a:solidFill>
                  <a:srgbClr val="0000FF"/>
                </a:solidFill>
              </a:rPr>
              <a:t>有关</a:t>
            </a:r>
            <a:r>
              <a:rPr lang="zh-CN" altLang="en-US" b="1"/>
              <a:t>。</a:t>
            </a:r>
            <a:r>
              <a:rPr lang="en-US" altLang="zh-CN" b="1"/>
              <a:t>(</a:t>
            </a:r>
            <a:r>
              <a:rPr lang="zh-CN" altLang="en-US" b="1"/>
              <a:t>二级</a:t>
            </a:r>
            <a:r>
              <a:rPr lang="en-US" altLang="zh-CN" b="1"/>
              <a:t>)</a:t>
            </a:r>
          </a:p>
        </p:txBody>
      </p:sp>
      <p:sp>
        <p:nvSpPr>
          <p:cNvPr id="12366" name="AutoShape 78"/>
          <p:cNvSpPr>
            <a:spLocks noChangeArrowheads="1"/>
          </p:cNvSpPr>
          <p:nvPr/>
        </p:nvSpPr>
        <p:spPr bwMode="auto">
          <a:xfrm>
            <a:off x="0" y="4868863"/>
            <a:ext cx="609600" cy="609600"/>
          </a:xfrm>
          <a:prstGeom prst="irregularSeal1">
            <a:avLst/>
          </a:prstGeom>
          <a:gradFill rotWithShape="0">
            <a:gsLst>
              <a:gs pos="0">
                <a:srgbClr val="FFFFFF"/>
              </a:gs>
              <a:gs pos="100000">
                <a:srgbClr val="6699FF"/>
              </a:gs>
            </a:gsLst>
            <a:path path="shape">
              <a:fillToRect l="50000" t="50000" r="50000" b="50000"/>
            </a:path>
          </a:gradFill>
          <a:ln w="28575">
            <a:noFill/>
            <a:miter lim="800000"/>
            <a:headEnd/>
            <a:tailEnd type="none" w="sm" len="lg"/>
          </a:ln>
        </p:spPr>
        <p:txBody>
          <a:bodyPr wrap="none" anchor="ctr"/>
          <a:lstStyle/>
          <a:p>
            <a:pPr algn="ctr" eaLnBrk="1" hangingPunct="1"/>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55"/>
                                        </p:tgtEl>
                                        <p:attrNameLst>
                                          <p:attrName>style.visibility</p:attrName>
                                        </p:attrNameLst>
                                      </p:cBhvr>
                                      <p:to>
                                        <p:strVal val="visible"/>
                                      </p:to>
                                    </p:set>
                                    <p:animEffect transition="in" filter="wipe(left)">
                                      <p:cBhvr>
                                        <p:cTn id="7" dur="3000"/>
                                        <p:tgtEl>
                                          <p:spTgt spid="12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356"/>
                                        </p:tgtEl>
                                        <p:attrNameLst>
                                          <p:attrName>style.visibility</p:attrName>
                                        </p:attrNameLst>
                                      </p:cBhvr>
                                      <p:to>
                                        <p:strVal val="visible"/>
                                      </p:to>
                                    </p:set>
                                    <p:anim calcmode="lin" valueType="num">
                                      <p:cBhvr additive="base">
                                        <p:cTn id="12" dur="3000" fill="hold"/>
                                        <p:tgtEl>
                                          <p:spTgt spid="12356"/>
                                        </p:tgtEl>
                                        <p:attrNameLst>
                                          <p:attrName>ppt_x</p:attrName>
                                        </p:attrNameLst>
                                      </p:cBhvr>
                                      <p:tavLst>
                                        <p:tav tm="0">
                                          <p:val>
                                            <p:strVal val="#ppt_x"/>
                                          </p:val>
                                        </p:tav>
                                        <p:tav tm="100000">
                                          <p:val>
                                            <p:strVal val="#ppt_x"/>
                                          </p:val>
                                        </p:tav>
                                      </p:tavLst>
                                    </p:anim>
                                    <p:anim calcmode="lin" valueType="num">
                                      <p:cBhvr additive="base">
                                        <p:cTn id="13" dur="3000" fill="hold"/>
                                        <p:tgtEl>
                                          <p:spTgt spid="1235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2361"/>
                                        </p:tgtEl>
                                        <p:attrNameLst>
                                          <p:attrName>style.visibility</p:attrName>
                                        </p:attrNameLst>
                                      </p:cBhvr>
                                      <p:to>
                                        <p:strVal val="visible"/>
                                      </p:to>
                                    </p:set>
                                    <p:anim calcmode="lin" valueType="num">
                                      <p:cBhvr additive="base">
                                        <p:cTn id="18" dur="3000" fill="hold"/>
                                        <p:tgtEl>
                                          <p:spTgt spid="12361"/>
                                        </p:tgtEl>
                                        <p:attrNameLst>
                                          <p:attrName>ppt_x</p:attrName>
                                        </p:attrNameLst>
                                      </p:cBhvr>
                                      <p:tavLst>
                                        <p:tav tm="0">
                                          <p:val>
                                            <p:strVal val="#ppt_x"/>
                                          </p:val>
                                        </p:tav>
                                        <p:tav tm="100000">
                                          <p:val>
                                            <p:strVal val="#ppt_x"/>
                                          </p:val>
                                        </p:tav>
                                      </p:tavLst>
                                    </p:anim>
                                    <p:anim calcmode="lin" valueType="num">
                                      <p:cBhvr additive="base">
                                        <p:cTn id="19" dur="3000" fill="hold"/>
                                        <p:tgtEl>
                                          <p:spTgt spid="12361"/>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357"/>
                                        </p:tgtEl>
                                        <p:attrNameLst>
                                          <p:attrName>style.visibility</p:attrName>
                                        </p:attrNameLst>
                                      </p:cBhvr>
                                      <p:to>
                                        <p:strVal val="visible"/>
                                      </p:to>
                                    </p:set>
                                    <p:anim calcmode="lin" valueType="num">
                                      <p:cBhvr additive="base">
                                        <p:cTn id="24" dur="3000" fill="hold"/>
                                        <p:tgtEl>
                                          <p:spTgt spid="12357"/>
                                        </p:tgtEl>
                                        <p:attrNameLst>
                                          <p:attrName>ppt_x</p:attrName>
                                        </p:attrNameLst>
                                      </p:cBhvr>
                                      <p:tavLst>
                                        <p:tav tm="0">
                                          <p:val>
                                            <p:strVal val="#ppt_x"/>
                                          </p:val>
                                        </p:tav>
                                        <p:tav tm="100000">
                                          <p:val>
                                            <p:strVal val="#ppt_x"/>
                                          </p:val>
                                        </p:tav>
                                      </p:tavLst>
                                    </p:anim>
                                    <p:anim calcmode="lin" valueType="num">
                                      <p:cBhvr additive="base">
                                        <p:cTn id="25" dur="3000" fill="hold"/>
                                        <p:tgtEl>
                                          <p:spTgt spid="12357"/>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358"/>
                                        </p:tgtEl>
                                        <p:attrNameLst>
                                          <p:attrName>style.visibility</p:attrName>
                                        </p:attrNameLst>
                                      </p:cBhvr>
                                      <p:to>
                                        <p:strVal val="visible"/>
                                      </p:to>
                                    </p:set>
                                    <p:animEffect transition="in" filter="wipe(left)">
                                      <p:cBhvr>
                                        <p:cTn id="30" dur="3000"/>
                                        <p:tgtEl>
                                          <p:spTgt spid="1235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359"/>
                                        </p:tgtEl>
                                        <p:attrNameLst>
                                          <p:attrName>style.visibility</p:attrName>
                                        </p:attrNameLst>
                                      </p:cBhvr>
                                      <p:to>
                                        <p:strVal val="visible"/>
                                      </p:to>
                                    </p:set>
                                    <p:anim calcmode="lin" valueType="num">
                                      <p:cBhvr additive="base">
                                        <p:cTn id="35" dur="3000" fill="hold"/>
                                        <p:tgtEl>
                                          <p:spTgt spid="12359"/>
                                        </p:tgtEl>
                                        <p:attrNameLst>
                                          <p:attrName>ppt_x</p:attrName>
                                        </p:attrNameLst>
                                      </p:cBhvr>
                                      <p:tavLst>
                                        <p:tav tm="0">
                                          <p:val>
                                            <p:strVal val="#ppt_x"/>
                                          </p:val>
                                        </p:tav>
                                        <p:tav tm="100000">
                                          <p:val>
                                            <p:strVal val="#ppt_x"/>
                                          </p:val>
                                        </p:tav>
                                      </p:tavLst>
                                    </p:anim>
                                    <p:anim calcmode="lin" valueType="num">
                                      <p:cBhvr additive="base">
                                        <p:cTn id="36" dur="3000" fill="hold"/>
                                        <p:tgtEl>
                                          <p:spTgt spid="12359"/>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12360"/>
                                        </p:tgtEl>
                                        <p:attrNameLst>
                                          <p:attrName>style.visibility</p:attrName>
                                        </p:attrNameLst>
                                      </p:cBhvr>
                                      <p:to>
                                        <p:strVal val="visible"/>
                                      </p:to>
                                    </p:set>
                                    <p:anim calcmode="lin" valueType="num">
                                      <p:cBhvr additive="base">
                                        <p:cTn id="41" dur="3000" fill="hold"/>
                                        <p:tgtEl>
                                          <p:spTgt spid="12360"/>
                                        </p:tgtEl>
                                        <p:attrNameLst>
                                          <p:attrName>ppt_x</p:attrName>
                                        </p:attrNameLst>
                                      </p:cBhvr>
                                      <p:tavLst>
                                        <p:tav tm="0">
                                          <p:val>
                                            <p:strVal val="#ppt_x"/>
                                          </p:val>
                                        </p:tav>
                                        <p:tav tm="100000">
                                          <p:val>
                                            <p:strVal val="#ppt_x"/>
                                          </p:val>
                                        </p:tav>
                                      </p:tavLst>
                                    </p:anim>
                                    <p:anim calcmode="lin" valueType="num">
                                      <p:cBhvr additive="base">
                                        <p:cTn id="42" dur="3000" fill="hold"/>
                                        <p:tgtEl>
                                          <p:spTgt spid="12360"/>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362"/>
                                        </p:tgtEl>
                                        <p:attrNameLst>
                                          <p:attrName>style.visibility</p:attrName>
                                        </p:attrNameLst>
                                      </p:cBhvr>
                                      <p:to>
                                        <p:strVal val="visible"/>
                                      </p:to>
                                    </p:set>
                                    <p:anim calcmode="lin" valueType="num">
                                      <p:cBhvr additive="base">
                                        <p:cTn id="47" dur="3000" fill="hold"/>
                                        <p:tgtEl>
                                          <p:spTgt spid="12362"/>
                                        </p:tgtEl>
                                        <p:attrNameLst>
                                          <p:attrName>ppt_x</p:attrName>
                                        </p:attrNameLst>
                                      </p:cBhvr>
                                      <p:tavLst>
                                        <p:tav tm="0">
                                          <p:val>
                                            <p:strVal val="#ppt_x"/>
                                          </p:val>
                                        </p:tav>
                                        <p:tav tm="100000">
                                          <p:val>
                                            <p:strVal val="#ppt_x"/>
                                          </p:val>
                                        </p:tav>
                                      </p:tavLst>
                                    </p:anim>
                                    <p:anim calcmode="lin" valueType="num">
                                      <p:cBhvr additive="base">
                                        <p:cTn id="48" dur="3000" fill="hold"/>
                                        <p:tgtEl>
                                          <p:spTgt spid="12362"/>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2366"/>
                                        </p:tgtEl>
                                        <p:attrNameLst>
                                          <p:attrName>style.visibility</p:attrName>
                                        </p:attrNameLst>
                                      </p:cBhvr>
                                      <p:to>
                                        <p:strVal val="visible"/>
                                      </p:to>
                                    </p:set>
                                    <p:anim calcmode="lin" valueType="num">
                                      <p:cBhvr additive="base">
                                        <p:cTn id="53" dur="3000" fill="hold"/>
                                        <p:tgtEl>
                                          <p:spTgt spid="12366"/>
                                        </p:tgtEl>
                                        <p:attrNameLst>
                                          <p:attrName>ppt_x</p:attrName>
                                        </p:attrNameLst>
                                      </p:cBhvr>
                                      <p:tavLst>
                                        <p:tav tm="0">
                                          <p:val>
                                            <p:strVal val="#ppt_x"/>
                                          </p:val>
                                        </p:tav>
                                        <p:tav tm="100000">
                                          <p:val>
                                            <p:strVal val="#ppt_x"/>
                                          </p:val>
                                        </p:tav>
                                      </p:tavLst>
                                    </p:anim>
                                    <p:anim calcmode="lin" valueType="num">
                                      <p:cBhvr additive="base">
                                        <p:cTn id="54" dur="3000" fill="hold"/>
                                        <p:tgtEl>
                                          <p:spTgt spid="12366"/>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2365"/>
                                        </p:tgtEl>
                                        <p:attrNameLst>
                                          <p:attrName>style.visibility</p:attrName>
                                        </p:attrNameLst>
                                      </p:cBhvr>
                                      <p:to>
                                        <p:strVal val="visible"/>
                                      </p:to>
                                    </p:set>
                                    <p:anim calcmode="lin" valueType="num">
                                      <p:cBhvr additive="base">
                                        <p:cTn id="59" dur="3000" fill="hold"/>
                                        <p:tgtEl>
                                          <p:spTgt spid="12365"/>
                                        </p:tgtEl>
                                        <p:attrNameLst>
                                          <p:attrName>ppt_x</p:attrName>
                                        </p:attrNameLst>
                                      </p:cBhvr>
                                      <p:tavLst>
                                        <p:tav tm="0">
                                          <p:val>
                                            <p:strVal val="#ppt_x"/>
                                          </p:val>
                                        </p:tav>
                                        <p:tav tm="100000">
                                          <p:val>
                                            <p:strVal val="#ppt_x"/>
                                          </p:val>
                                        </p:tav>
                                      </p:tavLst>
                                    </p:anim>
                                    <p:anim calcmode="lin" valueType="num">
                                      <p:cBhvr additive="base">
                                        <p:cTn id="60" dur="3000" fill="hold"/>
                                        <p:tgtEl>
                                          <p:spTgt spid="12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55" grpId="0" autoUpdateAnimBg="0"/>
      <p:bldP spid="12356" grpId="0"/>
      <p:bldP spid="12357" grpId="0"/>
      <p:bldP spid="12358" grpId="0" autoUpdateAnimBg="0"/>
      <p:bldP spid="12359" grpId="0"/>
      <p:bldP spid="12362" grpId="0"/>
      <p:bldP spid="12365" grpId="0" animBg="1"/>
      <p:bldP spid="1236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bwMode="auto">
          <a:xfrm>
            <a:off x="0" y="238125"/>
            <a:ext cx="7073900" cy="425450"/>
          </a:xfrm>
          <a:noFill/>
          <a:ln>
            <a:miter lim="800000"/>
            <a:headEnd/>
            <a:tailEnd/>
          </a:ln>
        </p:spPr>
        <p:txBody>
          <a:bodyPr vert="horz" wrap="square" lIns="91440" tIns="45720" rIns="91440" bIns="45720" numCol="1" anchor="t" anchorCtr="0" compatLnSpc="1">
            <a:prstTxWarp prst="textNoShape">
              <a:avLst/>
            </a:prstTxWarp>
          </a:bodyPr>
          <a:lstStyle/>
          <a:p>
            <a:pPr algn="l"/>
            <a:r>
              <a:rPr lang="en-US" altLang="zh-CN" sz="3200" b="1">
                <a:ea typeface="华文行楷" pitchFamily="2" charset="-122"/>
              </a:rPr>
              <a:t>      </a:t>
            </a:r>
            <a:r>
              <a:rPr lang="zh-CN" altLang="en-US" sz="3200" b="1">
                <a:ea typeface="华文行楷" pitchFamily="2" charset="-122"/>
              </a:rPr>
              <a:t>动态参数分析</a:t>
            </a:r>
          </a:p>
        </p:txBody>
      </p:sp>
      <p:pic>
        <p:nvPicPr>
          <p:cNvPr id="10246" name="Picture 3" descr="Dz030201"/>
          <p:cNvPicPr>
            <a:picLocks noChangeAspect="1" noChangeArrowheads="1"/>
          </p:cNvPicPr>
          <p:nvPr/>
        </p:nvPicPr>
        <p:blipFill>
          <a:blip r:embed="rId3">
            <a:clrChange>
              <a:clrFrom>
                <a:srgbClr val="FFFFFF"/>
              </a:clrFrom>
              <a:clrTo>
                <a:srgbClr val="FFFFFF">
                  <a:alpha val="0"/>
                </a:srgbClr>
              </a:clrTo>
            </a:clrChange>
          </a:blip>
          <a:srcRect t="-8511" b="-10638"/>
          <a:stretch>
            <a:fillRect/>
          </a:stretch>
        </p:blipFill>
        <p:spPr bwMode="auto">
          <a:xfrm>
            <a:off x="1295400" y="1450975"/>
            <a:ext cx="6400800" cy="1066800"/>
          </a:xfrm>
          <a:prstGeom prst="rect">
            <a:avLst/>
          </a:prstGeom>
          <a:solidFill>
            <a:srgbClr val="FFFFFF"/>
          </a:solidFill>
          <a:ln w="9525">
            <a:noFill/>
            <a:miter lim="800000"/>
            <a:headEnd/>
            <a:tailEnd/>
          </a:ln>
        </p:spPr>
      </p:pic>
      <p:sp>
        <p:nvSpPr>
          <p:cNvPr id="10247" name="Text Box 4"/>
          <p:cNvSpPr txBox="1">
            <a:spLocks noChangeArrowheads="1"/>
          </p:cNvSpPr>
          <p:nvPr/>
        </p:nvSpPr>
        <p:spPr bwMode="auto">
          <a:xfrm>
            <a:off x="684213" y="890588"/>
            <a:ext cx="4419600" cy="519112"/>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1.</a:t>
            </a:r>
            <a:r>
              <a:rPr lang="zh-CN" altLang="en-US" sz="2800" b="1">
                <a:latin typeface="华文行楷" pitchFamily="2" charset="-122"/>
                <a:ea typeface="华文行楷" pitchFamily="2" charset="-122"/>
              </a:rPr>
              <a:t>电压放大倍数</a:t>
            </a:r>
          </a:p>
        </p:txBody>
      </p:sp>
      <p:graphicFrame>
        <p:nvGraphicFramePr>
          <p:cNvPr id="28677" name="Object 2"/>
          <p:cNvGraphicFramePr>
            <a:graphicFrameLocks noChangeAspect="1"/>
          </p:cNvGraphicFramePr>
          <p:nvPr/>
        </p:nvGraphicFramePr>
        <p:xfrm>
          <a:off x="1247775" y="2514600"/>
          <a:ext cx="4470400" cy="898525"/>
        </p:xfrm>
        <a:graphic>
          <a:graphicData uri="http://schemas.openxmlformats.org/presentationml/2006/ole">
            <mc:AlternateContent xmlns:mc="http://schemas.openxmlformats.org/markup-compatibility/2006">
              <mc:Choice xmlns:v="urn:schemas-microsoft-com:vml" Requires="v">
                <p:oleObj spid="_x0000_s7176" name="Equation" r:id="rId4" imgW="56083200" imgH="11277600" progId="Equation.3">
                  <p:embed/>
                </p:oleObj>
              </mc:Choice>
              <mc:Fallback>
                <p:oleObj name="Equation" r:id="rId4" imgW="56083200" imgH="11277600" progId="Equation.3">
                  <p:embed/>
                  <p:pic>
                    <p:nvPicPr>
                      <p:cNvPr id="2867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7775" y="2514600"/>
                        <a:ext cx="4470400" cy="898525"/>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28678" name="Text Box 6"/>
          <p:cNvSpPr txBox="1">
            <a:spLocks noChangeArrowheads="1"/>
          </p:cNvSpPr>
          <p:nvPr/>
        </p:nvSpPr>
        <p:spPr bwMode="auto">
          <a:xfrm>
            <a:off x="685800" y="3660775"/>
            <a:ext cx="2743200"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2. </a:t>
            </a:r>
            <a:r>
              <a:rPr lang="zh-CN" altLang="en-US" sz="2800" b="1">
                <a:latin typeface="华文行楷" pitchFamily="2" charset="-122"/>
                <a:ea typeface="华文行楷" pitchFamily="2" charset="-122"/>
              </a:rPr>
              <a:t>输入电阻</a:t>
            </a:r>
          </a:p>
        </p:txBody>
      </p:sp>
      <p:graphicFrame>
        <p:nvGraphicFramePr>
          <p:cNvPr id="28679" name="Object 3"/>
          <p:cNvGraphicFramePr>
            <a:graphicFrameLocks noChangeAspect="1"/>
          </p:cNvGraphicFramePr>
          <p:nvPr/>
        </p:nvGraphicFramePr>
        <p:xfrm>
          <a:off x="3048000" y="3660775"/>
          <a:ext cx="1066800" cy="463550"/>
        </p:xfrm>
        <a:graphic>
          <a:graphicData uri="http://schemas.openxmlformats.org/presentationml/2006/ole">
            <mc:AlternateContent xmlns:mc="http://schemas.openxmlformats.org/markup-compatibility/2006">
              <mc:Choice xmlns:v="urn:schemas-microsoft-com:vml" Requires="v">
                <p:oleObj spid="_x0000_s7177" name="公式" r:id="rId6" imgW="11887200" imgH="5181600" progId="Equation.3">
                  <p:embed/>
                </p:oleObj>
              </mc:Choice>
              <mc:Fallback>
                <p:oleObj name="公式" r:id="rId6" imgW="11887200" imgH="5181600" progId="Equation.3">
                  <p:embed/>
                  <p:pic>
                    <p:nvPicPr>
                      <p:cNvPr id="28679"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3660775"/>
                        <a:ext cx="1066800" cy="4635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28680" name="Text Box 8"/>
          <p:cNvSpPr txBox="1">
            <a:spLocks noChangeArrowheads="1"/>
          </p:cNvSpPr>
          <p:nvPr/>
        </p:nvSpPr>
        <p:spPr bwMode="auto">
          <a:xfrm>
            <a:off x="685800" y="4194175"/>
            <a:ext cx="2667000"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3. </a:t>
            </a:r>
            <a:r>
              <a:rPr lang="zh-CN" altLang="zh-CN" sz="2800" b="1">
                <a:latin typeface="华文行楷" pitchFamily="2" charset="-122"/>
                <a:ea typeface="华文行楷" pitchFamily="2" charset="-122"/>
              </a:rPr>
              <a:t>输出电阻</a:t>
            </a:r>
            <a:endParaRPr lang="zh-CN" altLang="en-US" sz="2800" b="1">
              <a:latin typeface="华文行楷" pitchFamily="2" charset="-122"/>
              <a:ea typeface="华文行楷" pitchFamily="2" charset="-122"/>
            </a:endParaRPr>
          </a:p>
        </p:txBody>
      </p:sp>
      <p:graphicFrame>
        <p:nvGraphicFramePr>
          <p:cNvPr id="28681" name="Object 4"/>
          <p:cNvGraphicFramePr>
            <a:graphicFrameLocks noChangeAspect="1"/>
          </p:cNvGraphicFramePr>
          <p:nvPr/>
        </p:nvGraphicFramePr>
        <p:xfrm>
          <a:off x="3074988" y="4270375"/>
          <a:ext cx="1165225" cy="487363"/>
        </p:xfrm>
        <a:graphic>
          <a:graphicData uri="http://schemas.openxmlformats.org/presentationml/2006/ole">
            <mc:AlternateContent xmlns:mc="http://schemas.openxmlformats.org/markup-compatibility/2006">
              <mc:Choice xmlns:v="urn:schemas-microsoft-com:vml" Requires="v">
                <p:oleObj spid="_x0000_s7178" name="Equation" r:id="rId8" imgW="13106400" imgH="5486400" progId="Equation.3">
                  <p:embed/>
                </p:oleObj>
              </mc:Choice>
              <mc:Fallback>
                <p:oleObj name="Equation" r:id="rId8" imgW="13106400" imgH="5486400" progId="Equation.3">
                  <p:embed/>
                  <p:pic>
                    <p:nvPicPr>
                      <p:cNvPr id="28681"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4988" y="4270375"/>
                        <a:ext cx="1165225" cy="487363"/>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11" name="线形标注 1 10"/>
          <p:cNvSpPr/>
          <p:nvPr/>
        </p:nvSpPr>
        <p:spPr>
          <a:xfrm>
            <a:off x="4748213" y="73025"/>
            <a:ext cx="1939925" cy="1308100"/>
          </a:xfrm>
          <a:prstGeom prst="borderCallout1">
            <a:avLst/>
          </a:prstGeom>
          <a:solidFill>
            <a:srgbClr val="AAEFF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solidFill>
                  <a:schemeClr val="tx1"/>
                </a:solidFill>
              </a:rPr>
              <a:t>均是带载情况算出的放大倍数</a:t>
            </a:r>
          </a:p>
        </p:txBody>
      </p:sp>
      <p:sp>
        <p:nvSpPr>
          <p:cNvPr id="12" name="线形标注 1 11"/>
          <p:cNvSpPr/>
          <p:nvPr/>
        </p:nvSpPr>
        <p:spPr>
          <a:xfrm>
            <a:off x="6332538" y="2706688"/>
            <a:ext cx="2676525" cy="1308100"/>
          </a:xfrm>
          <a:prstGeom prst="borderCallout1">
            <a:avLst>
              <a:gd name="adj1" fmla="val 18750"/>
              <a:gd name="adj2" fmla="val -8333"/>
              <a:gd name="adj3" fmla="val 89609"/>
              <a:gd name="adj4" fmla="val -86677"/>
            </a:avLst>
          </a:prstGeom>
          <a:solidFill>
            <a:srgbClr val="AAEFF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b="1" dirty="0">
                <a:solidFill>
                  <a:schemeClr val="tx1"/>
                </a:solidFill>
                <a:latin typeface="黑体" panose="02010609060101010101" pitchFamily="49" charset="-122"/>
                <a:ea typeface="黑体" panose="02010609060101010101" pitchFamily="49" charset="-122"/>
              </a:rPr>
              <a:t>输入电阻</a:t>
            </a:r>
            <a:r>
              <a:rPr lang="zh-CN" altLang="en-US" b="1" dirty="0">
                <a:solidFill>
                  <a:srgbClr val="0000FF"/>
                </a:solidFill>
                <a:latin typeface="黑体" panose="02010609060101010101" pitchFamily="49" charset="-122"/>
                <a:ea typeface="黑体" panose="02010609060101010101" pitchFamily="49" charset="-122"/>
              </a:rPr>
              <a:t>可能</a:t>
            </a:r>
            <a:r>
              <a:rPr lang="zh-CN" altLang="en-US" b="1" dirty="0">
                <a:solidFill>
                  <a:schemeClr val="tx1"/>
                </a:solidFill>
                <a:latin typeface="黑体" panose="02010609060101010101" pitchFamily="49" charset="-122"/>
                <a:ea typeface="黑体" panose="02010609060101010101" pitchFamily="49" charset="-122"/>
              </a:rPr>
              <a:t>与</a:t>
            </a:r>
            <a:r>
              <a:rPr lang="zh-CN" altLang="en-US" b="1" dirty="0">
                <a:solidFill>
                  <a:srgbClr val="FF0000"/>
                </a:solidFill>
                <a:latin typeface="黑体" panose="02010609060101010101" pitchFamily="49" charset="-122"/>
                <a:ea typeface="黑体" panose="02010609060101010101" pitchFamily="49" charset="-122"/>
              </a:rPr>
              <a:t>第二级输入电阻</a:t>
            </a:r>
            <a:r>
              <a:rPr lang="zh-CN" altLang="en-US" b="1" dirty="0">
                <a:solidFill>
                  <a:schemeClr val="tx1"/>
                </a:solidFill>
                <a:latin typeface="黑体" panose="02010609060101010101" pitchFamily="49" charset="-122"/>
                <a:ea typeface="黑体" panose="02010609060101010101" pitchFamily="49" charset="-122"/>
              </a:rPr>
              <a:t>有关</a:t>
            </a:r>
          </a:p>
        </p:txBody>
      </p:sp>
      <p:sp>
        <p:nvSpPr>
          <p:cNvPr id="13" name="线形标注 1 12"/>
          <p:cNvSpPr/>
          <p:nvPr/>
        </p:nvSpPr>
        <p:spPr>
          <a:xfrm>
            <a:off x="6348413" y="4125913"/>
            <a:ext cx="2351087" cy="1308100"/>
          </a:xfrm>
          <a:prstGeom prst="borderCallout1">
            <a:avLst>
              <a:gd name="adj1" fmla="val 18750"/>
              <a:gd name="adj2" fmla="val -8333"/>
              <a:gd name="adj3" fmla="val 26958"/>
              <a:gd name="adj4" fmla="val -105000"/>
            </a:avLst>
          </a:prstGeom>
          <a:solidFill>
            <a:srgbClr val="AAEFF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b="1" dirty="0">
                <a:solidFill>
                  <a:schemeClr val="tx1"/>
                </a:solidFill>
                <a:latin typeface="黑体" panose="02010609060101010101" pitchFamily="49" charset="-122"/>
                <a:ea typeface="黑体" panose="02010609060101010101" pitchFamily="49" charset="-122"/>
              </a:rPr>
              <a:t>输出电阻</a:t>
            </a:r>
            <a:r>
              <a:rPr lang="zh-CN" altLang="en-US" b="1" dirty="0">
                <a:solidFill>
                  <a:srgbClr val="0000FF"/>
                </a:solidFill>
                <a:latin typeface="黑体" panose="02010609060101010101" pitchFamily="49" charset="-122"/>
                <a:ea typeface="黑体" panose="02010609060101010101" pitchFamily="49" charset="-122"/>
              </a:rPr>
              <a:t>可能</a:t>
            </a:r>
            <a:r>
              <a:rPr lang="zh-CN" altLang="en-US" b="1" dirty="0">
                <a:solidFill>
                  <a:schemeClr val="tx1"/>
                </a:solidFill>
                <a:latin typeface="黑体" panose="02010609060101010101" pitchFamily="49" charset="-122"/>
                <a:ea typeface="黑体" panose="02010609060101010101" pitchFamily="49" charset="-122"/>
              </a:rPr>
              <a:t>与</a:t>
            </a:r>
            <a:r>
              <a:rPr lang="zh-CN" altLang="en-US" b="1" dirty="0">
                <a:solidFill>
                  <a:srgbClr val="FF0000"/>
                </a:solidFill>
                <a:latin typeface="黑体" panose="02010609060101010101" pitchFamily="49" charset="-122"/>
                <a:ea typeface="黑体" panose="02010609060101010101" pitchFamily="49" charset="-122"/>
              </a:rPr>
              <a:t>倒数第二级的输出电阻</a:t>
            </a:r>
            <a:r>
              <a:rPr lang="zh-CN" altLang="en-US" b="1" dirty="0">
                <a:solidFill>
                  <a:schemeClr val="tx1"/>
                </a:solidFill>
                <a:latin typeface="黑体" panose="02010609060101010101" pitchFamily="49" charset="-122"/>
                <a:ea typeface="黑体" panose="02010609060101010101" pitchFamily="49" charset="-122"/>
              </a:rPr>
              <a:t>有关</a:t>
            </a:r>
          </a:p>
        </p:txBody>
      </p:sp>
      <p:sp>
        <p:nvSpPr>
          <p:cNvPr id="2" name="文本框 1"/>
          <p:cNvSpPr txBox="1">
            <a:spLocks noChangeArrowheads="1"/>
          </p:cNvSpPr>
          <p:nvPr/>
        </p:nvSpPr>
        <p:spPr bwMode="auto">
          <a:xfrm>
            <a:off x="6688138" y="201613"/>
            <a:ext cx="2206625" cy="923925"/>
          </a:xfrm>
          <a:prstGeom prst="rect">
            <a:avLst/>
          </a:prstGeom>
          <a:solidFill>
            <a:srgbClr val="FFCC00"/>
          </a:solidFill>
          <a:ln w="9525">
            <a:noFill/>
            <a:miter lim="800000"/>
            <a:headEnd/>
            <a:tailEnd/>
          </a:ln>
        </p:spPr>
        <p:txBody>
          <a:bodyPr>
            <a:spAutoFit/>
          </a:bodyPr>
          <a:lstStyle/>
          <a:p>
            <a:r>
              <a:rPr lang="zh-CN" altLang="en-US" sz="1800" b="1">
                <a:solidFill>
                  <a:srgbClr val="0000FF"/>
                </a:solidFill>
              </a:rPr>
              <a:t>例如</a:t>
            </a:r>
            <a:r>
              <a:rPr lang="zh-CN" altLang="en-US" sz="1800" b="1"/>
              <a:t>：第一级的放大倍数与第二级的</a:t>
            </a:r>
            <a:r>
              <a:rPr lang="zh-CN" altLang="en-US" sz="1800" b="1">
                <a:solidFill>
                  <a:srgbClr val="0000FF"/>
                </a:solidFill>
              </a:rPr>
              <a:t>输入电阻</a:t>
            </a:r>
            <a:r>
              <a:rPr lang="zh-CN" altLang="en-US" sz="1800" b="1"/>
              <a:t>相关</a:t>
            </a:r>
          </a:p>
        </p:txBody>
      </p:sp>
      <p:sp>
        <p:nvSpPr>
          <p:cNvPr id="10254" name="文本框 2"/>
          <p:cNvSpPr txBox="1">
            <a:spLocks noChangeArrowheads="1"/>
          </p:cNvSpPr>
          <p:nvPr/>
        </p:nvSpPr>
        <p:spPr bwMode="auto">
          <a:xfrm>
            <a:off x="657225" y="5141913"/>
            <a:ext cx="4927600" cy="1015663"/>
          </a:xfrm>
          <a:prstGeom prst="rect">
            <a:avLst/>
          </a:prstGeom>
          <a:solidFill>
            <a:srgbClr val="FFCC00"/>
          </a:solidFill>
          <a:ln w="9525">
            <a:noFill/>
            <a:miter lim="800000"/>
            <a:headEnd/>
            <a:tailEnd/>
          </a:ln>
        </p:spPr>
        <p:txBody>
          <a:bodyPr>
            <a:spAutoFit/>
          </a:bodyPr>
          <a:lstStyle/>
          <a:p>
            <a:r>
              <a:rPr lang="zh-CN" altLang="en-US" sz="2000" b="1" dirty="0"/>
              <a:t>多级放大电路有一级是</a:t>
            </a:r>
            <a:r>
              <a:rPr lang="zh-CN" altLang="en-US" sz="2000" b="1" dirty="0">
                <a:solidFill>
                  <a:srgbClr val="0000FF"/>
                </a:solidFill>
                <a:latin typeface="黑体" panose="02010609060101010101" pitchFamily="49" charset="-122"/>
                <a:ea typeface="黑体" panose="02010609060101010101" pitchFamily="49" charset="-122"/>
              </a:rPr>
              <a:t>共集或共漏</a:t>
            </a:r>
            <a:r>
              <a:rPr lang="zh-CN" altLang="en-US" sz="2000" b="1" dirty="0"/>
              <a:t>接法，分析电路就需要求出与它前后相连的两级放大器的输入输出电阻</a:t>
            </a:r>
          </a:p>
        </p:txBody>
      </p:sp>
    </p:spTree>
    <p:extLst>
      <p:ext uri="{BB962C8B-B14F-4D97-AF65-F5344CB8AC3E}">
        <p14:creationId xmlns:p14="http://schemas.microsoft.com/office/powerpoint/2010/main" val="3084981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left)">
                                      <p:cBhvr>
                                        <p:cTn id="7" dur="500"/>
                                        <p:tgtEl>
                                          <p:spTgt spid="286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8678">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8679"/>
                                        </p:tgtEl>
                                        <p:attrNameLst>
                                          <p:attrName>style.visibility</p:attrName>
                                        </p:attrNameLst>
                                      </p:cBhvr>
                                      <p:to>
                                        <p:strVal val="visible"/>
                                      </p:to>
                                    </p:set>
                                    <p:animEffect transition="in" filter="wipe(left)">
                                      <p:cBhvr>
                                        <p:cTn id="25" dur="500"/>
                                        <p:tgtEl>
                                          <p:spTgt spid="2867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8680">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8681"/>
                                        </p:tgtEl>
                                        <p:attrNameLst>
                                          <p:attrName>style.visibility</p:attrName>
                                        </p:attrNameLst>
                                      </p:cBhvr>
                                      <p:to>
                                        <p:strVal val="visible"/>
                                      </p:to>
                                    </p:set>
                                    <p:animEffect transition="in" filter="wipe(left)">
                                      <p:cBhvr>
                                        <p:cTn id="39" dur="500"/>
                                        <p:tgtEl>
                                          <p:spTgt spid="2868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linds(horizontal)">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build="p" autoUpdateAnimBg="0"/>
      <p:bldP spid="28680" grpId="0" build="p" autoUpdateAnimBg="0"/>
      <p:bldP spid="11" grpId="0" animBg="1"/>
      <p:bldP spid="12" grpId="0" animBg="1"/>
      <p:bldP spid="13" grpId="0" animBg="1"/>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Text Box 4"/>
          <p:cNvSpPr txBox="1">
            <a:spLocks noChangeArrowheads="1"/>
          </p:cNvSpPr>
          <p:nvPr/>
        </p:nvSpPr>
        <p:spPr bwMode="auto">
          <a:xfrm>
            <a:off x="0" y="466406"/>
            <a:ext cx="8816077" cy="523220"/>
          </a:xfrm>
          <a:prstGeom prst="rect">
            <a:avLst/>
          </a:prstGeom>
          <a:noFill/>
          <a:ln w="9525">
            <a:noFill/>
            <a:miter lim="800000"/>
            <a:headEnd/>
            <a:tailEnd/>
          </a:ln>
        </p:spPr>
        <p:txBody>
          <a:bodyPr wrap="square">
            <a:spAutoFit/>
          </a:bodyPr>
          <a:lstStyle/>
          <a:p>
            <a:pPr algn="ctr" eaLnBrk="1" hangingPunct="1">
              <a:spcBef>
                <a:spcPct val="50000"/>
              </a:spcBef>
            </a:pPr>
            <a:r>
              <a:rPr lang="zh-CN" altLang="en-US" sz="2800" b="1" dirty="0">
                <a:latin typeface="黑体" panose="02010609060101010101" pitchFamily="49" charset="-122"/>
                <a:ea typeface="黑体" panose="02010609060101010101" pitchFamily="49" charset="-122"/>
              </a:rPr>
              <a:t>举例分析一个三级放大电路：</a:t>
            </a:r>
            <a:r>
              <a:rPr lang="en-US" altLang="zh-CN" sz="2800" b="1" dirty="0">
                <a:latin typeface="黑体" panose="02010609060101010101" pitchFamily="49" charset="-122"/>
                <a:ea typeface="黑体" panose="02010609060101010101" pitchFamily="49" charset="-122"/>
              </a:rPr>
              <a:t>Au</a:t>
            </a:r>
            <a:r>
              <a:rPr lang="zh-CN" altLang="en-US" sz="2800" b="1" dirty="0">
                <a:latin typeface="黑体" panose="02010609060101010101" pitchFamily="49" charset="-122"/>
                <a:ea typeface="黑体" panose="02010609060101010101" pitchFamily="49" charset="-122"/>
              </a:rPr>
              <a:t>、输入电阻、输出电阻</a:t>
            </a:r>
          </a:p>
        </p:txBody>
      </p:sp>
      <p:graphicFrame>
        <p:nvGraphicFramePr>
          <p:cNvPr id="7" name="对象 6">
            <a:extLst>
              <a:ext uri="{FF2B5EF4-FFF2-40B4-BE49-F238E27FC236}">
                <a16:creationId xmlns:a16="http://schemas.microsoft.com/office/drawing/2014/main" id="{5D056897-6F88-4786-A9FE-7CFC642E3F6F}"/>
              </a:ext>
            </a:extLst>
          </p:cNvPr>
          <p:cNvGraphicFramePr>
            <a:graphicFrameLocks noChangeAspect="1"/>
          </p:cNvGraphicFramePr>
          <p:nvPr>
            <p:extLst>
              <p:ext uri="{D42A27DB-BD31-4B8C-83A1-F6EECF244321}">
                <p14:modId xmlns:p14="http://schemas.microsoft.com/office/powerpoint/2010/main" val="1953812132"/>
              </p:ext>
            </p:extLst>
          </p:nvPr>
        </p:nvGraphicFramePr>
        <p:xfrm>
          <a:off x="694570" y="989626"/>
          <a:ext cx="7673767" cy="1407499"/>
        </p:xfrm>
        <a:graphic>
          <a:graphicData uri="http://schemas.openxmlformats.org/presentationml/2006/ole">
            <mc:AlternateContent xmlns:mc="http://schemas.openxmlformats.org/markup-compatibility/2006">
              <mc:Choice xmlns:v="urn:schemas-microsoft-com:vml" Requires="v">
                <p:oleObj spid="_x0000_s8195" name="BMP 图像" r:id="rId3" imgW="5686560" imgH="1042920" progId="Paint.Picture">
                  <p:embed/>
                </p:oleObj>
              </mc:Choice>
              <mc:Fallback>
                <p:oleObj name="BMP 图像" r:id="rId3" imgW="5686560" imgH="1042920" progId="Paint.Picture">
                  <p:embed/>
                  <p:pic>
                    <p:nvPicPr>
                      <p:cNvPr id="0" name=""/>
                      <p:cNvPicPr/>
                      <p:nvPr/>
                    </p:nvPicPr>
                    <p:blipFill>
                      <a:blip r:embed="rId4"/>
                      <a:stretch>
                        <a:fillRect/>
                      </a:stretch>
                    </p:blipFill>
                    <p:spPr>
                      <a:xfrm>
                        <a:off x="694570" y="989626"/>
                        <a:ext cx="7673767" cy="1407499"/>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3514C7FB-46A3-4CF4-8702-BBF590ED8729}"/>
              </a:ext>
            </a:extLst>
          </p:cNvPr>
          <p:cNvSpPr txBox="1"/>
          <p:nvPr/>
        </p:nvSpPr>
        <p:spPr>
          <a:xfrm>
            <a:off x="4572000" y="2677979"/>
            <a:ext cx="4664054" cy="1200329"/>
          </a:xfrm>
          <a:prstGeom prst="rect">
            <a:avLst/>
          </a:prstGeom>
          <a:solidFill>
            <a:schemeClr val="accent6">
              <a:lumMod val="20000"/>
              <a:lumOff val="80000"/>
            </a:schemeClr>
          </a:solidFill>
        </p:spPr>
        <p:txBody>
          <a:bodyPr wrap="square" rtlCol="0">
            <a:spAutoFit/>
          </a:bodyPr>
          <a:lstStyle/>
          <a:p>
            <a:r>
              <a:rPr lang="zh-CN" altLang="en-US" b="1" dirty="0"/>
              <a:t>先求</a:t>
            </a:r>
            <a:r>
              <a:rPr lang="en-US" altLang="zh-CN" b="1" dirty="0"/>
              <a:t>A</a:t>
            </a:r>
            <a:r>
              <a:rPr lang="en-US" altLang="zh-CN" sz="2000" b="1" dirty="0"/>
              <a:t>u3</a:t>
            </a:r>
            <a:r>
              <a:rPr lang="zh-CN" altLang="en-US" b="1" dirty="0"/>
              <a:t>、</a:t>
            </a:r>
            <a:r>
              <a:rPr lang="en-US" altLang="zh-CN" b="1" dirty="0"/>
              <a:t>R</a:t>
            </a:r>
            <a:r>
              <a:rPr lang="en-US" altLang="zh-CN" sz="1800" b="1" dirty="0"/>
              <a:t>i3</a:t>
            </a:r>
            <a:endParaRPr lang="en-US" altLang="zh-CN" b="1" dirty="0"/>
          </a:p>
          <a:p>
            <a:r>
              <a:rPr lang="zh-CN" altLang="en-US" b="1" dirty="0"/>
              <a:t>再求</a:t>
            </a:r>
            <a:r>
              <a:rPr lang="en-US" altLang="zh-CN" b="1" dirty="0"/>
              <a:t>A</a:t>
            </a:r>
            <a:r>
              <a:rPr lang="en-US" altLang="zh-CN" sz="1800" b="1" dirty="0"/>
              <a:t>u2</a:t>
            </a:r>
            <a:r>
              <a:rPr lang="zh-CN" altLang="en-US" b="1" dirty="0"/>
              <a:t>（以</a:t>
            </a:r>
            <a:r>
              <a:rPr lang="en-US" altLang="zh-CN" b="1" dirty="0"/>
              <a:t>Ri3</a:t>
            </a:r>
            <a:r>
              <a:rPr lang="zh-CN" altLang="en-US" b="1" dirty="0"/>
              <a:t>为负载）、</a:t>
            </a:r>
            <a:r>
              <a:rPr lang="en-US" altLang="zh-CN" b="1" dirty="0"/>
              <a:t>R</a:t>
            </a:r>
            <a:r>
              <a:rPr lang="en-US" altLang="zh-CN" sz="2000" b="1" dirty="0"/>
              <a:t>i2</a:t>
            </a:r>
            <a:endParaRPr lang="en-US" altLang="zh-CN" b="1" dirty="0"/>
          </a:p>
          <a:p>
            <a:r>
              <a:rPr lang="zh-CN" altLang="en-US" b="1" dirty="0"/>
              <a:t>后求</a:t>
            </a:r>
            <a:r>
              <a:rPr lang="en-US" altLang="zh-CN" b="1" dirty="0"/>
              <a:t>A</a:t>
            </a:r>
            <a:r>
              <a:rPr lang="en-US" altLang="zh-CN" sz="2000" b="1" dirty="0"/>
              <a:t>u1</a:t>
            </a:r>
            <a:r>
              <a:rPr lang="zh-CN" altLang="en-US" b="1" dirty="0"/>
              <a:t>（以</a:t>
            </a:r>
            <a:r>
              <a:rPr lang="en-US" altLang="zh-CN" b="1" dirty="0"/>
              <a:t>Ri2</a:t>
            </a:r>
            <a:r>
              <a:rPr lang="zh-CN" altLang="en-US" b="1" dirty="0"/>
              <a:t>为负载）、</a:t>
            </a:r>
            <a:r>
              <a:rPr lang="en-US" altLang="zh-CN" b="1" dirty="0"/>
              <a:t>R</a:t>
            </a:r>
            <a:r>
              <a:rPr lang="en-US" altLang="zh-CN" sz="2000" b="1" dirty="0"/>
              <a:t>i1</a:t>
            </a:r>
            <a:endParaRPr lang="en-US" altLang="zh-CN" b="1" dirty="0"/>
          </a:p>
        </p:txBody>
      </p:sp>
      <p:sp>
        <p:nvSpPr>
          <p:cNvPr id="22" name="TextBox 6">
            <a:extLst>
              <a:ext uri="{FF2B5EF4-FFF2-40B4-BE49-F238E27FC236}">
                <a16:creationId xmlns:a16="http://schemas.microsoft.com/office/drawing/2014/main" id="{094D3980-E2F8-4B8A-8A79-4C15B07F60BB}"/>
              </a:ext>
            </a:extLst>
          </p:cNvPr>
          <p:cNvSpPr txBox="1"/>
          <p:nvPr/>
        </p:nvSpPr>
        <p:spPr>
          <a:xfrm>
            <a:off x="63928" y="2493314"/>
            <a:ext cx="4413352" cy="1569660"/>
          </a:xfrm>
          <a:prstGeom prst="rect">
            <a:avLst/>
          </a:prstGeom>
          <a:solidFill>
            <a:schemeClr val="accent5">
              <a:lumMod val="20000"/>
              <a:lumOff val="80000"/>
            </a:schemeClr>
          </a:solidFill>
        </p:spPr>
        <p:txBody>
          <a:bodyPr wrap="square" rtlCol="0">
            <a:spAutoFit/>
          </a:bodyPr>
          <a:lstStyle/>
          <a:p>
            <a:r>
              <a:rPr lang="zh-CN" altLang="en-US" b="1" dirty="0"/>
              <a:t>每个单管放大电路：</a:t>
            </a:r>
            <a:endParaRPr lang="en-US" altLang="zh-CN" b="1" dirty="0"/>
          </a:p>
          <a:p>
            <a:r>
              <a:rPr lang="zh-CN" altLang="en-US" b="1" dirty="0"/>
              <a:t>放大倍数与负载相关</a:t>
            </a:r>
            <a:endParaRPr lang="en-US" altLang="zh-CN" b="1" dirty="0"/>
          </a:p>
          <a:p>
            <a:r>
              <a:rPr lang="zh-CN" altLang="en-US" b="1" dirty="0"/>
              <a:t>输入电阻可能与负载相关</a:t>
            </a:r>
            <a:endParaRPr lang="en-US" altLang="zh-CN" b="1" dirty="0"/>
          </a:p>
          <a:p>
            <a:r>
              <a:rPr lang="zh-CN" altLang="en-US" b="1" dirty="0"/>
              <a:t>输出电阻可能信号源内阻相关</a:t>
            </a:r>
          </a:p>
        </p:txBody>
      </p:sp>
      <p:sp>
        <p:nvSpPr>
          <p:cNvPr id="24" name="文本框 23">
            <a:extLst>
              <a:ext uri="{FF2B5EF4-FFF2-40B4-BE49-F238E27FC236}">
                <a16:creationId xmlns:a16="http://schemas.microsoft.com/office/drawing/2014/main" id="{7E7B3B58-F9AD-4468-8CD6-4AC19B976693}"/>
              </a:ext>
            </a:extLst>
          </p:cNvPr>
          <p:cNvSpPr txBox="1"/>
          <p:nvPr/>
        </p:nvSpPr>
        <p:spPr>
          <a:xfrm>
            <a:off x="4811741" y="4159162"/>
            <a:ext cx="3074192" cy="830997"/>
          </a:xfrm>
          <a:prstGeom prst="rect">
            <a:avLst/>
          </a:prstGeom>
          <a:solidFill>
            <a:schemeClr val="accent6">
              <a:lumMod val="20000"/>
              <a:lumOff val="80000"/>
            </a:schemeClr>
          </a:solidFill>
        </p:spPr>
        <p:txBody>
          <a:bodyPr wrap="square">
            <a:spAutoFit/>
          </a:bodyPr>
          <a:lstStyle/>
          <a:p>
            <a:r>
              <a:rPr lang="en-US" altLang="zh-CN" b="1" dirty="0"/>
              <a:t>R</a:t>
            </a:r>
            <a:r>
              <a:rPr lang="en-US" altLang="zh-CN" sz="2000" b="1" dirty="0"/>
              <a:t>i1</a:t>
            </a:r>
            <a:r>
              <a:rPr lang="zh-CN" altLang="en-US" b="1" dirty="0"/>
              <a:t>为电路输入电阻</a:t>
            </a:r>
            <a:endParaRPr lang="en-US" altLang="zh-CN" b="1" dirty="0"/>
          </a:p>
          <a:p>
            <a:r>
              <a:rPr lang="en-US" altLang="zh-CN" b="1" dirty="0"/>
              <a:t>Au=Au3</a:t>
            </a:r>
            <a:r>
              <a:rPr lang="zh-CN" altLang="en-US" b="1" dirty="0"/>
              <a:t>*</a:t>
            </a:r>
            <a:r>
              <a:rPr lang="en-US" altLang="zh-CN" b="1" dirty="0"/>
              <a:t>Au2</a:t>
            </a:r>
            <a:r>
              <a:rPr lang="zh-CN" altLang="en-US" b="1" dirty="0"/>
              <a:t>*</a:t>
            </a:r>
            <a:r>
              <a:rPr lang="en-US" altLang="zh-CN" b="1" dirty="0"/>
              <a:t>Au3</a:t>
            </a:r>
            <a:endParaRPr lang="zh-CN" altLang="en-US" b="1" dirty="0"/>
          </a:p>
        </p:txBody>
      </p:sp>
      <p:sp>
        <p:nvSpPr>
          <p:cNvPr id="25" name="文本框 24">
            <a:extLst>
              <a:ext uri="{FF2B5EF4-FFF2-40B4-BE49-F238E27FC236}">
                <a16:creationId xmlns:a16="http://schemas.microsoft.com/office/drawing/2014/main" id="{0FB2BCC9-00CC-4772-941B-C3EF076069EB}"/>
              </a:ext>
            </a:extLst>
          </p:cNvPr>
          <p:cNvSpPr txBox="1"/>
          <p:nvPr/>
        </p:nvSpPr>
        <p:spPr>
          <a:xfrm>
            <a:off x="4811741" y="5271013"/>
            <a:ext cx="1852946" cy="1200329"/>
          </a:xfrm>
          <a:prstGeom prst="rect">
            <a:avLst/>
          </a:prstGeom>
          <a:solidFill>
            <a:schemeClr val="accent6">
              <a:lumMod val="20000"/>
              <a:lumOff val="80000"/>
            </a:schemeClr>
          </a:solidFill>
        </p:spPr>
        <p:txBody>
          <a:bodyPr wrap="square">
            <a:spAutoFit/>
          </a:bodyPr>
          <a:lstStyle/>
          <a:p>
            <a:r>
              <a:rPr lang="zh-CN" altLang="en-US" b="1" dirty="0"/>
              <a:t>先求</a:t>
            </a:r>
            <a:r>
              <a:rPr lang="en-US" altLang="zh-CN" b="1" dirty="0"/>
              <a:t>R</a:t>
            </a:r>
            <a:r>
              <a:rPr lang="en-US" altLang="zh-CN" sz="1800" b="1" dirty="0"/>
              <a:t>o1</a:t>
            </a:r>
            <a:r>
              <a:rPr lang="zh-CN" altLang="en-US" b="1" dirty="0"/>
              <a:t>、</a:t>
            </a:r>
            <a:endParaRPr lang="en-US" altLang="zh-CN" b="1" dirty="0"/>
          </a:p>
          <a:p>
            <a:r>
              <a:rPr lang="zh-CN" altLang="en-US" b="1" dirty="0"/>
              <a:t>再求</a:t>
            </a:r>
            <a:r>
              <a:rPr lang="en-US" altLang="zh-CN" b="1" dirty="0"/>
              <a:t>R</a:t>
            </a:r>
            <a:r>
              <a:rPr lang="en-US" altLang="zh-CN" sz="1800" b="1" dirty="0"/>
              <a:t>o2</a:t>
            </a:r>
            <a:r>
              <a:rPr lang="zh-CN" altLang="en-US" b="1" dirty="0"/>
              <a:t>、</a:t>
            </a:r>
            <a:endParaRPr lang="en-US" altLang="zh-CN" b="1" dirty="0"/>
          </a:p>
          <a:p>
            <a:r>
              <a:rPr lang="zh-CN" altLang="en-US" b="1" dirty="0"/>
              <a:t>然后</a:t>
            </a:r>
            <a:r>
              <a:rPr lang="en-US" altLang="zh-CN" b="1" dirty="0"/>
              <a:t>R</a:t>
            </a:r>
            <a:r>
              <a:rPr lang="en-US" altLang="zh-CN" sz="1800" b="1" dirty="0"/>
              <a:t>o3</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Oval 299"/>
          <p:cNvSpPr>
            <a:spLocks noChangeArrowheads="1"/>
          </p:cNvSpPr>
          <p:nvPr/>
        </p:nvSpPr>
        <p:spPr bwMode="auto">
          <a:xfrm>
            <a:off x="762000" y="3629025"/>
            <a:ext cx="457200" cy="457200"/>
          </a:xfrm>
          <a:prstGeom prst="ellipse">
            <a:avLst/>
          </a:prstGeom>
          <a:solidFill>
            <a:srgbClr val="FFFF99"/>
          </a:solidFill>
          <a:ln w="38100">
            <a:solidFill>
              <a:srgbClr val="FF3300"/>
            </a:solidFill>
            <a:round/>
            <a:headEnd/>
            <a:tailEnd type="none" w="sm" len="lg"/>
          </a:ln>
        </p:spPr>
        <p:txBody>
          <a:bodyPr wrap="none" anchor="ctr"/>
          <a:lstStyle/>
          <a:p>
            <a:pPr algn="ctr" eaLnBrk="1" hangingPunct="1"/>
            <a:endParaRPr lang="zh-CN" altLang="en-US"/>
          </a:p>
        </p:txBody>
      </p:sp>
      <p:sp>
        <p:nvSpPr>
          <p:cNvPr id="112643" name="Text Box 90"/>
          <p:cNvSpPr txBox="1">
            <a:spLocks noChangeArrowheads="1"/>
          </p:cNvSpPr>
          <p:nvPr/>
        </p:nvSpPr>
        <p:spPr bwMode="auto">
          <a:xfrm>
            <a:off x="2667000" y="781050"/>
            <a:ext cx="1252538" cy="519113"/>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第一级</a:t>
            </a:r>
          </a:p>
        </p:txBody>
      </p:sp>
      <p:sp>
        <p:nvSpPr>
          <p:cNvPr id="112644" name="Text Box 91"/>
          <p:cNvSpPr txBox="1">
            <a:spLocks noChangeArrowheads="1"/>
          </p:cNvSpPr>
          <p:nvPr/>
        </p:nvSpPr>
        <p:spPr bwMode="auto">
          <a:xfrm>
            <a:off x="4876800" y="781050"/>
            <a:ext cx="1244600" cy="519113"/>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第二级</a:t>
            </a:r>
          </a:p>
        </p:txBody>
      </p:sp>
      <p:sp>
        <p:nvSpPr>
          <p:cNvPr id="112645" name="Line 217"/>
          <p:cNvSpPr>
            <a:spLocks noChangeShapeType="1"/>
          </p:cNvSpPr>
          <p:nvPr/>
        </p:nvSpPr>
        <p:spPr bwMode="auto">
          <a:xfrm flipV="1">
            <a:off x="2286000" y="2990850"/>
            <a:ext cx="836613" cy="1588"/>
          </a:xfrm>
          <a:prstGeom prst="line">
            <a:avLst/>
          </a:prstGeom>
          <a:noFill/>
          <a:ln w="38100">
            <a:solidFill>
              <a:schemeClr val="tx1"/>
            </a:solidFill>
            <a:round/>
            <a:headEnd/>
            <a:tailEnd/>
          </a:ln>
        </p:spPr>
        <p:txBody>
          <a:bodyPr/>
          <a:lstStyle/>
          <a:p>
            <a:endParaRPr lang="zh-CN" altLang="en-US"/>
          </a:p>
        </p:txBody>
      </p:sp>
      <p:sp>
        <p:nvSpPr>
          <p:cNvPr id="112646" name="Line 218"/>
          <p:cNvSpPr>
            <a:spLocks noChangeShapeType="1"/>
          </p:cNvSpPr>
          <p:nvPr/>
        </p:nvSpPr>
        <p:spPr bwMode="auto">
          <a:xfrm>
            <a:off x="3124200" y="2762250"/>
            <a:ext cx="0" cy="457200"/>
          </a:xfrm>
          <a:prstGeom prst="line">
            <a:avLst/>
          </a:prstGeom>
          <a:noFill/>
          <a:ln w="38100">
            <a:solidFill>
              <a:schemeClr val="tx1"/>
            </a:solidFill>
            <a:round/>
            <a:headEnd/>
            <a:tailEnd/>
          </a:ln>
        </p:spPr>
        <p:txBody>
          <a:bodyPr/>
          <a:lstStyle/>
          <a:p>
            <a:endParaRPr lang="zh-CN" altLang="en-US"/>
          </a:p>
        </p:txBody>
      </p:sp>
      <p:sp>
        <p:nvSpPr>
          <p:cNvPr id="112647" name="Line 219"/>
          <p:cNvSpPr>
            <a:spLocks noChangeShapeType="1"/>
          </p:cNvSpPr>
          <p:nvPr/>
        </p:nvSpPr>
        <p:spPr bwMode="auto">
          <a:xfrm flipV="1">
            <a:off x="3124200" y="2686050"/>
            <a:ext cx="381000" cy="228600"/>
          </a:xfrm>
          <a:prstGeom prst="line">
            <a:avLst/>
          </a:prstGeom>
          <a:noFill/>
          <a:ln w="38100">
            <a:solidFill>
              <a:schemeClr val="tx1"/>
            </a:solidFill>
            <a:round/>
            <a:headEnd/>
            <a:tailEnd/>
          </a:ln>
        </p:spPr>
        <p:txBody>
          <a:bodyPr/>
          <a:lstStyle/>
          <a:p>
            <a:endParaRPr lang="zh-CN" altLang="en-US"/>
          </a:p>
        </p:txBody>
      </p:sp>
      <p:sp>
        <p:nvSpPr>
          <p:cNvPr id="112648" name="Line 220"/>
          <p:cNvSpPr>
            <a:spLocks noChangeShapeType="1"/>
          </p:cNvSpPr>
          <p:nvPr/>
        </p:nvSpPr>
        <p:spPr bwMode="auto">
          <a:xfrm>
            <a:off x="3122613" y="3067050"/>
            <a:ext cx="382587" cy="228600"/>
          </a:xfrm>
          <a:prstGeom prst="line">
            <a:avLst/>
          </a:prstGeom>
          <a:noFill/>
          <a:ln w="38100">
            <a:solidFill>
              <a:schemeClr val="tx1"/>
            </a:solidFill>
            <a:round/>
            <a:headEnd/>
            <a:tailEnd type="triangle" w="sm" len="lg"/>
          </a:ln>
        </p:spPr>
        <p:txBody>
          <a:bodyPr/>
          <a:lstStyle/>
          <a:p>
            <a:endParaRPr lang="zh-CN" altLang="en-US"/>
          </a:p>
        </p:txBody>
      </p:sp>
      <p:sp>
        <p:nvSpPr>
          <p:cNvPr id="112649" name="Line 221"/>
          <p:cNvSpPr>
            <a:spLocks noChangeShapeType="1"/>
          </p:cNvSpPr>
          <p:nvPr/>
        </p:nvSpPr>
        <p:spPr bwMode="auto">
          <a:xfrm>
            <a:off x="3505200" y="3295650"/>
            <a:ext cx="0" cy="1066800"/>
          </a:xfrm>
          <a:prstGeom prst="line">
            <a:avLst/>
          </a:prstGeom>
          <a:noFill/>
          <a:ln w="38100">
            <a:solidFill>
              <a:schemeClr val="tx1"/>
            </a:solidFill>
            <a:round/>
            <a:headEnd/>
            <a:tailEnd type="none" w="sm" len="lg"/>
          </a:ln>
        </p:spPr>
        <p:txBody>
          <a:bodyPr/>
          <a:lstStyle/>
          <a:p>
            <a:endParaRPr lang="zh-CN" altLang="en-US"/>
          </a:p>
        </p:txBody>
      </p:sp>
      <p:sp>
        <p:nvSpPr>
          <p:cNvPr id="112650" name="Line 222"/>
          <p:cNvSpPr>
            <a:spLocks noChangeShapeType="1"/>
          </p:cNvSpPr>
          <p:nvPr/>
        </p:nvSpPr>
        <p:spPr bwMode="auto">
          <a:xfrm>
            <a:off x="3505200" y="1390650"/>
            <a:ext cx="0" cy="1295400"/>
          </a:xfrm>
          <a:prstGeom prst="line">
            <a:avLst/>
          </a:prstGeom>
          <a:noFill/>
          <a:ln w="38100">
            <a:solidFill>
              <a:schemeClr val="tx1"/>
            </a:solidFill>
            <a:round/>
            <a:headEnd/>
            <a:tailEnd type="none" w="sm" len="lg"/>
          </a:ln>
        </p:spPr>
        <p:txBody>
          <a:bodyPr/>
          <a:lstStyle/>
          <a:p>
            <a:endParaRPr lang="zh-CN" altLang="en-US"/>
          </a:p>
        </p:txBody>
      </p:sp>
      <p:sp>
        <p:nvSpPr>
          <p:cNvPr id="112651" name="Freeform 223"/>
          <p:cNvSpPr>
            <a:spLocks/>
          </p:cNvSpPr>
          <p:nvPr/>
        </p:nvSpPr>
        <p:spPr bwMode="auto">
          <a:xfrm>
            <a:off x="2667000" y="1390650"/>
            <a:ext cx="3657600" cy="2819400"/>
          </a:xfrm>
          <a:custGeom>
            <a:avLst/>
            <a:gdLst>
              <a:gd name="T0" fmla="*/ 0 w 1824"/>
              <a:gd name="T1" fmla="*/ 2147483647 h 816"/>
              <a:gd name="T2" fmla="*/ 0 w 1824"/>
              <a:gd name="T3" fmla="*/ 0 h 816"/>
              <a:gd name="T4" fmla="*/ 2147483647 w 1824"/>
              <a:gd name="T5" fmla="*/ 0 h 816"/>
              <a:gd name="T6" fmla="*/ 0 60000 65536"/>
              <a:gd name="T7" fmla="*/ 0 60000 65536"/>
              <a:gd name="T8" fmla="*/ 0 60000 65536"/>
              <a:gd name="T9" fmla="*/ 0 w 1824"/>
              <a:gd name="T10" fmla="*/ 0 h 816"/>
              <a:gd name="T11" fmla="*/ 1824 w 1824"/>
              <a:gd name="T12" fmla="*/ 816 h 816"/>
            </a:gdLst>
            <a:ahLst/>
            <a:cxnLst>
              <a:cxn ang="T6">
                <a:pos x="T0" y="T1"/>
              </a:cxn>
              <a:cxn ang="T7">
                <a:pos x="T2" y="T3"/>
              </a:cxn>
              <a:cxn ang="T8">
                <a:pos x="T4" y="T5"/>
              </a:cxn>
            </a:cxnLst>
            <a:rect l="T9" t="T10" r="T11" b="T12"/>
            <a:pathLst>
              <a:path w="1824" h="816">
                <a:moveTo>
                  <a:pt x="0" y="816"/>
                </a:moveTo>
                <a:lnTo>
                  <a:pt x="0" y="0"/>
                </a:lnTo>
                <a:lnTo>
                  <a:pt x="1824" y="0"/>
                </a:lnTo>
              </a:path>
            </a:pathLst>
          </a:custGeom>
          <a:noFill/>
          <a:ln w="38100">
            <a:solidFill>
              <a:schemeClr val="tx1"/>
            </a:solidFill>
            <a:round/>
            <a:headEnd/>
            <a:tailEnd type="none" w="sm" len="lg"/>
          </a:ln>
        </p:spPr>
        <p:txBody>
          <a:bodyPr/>
          <a:lstStyle/>
          <a:p>
            <a:endParaRPr lang="zh-CN" altLang="en-US"/>
          </a:p>
        </p:txBody>
      </p:sp>
      <p:sp>
        <p:nvSpPr>
          <p:cNvPr id="112652" name="Line 224"/>
          <p:cNvSpPr>
            <a:spLocks noChangeShapeType="1"/>
          </p:cNvSpPr>
          <p:nvPr/>
        </p:nvSpPr>
        <p:spPr bwMode="auto">
          <a:xfrm>
            <a:off x="3505200" y="2533650"/>
            <a:ext cx="381000" cy="0"/>
          </a:xfrm>
          <a:prstGeom prst="line">
            <a:avLst/>
          </a:prstGeom>
          <a:noFill/>
          <a:ln w="38100">
            <a:solidFill>
              <a:schemeClr val="tx1"/>
            </a:solidFill>
            <a:round/>
            <a:headEnd/>
            <a:tailEnd type="none" w="sm" len="lg"/>
          </a:ln>
        </p:spPr>
        <p:txBody>
          <a:bodyPr/>
          <a:lstStyle/>
          <a:p>
            <a:endParaRPr lang="zh-CN" altLang="en-US"/>
          </a:p>
        </p:txBody>
      </p:sp>
      <p:sp>
        <p:nvSpPr>
          <p:cNvPr id="112653" name="Line 225"/>
          <p:cNvSpPr>
            <a:spLocks noChangeShapeType="1"/>
          </p:cNvSpPr>
          <p:nvPr/>
        </p:nvSpPr>
        <p:spPr bwMode="auto">
          <a:xfrm>
            <a:off x="5106988" y="2305050"/>
            <a:ext cx="0" cy="457200"/>
          </a:xfrm>
          <a:prstGeom prst="line">
            <a:avLst/>
          </a:prstGeom>
          <a:noFill/>
          <a:ln w="38100">
            <a:solidFill>
              <a:schemeClr val="tx1"/>
            </a:solidFill>
            <a:round/>
            <a:headEnd/>
            <a:tailEnd/>
          </a:ln>
        </p:spPr>
        <p:txBody>
          <a:bodyPr/>
          <a:lstStyle/>
          <a:p>
            <a:endParaRPr lang="zh-CN" altLang="en-US"/>
          </a:p>
        </p:txBody>
      </p:sp>
      <p:sp>
        <p:nvSpPr>
          <p:cNvPr id="112654" name="Line 226"/>
          <p:cNvSpPr>
            <a:spLocks noChangeShapeType="1"/>
          </p:cNvSpPr>
          <p:nvPr/>
        </p:nvSpPr>
        <p:spPr bwMode="auto">
          <a:xfrm flipV="1">
            <a:off x="5106988" y="2228850"/>
            <a:ext cx="381000" cy="228600"/>
          </a:xfrm>
          <a:prstGeom prst="line">
            <a:avLst/>
          </a:prstGeom>
          <a:noFill/>
          <a:ln w="38100">
            <a:solidFill>
              <a:schemeClr val="tx1"/>
            </a:solidFill>
            <a:round/>
            <a:headEnd/>
            <a:tailEnd/>
          </a:ln>
        </p:spPr>
        <p:txBody>
          <a:bodyPr/>
          <a:lstStyle/>
          <a:p>
            <a:endParaRPr lang="zh-CN" altLang="en-US"/>
          </a:p>
        </p:txBody>
      </p:sp>
      <p:sp>
        <p:nvSpPr>
          <p:cNvPr id="112655" name="Line 227"/>
          <p:cNvSpPr>
            <a:spLocks noChangeShapeType="1"/>
          </p:cNvSpPr>
          <p:nvPr/>
        </p:nvSpPr>
        <p:spPr bwMode="auto">
          <a:xfrm>
            <a:off x="5105400" y="2609850"/>
            <a:ext cx="382588" cy="228600"/>
          </a:xfrm>
          <a:prstGeom prst="line">
            <a:avLst/>
          </a:prstGeom>
          <a:noFill/>
          <a:ln w="38100">
            <a:solidFill>
              <a:schemeClr val="tx1"/>
            </a:solidFill>
            <a:round/>
            <a:headEnd/>
            <a:tailEnd type="triangle" w="sm" len="lg"/>
          </a:ln>
        </p:spPr>
        <p:txBody>
          <a:bodyPr/>
          <a:lstStyle/>
          <a:p>
            <a:endParaRPr lang="zh-CN" altLang="en-US"/>
          </a:p>
        </p:txBody>
      </p:sp>
      <p:sp>
        <p:nvSpPr>
          <p:cNvPr id="112656" name="Line 228"/>
          <p:cNvSpPr>
            <a:spLocks noChangeShapeType="1"/>
          </p:cNvSpPr>
          <p:nvPr/>
        </p:nvSpPr>
        <p:spPr bwMode="auto">
          <a:xfrm>
            <a:off x="5486400" y="1390650"/>
            <a:ext cx="0" cy="838200"/>
          </a:xfrm>
          <a:prstGeom prst="line">
            <a:avLst/>
          </a:prstGeom>
          <a:noFill/>
          <a:ln w="38100">
            <a:solidFill>
              <a:schemeClr val="tx1"/>
            </a:solidFill>
            <a:round/>
            <a:headEnd/>
            <a:tailEnd type="none" w="sm" len="lg"/>
          </a:ln>
        </p:spPr>
        <p:txBody>
          <a:bodyPr/>
          <a:lstStyle/>
          <a:p>
            <a:endParaRPr lang="zh-CN" altLang="en-US"/>
          </a:p>
        </p:txBody>
      </p:sp>
      <p:sp>
        <p:nvSpPr>
          <p:cNvPr id="112657" name="Line 229"/>
          <p:cNvSpPr>
            <a:spLocks noChangeShapeType="1"/>
          </p:cNvSpPr>
          <p:nvPr/>
        </p:nvSpPr>
        <p:spPr bwMode="auto">
          <a:xfrm>
            <a:off x="5486400" y="2838450"/>
            <a:ext cx="0" cy="1371600"/>
          </a:xfrm>
          <a:prstGeom prst="line">
            <a:avLst/>
          </a:prstGeom>
          <a:noFill/>
          <a:ln w="38100">
            <a:solidFill>
              <a:schemeClr val="tx1"/>
            </a:solidFill>
            <a:round/>
            <a:headEnd/>
            <a:tailEnd type="none" w="sm" len="lg"/>
          </a:ln>
        </p:spPr>
        <p:txBody>
          <a:bodyPr/>
          <a:lstStyle/>
          <a:p>
            <a:endParaRPr lang="zh-CN" altLang="en-US"/>
          </a:p>
        </p:txBody>
      </p:sp>
      <p:sp>
        <p:nvSpPr>
          <p:cNvPr id="112658" name="Rectangle 230"/>
          <p:cNvSpPr>
            <a:spLocks noChangeArrowheads="1"/>
          </p:cNvSpPr>
          <p:nvPr/>
        </p:nvSpPr>
        <p:spPr bwMode="auto">
          <a:xfrm>
            <a:off x="2590800" y="1847850"/>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59" name="Rectangle 231"/>
          <p:cNvSpPr>
            <a:spLocks noChangeArrowheads="1"/>
          </p:cNvSpPr>
          <p:nvPr/>
        </p:nvSpPr>
        <p:spPr bwMode="auto">
          <a:xfrm>
            <a:off x="3429000" y="1619250"/>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60" name="Rectangle 232"/>
          <p:cNvSpPr>
            <a:spLocks noChangeArrowheads="1"/>
          </p:cNvSpPr>
          <p:nvPr/>
        </p:nvSpPr>
        <p:spPr bwMode="auto">
          <a:xfrm>
            <a:off x="5410200" y="3219450"/>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61" name="Line 233"/>
          <p:cNvSpPr>
            <a:spLocks noChangeShapeType="1"/>
          </p:cNvSpPr>
          <p:nvPr/>
        </p:nvSpPr>
        <p:spPr bwMode="auto">
          <a:xfrm>
            <a:off x="990600" y="4210050"/>
            <a:ext cx="5638800" cy="0"/>
          </a:xfrm>
          <a:prstGeom prst="line">
            <a:avLst/>
          </a:prstGeom>
          <a:noFill/>
          <a:ln w="38100">
            <a:solidFill>
              <a:schemeClr val="tx1"/>
            </a:solidFill>
            <a:round/>
            <a:headEnd/>
            <a:tailEnd/>
          </a:ln>
        </p:spPr>
        <p:txBody>
          <a:bodyPr/>
          <a:lstStyle/>
          <a:p>
            <a:endParaRPr lang="zh-CN" altLang="en-US"/>
          </a:p>
        </p:txBody>
      </p:sp>
      <p:sp>
        <p:nvSpPr>
          <p:cNvPr id="112662" name="Rectangle 234"/>
          <p:cNvSpPr>
            <a:spLocks noChangeArrowheads="1"/>
          </p:cNvSpPr>
          <p:nvPr/>
        </p:nvSpPr>
        <p:spPr bwMode="auto">
          <a:xfrm>
            <a:off x="2590800" y="3295650"/>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63" name="Line 235"/>
          <p:cNvSpPr>
            <a:spLocks noChangeShapeType="1"/>
          </p:cNvSpPr>
          <p:nvPr/>
        </p:nvSpPr>
        <p:spPr bwMode="auto">
          <a:xfrm flipV="1">
            <a:off x="5486400" y="3067050"/>
            <a:ext cx="381000" cy="1588"/>
          </a:xfrm>
          <a:prstGeom prst="line">
            <a:avLst/>
          </a:prstGeom>
          <a:noFill/>
          <a:ln w="38100">
            <a:solidFill>
              <a:schemeClr val="tx1"/>
            </a:solidFill>
            <a:round/>
            <a:headEnd/>
            <a:tailEnd/>
          </a:ln>
        </p:spPr>
        <p:txBody>
          <a:bodyPr/>
          <a:lstStyle/>
          <a:p>
            <a:endParaRPr lang="zh-CN" altLang="en-US"/>
          </a:p>
        </p:txBody>
      </p:sp>
      <p:sp>
        <p:nvSpPr>
          <p:cNvPr id="112664" name="Oval 240"/>
          <p:cNvSpPr>
            <a:spLocks noChangeArrowheads="1"/>
          </p:cNvSpPr>
          <p:nvPr/>
        </p:nvSpPr>
        <p:spPr bwMode="auto">
          <a:xfrm>
            <a:off x="6324600" y="1352550"/>
            <a:ext cx="76200" cy="76200"/>
          </a:xfrm>
          <a:prstGeom prst="ellipse">
            <a:avLst/>
          </a:prstGeom>
          <a:noFill/>
          <a:ln w="38100">
            <a:solidFill>
              <a:schemeClr val="tx1"/>
            </a:solidFill>
            <a:round/>
            <a:headEnd/>
            <a:tailEnd type="none" w="sm" len="lg"/>
          </a:ln>
        </p:spPr>
        <p:txBody>
          <a:bodyPr wrap="none" anchor="ctr"/>
          <a:lstStyle/>
          <a:p>
            <a:pPr algn="ctr" eaLnBrk="1" hangingPunct="1"/>
            <a:endParaRPr lang="zh-CN" altLang="en-US"/>
          </a:p>
        </p:txBody>
      </p:sp>
      <p:sp>
        <p:nvSpPr>
          <p:cNvPr id="112665" name="Line 241"/>
          <p:cNvSpPr>
            <a:spLocks noChangeShapeType="1"/>
          </p:cNvSpPr>
          <p:nvPr/>
        </p:nvSpPr>
        <p:spPr bwMode="auto">
          <a:xfrm>
            <a:off x="1295400" y="3143250"/>
            <a:ext cx="0" cy="914400"/>
          </a:xfrm>
          <a:prstGeom prst="line">
            <a:avLst/>
          </a:prstGeom>
          <a:noFill/>
          <a:ln w="28575">
            <a:solidFill>
              <a:schemeClr val="accent2"/>
            </a:solidFill>
            <a:round/>
            <a:headEnd/>
            <a:tailEnd type="triangle" w="sm" len="lg"/>
          </a:ln>
        </p:spPr>
        <p:txBody>
          <a:bodyPr/>
          <a:lstStyle/>
          <a:p>
            <a:endParaRPr lang="zh-CN" altLang="en-US"/>
          </a:p>
        </p:txBody>
      </p:sp>
      <p:sp>
        <p:nvSpPr>
          <p:cNvPr id="112666" name="Line 242"/>
          <p:cNvSpPr>
            <a:spLocks noChangeShapeType="1"/>
          </p:cNvSpPr>
          <p:nvPr/>
        </p:nvSpPr>
        <p:spPr bwMode="auto">
          <a:xfrm>
            <a:off x="6781800" y="3219450"/>
            <a:ext cx="0" cy="838200"/>
          </a:xfrm>
          <a:prstGeom prst="line">
            <a:avLst/>
          </a:prstGeom>
          <a:noFill/>
          <a:ln w="28575">
            <a:solidFill>
              <a:schemeClr val="accent2"/>
            </a:solidFill>
            <a:round/>
            <a:headEnd/>
            <a:tailEnd type="triangle" w="sm" len="lg"/>
          </a:ln>
        </p:spPr>
        <p:txBody>
          <a:bodyPr/>
          <a:lstStyle/>
          <a:p>
            <a:endParaRPr lang="zh-CN" altLang="en-US"/>
          </a:p>
        </p:txBody>
      </p:sp>
      <p:sp>
        <p:nvSpPr>
          <p:cNvPr id="112667" name="Text Box 243"/>
          <p:cNvSpPr txBox="1">
            <a:spLocks noChangeArrowheads="1"/>
          </p:cNvSpPr>
          <p:nvPr/>
        </p:nvSpPr>
        <p:spPr bwMode="auto">
          <a:xfrm>
            <a:off x="6172200" y="1314450"/>
            <a:ext cx="1447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FF0000"/>
                </a:solidFill>
              </a:rPr>
              <a:t>+</a:t>
            </a:r>
            <a:r>
              <a:rPr lang="en-US" altLang="zh-CN" i="1">
                <a:solidFill>
                  <a:srgbClr val="FF0000"/>
                </a:solidFill>
              </a:rPr>
              <a:t>V</a:t>
            </a:r>
            <a:r>
              <a:rPr lang="en-US" altLang="zh-CN" baseline="-25000">
                <a:solidFill>
                  <a:srgbClr val="FF0000"/>
                </a:solidFill>
              </a:rPr>
              <a:t>CC</a:t>
            </a:r>
          </a:p>
        </p:txBody>
      </p:sp>
      <p:sp>
        <p:nvSpPr>
          <p:cNvPr id="112668" name="Text Box 244"/>
          <p:cNvSpPr txBox="1">
            <a:spLocks noChangeArrowheads="1"/>
          </p:cNvSpPr>
          <p:nvPr/>
        </p:nvSpPr>
        <p:spPr bwMode="auto">
          <a:xfrm>
            <a:off x="1295400" y="32956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solidFill>
                  <a:schemeClr val="accent2"/>
                </a:solidFill>
              </a:rPr>
              <a:t>u</a:t>
            </a:r>
            <a:r>
              <a:rPr lang="en-US" altLang="zh-CN" baseline="-25000">
                <a:solidFill>
                  <a:schemeClr val="accent2"/>
                </a:solidFill>
              </a:rPr>
              <a:t>i</a:t>
            </a:r>
          </a:p>
        </p:txBody>
      </p:sp>
      <p:sp>
        <p:nvSpPr>
          <p:cNvPr id="112669" name="Text Box 245"/>
          <p:cNvSpPr txBox="1">
            <a:spLocks noChangeArrowheads="1"/>
          </p:cNvSpPr>
          <p:nvPr/>
        </p:nvSpPr>
        <p:spPr bwMode="auto">
          <a:xfrm>
            <a:off x="6781800" y="32956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solidFill>
                  <a:schemeClr val="accent2"/>
                </a:solidFill>
              </a:rPr>
              <a:t>u</a:t>
            </a:r>
            <a:r>
              <a:rPr lang="en-US" altLang="zh-CN" baseline="-25000">
                <a:solidFill>
                  <a:schemeClr val="accent2"/>
                </a:solidFill>
              </a:rPr>
              <a:t>o</a:t>
            </a:r>
          </a:p>
        </p:txBody>
      </p:sp>
      <p:sp>
        <p:nvSpPr>
          <p:cNvPr id="112670" name="Text Box 246"/>
          <p:cNvSpPr txBox="1">
            <a:spLocks noChangeArrowheads="1"/>
          </p:cNvSpPr>
          <p:nvPr/>
        </p:nvSpPr>
        <p:spPr bwMode="auto">
          <a:xfrm>
            <a:off x="1905000" y="17716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B1</a:t>
            </a:r>
          </a:p>
        </p:txBody>
      </p:sp>
      <p:sp>
        <p:nvSpPr>
          <p:cNvPr id="112671" name="Text Box 247"/>
          <p:cNvSpPr txBox="1">
            <a:spLocks noChangeArrowheads="1"/>
          </p:cNvSpPr>
          <p:nvPr/>
        </p:nvSpPr>
        <p:spPr bwMode="auto">
          <a:xfrm>
            <a:off x="1828800" y="32194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B2</a:t>
            </a:r>
          </a:p>
        </p:txBody>
      </p:sp>
      <p:sp>
        <p:nvSpPr>
          <p:cNvPr id="112672" name="Text Box 248"/>
          <p:cNvSpPr txBox="1">
            <a:spLocks noChangeArrowheads="1"/>
          </p:cNvSpPr>
          <p:nvPr/>
        </p:nvSpPr>
        <p:spPr bwMode="auto">
          <a:xfrm>
            <a:off x="2743200" y="15430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C1</a:t>
            </a:r>
          </a:p>
        </p:txBody>
      </p:sp>
      <p:sp>
        <p:nvSpPr>
          <p:cNvPr id="112673" name="Text Box 249"/>
          <p:cNvSpPr txBox="1">
            <a:spLocks noChangeArrowheads="1"/>
          </p:cNvSpPr>
          <p:nvPr/>
        </p:nvSpPr>
        <p:spPr bwMode="auto">
          <a:xfrm>
            <a:off x="4724400" y="32194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E2</a:t>
            </a:r>
          </a:p>
        </p:txBody>
      </p:sp>
      <p:sp>
        <p:nvSpPr>
          <p:cNvPr id="112674" name="Text Box 250"/>
          <p:cNvSpPr txBox="1">
            <a:spLocks noChangeArrowheads="1"/>
          </p:cNvSpPr>
          <p:nvPr/>
        </p:nvSpPr>
        <p:spPr bwMode="auto">
          <a:xfrm>
            <a:off x="3276600" y="26860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CC3300"/>
                </a:solidFill>
              </a:rPr>
              <a:t>T</a:t>
            </a:r>
            <a:r>
              <a:rPr lang="en-US" altLang="zh-CN" baseline="-25000">
                <a:solidFill>
                  <a:srgbClr val="CC3300"/>
                </a:solidFill>
              </a:rPr>
              <a:t>1</a:t>
            </a:r>
          </a:p>
        </p:txBody>
      </p:sp>
      <p:sp>
        <p:nvSpPr>
          <p:cNvPr id="112675" name="Text Box 251"/>
          <p:cNvSpPr txBox="1">
            <a:spLocks noChangeArrowheads="1"/>
          </p:cNvSpPr>
          <p:nvPr/>
        </p:nvSpPr>
        <p:spPr bwMode="auto">
          <a:xfrm>
            <a:off x="5257800" y="22288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CC3300"/>
                </a:solidFill>
              </a:rPr>
              <a:t>T</a:t>
            </a:r>
            <a:r>
              <a:rPr lang="en-US" altLang="zh-CN" baseline="-25000">
                <a:solidFill>
                  <a:srgbClr val="CC3300"/>
                </a:solidFill>
              </a:rPr>
              <a:t>2</a:t>
            </a:r>
          </a:p>
        </p:txBody>
      </p:sp>
      <p:sp>
        <p:nvSpPr>
          <p:cNvPr id="112676" name="Line 252"/>
          <p:cNvSpPr>
            <a:spLocks noChangeShapeType="1"/>
          </p:cNvSpPr>
          <p:nvPr/>
        </p:nvSpPr>
        <p:spPr bwMode="auto">
          <a:xfrm>
            <a:off x="4495800" y="1009650"/>
            <a:ext cx="0" cy="3581400"/>
          </a:xfrm>
          <a:prstGeom prst="line">
            <a:avLst/>
          </a:prstGeom>
          <a:noFill/>
          <a:ln w="28575">
            <a:solidFill>
              <a:srgbClr val="FF0000"/>
            </a:solidFill>
            <a:prstDash val="dashDot"/>
            <a:round/>
            <a:headEnd/>
            <a:tailEnd type="none" w="sm" len="lg"/>
          </a:ln>
        </p:spPr>
        <p:txBody>
          <a:bodyPr/>
          <a:lstStyle/>
          <a:p>
            <a:endParaRPr lang="zh-CN" altLang="en-US"/>
          </a:p>
        </p:txBody>
      </p:sp>
      <p:sp>
        <p:nvSpPr>
          <p:cNvPr id="112677" name="Oval 253"/>
          <p:cNvSpPr>
            <a:spLocks noChangeArrowheads="1"/>
          </p:cNvSpPr>
          <p:nvPr/>
        </p:nvSpPr>
        <p:spPr bwMode="auto">
          <a:xfrm>
            <a:off x="3457575" y="41529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78" name="Oval 254"/>
          <p:cNvSpPr>
            <a:spLocks noChangeArrowheads="1"/>
          </p:cNvSpPr>
          <p:nvPr/>
        </p:nvSpPr>
        <p:spPr bwMode="auto">
          <a:xfrm>
            <a:off x="5438775" y="41624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79" name="Oval 255"/>
          <p:cNvSpPr>
            <a:spLocks noChangeArrowheads="1"/>
          </p:cNvSpPr>
          <p:nvPr/>
        </p:nvSpPr>
        <p:spPr bwMode="auto">
          <a:xfrm>
            <a:off x="2628900" y="295275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80" name="Oval 256"/>
          <p:cNvSpPr>
            <a:spLocks noChangeArrowheads="1"/>
          </p:cNvSpPr>
          <p:nvPr/>
        </p:nvSpPr>
        <p:spPr bwMode="auto">
          <a:xfrm>
            <a:off x="3467100" y="24860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81" name="Oval 257"/>
          <p:cNvSpPr>
            <a:spLocks noChangeArrowheads="1"/>
          </p:cNvSpPr>
          <p:nvPr/>
        </p:nvSpPr>
        <p:spPr bwMode="auto">
          <a:xfrm>
            <a:off x="5448300" y="30194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82" name="Line 258"/>
          <p:cNvSpPr>
            <a:spLocks noChangeShapeType="1"/>
          </p:cNvSpPr>
          <p:nvPr/>
        </p:nvSpPr>
        <p:spPr bwMode="auto">
          <a:xfrm>
            <a:off x="3352800" y="4362450"/>
            <a:ext cx="304800" cy="0"/>
          </a:xfrm>
          <a:prstGeom prst="line">
            <a:avLst/>
          </a:prstGeom>
          <a:noFill/>
          <a:ln w="57150">
            <a:solidFill>
              <a:schemeClr val="tx1"/>
            </a:solidFill>
            <a:round/>
            <a:headEnd/>
            <a:tailEnd type="none" w="sm" len="lg"/>
          </a:ln>
        </p:spPr>
        <p:txBody>
          <a:bodyPr/>
          <a:lstStyle/>
          <a:p>
            <a:endParaRPr lang="zh-CN" altLang="en-US"/>
          </a:p>
        </p:txBody>
      </p:sp>
      <p:grpSp>
        <p:nvGrpSpPr>
          <p:cNvPr id="112683" name="Group 259"/>
          <p:cNvGrpSpPr>
            <a:grpSpLocks/>
          </p:cNvGrpSpPr>
          <p:nvPr/>
        </p:nvGrpSpPr>
        <p:grpSpPr bwMode="auto">
          <a:xfrm>
            <a:off x="2133600" y="2838450"/>
            <a:ext cx="152400" cy="304800"/>
            <a:chOff x="1680" y="1584"/>
            <a:chExt cx="96" cy="192"/>
          </a:xfrm>
        </p:grpSpPr>
        <p:sp>
          <p:nvSpPr>
            <p:cNvPr id="112729" name="Line 260"/>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2730" name="Line 261"/>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2684" name="Line 262"/>
          <p:cNvSpPr>
            <a:spLocks noChangeShapeType="1"/>
          </p:cNvSpPr>
          <p:nvPr/>
        </p:nvSpPr>
        <p:spPr bwMode="auto">
          <a:xfrm flipV="1">
            <a:off x="990600" y="2990850"/>
            <a:ext cx="1143000" cy="0"/>
          </a:xfrm>
          <a:prstGeom prst="line">
            <a:avLst/>
          </a:prstGeom>
          <a:noFill/>
          <a:ln w="38100">
            <a:solidFill>
              <a:schemeClr val="tx1"/>
            </a:solidFill>
            <a:round/>
            <a:headEnd/>
            <a:tailEnd/>
          </a:ln>
        </p:spPr>
        <p:txBody>
          <a:bodyPr/>
          <a:lstStyle/>
          <a:p>
            <a:endParaRPr lang="zh-CN" altLang="en-US"/>
          </a:p>
        </p:txBody>
      </p:sp>
      <p:grpSp>
        <p:nvGrpSpPr>
          <p:cNvPr id="112685" name="Group 263"/>
          <p:cNvGrpSpPr>
            <a:grpSpLocks/>
          </p:cNvGrpSpPr>
          <p:nvPr/>
        </p:nvGrpSpPr>
        <p:grpSpPr bwMode="auto">
          <a:xfrm>
            <a:off x="3886200" y="2381250"/>
            <a:ext cx="152400" cy="304800"/>
            <a:chOff x="1680" y="1584"/>
            <a:chExt cx="96" cy="192"/>
          </a:xfrm>
        </p:grpSpPr>
        <p:sp>
          <p:nvSpPr>
            <p:cNvPr id="112727" name="Line 264"/>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2728" name="Line 265"/>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2686" name="Line 266"/>
          <p:cNvSpPr>
            <a:spLocks noChangeShapeType="1"/>
          </p:cNvSpPr>
          <p:nvPr/>
        </p:nvSpPr>
        <p:spPr bwMode="auto">
          <a:xfrm flipV="1">
            <a:off x="4038600" y="2533650"/>
            <a:ext cx="1066800" cy="1588"/>
          </a:xfrm>
          <a:prstGeom prst="line">
            <a:avLst/>
          </a:prstGeom>
          <a:noFill/>
          <a:ln w="38100">
            <a:solidFill>
              <a:schemeClr val="tx1"/>
            </a:solidFill>
            <a:round/>
            <a:headEnd/>
            <a:tailEnd/>
          </a:ln>
        </p:spPr>
        <p:txBody>
          <a:bodyPr/>
          <a:lstStyle/>
          <a:p>
            <a:endParaRPr lang="zh-CN" altLang="en-US"/>
          </a:p>
        </p:txBody>
      </p:sp>
      <p:sp>
        <p:nvSpPr>
          <p:cNvPr id="112687" name="Line 267"/>
          <p:cNvSpPr>
            <a:spLocks noChangeShapeType="1"/>
          </p:cNvSpPr>
          <p:nvPr/>
        </p:nvSpPr>
        <p:spPr bwMode="auto">
          <a:xfrm>
            <a:off x="4648200" y="1390650"/>
            <a:ext cx="0" cy="1143000"/>
          </a:xfrm>
          <a:prstGeom prst="line">
            <a:avLst/>
          </a:prstGeom>
          <a:noFill/>
          <a:ln w="38100">
            <a:solidFill>
              <a:schemeClr val="tx1"/>
            </a:solidFill>
            <a:round/>
            <a:headEnd/>
            <a:tailEnd type="none" w="sm" len="lg"/>
          </a:ln>
        </p:spPr>
        <p:txBody>
          <a:bodyPr/>
          <a:lstStyle/>
          <a:p>
            <a:endParaRPr lang="zh-CN" altLang="en-US"/>
          </a:p>
        </p:txBody>
      </p:sp>
      <p:sp>
        <p:nvSpPr>
          <p:cNvPr id="112688" name="Rectangle 268"/>
          <p:cNvSpPr>
            <a:spLocks noChangeArrowheads="1"/>
          </p:cNvSpPr>
          <p:nvPr/>
        </p:nvSpPr>
        <p:spPr bwMode="auto">
          <a:xfrm>
            <a:off x="4572000" y="1619250"/>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89" name="Oval 269"/>
          <p:cNvSpPr>
            <a:spLocks noChangeArrowheads="1"/>
          </p:cNvSpPr>
          <p:nvPr/>
        </p:nvSpPr>
        <p:spPr bwMode="auto">
          <a:xfrm>
            <a:off x="4610100" y="24860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90" name="Oval 270"/>
          <p:cNvSpPr>
            <a:spLocks noChangeArrowheads="1"/>
          </p:cNvSpPr>
          <p:nvPr/>
        </p:nvSpPr>
        <p:spPr bwMode="auto">
          <a:xfrm>
            <a:off x="4610100" y="13430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91" name="Oval 271"/>
          <p:cNvSpPr>
            <a:spLocks noChangeArrowheads="1"/>
          </p:cNvSpPr>
          <p:nvPr/>
        </p:nvSpPr>
        <p:spPr bwMode="auto">
          <a:xfrm>
            <a:off x="3467100" y="135255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92" name="Rectangle 272"/>
          <p:cNvSpPr>
            <a:spLocks noChangeArrowheads="1"/>
          </p:cNvSpPr>
          <p:nvPr/>
        </p:nvSpPr>
        <p:spPr bwMode="auto">
          <a:xfrm>
            <a:off x="3429000" y="3524250"/>
            <a:ext cx="152400" cy="4572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693" name="Line 273"/>
          <p:cNvSpPr>
            <a:spLocks noChangeShapeType="1"/>
          </p:cNvSpPr>
          <p:nvPr/>
        </p:nvSpPr>
        <p:spPr bwMode="auto">
          <a:xfrm flipV="1">
            <a:off x="3505200" y="3371850"/>
            <a:ext cx="533400" cy="1588"/>
          </a:xfrm>
          <a:prstGeom prst="line">
            <a:avLst/>
          </a:prstGeom>
          <a:noFill/>
          <a:ln w="38100">
            <a:solidFill>
              <a:schemeClr val="tx1"/>
            </a:solidFill>
            <a:round/>
            <a:headEnd/>
            <a:tailEnd/>
          </a:ln>
        </p:spPr>
        <p:txBody>
          <a:bodyPr/>
          <a:lstStyle/>
          <a:p>
            <a:endParaRPr lang="zh-CN" altLang="en-US"/>
          </a:p>
        </p:txBody>
      </p:sp>
      <p:sp>
        <p:nvSpPr>
          <p:cNvPr id="112694" name="Line 274"/>
          <p:cNvSpPr>
            <a:spLocks noChangeShapeType="1"/>
          </p:cNvSpPr>
          <p:nvPr/>
        </p:nvSpPr>
        <p:spPr bwMode="auto">
          <a:xfrm>
            <a:off x="4038600" y="3371850"/>
            <a:ext cx="0" cy="304800"/>
          </a:xfrm>
          <a:prstGeom prst="line">
            <a:avLst/>
          </a:prstGeom>
          <a:noFill/>
          <a:ln w="38100">
            <a:solidFill>
              <a:schemeClr val="tx1"/>
            </a:solidFill>
            <a:round/>
            <a:headEnd/>
            <a:tailEnd type="none" w="sm" len="lg"/>
          </a:ln>
        </p:spPr>
        <p:txBody>
          <a:bodyPr/>
          <a:lstStyle/>
          <a:p>
            <a:endParaRPr lang="zh-CN" altLang="en-US"/>
          </a:p>
        </p:txBody>
      </p:sp>
      <p:grpSp>
        <p:nvGrpSpPr>
          <p:cNvPr id="112695" name="Group 275"/>
          <p:cNvGrpSpPr>
            <a:grpSpLocks/>
          </p:cNvGrpSpPr>
          <p:nvPr/>
        </p:nvGrpSpPr>
        <p:grpSpPr bwMode="auto">
          <a:xfrm rot="5505736">
            <a:off x="3962400" y="3600450"/>
            <a:ext cx="152400" cy="304800"/>
            <a:chOff x="1680" y="1584"/>
            <a:chExt cx="96" cy="192"/>
          </a:xfrm>
        </p:grpSpPr>
        <p:sp>
          <p:nvSpPr>
            <p:cNvPr id="112725" name="Line 276"/>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2726" name="Line 277"/>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2696" name="Line 278"/>
          <p:cNvSpPr>
            <a:spLocks noChangeShapeType="1"/>
          </p:cNvSpPr>
          <p:nvPr/>
        </p:nvSpPr>
        <p:spPr bwMode="auto">
          <a:xfrm>
            <a:off x="4038600" y="3829050"/>
            <a:ext cx="0" cy="381000"/>
          </a:xfrm>
          <a:prstGeom prst="line">
            <a:avLst/>
          </a:prstGeom>
          <a:noFill/>
          <a:ln w="38100">
            <a:solidFill>
              <a:schemeClr val="tx1"/>
            </a:solidFill>
            <a:round/>
            <a:headEnd/>
            <a:tailEnd type="none" w="sm" len="lg"/>
          </a:ln>
        </p:spPr>
        <p:txBody>
          <a:bodyPr/>
          <a:lstStyle/>
          <a:p>
            <a:endParaRPr lang="zh-CN" altLang="en-US"/>
          </a:p>
        </p:txBody>
      </p:sp>
      <p:sp>
        <p:nvSpPr>
          <p:cNvPr id="112697" name="Oval 279"/>
          <p:cNvSpPr>
            <a:spLocks noChangeArrowheads="1"/>
          </p:cNvSpPr>
          <p:nvPr/>
        </p:nvSpPr>
        <p:spPr bwMode="auto">
          <a:xfrm>
            <a:off x="3467100" y="333375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2698" name="Text Box 280"/>
          <p:cNvSpPr txBox="1">
            <a:spLocks noChangeArrowheads="1"/>
          </p:cNvSpPr>
          <p:nvPr/>
        </p:nvSpPr>
        <p:spPr bwMode="auto">
          <a:xfrm>
            <a:off x="2743200" y="34480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E1</a:t>
            </a:r>
          </a:p>
        </p:txBody>
      </p:sp>
      <p:sp>
        <p:nvSpPr>
          <p:cNvPr id="112699" name="Text Box 281"/>
          <p:cNvSpPr txBox="1">
            <a:spLocks noChangeArrowheads="1"/>
          </p:cNvSpPr>
          <p:nvPr/>
        </p:nvSpPr>
        <p:spPr bwMode="auto">
          <a:xfrm>
            <a:off x="4648200" y="15430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B3</a:t>
            </a:r>
          </a:p>
        </p:txBody>
      </p:sp>
      <p:sp>
        <p:nvSpPr>
          <p:cNvPr id="112700" name="Rectangle 282"/>
          <p:cNvSpPr>
            <a:spLocks noChangeArrowheads="1"/>
          </p:cNvSpPr>
          <p:nvPr/>
        </p:nvSpPr>
        <p:spPr bwMode="auto">
          <a:xfrm>
            <a:off x="3505200" y="2076450"/>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2701" name="Rectangle 283"/>
          <p:cNvSpPr>
            <a:spLocks noChangeArrowheads="1"/>
          </p:cNvSpPr>
          <p:nvPr/>
        </p:nvSpPr>
        <p:spPr bwMode="auto">
          <a:xfrm>
            <a:off x="4038600" y="3219450"/>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2702" name="Rectangle 284"/>
          <p:cNvSpPr>
            <a:spLocks noChangeArrowheads="1"/>
          </p:cNvSpPr>
          <p:nvPr/>
        </p:nvSpPr>
        <p:spPr bwMode="auto">
          <a:xfrm>
            <a:off x="2286000" y="2533650"/>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grpSp>
        <p:nvGrpSpPr>
          <p:cNvPr id="112703" name="Group 285"/>
          <p:cNvGrpSpPr>
            <a:grpSpLocks/>
          </p:cNvGrpSpPr>
          <p:nvPr/>
        </p:nvGrpSpPr>
        <p:grpSpPr bwMode="auto">
          <a:xfrm>
            <a:off x="5867400" y="2914650"/>
            <a:ext cx="152400" cy="304800"/>
            <a:chOff x="1680" y="1584"/>
            <a:chExt cx="96" cy="192"/>
          </a:xfrm>
        </p:grpSpPr>
        <p:sp>
          <p:nvSpPr>
            <p:cNvPr id="112723" name="Line 286"/>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2724" name="Line 287"/>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2704" name="Line 288"/>
          <p:cNvSpPr>
            <a:spLocks noChangeShapeType="1"/>
          </p:cNvSpPr>
          <p:nvPr/>
        </p:nvSpPr>
        <p:spPr bwMode="auto">
          <a:xfrm flipV="1">
            <a:off x="6019800" y="3067050"/>
            <a:ext cx="609600" cy="1588"/>
          </a:xfrm>
          <a:prstGeom prst="line">
            <a:avLst/>
          </a:prstGeom>
          <a:noFill/>
          <a:ln w="38100">
            <a:solidFill>
              <a:schemeClr val="tx1"/>
            </a:solidFill>
            <a:round/>
            <a:headEnd/>
            <a:tailEnd/>
          </a:ln>
        </p:spPr>
        <p:txBody>
          <a:bodyPr/>
          <a:lstStyle/>
          <a:p>
            <a:endParaRPr lang="zh-CN" altLang="en-US"/>
          </a:p>
        </p:txBody>
      </p:sp>
      <p:sp>
        <p:nvSpPr>
          <p:cNvPr id="112705" name="Rectangle 289"/>
          <p:cNvSpPr>
            <a:spLocks noChangeArrowheads="1"/>
          </p:cNvSpPr>
          <p:nvPr/>
        </p:nvSpPr>
        <p:spPr bwMode="auto">
          <a:xfrm>
            <a:off x="5562600" y="2609850"/>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2706" name="Text Box 290"/>
          <p:cNvSpPr txBox="1">
            <a:spLocks noChangeArrowheads="1"/>
          </p:cNvSpPr>
          <p:nvPr/>
        </p:nvSpPr>
        <p:spPr bwMode="auto">
          <a:xfrm>
            <a:off x="1828800" y="23050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1</a:t>
            </a:r>
          </a:p>
        </p:txBody>
      </p:sp>
      <p:sp>
        <p:nvSpPr>
          <p:cNvPr id="112707" name="Text Box 291"/>
          <p:cNvSpPr txBox="1">
            <a:spLocks noChangeArrowheads="1"/>
          </p:cNvSpPr>
          <p:nvPr/>
        </p:nvSpPr>
        <p:spPr bwMode="auto">
          <a:xfrm>
            <a:off x="3733800" y="19240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2</a:t>
            </a:r>
          </a:p>
        </p:txBody>
      </p:sp>
      <p:sp>
        <p:nvSpPr>
          <p:cNvPr id="112708" name="Text Box 292"/>
          <p:cNvSpPr txBox="1">
            <a:spLocks noChangeArrowheads="1"/>
          </p:cNvSpPr>
          <p:nvPr/>
        </p:nvSpPr>
        <p:spPr bwMode="auto">
          <a:xfrm>
            <a:off x="5715000" y="23812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3</a:t>
            </a:r>
          </a:p>
        </p:txBody>
      </p:sp>
      <p:sp>
        <p:nvSpPr>
          <p:cNvPr id="112709" name="Text Box 293"/>
          <p:cNvSpPr txBox="1">
            <a:spLocks noChangeArrowheads="1"/>
          </p:cNvSpPr>
          <p:nvPr/>
        </p:nvSpPr>
        <p:spPr bwMode="auto">
          <a:xfrm>
            <a:off x="4114800" y="3448050"/>
            <a:ext cx="7620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E1</a:t>
            </a:r>
          </a:p>
        </p:txBody>
      </p:sp>
      <p:sp>
        <p:nvSpPr>
          <p:cNvPr id="112710" name="Line 294"/>
          <p:cNvSpPr>
            <a:spLocks noChangeShapeType="1"/>
          </p:cNvSpPr>
          <p:nvPr/>
        </p:nvSpPr>
        <p:spPr bwMode="auto">
          <a:xfrm>
            <a:off x="6629400" y="3067050"/>
            <a:ext cx="0" cy="1143000"/>
          </a:xfrm>
          <a:prstGeom prst="line">
            <a:avLst/>
          </a:prstGeom>
          <a:noFill/>
          <a:ln w="38100">
            <a:solidFill>
              <a:schemeClr val="tx1"/>
            </a:solidFill>
            <a:round/>
            <a:headEnd/>
            <a:tailEnd type="none" w="sm" len="lg"/>
          </a:ln>
        </p:spPr>
        <p:txBody>
          <a:bodyPr/>
          <a:lstStyle/>
          <a:p>
            <a:endParaRPr lang="zh-CN" altLang="en-US"/>
          </a:p>
        </p:txBody>
      </p:sp>
      <p:sp>
        <p:nvSpPr>
          <p:cNvPr id="112711" name="Rectangle 295"/>
          <p:cNvSpPr>
            <a:spLocks noChangeArrowheads="1"/>
          </p:cNvSpPr>
          <p:nvPr/>
        </p:nvSpPr>
        <p:spPr bwMode="auto">
          <a:xfrm>
            <a:off x="6553200" y="3371850"/>
            <a:ext cx="152400" cy="533400"/>
          </a:xfrm>
          <a:prstGeom prst="rect">
            <a:avLst/>
          </a:prstGeom>
          <a:solidFill>
            <a:schemeClr val="bg2"/>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2712" name="Text Box 296"/>
          <p:cNvSpPr txBox="1">
            <a:spLocks noChangeArrowheads="1"/>
          </p:cNvSpPr>
          <p:nvPr/>
        </p:nvSpPr>
        <p:spPr bwMode="auto">
          <a:xfrm>
            <a:off x="5943600" y="3295650"/>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L</a:t>
            </a:r>
          </a:p>
        </p:txBody>
      </p:sp>
      <p:sp>
        <p:nvSpPr>
          <p:cNvPr id="112713" name="Line 297"/>
          <p:cNvSpPr>
            <a:spLocks noChangeShapeType="1"/>
          </p:cNvSpPr>
          <p:nvPr/>
        </p:nvSpPr>
        <p:spPr bwMode="auto">
          <a:xfrm>
            <a:off x="990600" y="2990850"/>
            <a:ext cx="0" cy="1219200"/>
          </a:xfrm>
          <a:prstGeom prst="line">
            <a:avLst/>
          </a:prstGeom>
          <a:noFill/>
          <a:ln w="38100">
            <a:solidFill>
              <a:schemeClr val="tx1"/>
            </a:solidFill>
            <a:round/>
            <a:headEnd/>
            <a:tailEnd type="none" w="sm" len="lg"/>
          </a:ln>
        </p:spPr>
        <p:txBody>
          <a:bodyPr/>
          <a:lstStyle/>
          <a:p>
            <a:endParaRPr lang="zh-CN" altLang="en-US"/>
          </a:p>
        </p:txBody>
      </p:sp>
      <p:sp>
        <p:nvSpPr>
          <p:cNvPr id="112714" name="Rectangle 298"/>
          <p:cNvSpPr>
            <a:spLocks noChangeArrowheads="1"/>
          </p:cNvSpPr>
          <p:nvPr/>
        </p:nvSpPr>
        <p:spPr bwMode="auto">
          <a:xfrm>
            <a:off x="914400" y="3143250"/>
            <a:ext cx="152400" cy="381000"/>
          </a:xfrm>
          <a:prstGeom prst="rect">
            <a:avLst/>
          </a:prstGeom>
          <a:solidFill>
            <a:srgbClr val="FFFF99"/>
          </a:solidFill>
          <a:ln w="38100">
            <a:solidFill>
              <a:srgbClr val="FF3300"/>
            </a:solidFill>
            <a:miter lim="800000"/>
            <a:headEnd/>
            <a:tailEnd type="none" w="sm" len="lg"/>
          </a:ln>
        </p:spPr>
        <p:txBody>
          <a:bodyPr wrap="none" anchor="ctr"/>
          <a:lstStyle/>
          <a:p>
            <a:pPr algn="ctr" eaLnBrk="1" hangingPunct="1"/>
            <a:endParaRPr lang="zh-CN" altLang="en-US"/>
          </a:p>
        </p:txBody>
      </p:sp>
      <p:sp>
        <p:nvSpPr>
          <p:cNvPr id="112715" name="Text Box 300"/>
          <p:cNvSpPr txBox="1">
            <a:spLocks noChangeArrowheads="1"/>
          </p:cNvSpPr>
          <p:nvPr/>
        </p:nvSpPr>
        <p:spPr bwMode="auto">
          <a:xfrm>
            <a:off x="228600" y="2900363"/>
            <a:ext cx="914400" cy="519112"/>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S</a:t>
            </a:r>
          </a:p>
        </p:txBody>
      </p:sp>
      <p:sp>
        <p:nvSpPr>
          <p:cNvPr id="112716" name="Rectangle 301"/>
          <p:cNvSpPr>
            <a:spLocks noChangeArrowheads="1"/>
          </p:cNvSpPr>
          <p:nvPr/>
        </p:nvSpPr>
        <p:spPr bwMode="auto">
          <a:xfrm>
            <a:off x="533400" y="3295650"/>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2717" name="Rectangle 302"/>
          <p:cNvSpPr>
            <a:spLocks noChangeArrowheads="1"/>
          </p:cNvSpPr>
          <p:nvPr/>
        </p:nvSpPr>
        <p:spPr bwMode="auto">
          <a:xfrm>
            <a:off x="609600" y="3676650"/>
            <a:ext cx="361950" cy="519113"/>
          </a:xfrm>
          <a:prstGeom prst="rect">
            <a:avLst/>
          </a:prstGeom>
          <a:noFill/>
          <a:ln w="38100">
            <a:noFill/>
            <a:miter lim="800000"/>
            <a:headEnd/>
            <a:tailEnd type="none" w="sm" len="lg"/>
          </a:ln>
        </p:spPr>
        <p:txBody>
          <a:bodyPr wrap="none">
            <a:spAutoFit/>
          </a:bodyPr>
          <a:lstStyle/>
          <a:p>
            <a:pPr algn="ctr" eaLnBrk="1" hangingPunct="1"/>
            <a:r>
              <a:rPr lang="en-US" altLang="zh-CN" i="1">
                <a:solidFill>
                  <a:srgbClr val="FF3300"/>
                </a:solidFill>
              </a:rPr>
              <a:t>_</a:t>
            </a:r>
          </a:p>
        </p:txBody>
      </p:sp>
      <p:sp>
        <p:nvSpPr>
          <p:cNvPr id="112718" name="Text Box 303"/>
          <p:cNvSpPr txBox="1">
            <a:spLocks noChangeArrowheads="1"/>
          </p:cNvSpPr>
          <p:nvPr/>
        </p:nvSpPr>
        <p:spPr bwMode="auto">
          <a:xfrm>
            <a:off x="304800" y="3524250"/>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t>u</a:t>
            </a:r>
            <a:r>
              <a:rPr lang="en-US" altLang="zh-CN" baseline="-25000"/>
              <a:t>s</a:t>
            </a:r>
          </a:p>
        </p:txBody>
      </p:sp>
      <p:sp>
        <p:nvSpPr>
          <p:cNvPr id="13616" name="Text Box 304"/>
          <p:cNvSpPr txBox="1">
            <a:spLocks noChangeArrowheads="1"/>
          </p:cNvSpPr>
          <p:nvPr/>
        </p:nvSpPr>
        <p:spPr bwMode="auto">
          <a:xfrm>
            <a:off x="304800" y="4819650"/>
            <a:ext cx="38862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1.  </a:t>
            </a:r>
            <a:r>
              <a:rPr lang="zh-CN" altLang="en-US"/>
              <a:t>求静态值：</a:t>
            </a:r>
          </a:p>
        </p:txBody>
      </p:sp>
      <p:sp>
        <p:nvSpPr>
          <p:cNvPr id="13617" name="Text Box 305"/>
          <p:cNvSpPr txBox="1">
            <a:spLocks noChangeArrowheads="1"/>
          </p:cNvSpPr>
          <p:nvPr/>
        </p:nvSpPr>
        <p:spPr bwMode="auto">
          <a:xfrm>
            <a:off x="304800" y="5380038"/>
            <a:ext cx="8610600" cy="461962"/>
          </a:xfrm>
          <a:prstGeom prst="rect">
            <a:avLst/>
          </a:prstGeom>
          <a:noFill/>
          <a:ln w="38100">
            <a:noFill/>
            <a:miter lim="800000"/>
            <a:headEnd/>
            <a:tailEnd type="none" w="sm" len="lg"/>
          </a:ln>
        </p:spPr>
        <p:txBody>
          <a:bodyPr>
            <a:spAutoFit/>
          </a:bodyPr>
          <a:lstStyle/>
          <a:p>
            <a:pPr eaLnBrk="1" hangingPunct="1">
              <a:spcBef>
                <a:spcPct val="50000"/>
              </a:spcBef>
            </a:pPr>
            <a:r>
              <a:rPr lang="zh-CN" altLang="en-US" b="1"/>
              <a:t>这是一阻容耦合放大电路，各级静态值可按单级计算。</a:t>
            </a:r>
            <a:endParaRPr lang="en-US" altLang="zh-CN" b="1"/>
          </a:p>
        </p:txBody>
      </p:sp>
      <p:sp>
        <p:nvSpPr>
          <p:cNvPr id="90" name="Rectangle 8"/>
          <p:cNvSpPr txBox="1">
            <a:spLocks noChangeArrowheads="1"/>
          </p:cNvSpPr>
          <p:nvPr/>
        </p:nvSpPr>
        <p:spPr>
          <a:xfrm>
            <a:off x="0" y="252413"/>
            <a:ext cx="6126163" cy="519112"/>
          </a:xfrm>
          <a:prstGeom prst="rect">
            <a:avLst/>
          </a:prstGeom>
        </p:spPr>
        <p:txBody>
          <a:bodyPr/>
          <a:lstStyle/>
          <a:p>
            <a:pPr>
              <a:defRPr/>
            </a:pPr>
            <a:r>
              <a:rPr kumimoji="0" lang="en-US" altLang="zh-CN" sz="3200" b="1" dirty="0">
                <a:latin typeface="+mj-lt"/>
                <a:ea typeface="华文行楷" pitchFamily="2" charset="-122"/>
                <a:cs typeface="+mj-cs"/>
              </a:rPr>
              <a:t>3.2.2  </a:t>
            </a:r>
            <a:r>
              <a:rPr kumimoji="0" lang="zh-CN" altLang="en-US" sz="3200" b="1" dirty="0">
                <a:latin typeface="+mj-lt"/>
                <a:ea typeface="华文行楷" pitchFamily="2" charset="-122"/>
                <a:cs typeface="+mj-cs"/>
              </a:rPr>
              <a:t>分析举例</a:t>
            </a:r>
          </a:p>
        </p:txBody>
      </p:sp>
      <p:sp>
        <p:nvSpPr>
          <p:cNvPr id="91" name="TextBox 90"/>
          <p:cNvSpPr txBox="1">
            <a:spLocks noChangeArrowheads="1"/>
          </p:cNvSpPr>
          <p:nvPr/>
        </p:nvSpPr>
        <p:spPr bwMode="auto">
          <a:xfrm>
            <a:off x="428625" y="5719763"/>
            <a:ext cx="2571750" cy="1138237"/>
          </a:xfrm>
          <a:prstGeom prst="rect">
            <a:avLst/>
          </a:prstGeom>
          <a:noFill/>
          <a:ln w="9525">
            <a:noFill/>
            <a:miter lim="800000"/>
            <a:headEnd/>
            <a:tailEnd/>
          </a:ln>
        </p:spPr>
        <p:txBody>
          <a:bodyPr>
            <a:spAutoFit/>
          </a:bodyPr>
          <a:lstStyle/>
          <a:p>
            <a:pPr algn="ctr" eaLnBrk="1" hangingPunct="1"/>
            <a:r>
              <a:rPr lang="zh-CN" altLang="en-US" b="1"/>
              <a:t>求出各级的</a:t>
            </a:r>
            <a:r>
              <a:rPr lang="en-US" altLang="zh-CN" sz="4400" b="1"/>
              <a:t>r</a:t>
            </a:r>
            <a:r>
              <a:rPr lang="en-US" altLang="zh-CN" sz="2000" b="1"/>
              <a:t>be</a:t>
            </a:r>
            <a:endParaRPr lang="zh-CN" altLang="en-US" b="1"/>
          </a:p>
          <a:p>
            <a:pPr algn="ctr" eaLnBrk="1" hangingPunct="1"/>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6"/>
                                        </p:tgtEl>
                                        <p:attrNameLst>
                                          <p:attrName>style.visibility</p:attrName>
                                        </p:attrNameLst>
                                      </p:cBhvr>
                                      <p:to>
                                        <p:strVal val="visible"/>
                                      </p:to>
                                    </p:set>
                                    <p:animEffect transition="in" filter="wipe(left)">
                                      <p:cBhvr>
                                        <p:cTn id="7" dur="3000"/>
                                        <p:tgtEl>
                                          <p:spTgt spid="136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617"/>
                                        </p:tgtEl>
                                        <p:attrNameLst>
                                          <p:attrName>style.visibility</p:attrName>
                                        </p:attrNameLst>
                                      </p:cBhvr>
                                      <p:to>
                                        <p:strVal val="visible"/>
                                      </p:to>
                                    </p:set>
                                    <p:anim calcmode="lin" valueType="num">
                                      <p:cBhvr additive="base">
                                        <p:cTn id="12" dur="3000" fill="hold"/>
                                        <p:tgtEl>
                                          <p:spTgt spid="13617"/>
                                        </p:tgtEl>
                                        <p:attrNameLst>
                                          <p:attrName>ppt_x</p:attrName>
                                        </p:attrNameLst>
                                      </p:cBhvr>
                                      <p:tavLst>
                                        <p:tav tm="0">
                                          <p:val>
                                            <p:strVal val="#ppt_x"/>
                                          </p:val>
                                        </p:tav>
                                        <p:tav tm="100000">
                                          <p:val>
                                            <p:strVal val="#ppt_x"/>
                                          </p:val>
                                        </p:tav>
                                      </p:tavLst>
                                    </p:anim>
                                    <p:anim calcmode="lin" valueType="num">
                                      <p:cBhvr additive="base">
                                        <p:cTn id="13" dur="3000" fill="hold"/>
                                        <p:tgtEl>
                                          <p:spTgt spid="1361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animEffect transition="in" filter="blinds(horizontal)">
                                      <p:cBhvr>
                                        <p:cTn id="18"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6" grpId="0" autoUpdateAnimBg="0"/>
      <p:bldP spid="13617" grpId="0"/>
      <p:bldP spid="9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Oval 299"/>
          <p:cNvSpPr>
            <a:spLocks noChangeArrowheads="1"/>
          </p:cNvSpPr>
          <p:nvPr/>
        </p:nvSpPr>
        <p:spPr bwMode="auto">
          <a:xfrm>
            <a:off x="1408113" y="2730500"/>
            <a:ext cx="457200" cy="457200"/>
          </a:xfrm>
          <a:prstGeom prst="ellipse">
            <a:avLst/>
          </a:prstGeom>
          <a:solidFill>
            <a:srgbClr val="FFFF99"/>
          </a:solidFill>
          <a:ln w="38100">
            <a:solidFill>
              <a:srgbClr val="FF3300"/>
            </a:solidFill>
            <a:round/>
            <a:headEnd/>
            <a:tailEnd type="none" w="sm" len="lg"/>
          </a:ln>
        </p:spPr>
        <p:txBody>
          <a:bodyPr wrap="none" anchor="ctr"/>
          <a:lstStyle/>
          <a:p>
            <a:pPr algn="ctr" eaLnBrk="1" hangingPunct="1"/>
            <a:endParaRPr lang="zh-CN" altLang="en-US"/>
          </a:p>
        </p:txBody>
      </p:sp>
      <p:sp>
        <p:nvSpPr>
          <p:cNvPr id="113667" name="Line 217"/>
          <p:cNvSpPr>
            <a:spLocks noChangeShapeType="1"/>
          </p:cNvSpPr>
          <p:nvPr/>
        </p:nvSpPr>
        <p:spPr bwMode="auto">
          <a:xfrm flipV="1">
            <a:off x="2932113" y="2092325"/>
            <a:ext cx="836612" cy="1588"/>
          </a:xfrm>
          <a:prstGeom prst="line">
            <a:avLst/>
          </a:prstGeom>
          <a:noFill/>
          <a:ln w="38100">
            <a:solidFill>
              <a:schemeClr val="tx1"/>
            </a:solidFill>
            <a:round/>
            <a:headEnd/>
            <a:tailEnd/>
          </a:ln>
        </p:spPr>
        <p:txBody>
          <a:bodyPr/>
          <a:lstStyle/>
          <a:p>
            <a:endParaRPr lang="zh-CN" altLang="en-US"/>
          </a:p>
        </p:txBody>
      </p:sp>
      <p:sp>
        <p:nvSpPr>
          <p:cNvPr id="113668" name="Line 218"/>
          <p:cNvSpPr>
            <a:spLocks noChangeShapeType="1"/>
          </p:cNvSpPr>
          <p:nvPr/>
        </p:nvSpPr>
        <p:spPr bwMode="auto">
          <a:xfrm>
            <a:off x="3770313" y="1863725"/>
            <a:ext cx="0" cy="457200"/>
          </a:xfrm>
          <a:prstGeom prst="line">
            <a:avLst/>
          </a:prstGeom>
          <a:noFill/>
          <a:ln w="38100">
            <a:solidFill>
              <a:schemeClr val="tx1"/>
            </a:solidFill>
            <a:round/>
            <a:headEnd/>
            <a:tailEnd/>
          </a:ln>
        </p:spPr>
        <p:txBody>
          <a:bodyPr/>
          <a:lstStyle/>
          <a:p>
            <a:endParaRPr lang="zh-CN" altLang="en-US"/>
          </a:p>
        </p:txBody>
      </p:sp>
      <p:sp>
        <p:nvSpPr>
          <p:cNvPr id="113669" name="Line 219"/>
          <p:cNvSpPr>
            <a:spLocks noChangeShapeType="1"/>
          </p:cNvSpPr>
          <p:nvPr/>
        </p:nvSpPr>
        <p:spPr bwMode="auto">
          <a:xfrm flipV="1">
            <a:off x="3770313" y="1787525"/>
            <a:ext cx="381000" cy="228600"/>
          </a:xfrm>
          <a:prstGeom prst="line">
            <a:avLst/>
          </a:prstGeom>
          <a:noFill/>
          <a:ln w="38100">
            <a:solidFill>
              <a:schemeClr val="tx1"/>
            </a:solidFill>
            <a:round/>
            <a:headEnd/>
            <a:tailEnd/>
          </a:ln>
        </p:spPr>
        <p:txBody>
          <a:bodyPr/>
          <a:lstStyle/>
          <a:p>
            <a:endParaRPr lang="zh-CN" altLang="en-US"/>
          </a:p>
        </p:txBody>
      </p:sp>
      <p:sp>
        <p:nvSpPr>
          <p:cNvPr id="113670" name="Line 220"/>
          <p:cNvSpPr>
            <a:spLocks noChangeShapeType="1"/>
          </p:cNvSpPr>
          <p:nvPr/>
        </p:nvSpPr>
        <p:spPr bwMode="auto">
          <a:xfrm>
            <a:off x="3768725" y="2168525"/>
            <a:ext cx="382588" cy="228600"/>
          </a:xfrm>
          <a:prstGeom prst="line">
            <a:avLst/>
          </a:prstGeom>
          <a:noFill/>
          <a:ln w="38100">
            <a:solidFill>
              <a:schemeClr val="tx1"/>
            </a:solidFill>
            <a:round/>
            <a:headEnd/>
            <a:tailEnd type="triangle" w="sm" len="lg"/>
          </a:ln>
        </p:spPr>
        <p:txBody>
          <a:bodyPr/>
          <a:lstStyle/>
          <a:p>
            <a:endParaRPr lang="zh-CN" altLang="en-US"/>
          </a:p>
        </p:txBody>
      </p:sp>
      <p:sp>
        <p:nvSpPr>
          <p:cNvPr id="113671" name="Line 221"/>
          <p:cNvSpPr>
            <a:spLocks noChangeShapeType="1"/>
          </p:cNvSpPr>
          <p:nvPr/>
        </p:nvSpPr>
        <p:spPr bwMode="auto">
          <a:xfrm>
            <a:off x="4151313" y="2397125"/>
            <a:ext cx="0" cy="1066800"/>
          </a:xfrm>
          <a:prstGeom prst="line">
            <a:avLst/>
          </a:prstGeom>
          <a:noFill/>
          <a:ln w="38100">
            <a:solidFill>
              <a:schemeClr val="tx1"/>
            </a:solidFill>
            <a:round/>
            <a:headEnd/>
            <a:tailEnd type="none" w="sm" len="lg"/>
          </a:ln>
        </p:spPr>
        <p:txBody>
          <a:bodyPr/>
          <a:lstStyle/>
          <a:p>
            <a:endParaRPr lang="zh-CN" altLang="en-US"/>
          </a:p>
        </p:txBody>
      </p:sp>
      <p:sp>
        <p:nvSpPr>
          <p:cNvPr id="113672" name="Line 222"/>
          <p:cNvSpPr>
            <a:spLocks noChangeShapeType="1"/>
          </p:cNvSpPr>
          <p:nvPr/>
        </p:nvSpPr>
        <p:spPr bwMode="auto">
          <a:xfrm>
            <a:off x="4151313" y="492125"/>
            <a:ext cx="0" cy="1295400"/>
          </a:xfrm>
          <a:prstGeom prst="line">
            <a:avLst/>
          </a:prstGeom>
          <a:noFill/>
          <a:ln w="38100">
            <a:solidFill>
              <a:schemeClr val="tx1"/>
            </a:solidFill>
            <a:round/>
            <a:headEnd/>
            <a:tailEnd type="none" w="sm" len="lg"/>
          </a:ln>
        </p:spPr>
        <p:txBody>
          <a:bodyPr/>
          <a:lstStyle/>
          <a:p>
            <a:endParaRPr lang="zh-CN" altLang="en-US"/>
          </a:p>
        </p:txBody>
      </p:sp>
      <p:sp>
        <p:nvSpPr>
          <p:cNvPr id="113673" name="Freeform 223"/>
          <p:cNvSpPr>
            <a:spLocks/>
          </p:cNvSpPr>
          <p:nvPr/>
        </p:nvSpPr>
        <p:spPr bwMode="auto">
          <a:xfrm>
            <a:off x="3313113" y="492125"/>
            <a:ext cx="3657600" cy="2819400"/>
          </a:xfrm>
          <a:custGeom>
            <a:avLst/>
            <a:gdLst>
              <a:gd name="T0" fmla="*/ 0 w 1824"/>
              <a:gd name="T1" fmla="*/ 2147483647 h 816"/>
              <a:gd name="T2" fmla="*/ 0 w 1824"/>
              <a:gd name="T3" fmla="*/ 0 h 816"/>
              <a:gd name="T4" fmla="*/ 2147483647 w 1824"/>
              <a:gd name="T5" fmla="*/ 0 h 816"/>
              <a:gd name="T6" fmla="*/ 0 60000 65536"/>
              <a:gd name="T7" fmla="*/ 0 60000 65536"/>
              <a:gd name="T8" fmla="*/ 0 60000 65536"/>
              <a:gd name="T9" fmla="*/ 0 w 1824"/>
              <a:gd name="T10" fmla="*/ 0 h 816"/>
              <a:gd name="T11" fmla="*/ 1824 w 1824"/>
              <a:gd name="T12" fmla="*/ 816 h 816"/>
            </a:gdLst>
            <a:ahLst/>
            <a:cxnLst>
              <a:cxn ang="T6">
                <a:pos x="T0" y="T1"/>
              </a:cxn>
              <a:cxn ang="T7">
                <a:pos x="T2" y="T3"/>
              </a:cxn>
              <a:cxn ang="T8">
                <a:pos x="T4" y="T5"/>
              </a:cxn>
            </a:cxnLst>
            <a:rect l="T9" t="T10" r="T11" b="T12"/>
            <a:pathLst>
              <a:path w="1824" h="816">
                <a:moveTo>
                  <a:pt x="0" y="816"/>
                </a:moveTo>
                <a:lnTo>
                  <a:pt x="0" y="0"/>
                </a:lnTo>
                <a:lnTo>
                  <a:pt x="1824" y="0"/>
                </a:lnTo>
              </a:path>
            </a:pathLst>
          </a:custGeom>
          <a:noFill/>
          <a:ln w="38100">
            <a:solidFill>
              <a:schemeClr val="tx1"/>
            </a:solidFill>
            <a:round/>
            <a:headEnd/>
            <a:tailEnd type="none" w="sm" len="lg"/>
          </a:ln>
        </p:spPr>
        <p:txBody>
          <a:bodyPr/>
          <a:lstStyle/>
          <a:p>
            <a:endParaRPr lang="zh-CN" altLang="en-US"/>
          </a:p>
        </p:txBody>
      </p:sp>
      <p:sp>
        <p:nvSpPr>
          <p:cNvPr id="113674" name="Line 224"/>
          <p:cNvSpPr>
            <a:spLocks noChangeShapeType="1"/>
          </p:cNvSpPr>
          <p:nvPr/>
        </p:nvSpPr>
        <p:spPr bwMode="auto">
          <a:xfrm>
            <a:off x="4151313" y="1635125"/>
            <a:ext cx="381000" cy="0"/>
          </a:xfrm>
          <a:prstGeom prst="line">
            <a:avLst/>
          </a:prstGeom>
          <a:noFill/>
          <a:ln w="38100">
            <a:solidFill>
              <a:schemeClr val="tx1"/>
            </a:solidFill>
            <a:round/>
            <a:headEnd/>
            <a:tailEnd type="none" w="sm" len="lg"/>
          </a:ln>
        </p:spPr>
        <p:txBody>
          <a:bodyPr/>
          <a:lstStyle/>
          <a:p>
            <a:endParaRPr lang="zh-CN" altLang="en-US"/>
          </a:p>
        </p:txBody>
      </p:sp>
      <p:sp>
        <p:nvSpPr>
          <p:cNvPr id="113675" name="Line 225"/>
          <p:cNvSpPr>
            <a:spLocks noChangeShapeType="1"/>
          </p:cNvSpPr>
          <p:nvPr/>
        </p:nvSpPr>
        <p:spPr bwMode="auto">
          <a:xfrm>
            <a:off x="5753100" y="1406525"/>
            <a:ext cx="0" cy="457200"/>
          </a:xfrm>
          <a:prstGeom prst="line">
            <a:avLst/>
          </a:prstGeom>
          <a:noFill/>
          <a:ln w="38100">
            <a:solidFill>
              <a:schemeClr val="tx1"/>
            </a:solidFill>
            <a:round/>
            <a:headEnd/>
            <a:tailEnd/>
          </a:ln>
        </p:spPr>
        <p:txBody>
          <a:bodyPr/>
          <a:lstStyle/>
          <a:p>
            <a:endParaRPr lang="zh-CN" altLang="en-US"/>
          </a:p>
        </p:txBody>
      </p:sp>
      <p:sp>
        <p:nvSpPr>
          <p:cNvPr id="113676" name="Line 226"/>
          <p:cNvSpPr>
            <a:spLocks noChangeShapeType="1"/>
          </p:cNvSpPr>
          <p:nvPr/>
        </p:nvSpPr>
        <p:spPr bwMode="auto">
          <a:xfrm flipV="1">
            <a:off x="5753100" y="1330325"/>
            <a:ext cx="381000" cy="228600"/>
          </a:xfrm>
          <a:prstGeom prst="line">
            <a:avLst/>
          </a:prstGeom>
          <a:noFill/>
          <a:ln w="38100">
            <a:solidFill>
              <a:schemeClr val="tx1"/>
            </a:solidFill>
            <a:round/>
            <a:headEnd/>
            <a:tailEnd/>
          </a:ln>
        </p:spPr>
        <p:txBody>
          <a:bodyPr/>
          <a:lstStyle/>
          <a:p>
            <a:endParaRPr lang="zh-CN" altLang="en-US"/>
          </a:p>
        </p:txBody>
      </p:sp>
      <p:sp>
        <p:nvSpPr>
          <p:cNvPr id="113677" name="Line 227"/>
          <p:cNvSpPr>
            <a:spLocks noChangeShapeType="1"/>
          </p:cNvSpPr>
          <p:nvPr/>
        </p:nvSpPr>
        <p:spPr bwMode="auto">
          <a:xfrm>
            <a:off x="5751513" y="1711325"/>
            <a:ext cx="382587" cy="228600"/>
          </a:xfrm>
          <a:prstGeom prst="line">
            <a:avLst/>
          </a:prstGeom>
          <a:noFill/>
          <a:ln w="38100">
            <a:solidFill>
              <a:schemeClr val="tx1"/>
            </a:solidFill>
            <a:round/>
            <a:headEnd/>
            <a:tailEnd type="triangle" w="sm" len="lg"/>
          </a:ln>
        </p:spPr>
        <p:txBody>
          <a:bodyPr/>
          <a:lstStyle/>
          <a:p>
            <a:endParaRPr lang="zh-CN" altLang="en-US"/>
          </a:p>
        </p:txBody>
      </p:sp>
      <p:sp>
        <p:nvSpPr>
          <p:cNvPr id="113678" name="Line 228"/>
          <p:cNvSpPr>
            <a:spLocks noChangeShapeType="1"/>
          </p:cNvSpPr>
          <p:nvPr/>
        </p:nvSpPr>
        <p:spPr bwMode="auto">
          <a:xfrm>
            <a:off x="6132513" y="492125"/>
            <a:ext cx="0" cy="838200"/>
          </a:xfrm>
          <a:prstGeom prst="line">
            <a:avLst/>
          </a:prstGeom>
          <a:noFill/>
          <a:ln w="38100">
            <a:solidFill>
              <a:schemeClr val="tx1"/>
            </a:solidFill>
            <a:round/>
            <a:headEnd/>
            <a:tailEnd type="none" w="sm" len="lg"/>
          </a:ln>
        </p:spPr>
        <p:txBody>
          <a:bodyPr/>
          <a:lstStyle/>
          <a:p>
            <a:endParaRPr lang="zh-CN" altLang="en-US"/>
          </a:p>
        </p:txBody>
      </p:sp>
      <p:sp>
        <p:nvSpPr>
          <p:cNvPr id="113679" name="Line 229"/>
          <p:cNvSpPr>
            <a:spLocks noChangeShapeType="1"/>
          </p:cNvSpPr>
          <p:nvPr/>
        </p:nvSpPr>
        <p:spPr bwMode="auto">
          <a:xfrm>
            <a:off x="6132513" y="1939925"/>
            <a:ext cx="0" cy="1371600"/>
          </a:xfrm>
          <a:prstGeom prst="line">
            <a:avLst/>
          </a:prstGeom>
          <a:noFill/>
          <a:ln w="38100">
            <a:solidFill>
              <a:schemeClr val="tx1"/>
            </a:solidFill>
            <a:round/>
            <a:headEnd/>
            <a:tailEnd type="none" w="sm" len="lg"/>
          </a:ln>
        </p:spPr>
        <p:txBody>
          <a:bodyPr/>
          <a:lstStyle/>
          <a:p>
            <a:endParaRPr lang="zh-CN" altLang="en-US"/>
          </a:p>
        </p:txBody>
      </p:sp>
      <p:sp>
        <p:nvSpPr>
          <p:cNvPr id="113680" name="Rectangle 230"/>
          <p:cNvSpPr>
            <a:spLocks noChangeArrowheads="1"/>
          </p:cNvSpPr>
          <p:nvPr/>
        </p:nvSpPr>
        <p:spPr bwMode="auto">
          <a:xfrm>
            <a:off x="3236913" y="949325"/>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681" name="Rectangle 231"/>
          <p:cNvSpPr>
            <a:spLocks noChangeArrowheads="1"/>
          </p:cNvSpPr>
          <p:nvPr/>
        </p:nvSpPr>
        <p:spPr bwMode="auto">
          <a:xfrm>
            <a:off x="4075113" y="720725"/>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682" name="Rectangle 232"/>
          <p:cNvSpPr>
            <a:spLocks noChangeArrowheads="1"/>
          </p:cNvSpPr>
          <p:nvPr/>
        </p:nvSpPr>
        <p:spPr bwMode="auto">
          <a:xfrm>
            <a:off x="6056313" y="2320925"/>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683" name="Line 233"/>
          <p:cNvSpPr>
            <a:spLocks noChangeShapeType="1"/>
          </p:cNvSpPr>
          <p:nvPr/>
        </p:nvSpPr>
        <p:spPr bwMode="auto">
          <a:xfrm>
            <a:off x="1636713" y="3311525"/>
            <a:ext cx="5638800" cy="0"/>
          </a:xfrm>
          <a:prstGeom prst="line">
            <a:avLst/>
          </a:prstGeom>
          <a:noFill/>
          <a:ln w="38100">
            <a:solidFill>
              <a:schemeClr val="tx1"/>
            </a:solidFill>
            <a:round/>
            <a:headEnd/>
            <a:tailEnd/>
          </a:ln>
        </p:spPr>
        <p:txBody>
          <a:bodyPr/>
          <a:lstStyle/>
          <a:p>
            <a:endParaRPr lang="zh-CN" altLang="en-US"/>
          </a:p>
        </p:txBody>
      </p:sp>
      <p:sp>
        <p:nvSpPr>
          <p:cNvPr id="113684" name="Rectangle 234"/>
          <p:cNvSpPr>
            <a:spLocks noChangeArrowheads="1"/>
          </p:cNvSpPr>
          <p:nvPr/>
        </p:nvSpPr>
        <p:spPr bwMode="auto">
          <a:xfrm>
            <a:off x="3236913" y="2397125"/>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685" name="Line 235"/>
          <p:cNvSpPr>
            <a:spLocks noChangeShapeType="1"/>
          </p:cNvSpPr>
          <p:nvPr/>
        </p:nvSpPr>
        <p:spPr bwMode="auto">
          <a:xfrm flipV="1">
            <a:off x="6132513" y="2168525"/>
            <a:ext cx="381000" cy="1588"/>
          </a:xfrm>
          <a:prstGeom prst="line">
            <a:avLst/>
          </a:prstGeom>
          <a:noFill/>
          <a:ln w="38100">
            <a:solidFill>
              <a:schemeClr val="tx1"/>
            </a:solidFill>
            <a:round/>
            <a:headEnd/>
            <a:tailEnd/>
          </a:ln>
        </p:spPr>
        <p:txBody>
          <a:bodyPr/>
          <a:lstStyle/>
          <a:p>
            <a:endParaRPr lang="zh-CN" altLang="en-US"/>
          </a:p>
        </p:txBody>
      </p:sp>
      <p:sp>
        <p:nvSpPr>
          <p:cNvPr id="113686" name="Oval 240"/>
          <p:cNvSpPr>
            <a:spLocks noChangeArrowheads="1"/>
          </p:cNvSpPr>
          <p:nvPr/>
        </p:nvSpPr>
        <p:spPr bwMode="auto">
          <a:xfrm>
            <a:off x="6970713" y="454025"/>
            <a:ext cx="76200" cy="76200"/>
          </a:xfrm>
          <a:prstGeom prst="ellipse">
            <a:avLst/>
          </a:prstGeom>
          <a:noFill/>
          <a:ln w="38100">
            <a:solidFill>
              <a:schemeClr val="tx1"/>
            </a:solidFill>
            <a:round/>
            <a:headEnd/>
            <a:tailEnd type="none" w="sm" len="lg"/>
          </a:ln>
        </p:spPr>
        <p:txBody>
          <a:bodyPr wrap="none" anchor="ctr"/>
          <a:lstStyle/>
          <a:p>
            <a:pPr algn="ctr" eaLnBrk="1" hangingPunct="1"/>
            <a:endParaRPr lang="zh-CN" altLang="en-US"/>
          </a:p>
        </p:txBody>
      </p:sp>
      <p:sp>
        <p:nvSpPr>
          <p:cNvPr id="113687" name="Line 241"/>
          <p:cNvSpPr>
            <a:spLocks noChangeShapeType="1"/>
          </p:cNvSpPr>
          <p:nvPr/>
        </p:nvSpPr>
        <p:spPr bwMode="auto">
          <a:xfrm>
            <a:off x="1941513" y="2244725"/>
            <a:ext cx="0" cy="914400"/>
          </a:xfrm>
          <a:prstGeom prst="line">
            <a:avLst/>
          </a:prstGeom>
          <a:noFill/>
          <a:ln w="28575">
            <a:solidFill>
              <a:schemeClr val="accent2"/>
            </a:solidFill>
            <a:round/>
            <a:headEnd/>
            <a:tailEnd type="triangle" w="sm" len="lg"/>
          </a:ln>
        </p:spPr>
        <p:txBody>
          <a:bodyPr/>
          <a:lstStyle/>
          <a:p>
            <a:endParaRPr lang="zh-CN" altLang="en-US"/>
          </a:p>
        </p:txBody>
      </p:sp>
      <p:sp>
        <p:nvSpPr>
          <p:cNvPr id="113688" name="Line 242"/>
          <p:cNvSpPr>
            <a:spLocks noChangeShapeType="1"/>
          </p:cNvSpPr>
          <p:nvPr/>
        </p:nvSpPr>
        <p:spPr bwMode="auto">
          <a:xfrm>
            <a:off x="7427913" y="2320925"/>
            <a:ext cx="0" cy="838200"/>
          </a:xfrm>
          <a:prstGeom prst="line">
            <a:avLst/>
          </a:prstGeom>
          <a:noFill/>
          <a:ln w="28575">
            <a:solidFill>
              <a:schemeClr val="accent2"/>
            </a:solidFill>
            <a:round/>
            <a:headEnd/>
            <a:tailEnd type="triangle" w="sm" len="lg"/>
          </a:ln>
        </p:spPr>
        <p:txBody>
          <a:bodyPr/>
          <a:lstStyle/>
          <a:p>
            <a:endParaRPr lang="zh-CN" altLang="en-US"/>
          </a:p>
        </p:txBody>
      </p:sp>
      <p:sp>
        <p:nvSpPr>
          <p:cNvPr id="113689" name="Text Box 243"/>
          <p:cNvSpPr txBox="1">
            <a:spLocks noChangeArrowheads="1"/>
          </p:cNvSpPr>
          <p:nvPr/>
        </p:nvSpPr>
        <p:spPr bwMode="auto">
          <a:xfrm>
            <a:off x="6818313" y="415925"/>
            <a:ext cx="1447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FF0000"/>
                </a:solidFill>
              </a:rPr>
              <a:t>+</a:t>
            </a:r>
            <a:r>
              <a:rPr lang="en-US" altLang="zh-CN" i="1">
                <a:solidFill>
                  <a:srgbClr val="FF0000"/>
                </a:solidFill>
              </a:rPr>
              <a:t>V</a:t>
            </a:r>
            <a:r>
              <a:rPr lang="en-US" altLang="zh-CN" baseline="-25000">
                <a:solidFill>
                  <a:srgbClr val="FF0000"/>
                </a:solidFill>
              </a:rPr>
              <a:t>CC</a:t>
            </a:r>
          </a:p>
        </p:txBody>
      </p:sp>
      <p:sp>
        <p:nvSpPr>
          <p:cNvPr id="113690" name="Text Box 244"/>
          <p:cNvSpPr txBox="1">
            <a:spLocks noChangeArrowheads="1"/>
          </p:cNvSpPr>
          <p:nvPr/>
        </p:nvSpPr>
        <p:spPr bwMode="auto">
          <a:xfrm>
            <a:off x="1941513" y="23971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solidFill>
                  <a:schemeClr val="accent2"/>
                </a:solidFill>
              </a:rPr>
              <a:t>u</a:t>
            </a:r>
            <a:r>
              <a:rPr lang="en-US" altLang="zh-CN" baseline="-25000">
                <a:solidFill>
                  <a:schemeClr val="accent2"/>
                </a:solidFill>
              </a:rPr>
              <a:t>i</a:t>
            </a:r>
          </a:p>
        </p:txBody>
      </p:sp>
      <p:sp>
        <p:nvSpPr>
          <p:cNvPr id="113691" name="Text Box 245"/>
          <p:cNvSpPr txBox="1">
            <a:spLocks noChangeArrowheads="1"/>
          </p:cNvSpPr>
          <p:nvPr/>
        </p:nvSpPr>
        <p:spPr bwMode="auto">
          <a:xfrm>
            <a:off x="7427913" y="23971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solidFill>
                  <a:schemeClr val="accent2"/>
                </a:solidFill>
              </a:rPr>
              <a:t>u</a:t>
            </a:r>
            <a:r>
              <a:rPr lang="en-US" altLang="zh-CN" baseline="-25000">
                <a:solidFill>
                  <a:schemeClr val="accent2"/>
                </a:solidFill>
              </a:rPr>
              <a:t>o</a:t>
            </a:r>
          </a:p>
        </p:txBody>
      </p:sp>
      <p:sp>
        <p:nvSpPr>
          <p:cNvPr id="113692" name="Text Box 246"/>
          <p:cNvSpPr txBox="1">
            <a:spLocks noChangeArrowheads="1"/>
          </p:cNvSpPr>
          <p:nvPr/>
        </p:nvSpPr>
        <p:spPr bwMode="auto">
          <a:xfrm>
            <a:off x="2551113" y="8731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B1</a:t>
            </a:r>
          </a:p>
        </p:txBody>
      </p:sp>
      <p:sp>
        <p:nvSpPr>
          <p:cNvPr id="113693" name="Text Box 247"/>
          <p:cNvSpPr txBox="1">
            <a:spLocks noChangeArrowheads="1"/>
          </p:cNvSpPr>
          <p:nvPr/>
        </p:nvSpPr>
        <p:spPr bwMode="auto">
          <a:xfrm>
            <a:off x="2474913" y="23209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B2</a:t>
            </a:r>
          </a:p>
        </p:txBody>
      </p:sp>
      <p:sp>
        <p:nvSpPr>
          <p:cNvPr id="113694" name="Text Box 248"/>
          <p:cNvSpPr txBox="1">
            <a:spLocks noChangeArrowheads="1"/>
          </p:cNvSpPr>
          <p:nvPr/>
        </p:nvSpPr>
        <p:spPr bwMode="auto">
          <a:xfrm>
            <a:off x="3389313" y="6445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C1</a:t>
            </a:r>
          </a:p>
        </p:txBody>
      </p:sp>
      <p:sp>
        <p:nvSpPr>
          <p:cNvPr id="113695" name="Text Box 249"/>
          <p:cNvSpPr txBox="1">
            <a:spLocks noChangeArrowheads="1"/>
          </p:cNvSpPr>
          <p:nvPr/>
        </p:nvSpPr>
        <p:spPr bwMode="auto">
          <a:xfrm>
            <a:off x="5370513" y="23209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E2</a:t>
            </a:r>
          </a:p>
        </p:txBody>
      </p:sp>
      <p:sp>
        <p:nvSpPr>
          <p:cNvPr id="113696" name="Text Box 250"/>
          <p:cNvSpPr txBox="1">
            <a:spLocks noChangeArrowheads="1"/>
          </p:cNvSpPr>
          <p:nvPr/>
        </p:nvSpPr>
        <p:spPr bwMode="auto">
          <a:xfrm>
            <a:off x="3922713" y="17875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CC3300"/>
                </a:solidFill>
              </a:rPr>
              <a:t>T</a:t>
            </a:r>
            <a:r>
              <a:rPr lang="en-US" altLang="zh-CN" baseline="-25000">
                <a:solidFill>
                  <a:srgbClr val="CC3300"/>
                </a:solidFill>
              </a:rPr>
              <a:t>1</a:t>
            </a:r>
          </a:p>
        </p:txBody>
      </p:sp>
      <p:sp>
        <p:nvSpPr>
          <p:cNvPr id="113697" name="Text Box 251"/>
          <p:cNvSpPr txBox="1">
            <a:spLocks noChangeArrowheads="1"/>
          </p:cNvSpPr>
          <p:nvPr/>
        </p:nvSpPr>
        <p:spPr bwMode="auto">
          <a:xfrm>
            <a:off x="5903913" y="13303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CC3300"/>
                </a:solidFill>
              </a:rPr>
              <a:t>T</a:t>
            </a:r>
            <a:r>
              <a:rPr lang="en-US" altLang="zh-CN" baseline="-25000">
                <a:solidFill>
                  <a:srgbClr val="CC3300"/>
                </a:solidFill>
              </a:rPr>
              <a:t>2</a:t>
            </a:r>
          </a:p>
        </p:txBody>
      </p:sp>
      <p:sp>
        <p:nvSpPr>
          <p:cNvPr id="113698" name="Line 252"/>
          <p:cNvSpPr>
            <a:spLocks noChangeShapeType="1"/>
          </p:cNvSpPr>
          <p:nvPr/>
        </p:nvSpPr>
        <p:spPr bwMode="auto">
          <a:xfrm>
            <a:off x="5141913" y="111125"/>
            <a:ext cx="0" cy="3581400"/>
          </a:xfrm>
          <a:prstGeom prst="line">
            <a:avLst/>
          </a:prstGeom>
          <a:noFill/>
          <a:ln w="28575">
            <a:solidFill>
              <a:srgbClr val="FF0000"/>
            </a:solidFill>
            <a:prstDash val="dashDot"/>
            <a:round/>
            <a:headEnd/>
            <a:tailEnd type="none" w="sm" len="lg"/>
          </a:ln>
        </p:spPr>
        <p:txBody>
          <a:bodyPr/>
          <a:lstStyle/>
          <a:p>
            <a:endParaRPr lang="zh-CN" altLang="en-US"/>
          </a:p>
        </p:txBody>
      </p:sp>
      <p:sp>
        <p:nvSpPr>
          <p:cNvPr id="113699" name="Oval 253"/>
          <p:cNvSpPr>
            <a:spLocks noChangeArrowheads="1"/>
          </p:cNvSpPr>
          <p:nvPr/>
        </p:nvSpPr>
        <p:spPr bwMode="auto">
          <a:xfrm>
            <a:off x="4103688" y="325437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00" name="Oval 254"/>
          <p:cNvSpPr>
            <a:spLocks noChangeArrowheads="1"/>
          </p:cNvSpPr>
          <p:nvPr/>
        </p:nvSpPr>
        <p:spPr bwMode="auto">
          <a:xfrm>
            <a:off x="6084888" y="32639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01" name="Oval 255"/>
          <p:cNvSpPr>
            <a:spLocks noChangeArrowheads="1"/>
          </p:cNvSpPr>
          <p:nvPr/>
        </p:nvSpPr>
        <p:spPr bwMode="auto">
          <a:xfrm>
            <a:off x="3275013" y="20542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02" name="Oval 256"/>
          <p:cNvSpPr>
            <a:spLocks noChangeArrowheads="1"/>
          </p:cNvSpPr>
          <p:nvPr/>
        </p:nvSpPr>
        <p:spPr bwMode="auto">
          <a:xfrm>
            <a:off x="4113213" y="15875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03" name="Oval 257"/>
          <p:cNvSpPr>
            <a:spLocks noChangeArrowheads="1"/>
          </p:cNvSpPr>
          <p:nvPr/>
        </p:nvSpPr>
        <p:spPr bwMode="auto">
          <a:xfrm>
            <a:off x="6094413" y="21209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04" name="Line 258"/>
          <p:cNvSpPr>
            <a:spLocks noChangeShapeType="1"/>
          </p:cNvSpPr>
          <p:nvPr/>
        </p:nvSpPr>
        <p:spPr bwMode="auto">
          <a:xfrm>
            <a:off x="3998913" y="3463925"/>
            <a:ext cx="304800" cy="0"/>
          </a:xfrm>
          <a:prstGeom prst="line">
            <a:avLst/>
          </a:prstGeom>
          <a:noFill/>
          <a:ln w="57150">
            <a:solidFill>
              <a:schemeClr val="tx1"/>
            </a:solidFill>
            <a:round/>
            <a:headEnd/>
            <a:tailEnd type="none" w="sm" len="lg"/>
          </a:ln>
        </p:spPr>
        <p:txBody>
          <a:bodyPr/>
          <a:lstStyle/>
          <a:p>
            <a:endParaRPr lang="zh-CN" altLang="en-US"/>
          </a:p>
        </p:txBody>
      </p:sp>
      <p:grpSp>
        <p:nvGrpSpPr>
          <p:cNvPr id="113705" name="Group 259"/>
          <p:cNvGrpSpPr>
            <a:grpSpLocks/>
          </p:cNvGrpSpPr>
          <p:nvPr/>
        </p:nvGrpSpPr>
        <p:grpSpPr bwMode="auto">
          <a:xfrm>
            <a:off x="2779713" y="1939925"/>
            <a:ext cx="152400" cy="304800"/>
            <a:chOff x="1680" y="1584"/>
            <a:chExt cx="96" cy="192"/>
          </a:xfrm>
        </p:grpSpPr>
        <p:sp>
          <p:nvSpPr>
            <p:cNvPr id="113843" name="Line 260"/>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3844" name="Line 261"/>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3706" name="Line 262"/>
          <p:cNvSpPr>
            <a:spLocks noChangeShapeType="1"/>
          </p:cNvSpPr>
          <p:nvPr/>
        </p:nvSpPr>
        <p:spPr bwMode="auto">
          <a:xfrm flipV="1">
            <a:off x="1636713" y="2092325"/>
            <a:ext cx="1143000" cy="0"/>
          </a:xfrm>
          <a:prstGeom prst="line">
            <a:avLst/>
          </a:prstGeom>
          <a:noFill/>
          <a:ln w="38100">
            <a:solidFill>
              <a:schemeClr val="tx1"/>
            </a:solidFill>
            <a:round/>
            <a:headEnd/>
            <a:tailEnd/>
          </a:ln>
        </p:spPr>
        <p:txBody>
          <a:bodyPr/>
          <a:lstStyle/>
          <a:p>
            <a:endParaRPr lang="zh-CN" altLang="en-US"/>
          </a:p>
        </p:txBody>
      </p:sp>
      <p:grpSp>
        <p:nvGrpSpPr>
          <p:cNvPr id="113707" name="Group 263"/>
          <p:cNvGrpSpPr>
            <a:grpSpLocks/>
          </p:cNvGrpSpPr>
          <p:nvPr/>
        </p:nvGrpSpPr>
        <p:grpSpPr bwMode="auto">
          <a:xfrm>
            <a:off x="4532313" y="1482725"/>
            <a:ext cx="152400" cy="304800"/>
            <a:chOff x="1680" y="1584"/>
            <a:chExt cx="96" cy="192"/>
          </a:xfrm>
        </p:grpSpPr>
        <p:sp>
          <p:nvSpPr>
            <p:cNvPr id="113841" name="Line 264"/>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3842" name="Line 265"/>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3708" name="Line 266"/>
          <p:cNvSpPr>
            <a:spLocks noChangeShapeType="1"/>
          </p:cNvSpPr>
          <p:nvPr/>
        </p:nvSpPr>
        <p:spPr bwMode="auto">
          <a:xfrm flipV="1">
            <a:off x="4684713" y="1635125"/>
            <a:ext cx="1066800" cy="1588"/>
          </a:xfrm>
          <a:prstGeom prst="line">
            <a:avLst/>
          </a:prstGeom>
          <a:noFill/>
          <a:ln w="38100">
            <a:solidFill>
              <a:schemeClr val="tx1"/>
            </a:solidFill>
            <a:round/>
            <a:headEnd/>
            <a:tailEnd/>
          </a:ln>
        </p:spPr>
        <p:txBody>
          <a:bodyPr/>
          <a:lstStyle/>
          <a:p>
            <a:endParaRPr lang="zh-CN" altLang="en-US"/>
          </a:p>
        </p:txBody>
      </p:sp>
      <p:sp>
        <p:nvSpPr>
          <p:cNvPr id="113709" name="Line 267"/>
          <p:cNvSpPr>
            <a:spLocks noChangeShapeType="1"/>
          </p:cNvSpPr>
          <p:nvPr/>
        </p:nvSpPr>
        <p:spPr bwMode="auto">
          <a:xfrm>
            <a:off x="5294313" y="492125"/>
            <a:ext cx="0" cy="1143000"/>
          </a:xfrm>
          <a:prstGeom prst="line">
            <a:avLst/>
          </a:prstGeom>
          <a:noFill/>
          <a:ln w="38100">
            <a:solidFill>
              <a:schemeClr val="tx1"/>
            </a:solidFill>
            <a:round/>
            <a:headEnd/>
            <a:tailEnd type="none" w="sm" len="lg"/>
          </a:ln>
        </p:spPr>
        <p:txBody>
          <a:bodyPr/>
          <a:lstStyle/>
          <a:p>
            <a:endParaRPr lang="zh-CN" altLang="en-US"/>
          </a:p>
        </p:txBody>
      </p:sp>
      <p:sp>
        <p:nvSpPr>
          <p:cNvPr id="113710" name="Rectangle 268"/>
          <p:cNvSpPr>
            <a:spLocks noChangeArrowheads="1"/>
          </p:cNvSpPr>
          <p:nvPr/>
        </p:nvSpPr>
        <p:spPr bwMode="auto">
          <a:xfrm>
            <a:off x="5218113" y="720725"/>
            <a:ext cx="152400" cy="5334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711" name="Oval 269"/>
          <p:cNvSpPr>
            <a:spLocks noChangeArrowheads="1"/>
          </p:cNvSpPr>
          <p:nvPr/>
        </p:nvSpPr>
        <p:spPr bwMode="auto">
          <a:xfrm>
            <a:off x="5256213" y="15875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12" name="Oval 270"/>
          <p:cNvSpPr>
            <a:spLocks noChangeArrowheads="1"/>
          </p:cNvSpPr>
          <p:nvPr/>
        </p:nvSpPr>
        <p:spPr bwMode="auto">
          <a:xfrm>
            <a:off x="5256213" y="444500"/>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13" name="Oval 271"/>
          <p:cNvSpPr>
            <a:spLocks noChangeArrowheads="1"/>
          </p:cNvSpPr>
          <p:nvPr/>
        </p:nvSpPr>
        <p:spPr bwMode="auto">
          <a:xfrm>
            <a:off x="4113213" y="4540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14" name="Rectangle 272"/>
          <p:cNvSpPr>
            <a:spLocks noChangeArrowheads="1"/>
          </p:cNvSpPr>
          <p:nvPr/>
        </p:nvSpPr>
        <p:spPr bwMode="auto">
          <a:xfrm>
            <a:off x="4075113" y="2625725"/>
            <a:ext cx="152400" cy="457200"/>
          </a:xfrm>
          <a:prstGeom prst="rect">
            <a:avLst/>
          </a:prstGeom>
          <a:solidFill>
            <a:schemeClr val="accent1"/>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715" name="Line 273"/>
          <p:cNvSpPr>
            <a:spLocks noChangeShapeType="1"/>
          </p:cNvSpPr>
          <p:nvPr/>
        </p:nvSpPr>
        <p:spPr bwMode="auto">
          <a:xfrm flipV="1">
            <a:off x="4151313" y="2473325"/>
            <a:ext cx="533400" cy="1588"/>
          </a:xfrm>
          <a:prstGeom prst="line">
            <a:avLst/>
          </a:prstGeom>
          <a:noFill/>
          <a:ln w="38100">
            <a:solidFill>
              <a:schemeClr val="tx1"/>
            </a:solidFill>
            <a:round/>
            <a:headEnd/>
            <a:tailEnd/>
          </a:ln>
        </p:spPr>
        <p:txBody>
          <a:bodyPr/>
          <a:lstStyle/>
          <a:p>
            <a:endParaRPr lang="zh-CN" altLang="en-US"/>
          </a:p>
        </p:txBody>
      </p:sp>
      <p:sp>
        <p:nvSpPr>
          <p:cNvPr id="113716" name="Line 274"/>
          <p:cNvSpPr>
            <a:spLocks noChangeShapeType="1"/>
          </p:cNvSpPr>
          <p:nvPr/>
        </p:nvSpPr>
        <p:spPr bwMode="auto">
          <a:xfrm>
            <a:off x="4684713" y="2473325"/>
            <a:ext cx="0" cy="304800"/>
          </a:xfrm>
          <a:prstGeom prst="line">
            <a:avLst/>
          </a:prstGeom>
          <a:noFill/>
          <a:ln w="38100">
            <a:solidFill>
              <a:schemeClr val="tx1"/>
            </a:solidFill>
            <a:round/>
            <a:headEnd/>
            <a:tailEnd type="none" w="sm" len="lg"/>
          </a:ln>
        </p:spPr>
        <p:txBody>
          <a:bodyPr/>
          <a:lstStyle/>
          <a:p>
            <a:endParaRPr lang="zh-CN" altLang="en-US"/>
          </a:p>
        </p:txBody>
      </p:sp>
      <p:grpSp>
        <p:nvGrpSpPr>
          <p:cNvPr id="113717" name="Group 275"/>
          <p:cNvGrpSpPr>
            <a:grpSpLocks/>
          </p:cNvGrpSpPr>
          <p:nvPr/>
        </p:nvGrpSpPr>
        <p:grpSpPr bwMode="auto">
          <a:xfrm rot="5505736">
            <a:off x="4608513" y="2701925"/>
            <a:ext cx="152400" cy="304800"/>
            <a:chOff x="1680" y="1584"/>
            <a:chExt cx="96" cy="192"/>
          </a:xfrm>
        </p:grpSpPr>
        <p:sp>
          <p:nvSpPr>
            <p:cNvPr id="113839" name="Line 276"/>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3840" name="Line 277"/>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3718" name="Line 278"/>
          <p:cNvSpPr>
            <a:spLocks noChangeShapeType="1"/>
          </p:cNvSpPr>
          <p:nvPr/>
        </p:nvSpPr>
        <p:spPr bwMode="auto">
          <a:xfrm>
            <a:off x="4684713" y="2930525"/>
            <a:ext cx="0" cy="381000"/>
          </a:xfrm>
          <a:prstGeom prst="line">
            <a:avLst/>
          </a:prstGeom>
          <a:noFill/>
          <a:ln w="38100">
            <a:solidFill>
              <a:schemeClr val="tx1"/>
            </a:solidFill>
            <a:round/>
            <a:headEnd/>
            <a:tailEnd type="none" w="sm" len="lg"/>
          </a:ln>
        </p:spPr>
        <p:txBody>
          <a:bodyPr/>
          <a:lstStyle/>
          <a:p>
            <a:endParaRPr lang="zh-CN" altLang="en-US"/>
          </a:p>
        </p:txBody>
      </p:sp>
      <p:sp>
        <p:nvSpPr>
          <p:cNvPr id="113719" name="Oval 279"/>
          <p:cNvSpPr>
            <a:spLocks noChangeArrowheads="1"/>
          </p:cNvSpPr>
          <p:nvPr/>
        </p:nvSpPr>
        <p:spPr bwMode="auto">
          <a:xfrm>
            <a:off x="4113213" y="2435225"/>
            <a:ext cx="76200" cy="76200"/>
          </a:xfrm>
          <a:prstGeom prst="ellipse">
            <a:avLst/>
          </a:prstGeom>
          <a:solidFill>
            <a:schemeClr val="tx1"/>
          </a:solidFill>
          <a:ln w="38100">
            <a:solidFill>
              <a:schemeClr val="tx1"/>
            </a:solidFill>
            <a:round/>
            <a:headEnd/>
            <a:tailEnd type="none" w="sm" len="lg"/>
          </a:ln>
        </p:spPr>
        <p:txBody>
          <a:bodyPr wrap="none" anchor="ctr"/>
          <a:lstStyle/>
          <a:p>
            <a:pPr algn="ctr" eaLnBrk="1" hangingPunct="1"/>
            <a:endParaRPr lang="zh-CN" altLang="en-US"/>
          </a:p>
        </p:txBody>
      </p:sp>
      <p:sp>
        <p:nvSpPr>
          <p:cNvPr id="113720" name="Text Box 280"/>
          <p:cNvSpPr txBox="1">
            <a:spLocks noChangeArrowheads="1"/>
          </p:cNvSpPr>
          <p:nvPr/>
        </p:nvSpPr>
        <p:spPr bwMode="auto">
          <a:xfrm>
            <a:off x="3389313" y="25495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E1</a:t>
            </a:r>
          </a:p>
        </p:txBody>
      </p:sp>
      <p:sp>
        <p:nvSpPr>
          <p:cNvPr id="113721" name="Text Box 281"/>
          <p:cNvSpPr txBox="1">
            <a:spLocks noChangeArrowheads="1"/>
          </p:cNvSpPr>
          <p:nvPr/>
        </p:nvSpPr>
        <p:spPr bwMode="auto">
          <a:xfrm>
            <a:off x="5294313" y="6445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B3</a:t>
            </a:r>
          </a:p>
        </p:txBody>
      </p:sp>
      <p:sp>
        <p:nvSpPr>
          <p:cNvPr id="113722" name="Rectangle 282"/>
          <p:cNvSpPr>
            <a:spLocks noChangeArrowheads="1"/>
          </p:cNvSpPr>
          <p:nvPr/>
        </p:nvSpPr>
        <p:spPr bwMode="auto">
          <a:xfrm>
            <a:off x="4151313" y="1177925"/>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3723" name="Rectangle 283"/>
          <p:cNvSpPr>
            <a:spLocks noChangeArrowheads="1"/>
          </p:cNvSpPr>
          <p:nvPr/>
        </p:nvSpPr>
        <p:spPr bwMode="auto">
          <a:xfrm>
            <a:off x="4684713" y="2320925"/>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3724" name="Rectangle 284"/>
          <p:cNvSpPr>
            <a:spLocks noChangeArrowheads="1"/>
          </p:cNvSpPr>
          <p:nvPr/>
        </p:nvSpPr>
        <p:spPr bwMode="auto">
          <a:xfrm>
            <a:off x="2932113" y="1635125"/>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grpSp>
        <p:nvGrpSpPr>
          <p:cNvPr id="113725" name="Group 285"/>
          <p:cNvGrpSpPr>
            <a:grpSpLocks/>
          </p:cNvGrpSpPr>
          <p:nvPr/>
        </p:nvGrpSpPr>
        <p:grpSpPr bwMode="auto">
          <a:xfrm>
            <a:off x="6513513" y="2016125"/>
            <a:ext cx="152400" cy="304800"/>
            <a:chOff x="1680" y="1584"/>
            <a:chExt cx="96" cy="192"/>
          </a:xfrm>
        </p:grpSpPr>
        <p:sp>
          <p:nvSpPr>
            <p:cNvPr id="113837" name="Line 286"/>
            <p:cNvSpPr>
              <a:spLocks noChangeShapeType="1"/>
            </p:cNvSpPr>
            <p:nvPr/>
          </p:nvSpPr>
          <p:spPr bwMode="auto">
            <a:xfrm>
              <a:off x="1776" y="1584"/>
              <a:ext cx="0" cy="192"/>
            </a:xfrm>
            <a:prstGeom prst="line">
              <a:avLst/>
            </a:prstGeom>
            <a:noFill/>
            <a:ln w="38100">
              <a:solidFill>
                <a:schemeClr val="tx1"/>
              </a:solidFill>
              <a:round/>
              <a:headEnd/>
              <a:tailEnd type="none" w="sm" len="lg"/>
            </a:ln>
          </p:spPr>
          <p:txBody>
            <a:bodyPr/>
            <a:lstStyle/>
            <a:p>
              <a:endParaRPr lang="zh-CN" altLang="en-US"/>
            </a:p>
          </p:txBody>
        </p:sp>
        <p:sp>
          <p:nvSpPr>
            <p:cNvPr id="113838" name="Line 287"/>
            <p:cNvSpPr>
              <a:spLocks noChangeShapeType="1"/>
            </p:cNvSpPr>
            <p:nvPr/>
          </p:nvSpPr>
          <p:spPr bwMode="auto">
            <a:xfrm>
              <a:off x="1680" y="1584"/>
              <a:ext cx="0" cy="192"/>
            </a:xfrm>
            <a:prstGeom prst="line">
              <a:avLst/>
            </a:prstGeom>
            <a:noFill/>
            <a:ln w="38100">
              <a:solidFill>
                <a:schemeClr val="tx1"/>
              </a:solidFill>
              <a:round/>
              <a:headEnd/>
              <a:tailEnd type="none" w="sm" len="lg"/>
            </a:ln>
          </p:spPr>
          <p:txBody>
            <a:bodyPr/>
            <a:lstStyle/>
            <a:p>
              <a:endParaRPr lang="zh-CN" altLang="en-US"/>
            </a:p>
          </p:txBody>
        </p:sp>
      </p:grpSp>
      <p:sp>
        <p:nvSpPr>
          <p:cNvPr id="113726" name="Line 288"/>
          <p:cNvSpPr>
            <a:spLocks noChangeShapeType="1"/>
          </p:cNvSpPr>
          <p:nvPr/>
        </p:nvSpPr>
        <p:spPr bwMode="auto">
          <a:xfrm flipV="1">
            <a:off x="6665913" y="2168525"/>
            <a:ext cx="609600" cy="1588"/>
          </a:xfrm>
          <a:prstGeom prst="line">
            <a:avLst/>
          </a:prstGeom>
          <a:noFill/>
          <a:ln w="38100">
            <a:solidFill>
              <a:schemeClr val="tx1"/>
            </a:solidFill>
            <a:round/>
            <a:headEnd/>
            <a:tailEnd/>
          </a:ln>
        </p:spPr>
        <p:txBody>
          <a:bodyPr/>
          <a:lstStyle/>
          <a:p>
            <a:endParaRPr lang="zh-CN" altLang="en-US"/>
          </a:p>
        </p:txBody>
      </p:sp>
      <p:sp>
        <p:nvSpPr>
          <p:cNvPr id="113727" name="Rectangle 289"/>
          <p:cNvSpPr>
            <a:spLocks noChangeArrowheads="1"/>
          </p:cNvSpPr>
          <p:nvPr/>
        </p:nvSpPr>
        <p:spPr bwMode="auto">
          <a:xfrm>
            <a:off x="6208713" y="1711325"/>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3728" name="Text Box 290"/>
          <p:cNvSpPr txBox="1">
            <a:spLocks noChangeArrowheads="1"/>
          </p:cNvSpPr>
          <p:nvPr/>
        </p:nvSpPr>
        <p:spPr bwMode="auto">
          <a:xfrm>
            <a:off x="2474913" y="14065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1</a:t>
            </a:r>
          </a:p>
        </p:txBody>
      </p:sp>
      <p:sp>
        <p:nvSpPr>
          <p:cNvPr id="113729" name="Text Box 291"/>
          <p:cNvSpPr txBox="1">
            <a:spLocks noChangeArrowheads="1"/>
          </p:cNvSpPr>
          <p:nvPr/>
        </p:nvSpPr>
        <p:spPr bwMode="auto">
          <a:xfrm>
            <a:off x="4379913" y="10255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2</a:t>
            </a:r>
          </a:p>
        </p:txBody>
      </p:sp>
      <p:sp>
        <p:nvSpPr>
          <p:cNvPr id="113730" name="Text Box 292"/>
          <p:cNvSpPr txBox="1">
            <a:spLocks noChangeArrowheads="1"/>
          </p:cNvSpPr>
          <p:nvPr/>
        </p:nvSpPr>
        <p:spPr bwMode="auto">
          <a:xfrm>
            <a:off x="6361113" y="14827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3</a:t>
            </a:r>
          </a:p>
        </p:txBody>
      </p:sp>
      <p:sp>
        <p:nvSpPr>
          <p:cNvPr id="113731" name="Text Box 293"/>
          <p:cNvSpPr txBox="1">
            <a:spLocks noChangeArrowheads="1"/>
          </p:cNvSpPr>
          <p:nvPr/>
        </p:nvSpPr>
        <p:spPr bwMode="auto">
          <a:xfrm>
            <a:off x="4760913" y="2549525"/>
            <a:ext cx="7620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C</a:t>
            </a:r>
            <a:r>
              <a:rPr lang="en-US" altLang="zh-CN" baseline="-25000"/>
              <a:t>E1</a:t>
            </a:r>
          </a:p>
        </p:txBody>
      </p:sp>
      <p:sp>
        <p:nvSpPr>
          <p:cNvPr id="113732" name="Line 294"/>
          <p:cNvSpPr>
            <a:spLocks noChangeShapeType="1"/>
          </p:cNvSpPr>
          <p:nvPr/>
        </p:nvSpPr>
        <p:spPr bwMode="auto">
          <a:xfrm>
            <a:off x="7275513" y="2168525"/>
            <a:ext cx="0" cy="1143000"/>
          </a:xfrm>
          <a:prstGeom prst="line">
            <a:avLst/>
          </a:prstGeom>
          <a:noFill/>
          <a:ln w="38100">
            <a:solidFill>
              <a:schemeClr val="tx1"/>
            </a:solidFill>
            <a:round/>
            <a:headEnd/>
            <a:tailEnd type="none" w="sm" len="lg"/>
          </a:ln>
        </p:spPr>
        <p:txBody>
          <a:bodyPr/>
          <a:lstStyle/>
          <a:p>
            <a:endParaRPr lang="zh-CN" altLang="en-US"/>
          </a:p>
        </p:txBody>
      </p:sp>
      <p:sp>
        <p:nvSpPr>
          <p:cNvPr id="113733" name="Rectangle 295"/>
          <p:cNvSpPr>
            <a:spLocks noChangeArrowheads="1"/>
          </p:cNvSpPr>
          <p:nvPr/>
        </p:nvSpPr>
        <p:spPr bwMode="auto">
          <a:xfrm>
            <a:off x="7199313" y="2473325"/>
            <a:ext cx="152400" cy="533400"/>
          </a:xfrm>
          <a:prstGeom prst="rect">
            <a:avLst/>
          </a:prstGeom>
          <a:solidFill>
            <a:schemeClr val="bg2"/>
          </a:solidFill>
          <a:ln w="38100">
            <a:solidFill>
              <a:schemeClr val="tx1"/>
            </a:solidFill>
            <a:miter lim="800000"/>
            <a:headEnd/>
            <a:tailEnd type="none" w="sm" len="lg"/>
          </a:ln>
        </p:spPr>
        <p:txBody>
          <a:bodyPr wrap="none" anchor="ctr"/>
          <a:lstStyle/>
          <a:p>
            <a:pPr algn="ctr" eaLnBrk="1" hangingPunct="1"/>
            <a:endParaRPr lang="zh-CN" altLang="en-US"/>
          </a:p>
        </p:txBody>
      </p:sp>
      <p:sp>
        <p:nvSpPr>
          <p:cNvPr id="113734" name="Text Box 296"/>
          <p:cNvSpPr txBox="1">
            <a:spLocks noChangeArrowheads="1"/>
          </p:cNvSpPr>
          <p:nvPr/>
        </p:nvSpPr>
        <p:spPr bwMode="auto">
          <a:xfrm>
            <a:off x="6589713" y="2397125"/>
            <a:ext cx="9144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L</a:t>
            </a:r>
          </a:p>
        </p:txBody>
      </p:sp>
      <p:sp>
        <p:nvSpPr>
          <p:cNvPr id="113735" name="Line 297"/>
          <p:cNvSpPr>
            <a:spLocks noChangeShapeType="1"/>
          </p:cNvSpPr>
          <p:nvPr/>
        </p:nvSpPr>
        <p:spPr bwMode="auto">
          <a:xfrm>
            <a:off x="1636713" y="2092325"/>
            <a:ext cx="0" cy="1219200"/>
          </a:xfrm>
          <a:prstGeom prst="line">
            <a:avLst/>
          </a:prstGeom>
          <a:noFill/>
          <a:ln w="38100">
            <a:solidFill>
              <a:schemeClr val="tx1"/>
            </a:solidFill>
            <a:round/>
            <a:headEnd/>
            <a:tailEnd type="none" w="sm" len="lg"/>
          </a:ln>
        </p:spPr>
        <p:txBody>
          <a:bodyPr/>
          <a:lstStyle/>
          <a:p>
            <a:endParaRPr lang="zh-CN" altLang="en-US"/>
          </a:p>
        </p:txBody>
      </p:sp>
      <p:sp>
        <p:nvSpPr>
          <p:cNvPr id="113736" name="Rectangle 298"/>
          <p:cNvSpPr>
            <a:spLocks noChangeArrowheads="1"/>
          </p:cNvSpPr>
          <p:nvPr/>
        </p:nvSpPr>
        <p:spPr bwMode="auto">
          <a:xfrm>
            <a:off x="1560513" y="2244725"/>
            <a:ext cx="152400" cy="381000"/>
          </a:xfrm>
          <a:prstGeom prst="rect">
            <a:avLst/>
          </a:prstGeom>
          <a:solidFill>
            <a:srgbClr val="FFFF99"/>
          </a:solidFill>
          <a:ln w="38100">
            <a:solidFill>
              <a:srgbClr val="FF3300"/>
            </a:solidFill>
            <a:miter lim="800000"/>
            <a:headEnd/>
            <a:tailEnd type="none" w="sm" len="lg"/>
          </a:ln>
        </p:spPr>
        <p:txBody>
          <a:bodyPr wrap="none" anchor="ctr"/>
          <a:lstStyle/>
          <a:p>
            <a:pPr algn="ctr" eaLnBrk="1" hangingPunct="1"/>
            <a:endParaRPr lang="zh-CN" altLang="en-US"/>
          </a:p>
        </p:txBody>
      </p:sp>
      <p:sp>
        <p:nvSpPr>
          <p:cNvPr id="113737" name="Text Box 300"/>
          <p:cNvSpPr txBox="1">
            <a:spLocks noChangeArrowheads="1"/>
          </p:cNvSpPr>
          <p:nvPr/>
        </p:nvSpPr>
        <p:spPr bwMode="auto">
          <a:xfrm>
            <a:off x="796925" y="2916238"/>
            <a:ext cx="914400" cy="519112"/>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R</a:t>
            </a:r>
            <a:r>
              <a:rPr lang="en-US" altLang="zh-CN" baseline="-25000"/>
              <a:t>S</a:t>
            </a:r>
          </a:p>
        </p:txBody>
      </p:sp>
      <p:sp>
        <p:nvSpPr>
          <p:cNvPr id="113738" name="Rectangle 301"/>
          <p:cNvSpPr>
            <a:spLocks noChangeArrowheads="1"/>
          </p:cNvSpPr>
          <p:nvPr/>
        </p:nvSpPr>
        <p:spPr bwMode="auto">
          <a:xfrm>
            <a:off x="1179513" y="2397125"/>
            <a:ext cx="304800" cy="519113"/>
          </a:xfrm>
          <a:prstGeom prst="rect">
            <a:avLst/>
          </a:prstGeom>
          <a:noFill/>
          <a:ln w="38100">
            <a:noFill/>
            <a:miter lim="800000"/>
            <a:headEnd/>
            <a:tailEnd type="none" w="sm" len="lg"/>
          </a:ln>
        </p:spPr>
        <p:txBody>
          <a:bodyPr>
            <a:spAutoFit/>
          </a:bodyPr>
          <a:lstStyle/>
          <a:p>
            <a:pPr algn="ctr" eaLnBrk="1" hangingPunct="1"/>
            <a:r>
              <a:rPr lang="en-US" altLang="zh-CN">
                <a:solidFill>
                  <a:srgbClr val="FF0000"/>
                </a:solidFill>
              </a:rPr>
              <a:t>+</a:t>
            </a:r>
          </a:p>
        </p:txBody>
      </p:sp>
      <p:sp>
        <p:nvSpPr>
          <p:cNvPr id="113739" name="Rectangle 302"/>
          <p:cNvSpPr>
            <a:spLocks noChangeArrowheads="1"/>
          </p:cNvSpPr>
          <p:nvPr/>
        </p:nvSpPr>
        <p:spPr bwMode="auto">
          <a:xfrm>
            <a:off x="1255713" y="2778125"/>
            <a:ext cx="361950" cy="519113"/>
          </a:xfrm>
          <a:prstGeom prst="rect">
            <a:avLst/>
          </a:prstGeom>
          <a:noFill/>
          <a:ln w="38100">
            <a:noFill/>
            <a:miter lim="800000"/>
            <a:headEnd/>
            <a:tailEnd type="none" w="sm" len="lg"/>
          </a:ln>
        </p:spPr>
        <p:txBody>
          <a:bodyPr wrap="none">
            <a:spAutoFit/>
          </a:bodyPr>
          <a:lstStyle/>
          <a:p>
            <a:pPr algn="ctr" eaLnBrk="1" hangingPunct="1"/>
            <a:r>
              <a:rPr lang="en-US" altLang="zh-CN" i="1">
                <a:solidFill>
                  <a:srgbClr val="FF3300"/>
                </a:solidFill>
              </a:rPr>
              <a:t>_</a:t>
            </a:r>
          </a:p>
        </p:txBody>
      </p:sp>
      <p:sp>
        <p:nvSpPr>
          <p:cNvPr id="113740" name="Text Box 303"/>
          <p:cNvSpPr txBox="1">
            <a:spLocks noChangeArrowheads="1"/>
          </p:cNvSpPr>
          <p:nvPr/>
        </p:nvSpPr>
        <p:spPr bwMode="auto">
          <a:xfrm>
            <a:off x="950913" y="2625725"/>
            <a:ext cx="685800" cy="519113"/>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i="1"/>
              <a:t>u</a:t>
            </a:r>
            <a:r>
              <a:rPr lang="en-US" altLang="zh-CN" baseline="-25000"/>
              <a:t>s</a:t>
            </a:r>
          </a:p>
        </p:txBody>
      </p:sp>
      <p:grpSp>
        <p:nvGrpSpPr>
          <p:cNvPr id="7" name="Group 172"/>
          <p:cNvGrpSpPr>
            <a:grpSpLocks/>
          </p:cNvGrpSpPr>
          <p:nvPr/>
        </p:nvGrpSpPr>
        <p:grpSpPr bwMode="auto">
          <a:xfrm>
            <a:off x="0" y="3668713"/>
            <a:ext cx="9040813" cy="3505200"/>
            <a:chOff x="0" y="96"/>
            <a:chExt cx="5695" cy="2208"/>
          </a:xfrm>
        </p:grpSpPr>
        <p:sp>
          <p:nvSpPr>
            <p:cNvPr id="113743" name="Line 64"/>
            <p:cNvSpPr>
              <a:spLocks noChangeShapeType="1"/>
            </p:cNvSpPr>
            <p:nvPr/>
          </p:nvSpPr>
          <p:spPr bwMode="auto">
            <a:xfrm>
              <a:off x="3216" y="336"/>
              <a:ext cx="0" cy="1968"/>
            </a:xfrm>
            <a:prstGeom prst="line">
              <a:avLst/>
            </a:prstGeom>
            <a:noFill/>
            <a:ln w="28575">
              <a:solidFill>
                <a:srgbClr val="FF3300"/>
              </a:solidFill>
              <a:prstDash val="dashDot"/>
              <a:round/>
              <a:headEnd/>
              <a:tailEnd type="none" w="sm" len="lg"/>
            </a:ln>
          </p:spPr>
          <p:txBody>
            <a:bodyPr/>
            <a:lstStyle/>
            <a:p>
              <a:endParaRPr lang="zh-CN" altLang="en-US"/>
            </a:p>
          </p:txBody>
        </p:sp>
        <p:grpSp>
          <p:nvGrpSpPr>
            <p:cNvPr id="113744" name="Group 21"/>
            <p:cNvGrpSpPr>
              <a:grpSpLocks/>
            </p:cNvGrpSpPr>
            <p:nvPr/>
          </p:nvGrpSpPr>
          <p:grpSpPr bwMode="auto">
            <a:xfrm>
              <a:off x="5376" y="1008"/>
              <a:ext cx="319" cy="395"/>
              <a:chOff x="4440" y="1065"/>
              <a:chExt cx="319" cy="395"/>
            </a:xfrm>
          </p:grpSpPr>
          <p:sp>
            <p:nvSpPr>
              <p:cNvPr id="113835" name="Text Box 22"/>
              <p:cNvSpPr txBox="1">
                <a:spLocks noChangeArrowheads="1"/>
              </p:cNvSpPr>
              <p:nvPr/>
            </p:nvSpPr>
            <p:spPr bwMode="auto">
              <a:xfrm>
                <a:off x="4440" y="1172"/>
                <a:ext cx="319"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endParaRPr lang="en-US" altLang="zh-CN" i="1">
                  <a:solidFill>
                    <a:schemeClr val="accent2"/>
                  </a:solidFill>
                  <a:ea typeface="方正琥珀繁体"/>
                  <a:cs typeface="方正琥珀繁体"/>
                </a:endParaRPr>
              </a:p>
            </p:txBody>
          </p:sp>
          <p:sp>
            <p:nvSpPr>
              <p:cNvPr id="113836" name="Text Box 23"/>
              <p:cNvSpPr txBox="1">
                <a:spLocks noChangeArrowheads="1"/>
              </p:cNvSpPr>
              <p:nvPr/>
            </p:nvSpPr>
            <p:spPr bwMode="auto">
              <a:xfrm>
                <a:off x="4494" y="1065"/>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3745" name="Group 78"/>
            <p:cNvGrpSpPr>
              <a:grpSpLocks/>
            </p:cNvGrpSpPr>
            <p:nvPr/>
          </p:nvGrpSpPr>
          <p:grpSpPr bwMode="auto">
            <a:xfrm>
              <a:off x="3888" y="192"/>
              <a:ext cx="326" cy="374"/>
              <a:chOff x="1960" y="911"/>
              <a:chExt cx="326" cy="374"/>
            </a:xfrm>
          </p:grpSpPr>
          <p:sp>
            <p:nvSpPr>
              <p:cNvPr id="113833" name="Text Box 79"/>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3834" name="Text Box 80"/>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746" name="Text Box 99"/>
            <p:cNvSpPr txBox="1">
              <a:spLocks noChangeArrowheads="1"/>
            </p:cNvSpPr>
            <p:nvPr/>
          </p:nvSpPr>
          <p:spPr bwMode="auto">
            <a:xfrm>
              <a:off x="1968" y="96"/>
              <a:ext cx="789"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第一级</a:t>
              </a:r>
            </a:p>
          </p:txBody>
        </p:sp>
        <p:sp>
          <p:nvSpPr>
            <p:cNvPr id="113747" name="Text Box 100"/>
            <p:cNvSpPr txBox="1">
              <a:spLocks noChangeArrowheads="1"/>
            </p:cNvSpPr>
            <p:nvPr/>
          </p:nvSpPr>
          <p:spPr bwMode="auto">
            <a:xfrm>
              <a:off x="4416" y="96"/>
              <a:ext cx="791"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第二级</a:t>
              </a:r>
            </a:p>
          </p:txBody>
        </p:sp>
        <p:sp>
          <p:nvSpPr>
            <p:cNvPr id="113748" name="Line 5"/>
            <p:cNvSpPr>
              <a:spLocks noChangeShapeType="1"/>
            </p:cNvSpPr>
            <p:nvPr/>
          </p:nvSpPr>
          <p:spPr bwMode="auto">
            <a:xfrm flipV="1">
              <a:off x="4320" y="672"/>
              <a:ext cx="1008" cy="0"/>
            </a:xfrm>
            <a:prstGeom prst="line">
              <a:avLst/>
            </a:prstGeom>
            <a:noFill/>
            <a:ln w="38100">
              <a:solidFill>
                <a:srgbClr val="000000"/>
              </a:solidFill>
              <a:round/>
              <a:headEnd/>
              <a:tailEnd/>
            </a:ln>
          </p:spPr>
          <p:txBody>
            <a:bodyPr wrap="none" anchor="ctr"/>
            <a:lstStyle/>
            <a:p>
              <a:endParaRPr lang="zh-CN" altLang="en-US"/>
            </a:p>
          </p:txBody>
        </p:sp>
        <p:sp>
          <p:nvSpPr>
            <p:cNvPr id="113749" name="Line 74"/>
            <p:cNvSpPr>
              <a:spLocks noChangeShapeType="1"/>
            </p:cNvSpPr>
            <p:nvPr/>
          </p:nvSpPr>
          <p:spPr bwMode="auto">
            <a:xfrm>
              <a:off x="3744" y="672"/>
              <a:ext cx="624" cy="0"/>
            </a:xfrm>
            <a:prstGeom prst="line">
              <a:avLst/>
            </a:prstGeom>
            <a:noFill/>
            <a:ln w="38100">
              <a:solidFill>
                <a:srgbClr val="993300"/>
              </a:solidFill>
              <a:round/>
              <a:headEnd/>
              <a:tailEnd type="none" w="sm" len="lg"/>
            </a:ln>
          </p:spPr>
          <p:txBody>
            <a:bodyPr/>
            <a:lstStyle/>
            <a:p>
              <a:endParaRPr lang="zh-CN" altLang="en-US"/>
            </a:p>
          </p:txBody>
        </p:sp>
        <p:sp>
          <p:nvSpPr>
            <p:cNvPr id="113750" name="Line 69"/>
            <p:cNvSpPr>
              <a:spLocks noChangeShapeType="1"/>
            </p:cNvSpPr>
            <p:nvPr/>
          </p:nvSpPr>
          <p:spPr bwMode="auto">
            <a:xfrm flipV="1">
              <a:off x="4368" y="672"/>
              <a:ext cx="0" cy="1296"/>
            </a:xfrm>
            <a:prstGeom prst="line">
              <a:avLst/>
            </a:prstGeom>
            <a:noFill/>
            <a:ln w="38100">
              <a:solidFill>
                <a:srgbClr val="A50021"/>
              </a:solidFill>
              <a:round/>
              <a:headEnd/>
              <a:tailEnd/>
            </a:ln>
          </p:spPr>
          <p:txBody>
            <a:bodyPr wrap="none" anchor="ctr"/>
            <a:lstStyle/>
            <a:p>
              <a:endParaRPr lang="zh-CN" altLang="en-US"/>
            </a:p>
          </p:txBody>
        </p:sp>
        <p:sp>
          <p:nvSpPr>
            <p:cNvPr id="113751" name="Line 61"/>
            <p:cNvSpPr>
              <a:spLocks noChangeShapeType="1"/>
            </p:cNvSpPr>
            <p:nvPr/>
          </p:nvSpPr>
          <p:spPr bwMode="auto">
            <a:xfrm>
              <a:off x="2016" y="672"/>
              <a:ext cx="0" cy="1296"/>
            </a:xfrm>
            <a:prstGeom prst="line">
              <a:avLst/>
            </a:prstGeom>
            <a:noFill/>
            <a:ln w="38100">
              <a:solidFill>
                <a:srgbClr val="993300"/>
              </a:solidFill>
              <a:round/>
              <a:headEnd/>
              <a:tailEnd type="none" w="sm" len="lg"/>
            </a:ln>
          </p:spPr>
          <p:txBody>
            <a:bodyPr/>
            <a:lstStyle/>
            <a:p>
              <a:endParaRPr lang="zh-CN" altLang="en-US"/>
            </a:p>
          </p:txBody>
        </p:sp>
        <p:sp>
          <p:nvSpPr>
            <p:cNvPr id="113752" name="Oval 4"/>
            <p:cNvSpPr>
              <a:spLocks noChangeArrowheads="1"/>
            </p:cNvSpPr>
            <p:nvPr/>
          </p:nvSpPr>
          <p:spPr bwMode="auto">
            <a:xfrm>
              <a:off x="259" y="1508"/>
              <a:ext cx="288" cy="288"/>
            </a:xfrm>
            <a:prstGeom prst="ellipse">
              <a:avLst/>
            </a:prstGeom>
            <a:solidFill>
              <a:srgbClr val="FFFFCC"/>
            </a:solidFill>
            <a:ln w="38100">
              <a:solidFill>
                <a:srgbClr val="FF3300"/>
              </a:solidFill>
              <a:round/>
              <a:headEnd/>
              <a:tailEnd/>
            </a:ln>
          </p:spPr>
          <p:txBody>
            <a:bodyPr wrap="none" anchor="ctr"/>
            <a:lstStyle/>
            <a:p>
              <a:pPr algn="ctr" eaLnBrk="1" hangingPunct="1"/>
              <a:endParaRPr lang="zh-CN" altLang="en-US"/>
            </a:p>
          </p:txBody>
        </p:sp>
        <p:sp>
          <p:nvSpPr>
            <p:cNvPr id="113753" name="Line 7"/>
            <p:cNvSpPr>
              <a:spLocks noChangeShapeType="1"/>
            </p:cNvSpPr>
            <p:nvPr/>
          </p:nvSpPr>
          <p:spPr bwMode="auto">
            <a:xfrm flipH="1" flipV="1">
              <a:off x="2496" y="672"/>
              <a:ext cx="0" cy="1296"/>
            </a:xfrm>
            <a:prstGeom prst="line">
              <a:avLst/>
            </a:prstGeom>
            <a:noFill/>
            <a:ln w="38100">
              <a:solidFill>
                <a:srgbClr val="A50021"/>
              </a:solidFill>
              <a:round/>
              <a:headEnd/>
              <a:tailEnd/>
            </a:ln>
          </p:spPr>
          <p:txBody>
            <a:bodyPr wrap="none" anchor="ctr"/>
            <a:lstStyle/>
            <a:p>
              <a:endParaRPr lang="zh-CN" altLang="en-US"/>
            </a:p>
          </p:txBody>
        </p:sp>
        <p:sp>
          <p:nvSpPr>
            <p:cNvPr id="113754" name="Line 8"/>
            <p:cNvSpPr>
              <a:spLocks noChangeShapeType="1"/>
            </p:cNvSpPr>
            <p:nvPr/>
          </p:nvSpPr>
          <p:spPr bwMode="auto">
            <a:xfrm>
              <a:off x="2496" y="672"/>
              <a:ext cx="1248" cy="0"/>
            </a:xfrm>
            <a:prstGeom prst="line">
              <a:avLst/>
            </a:prstGeom>
            <a:noFill/>
            <a:ln w="38100">
              <a:solidFill>
                <a:srgbClr val="000000"/>
              </a:solidFill>
              <a:round/>
              <a:headEnd/>
              <a:tailEnd/>
            </a:ln>
          </p:spPr>
          <p:txBody>
            <a:bodyPr wrap="none" anchor="ctr"/>
            <a:lstStyle/>
            <a:p>
              <a:endParaRPr lang="zh-CN" altLang="en-US"/>
            </a:p>
          </p:txBody>
        </p:sp>
        <p:sp>
          <p:nvSpPr>
            <p:cNvPr id="113755" name="Line 9"/>
            <p:cNvSpPr>
              <a:spLocks noChangeShapeType="1"/>
            </p:cNvSpPr>
            <p:nvPr/>
          </p:nvSpPr>
          <p:spPr bwMode="auto">
            <a:xfrm>
              <a:off x="2136" y="2093"/>
              <a:ext cx="192" cy="0"/>
            </a:xfrm>
            <a:prstGeom prst="line">
              <a:avLst/>
            </a:prstGeom>
            <a:noFill/>
            <a:ln w="76200">
              <a:solidFill>
                <a:srgbClr val="000000"/>
              </a:solidFill>
              <a:round/>
              <a:headEnd/>
              <a:tailEnd/>
            </a:ln>
          </p:spPr>
          <p:txBody>
            <a:bodyPr wrap="none" anchor="ctr"/>
            <a:lstStyle/>
            <a:p>
              <a:endParaRPr lang="zh-CN" altLang="en-US"/>
            </a:p>
          </p:txBody>
        </p:sp>
        <p:sp>
          <p:nvSpPr>
            <p:cNvPr id="113756" name="Oval 10"/>
            <p:cNvSpPr>
              <a:spLocks noChangeArrowheads="1"/>
            </p:cNvSpPr>
            <p:nvPr/>
          </p:nvSpPr>
          <p:spPr bwMode="auto">
            <a:xfrm>
              <a:off x="5328" y="642"/>
              <a:ext cx="53" cy="48"/>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3757" name="Oval 11"/>
            <p:cNvSpPr>
              <a:spLocks noChangeArrowheads="1"/>
            </p:cNvSpPr>
            <p:nvPr/>
          </p:nvSpPr>
          <p:spPr bwMode="auto">
            <a:xfrm>
              <a:off x="5376" y="1938"/>
              <a:ext cx="48" cy="52"/>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3758" name="Text Box 12"/>
            <p:cNvSpPr txBox="1">
              <a:spLocks noChangeArrowheads="1"/>
            </p:cNvSpPr>
            <p:nvPr/>
          </p:nvSpPr>
          <p:spPr bwMode="auto">
            <a:xfrm>
              <a:off x="1536" y="1056"/>
              <a:ext cx="528" cy="327"/>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be1</a:t>
              </a:r>
              <a:r>
                <a:rPr lang="en-US" altLang="zh-CN" i="1">
                  <a:solidFill>
                    <a:srgbClr val="A50021"/>
                  </a:solidFill>
                  <a:ea typeface="方正琥珀繁体"/>
                  <a:cs typeface="方正琥珀繁体"/>
                </a:rPr>
                <a:t> </a:t>
              </a:r>
            </a:p>
          </p:txBody>
        </p:sp>
        <p:sp>
          <p:nvSpPr>
            <p:cNvPr id="113759" name="Line 14"/>
            <p:cNvSpPr>
              <a:spLocks noChangeShapeType="1"/>
            </p:cNvSpPr>
            <p:nvPr/>
          </p:nvSpPr>
          <p:spPr bwMode="auto">
            <a:xfrm flipH="1">
              <a:off x="5376" y="864"/>
              <a:ext cx="0" cy="816"/>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3760" name="Line 15"/>
            <p:cNvSpPr>
              <a:spLocks noChangeShapeType="1"/>
            </p:cNvSpPr>
            <p:nvPr/>
          </p:nvSpPr>
          <p:spPr bwMode="auto">
            <a:xfrm>
              <a:off x="2088" y="643"/>
              <a:ext cx="0" cy="480"/>
            </a:xfrm>
            <a:prstGeom prst="line">
              <a:avLst/>
            </a:prstGeom>
            <a:noFill/>
            <a:ln w="28575">
              <a:solidFill>
                <a:srgbClr val="FF0000"/>
              </a:solidFill>
              <a:round/>
              <a:headEnd/>
              <a:tailEnd type="triangle" w="sm" len="lg"/>
            </a:ln>
          </p:spPr>
          <p:txBody>
            <a:bodyPr wrap="none" anchor="ctr"/>
            <a:lstStyle/>
            <a:p>
              <a:endParaRPr lang="zh-CN" altLang="en-US"/>
            </a:p>
          </p:txBody>
        </p:sp>
        <p:sp>
          <p:nvSpPr>
            <p:cNvPr id="113761" name="Line 16"/>
            <p:cNvSpPr>
              <a:spLocks noChangeShapeType="1"/>
            </p:cNvSpPr>
            <p:nvPr/>
          </p:nvSpPr>
          <p:spPr bwMode="auto">
            <a:xfrm>
              <a:off x="2544" y="720"/>
              <a:ext cx="0" cy="384"/>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3762" name="Line 17"/>
            <p:cNvSpPr>
              <a:spLocks noChangeShapeType="1"/>
            </p:cNvSpPr>
            <p:nvPr/>
          </p:nvSpPr>
          <p:spPr bwMode="auto">
            <a:xfrm flipV="1">
              <a:off x="408" y="1968"/>
              <a:ext cx="4968" cy="0"/>
            </a:xfrm>
            <a:prstGeom prst="line">
              <a:avLst/>
            </a:prstGeom>
            <a:noFill/>
            <a:ln w="38100">
              <a:solidFill>
                <a:srgbClr val="000000"/>
              </a:solidFill>
              <a:round/>
              <a:headEnd/>
              <a:tailEnd/>
            </a:ln>
          </p:spPr>
          <p:txBody>
            <a:bodyPr wrap="none" anchor="ctr"/>
            <a:lstStyle/>
            <a:p>
              <a:endParaRPr lang="zh-CN" altLang="en-US"/>
            </a:p>
          </p:txBody>
        </p:sp>
        <p:sp>
          <p:nvSpPr>
            <p:cNvPr id="113763" name="Line 18"/>
            <p:cNvSpPr>
              <a:spLocks noChangeShapeType="1"/>
            </p:cNvSpPr>
            <p:nvPr/>
          </p:nvSpPr>
          <p:spPr bwMode="auto">
            <a:xfrm>
              <a:off x="408" y="653"/>
              <a:ext cx="0" cy="1315"/>
            </a:xfrm>
            <a:prstGeom prst="line">
              <a:avLst/>
            </a:prstGeom>
            <a:noFill/>
            <a:ln w="38100">
              <a:solidFill>
                <a:srgbClr val="000000"/>
              </a:solidFill>
              <a:round/>
              <a:headEnd/>
              <a:tailEnd/>
            </a:ln>
          </p:spPr>
          <p:txBody>
            <a:bodyPr wrap="none" anchor="ctr"/>
            <a:lstStyle/>
            <a:p>
              <a:endParaRPr lang="zh-CN" altLang="en-US"/>
            </a:p>
          </p:txBody>
        </p:sp>
        <p:sp>
          <p:nvSpPr>
            <p:cNvPr id="113764" name="Line 19"/>
            <p:cNvSpPr>
              <a:spLocks noChangeShapeType="1"/>
            </p:cNvSpPr>
            <p:nvPr/>
          </p:nvSpPr>
          <p:spPr bwMode="auto">
            <a:xfrm>
              <a:off x="648" y="845"/>
              <a:ext cx="0" cy="1008"/>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3765" name="Oval 20"/>
            <p:cNvSpPr>
              <a:spLocks noChangeArrowheads="1"/>
            </p:cNvSpPr>
            <p:nvPr/>
          </p:nvSpPr>
          <p:spPr bwMode="auto">
            <a:xfrm>
              <a:off x="2206" y="1936"/>
              <a:ext cx="48" cy="48"/>
            </a:xfrm>
            <a:prstGeom prst="ellipse">
              <a:avLst/>
            </a:prstGeom>
            <a:solidFill>
              <a:schemeClr val="tx1"/>
            </a:solidFill>
            <a:ln w="38100">
              <a:solidFill>
                <a:srgbClr val="000000"/>
              </a:solidFill>
              <a:round/>
              <a:headEnd/>
              <a:tailEnd/>
            </a:ln>
          </p:spPr>
          <p:txBody>
            <a:bodyPr wrap="none" anchor="ctr"/>
            <a:lstStyle/>
            <a:p>
              <a:pPr algn="ctr" eaLnBrk="1" hangingPunct="1"/>
              <a:endParaRPr lang="zh-CN" altLang="en-US"/>
            </a:p>
          </p:txBody>
        </p:sp>
        <p:grpSp>
          <p:nvGrpSpPr>
            <p:cNvPr id="113766" name="Group 62"/>
            <p:cNvGrpSpPr>
              <a:grpSpLocks/>
            </p:cNvGrpSpPr>
            <p:nvPr/>
          </p:nvGrpSpPr>
          <p:grpSpPr bwMode="auto">
            <a:xfrm>
              <a:off x="2064" y="672"/>
              <a:ext cx="326" cy="374"/>
              <a:chOff x="1960" y="911"/>
              <a:chExt cx="326" cy="374"/>
            </a:xfrm>
          </p:grpSpPr>
          <p:sp>
            <p:nvSpPr>
              <p:cNvPr id="113831" name="Text Box 25"/>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3832" name="Text Box 26"/>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grpSp>
          <p:nvGrpSpPr>
            <p:cNvPr id="113767" name="Group 72"/>
            <p:cNvGrpSpPr>
              <a:grpSpLocks/>
            </p:cNvGrpSpPr>
            <p:nvPr/>
          </p:nvGrpSpPr>
          <p:grpSpPr bwMode="auto">
            <a:xfrm>
              <a:off x="2496" y="624"/>
              <a:ext cx="518" cy="384"/>
              <a:chOff x="2544" y="816"/>
              <a:chExt cx="518" cy="384"/>
            </a:xfrm>
          </p:grpSpPr>
          <p:grpSp>
            <p:nvGrpSpPr>
              <p:cNvPr id="113827" name="Group 63"/>
              <p:cNvGrpSpPr>
                <a:grpSpLocks/>
              </p:cNvGrpSpPr>
              <p:nvPr/>
            </p:nvGrpSpPr>
            <p:grpSpPr bwMode="auto">
              <a:xfrm>
                <a:off x="2736" y="816"/>
                <a:ext cx="326" cy="380"/>
                <a:chOff x="2719" y="857"/>
                <a:chExt cx="326" cy="380"/>
              </a:xfrm>
            </p:grpSpPr>
            <p:sp>
              <p:nvSpPr>
                <p:cNvPr id="113829" name="Text Box 28"/>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3830" name="Text Box 29"/>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828" name="Text Box 30"/>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1</a:t>
                </a:r>
              </a:p>
            </p:txBody>
          </p:sp>
        </p:grpSp>
        <p:grpSp>
          <p:nvGrpSpPr>
            <p:cNvPr id="113768" name="Group 31"/>
            <p:cNvGrpSpPr>
              <a:grpSpLocks/>
            </p:cNvGrpSpPr>
            <p:nvPr/>
          </p:nvGrpSpPr>
          <p:grpSpPr bwMode="auto">
            <a:xfrm>
              <a:off x="384" y="1085"/>
              <a:ext cx="291" cy="395"/>
              <a:chOff x="748" y="2016"/>
              <a:chExt cx="291" cy="395"/>
            </a:xfrm>
          </p:grpSpPr>
          <p:sp>
            <p:nvSpPr>
              <p:cNvPr id="113825" name="Text Box 32"/>
              <p:cNvSpPr txBox="1">
                <a:spLocks noChangeArrowheads="1"/>
              </p:cNvSpPr>
              <p:nvPr/>
            </p:nvSpPr>
            <p:spPr bwMode="auto">
              <a:xfrm>
                <a:off x="748" y="2123"/>
                <a:ext cx="291"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i</a:t>
                </a:r>
                <a:endParaRPr lang="en-US" altLang="zh-CN" i="1">
                  <a:solidFill>
                    <a:schemeClr val="accent2"/>
                  </a:solidFill>
                  <a:ea typeface="方正琥珀繁体"/>
                  <a:cs typeface="方正琥珀繁体"/>
                </a:endParaRPr>
              </a:p>
            </p:txBody>
          </p:sp>
          <p:sp>
            <p:nvSpPr>
              <p:cNvPr id="113826" name="Text Box 33"/>
              <p:cNvSpPr txBox="1">
                <a:spLocks noChangeArrowheads="1"/>
              </p:cNvSpPr>
              <p:nvPr/>
            </p:nvSpPr>
            <p:spPr bwMode="auto">
              <a:xfrm>
                <a:off x="800" y="2016"/>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3769" name="Group 34"/>
            <p:cNvGrpSpPr>
              <a:grpSpLocks/>
            </p:cNvGrpSpPr>
            <p:nvPr/>
          </p:nvGrpSpPr>
          <p:grpSpPr bwMode="auto">
            <a:xfrm>
              <a:off x="0" y="1373"/>
              <a:ext cx="305" cy="417"/>
              <a:chOff x="30" y="3232"/>
              <a:chExt cx="305" cy="357"/>
            </a:xfrm>
          </p:grpSpPr>
          <p:sp>
            <p:nvSpPr>
              <p:cNvPr id="113823" name="Text Box 35"/>
              <p:cNvSpPr txBox="1">
                <a:spLocks noChangeArrowheads="1"/>
              </p:cNvSpPr>
              <p:nvPr/>
            </p:nvSpPr>
            <p:spPr bwMode="auto">
              <a:xfrm>
                <a:off x="30" y="3342"/>
                <a:ext cx="305" cy="247"/>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U</a:t>
                </a:r>
                <a:r>
                  <a:rPr lang="en-US" altLang="zh-CN" baseline="-25000">
                    <a:ea typeface="方正琥珀繁体"/>
                    <a:cs typeface="方正琥珀繁体"/>
                  </a:rPr>
                  <a:t>s</a:t>
                </a:r>
                <a:endParaRPr lang="en-US" altLang="zh-CN" i="1">
                  <a:ea typeface="方正琥珀繁体"/>
                  <a:cs typeface="方正琥珀繁体"/>
                </a:endParaRPr>
              </a:p>
            </p:txBody>
          </p:sp>
          <p:sp>
            <p:nvSpPr>
              <p:cNvPr id="113824" name="Text Box 36"/>
              <p:cNvSpPr txBox="1">
                <a:spLocks noChangeArrowheads="1"/>
              </p:cNvSpPr>
              <p:nvPr/>
            </p:nvSpPr>
            <p:spPr bwMode="auto">
              <a:xfrm>
                <a:off x="78" y="3232"/>
                <a:ext cx="166" cy="198"/>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770" name="Line 37"/>
            <p:cNvSpPr>
              <a:spLocks noChangeShapeType="1"/>
            </p:cNvSpPr>
            <p:nvPr/>
          </p:nvSpPr>
          <p:spPr bwMode="auto">
            <a:xfrm>
              <a:off x="1512" y="653"/>
              <a:ext cx="0" cy="1304"/>
            </a:xfrm>
            <a:prstGeom prst="line">
              <a:avLst/>
            </a:prstGeom>
            <a:noFill/>
            <a:ln w="38100">
              <a:solidFill>
                <a:srgbClr val="000000"/>
              </a:solidFill>
              <a:round/>
              <a:headEnd/>
              <a:tailEnd type="none" w="med" len="lg"/>
            </a:ln>
          </p:spPr>
          <p:txBody>
            <a:bodyPr wrap="none" anchor="ctr"/>
            <a:lstStyle/>
            <a:p>
              <a:endParaRPr lang="zh-CN" altLang="en-US"/>
            </a:p>
          </p:txBody>
        </p:sp>
        <p:sp>
          <p:nvSpPr>
            <p:cNvPr id="113771" name="Line 38"/>
            <p:cNvSpPr>
              <a:spLocks noChangeShapeType="1"/>
            </p:cNvSpPr>
            <p:nvPr/>
          </p:nvSpPr>
          <p:spPr bwMode="auto">
            <a:xfrm flipH="1">
              <a:off x="3017" y="672"/>
              <a:ext cx="7" cy="1296"/>
            </a:xfrm>
            <a:prstGeom prst="line">
              <a:avLst/>
            </a:prstGeom>
            <a:noFill/>
            <a:ln w="38100">
              <a:solidFill>
                <a:srgbClr val="000000"/>
              </a:solidFill>
              <a:round/>
              <a:headEnd/>
              <a:tailEnd type="none" w="med" len="lg"/>
            </a:ln>
          </p:spPr>
          <p:txBody>
            <a:bodyPr wrap="none" anchor="ctr"/>
            <a:lstStyle/>
            <a:p>
              <a:endParaRPr lang="zh-CN" altLang="en-US"/>
            </a:p>
          </p:txBody>
        </p:sp>
        <p:sp>
          <p:nvSpPr>
            <p:cNvPr id="113772" name="Line 39"/>
            <p:cNvSpPr>
              <a:spLocks noChangeShapeType="1"/>
            </p:cNvSpPr>
            <p:nvPr/>
          </p:nvSpPr>
          <p:spPr bwMode="auto">
            <a:xfrm>
              <a:off x="4896" y="672"/>
              <a:ext cx="5" cy="1310"/>
            </a:xfrm>
            <a:prstGeom prst="line">
              <a:avLst/>
            </a:prstGeom>
            <a:noFill/>
            <a:ln w="38100">
              <a:solidFill>
                <a:srgbClr val="000000"/>
              </a:solidFill>
              <a:round/>
              <a:headEnd/>
              <a:tailEnd type="none" w="med" len="lg"/>
            </a:ln>
          </p:spPr>
          <p:txBody>
            <a:bodyPr wrap="none" anchor="ctr"/>
            <a:lstStyle/>
            <a:p>
              <a:endParaRPr lang="zh-CN" altLang="en-US"/>
            </a:p>
          </p:txBody>
        </p:sp>
        <p:sp>
          <p:nvSpPr>
            <p:cNvPr id="113773" name="Text Box 40"/>
            <p:cNvSpPr txBox="1">
              <a:spLocks noChangeArrowheads="1"/>
            </p:cNvSpPr>
            <p:nvPr/>
          </p:nvSpPr>
          <p:spPr bwMode="auto">
            <a:xfrm>
              <a:off x="2592" y="1248"/>
              <a:ext cx="411"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C1</a:t>
              </a:r>
            </a:p>
          </p:txBody>
        </p:sp>
        <p:sp>
          <p:nvSpPr>
            <p:cNvPr id="113774" name="Rectangle 41"/>
            <p:cNvSpPr>
              <a:spLocks noChangeArrowheads="1"/>
            </p:cNvSpPr>
            <p:nvPr/>
          </p:nvSpPr>
          <p:spPr bwMode="auto">
            <a:xfrm>
              <a:off x="2976" y="1200"/>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775" name="Text Box 42"/>
            <p:cNvSpPr txBox="1">
              <a:spLocks noChangeArrowheads="1"/>
            </p:cNvSpPr>
            <p:nvPr/>
          </p:nvSpPr>
          <p:spPr bwMode="auto">
            <a:xfrm>
              <a:off x="4896" y="1152"/>
              <a:ext cx="432"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L</a:t>
              </a:r>
            </a:p>
          </p:txBody>
        </p:sp>
        <p:sp>
          <p:nvSpPr>
            <p:cNvPr id="113776" name="Rectangle 43"/>
            <p:cNvSpPr>
              <a:spLocks noChangeArrowheads="1"/>
            </p:cNvSpPr>
            <p:nvPr/>
          </p:nvSpPr>
          <p:spPr bwMode="auto">
            <a:xfrm>
              <a:off x="4848" y="1152"/>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777" name="Text Box 44"/>
            <p:cNvSpPr txBox="1">
              <a:spLocks noChangeArrowheads="1"/>
            </p:cNvSpPr>
            <p:nvPr/>
          </p:nvSpPr>
          <p:spPr bwMode="auto">
            <a:xfrm>
              <a:off x="1056" y="1104"/>
              <a:ext cx="480"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B2</a:t>
              </a:r>
            </a:p>
          </p:txBody>
        </p:sp>
        <p:sp>
          <p:nvSpPr>
            <p:cNvPr id="113778" name="Rectangle 45"/>
            <p:cNvSpPr>
              <a:spLocks noChangeArrowheads="1"/>
            </p:cNvSpPr>
            <p:nvPr/>
          </p:nvSpPr>
          <p:spPr bwMode="auto">
            <a:xfrm>
              <a:off x="1464" y="1133"/>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779" name="Rectangle 46"/>
            <p:cNvSpPr>
              <a:spLocks noChangeArrowheads="1"/>
            </p:cNvSpPr>
            <p:nvPr/>
          </p:nvSpPr>
          <p:spPr bwMode="auto">
            <a:xfrm>
              <a:off x="355" y="864"/>
              <a:ext cx="96" cy="240"/>
            </a:xfrm>
            <a:prstGeom prst="rect">
              <a:avLst/>
            </a:prstGeom>
            <a:solidFill>
              <a:srgbClr val="FFFFCC"/>
            </a:solidFill>
            <a:ln w="38100">
              <a:solidFill>
                <a:srgbClr val="FF3300"/>
              </a:solidFill>
              <a:miter lim="800000"/>
              <a:headEnd/>
              <a:tailEnd/>
            </a:ln>
          </p:spPr>
          <p:txBody>
            <a:bodyPr wrap="none" anchor="ctr"/>
            <a:lstStyle/>
            <a:p>
              <a:pPr algn="ctr" eaLnBrk="1" hangingPunct="1"/>
              <a:endParaRPr lang="zh-CN" altLang="en-US"/>
            </a:p>
          </p:txBody>
        </p:sp>
        <p:sp>
          <p:nvSpPr>
            <p:cNvPr id="113780" name="Text Box 47"/>
            <p:cNvSpPr txBox="1">
              <a:spLocks noChangeArrowheads="1"/>
            </p:cNvSpPr>
            <p:nvPr/>
          </p:nvSpPr>
          <p:spPr bwMode="auto">
            <a:xfrm>
              <a:off x="72" y="797"/>
              <a:ext cx="326" cy="288"/>
            </a:xfrm>
            <a:prstGeom prst="rect">
              <a:avLst/>
            </a:prstGeom>
            <a:noFill/>
            <a:ln w="9525">
              <a:noFill/>
              <a:miter lim="800000"/>
              <a:headEnd/>
              <a:tailEnd/>
            </a:ln>
          </p:spPr>
          <p:txBody>
            <a:bodyPr>
              <a:spAutoFit/>
            </a:bodyPr>
            <a:lstStyle/>
            <a:p>
              <a:pPr algn="ctr" eaLnBrk="1" hangingPunct="1"/>
              <a:r>
                <a:rPr lang="en-US" altLang="zh-CN"/>
                <a:t>R</a:t>
              </a:r>
              <a:r>
                <a:rPr lang="en-US" altLang="zh-CN" baseline="-25000"/>
                <a:t>S</a:t>
              </a:r>
            </a:p>
          </p:txBody>
        </p:sp>
        <p:sp>
          <p:nvSpPr>
            <p:cNvPr id="113781" name="Rectangle 48"/>
            <p:cNvSpPr>
              <a:spLocks noChangeArrowheads="1"/>
            </p:cNvSpPr>
            <p:nvPr/>
          </p:nvSpPr>
          <p:spPr bwMode="auto">
            <a:xfrm>
              <a:off x="168" y="1248"/>
              <a:ext cx="244" cy="327"/>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rPr>
                <a:t>+</a:t>
              </a:r>
            </a:p>
          </p:txBody>
        </p:sp>
        <p:sp>
          <p:nvSpPr>
            <p:cNvPr id="113782" name="Rectangle 49"/>
            <p:cNvSpPr>
              <a:spLocks noChangeArrowheads="1"/>
            </p:cNvSpPr>
            <p:nvPr/>
          </p:nvSpPr>
          <p:spPr bwMode="auto">
            <a:xfrm>
              <a:off x="168" y="1680"/>
              <a:ext cx="239" cy="327"/>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sym typeface="Symbol" pitchFamily="18" charset="2"/>
                </a:rPr>
                <a:t></a:t>
              </a:r>
            </a:p>
          </p:txBody>
        </p:sp>
        <p:sp>
          <p:nvSpPr>
            <p:cNvPr id="113783" name="Rectangle 50"/>
            <p:cNvSpPr>
              <a:spLocks noChangeArrowheads="1"/>
            </p:cNvSpPr>
            <p:nvPr/>
          </p:nvSpPr>
          <p:spPr bwMode="auto">
            <a:xfrm>
              <a:off x="1968" y="1152"/>
              <a:ext cx="96" cy="316"/>
            </a:xfrm>
            <a:prstGeom prst="rect">
              <a:avLst/>
            </a:prstGeom>
            <a:solidFill>
              <a:srgbClr val="FFFFCC"/>
            </a:solidFill>
            <a:ln w="38100">
              <a:solidFill>
                <a:srgbClr val="A50021"/>
              </a:solidFill>
              <a:miter lim="800000"/>
              <a:headEnd/>
              <a:tailEnd/>
            </a:ln>
          </p:spPr>
          <p:txBody>
            <a:bodyPr wrap="none" anchor="ctr"/>
            <a:lstStyle/>
            <a:p>
              <a:pPr algn="ctr" eaLnBrk="1" hangingPunct="1"/>
              <a:endParaRPr lang="zh-CN" altLang="en-US"/>
            </a:p>
          </p:txBody>
        </p:sp>
        <p:grpSp>
          <p:nvGrpSpPr>
            <p:cNvPr id="113784" name="Group 51"/>
            <p:cNvGrpSpPr>
              <a:grpSpLocks/>
            </p:cNvGrpSpPr>
            <p:nvPr/>
          </p:nvGrpSpPr>
          <p:grpSpPr bwMode="auto">
            <a:xfrm>
              <a:off x="2352" y="1056"/>
              <a:ext cx="288" cy="480"/>
              <a:chOff x="2496" y="2880"/>
              <a:chExt cx="288" cy="480"/>
            </a:xfrm>
          </p:grpSpPr>
          <p:sp>
            <p:nvSpPr>
              <p:cNvPr id="113821" name="Freeform 52"/>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3822" name="Line 53"/>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3785" name="Line 54"/>
            <p:cNvSpPr>
              <a:spLocks noChangeShapeType="1"/>
            </p:cNvSpPr>
            <p:nvPr/>
          </p:nvSpPr>
          <p:spPr bwMode="auto">
            <a:xfrm>
              <a:off x="2232" y="1949"/>
              <a:ext cx="0" cy="144"/>
            </a:xfrm>
            <a:prstGeom prst="line">
              <a:avLst/>
            </a:prstGeom>
            <a:noFill/>
            <a:ln w="38100">
              <a:solidFill>
                <a:schemeClr val="tx1"/>
              </a:solidFill>
              <a:round/>
              <a:headEnd/>
              <a:tailEnd type="none" w="sm" len="lg"/>
            </a:ln>
          </p:spPr>
          <p:txBody>
            <a:bodyPr anchor="ctr">
              <a:spAutoFit/>
            </a:bodyPr>
            <a:lstStyle/>
            <a:p>
              <a:endParaRPr lang="zh-CN" altLang="en-US"/>
            </a:p>
          </p:txBody>
        </p:sp>
        <p:sp>
          <p:nvSpPr>
            <p:cNvPr id="113786" name="Line 57"/>
            <p:cNvSpPr>
              <a:spLocks noChangeShapeType="1"/>
            </p:cNvSpPr>
            <p:nvPr/>
          </p:nvSpPr>
          <p:spPr bwMode="auto">
            <a:xfrm>
              <a:off x="1032" y="653"/>
              <a:ext cx="0" cy="1304"/>
            </a:xfrm>
            <a:prstGeom prst="line">
              <a:avLst/>
            </a:prstGeom>
            <a:noFill/>
            <a:ln w="38100">
              <a:solidFill>
                <a:srgbClr val="000000"/>
              </a:solidFill>
              <a:round/>
              <a:headEnd/>
              <a:tailEnd type="none" w="med" len="lg"/>
            </a:ln>
          </p:spPr>
          <p:txBody>
            <a:bodyPr wrap="none" anchor="ctr"/>
            <a:lstStyle/>
            <a:p>
              <a:endParaRPr lang="zh-CN" altLang="en-US"/>
            </a:p>
          </p:txBody>
        </p:sp>
        <p:sp>
          <p:nvSpPr>
            <p:cNvPr id="113787" name="Text Box 58"/>
            <p:cNvSpPr txBox="1">
              <a:spLocks noChangeArrowheads="1"/>
            </p:cNvSpPr>
            <p:nvPr/>
          </p:nvSpPr>
          <p:spPr bwMode="auto">
            <a:xfrm>
              <a:off x="576" y="1104"/>
              <a:ext cx="528"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B1</a:t>
              </a:r>
            </a:p>
          </p:txBody>
        </p:sp>
        <p:sp>
          <p:nvSpPr>
            <p:cNvPr id="113788" name="Rectangle 59"/>
            <p:cNvSpPr>
              <a:spLocks noChangeArrowheads="1"/>
            </p:cNvSpPr>
            <p:nvPr/>
          </p:nvSpPr>
          <p:spPr bwMode="auto">
            <a:xfrm>
              <a:off x="984" y="1133"/>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789" name="Line 60"/>
            <p:cNvSpPr>
              <a:spLocks noChangeShapeType="1"/>
            </p:cNvSpPr>
            <p:nvPr/>
          </p:nvSpPr>
          <p:spPr bwMode="auto">
            <a:xfrm flipV="1">
              <a:off x="402" y="666"/>
              <a:ext cx="1632" cy="0"/>
            </a:xfrm>
            <a:prstGeom prst="line">
              <a:avLst/>
            </a:prstGeom>
            <a:noFill/>
            <a:ln w="38100">
              <a:solidFill>
                <a:schemeClr val="tx1"/>
              </a:solidFill>
              <a:round/>
              <a:headEnd/>
              <a:tailEnd type="none" w="sm" len="lg"/>
            </a:ln>
          </p:spPr>
          <p:txBody>
            <a:bodyPr/>
            <a:lstStyle/>
            <a:p>
              <a:endParaRPr lang="zh-CN" altLang="en-US"/>
            </a:p>
          </p:txBody>
        </p:sp>
        <p:sp>
          <p:nvSpPr>
            <p:cNvPr id="113790" name="Rectangle 65"/>
            <p:cNvSpPr>
              <a:spLocks noChangeArrowheads="1"/>
            </p:cNvSpPr>
            <p:nvPr/>
          </p:nvSpPr>
          <p:spPr bwMode="auto">
            <a:xfrm>
              <a:off x="3888" y="624"/>
              <a:ext cx="336" cy="96"/>
            </a:xfrm>
            <a:prstGeom prst="rect">
              <a:avLst/>
            </a:prstGeom>
            <a:solidFill>
              <a:srgbClr val="FFFFCC"/>
            </a:solidFill>
            <a:ln w="38100">
              <a:solidFill>
                <a:srgbClr val="993300"/>
              </a:solidFill>
              <a:miter lim="800000"/>
              <a:headEnd/>
              <a:tailEnd type="none" w="sm" len="lg"/>
            </a:ln>
          </p:spPr>
          <p:txBody>
            <a:bodyPr wrap="none" anchor="ctr"/>
            <a:lstStyle/>
            <a:p>
              <a:pPr algn="ctr" eaLnBrk="1" hangingPunct="1"/>
              <a:endParaRPr lang="zh-CN" altLang="zh-CN"/>
            </a:p>
          </p:txBody>
        </p:sp>
        <p:grpSp>
          <p:nvGrpSpPr>
            <p:cNvPr id="113791" name="Group 66"/>
            <p:cNvGrpSpPr>
              <a:grpSpLocks/>
            </p:cNvGrpSpPr>
            <p:nvPr/>
          </p:nvGrpSpPr>
          <p:grpSpPr bwMode="auto">
            <a:xfrm>
              <a:off x="4224" y="1104"/>
              <a:ext cx="288" cy="480"/>
              <a:chOff x="2496" y="2880"/>
              <a:chExt cx="288" cy="480"/>
            </a:xfrm>
          </p:grpSpPr>
          <p:sp>
            <p:nvSpPr>
              <p:cNvPr id="113819" name="Freeform 67"/>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3820" name="Line 68"/>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3792" name="Line 70"/>
            <p:cNvSpPr>
              <a:spLocks noChangeShapeType="1"/>
            </p:cNvSpPr>
            <p:nvPr/>
          </p:nvSpPr>
          <p:spPr bwMode="auto">
            <a:xfrm>
              <a:off x="3744" y="672"/>
              <a:ext cx="0" cy="1296"/>
            </a:xfrm>
            <a:prstGeom prst="line">
              <a:avLst/>
            </a:prstGeom>
            <a:noFill/>
            <a:ln w="38100">
              <a:solidFill>
                <a:srgbClr val="000000"/>
              </a:solidFill>
              <a:round/>
              <a:headEnd/>
              <a:tailEnd type="none" w="med" len="lg"/>
            </a:ln>
          </p:spPr>
          <p:txBody>
            <a:bodyPr wrap="none" anchor="ctr"/>
            <a:lstStyle/>
            <a:p>
              <a:endParaRPr lang="zh-CN" altLang="en-US"/>
            </a:p>
          </p:txBody>
        </p:sp>
        <p:sp>
          <p:nvSpPr>
            <p:cNvPr id="113793" name="Rectangle 71"/>
            <p:cNvSpPr>
              <a:spLocks noChangeArrowheads="1"/>
            </p:cNvSpPr>
            <p:nvPr/>
          </p:nvSpPr>
          <p:spPr bwMode="auto">
            <a:xfrm>
              <a:off x="3696" y="1200"/>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794" name="Text Box 73"/>
            <p:cNvSpPr txBox="1">
              <a:spLocks noChangeArrowheads="1"/>
            </p:cNvSpPr>
            <p:nvPr/>
          </p:nvSpPr>
          <p:spPr bwMode="auto">
            <a:xfrm>
              <a:off x="3696" y="1200"/>
              <a:ext cx="528"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B3</a:t>
              </a:r>
            </a:p>
          </p:txBody>
        </p:sp>
        <p:sp>
          <p:nvSpPr>
            <p:cNvPr id="113795" name="Text Box 75"/>
            <p:cNvSpPr txBox="1">
              <a:spLocks noChangeArrowheads="1"/>
            </p:cNvSpPr>
            <p:nvPr/>
          </p:nvSpPr>
          <p:spPr bwMode="auto">
            <a:xfrm>
              <a:off x="3840" y="624"/>
              <a:ext cx="528" cy="327"/>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be2</a:t>
              </a:r>
              <a:r>
                <a:rPr lang="en-US" altLang="zh-CN" i="1">
                  <a:solidFill>
                    <a:srgbClr val="A50021"/>
                  </a:solidFill>
                  <a:ea typeface="方正琥珀繁体"/>
                  <a:cs typeface="方正琥珀繁体"/>
                </a:rPr>
                <a:t> </a:t>
              </a:r>
            </a:p>
          </p:txBody>
        </p:sp>
        <p:sp>
          <p:nvSpPr>
            <p:cNvPr id="113796" name="Line 76"/>
            <p:cNvSpPr>
              <a:spLocks noChangeShapeType="1"/>
            </p:cNvSpPr>
            <p:nvPr/>
          </p:nvSpPr>
          <p:spPr bwMode="auto">
            <a:xfrm flipV="1">
              <a:off x="4416" y="720"/>
              <a:ext cx="0" cy="384"/>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3797" name="Line 77"/>
            <p:cNvSpPr>
              <a:spLocks noChangeShapeType="1"/>
            </p:cNvSpPr>
            <p:nvPr/>
          </p:nvSpPr>
          <p:spPr bwMode="auto">
            <a:xfrm>
              <a:off x="3840" y="576"/>
              <a:ext cx="480" cy="0"/>
            </a:xfrm>
            <a:prstGeom prst="line">
              <a:avLst/>
            </a:prstGeom>
            <a:noFill/>
            <a:ln w="28575">
              <a:solidFill>
                <a:srgbClr val="FF3300"/>
              </a:solidFill>
              <a:round/>
              <a:headEnd/>
              <a:tailEnd type="stealth" w="sm" len="lg"/>
            </a:ln>
          </p:spPr>
          <p:txBody>
            <a:bodyPr/>
            <a:lstStyle/>
            <a:p>
              <a:endParaRPr lang="zh-CN" altLang="en-US"/>
            </a:p>
          </p:txBody>
        </p:sp>
        <p:grpSp>
          <p:nvGrpSpPr>
            <p:cNvPr id="113798" name="Group 81"/>
            <p:cNvGrpSpPr>
              <a:grpSpLocks/>
            </p:cNvGrpSpPr>
            <p:nvPr/>
          </p:nvGrpSpPr>
          <p:grpSpPr bwMode="auto">
            <a:xfrm>
              <a:off x="4368" y="624"/>
              <a:ext cx="518" cy="384"/>
              <a:chOff x="2544" y="816"/>
              <a:chExt cx="518" cy="384"/>
            </a:xfrm>
          </p:grpSpPr>
          <p:grpSp>
            <p:nvGrpSpPr>
              <p:cNvPr id="113815" name="Group 82"/>
              <p:cNvGrpSpPr>
                <a:grpSpLocks/>
              </p:cNvGrpSpPr>
              <p:nvPr/>
            </p:nvGrpSpPr>
            <p:grpSpPr bwMode="auto">
              <a:xfrm>
                <a:off x="2736" y="816"/>
                <a:ext cx="326" cy="380"/>
                <a:chOff x="2719" y="857"/>
                <a:chExt cx="326" cy="380"/>
              </a:xfrm>
            </p:grpSpPr>
            <p:sp>
              <p:nvSpPr>
                <p:cNvPr id="113817" name="Text Box 83"/>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3818" name="Text Box 84"/>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816" name="Text Box 85"/>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2</a:t>
                </a:r>
              </a:p>
            </p:txBody>
          </p:sp>
        </p:grpSp>
        <p:sp>
          <p:nvSpPr>
            <p:cNvPr id="113799" name="Line 86"/>
            <p:cNvSpPr>
              <a:spLocks noChangeShapeType="1"/>
            </p:cNvSpPr>
            <p:nvPr/>
          </p:nvSpPr>
          <p:spPr bwMode="auto">
            <a:xfrm>
              <a:off x="3312" y="816"/>
              <a:ext cx="0" cy="1008"/>
            </a:xfrm>
            <a:prstGeom prst="line">
              <a:avLst/>
            </a:prstGeom>
            <a:noFill/>
            <a:ln w="28575">
              <a:solidFill>
                <a:schemeClr val="accent2"/>
              </a:solidFill>
              <a:round/>
              <a:headEnd/>
              <a:tailEnd type="stealth" w="sm" len="lg"/>
            </a:ln>
          </p:spPr>
          <p:txBody>
            <a:bodyPr wrap="none" anchor="ctr"/>
            <a:lstStyle/>
            <a:p>
              <a:endParaRPr lang="zh-CN" altLang="en-US"/>
            </a:p>
          </p:txBody>
        </p:sp>
        <p:grpSp>
          <p:nvGrpSpPr>
            <p:cNvPr id="113800" name="Group 90"/>
            <p:cNvGrpSpPr>
              <a:grpSpLocks/>
            </p:cNvGrpSpPr>
            <p:nvPr/>
          </p:nvGrpSpPr>
          <p:grpSpPr bwMode="auto">
            <a:xfrm>
              <a:off x="3312" y="1152"/>
              <a:ext cx="383" cy="379"/>
              <a:chOff x="3232" y="1401"/>
              <a:chExt cx="383" cy="390"/>
            </a:xfrm>
          </p:grpSpPr>
          <p:sp>
            <p:nvSpPr>
              <p:cNvPr id="113813" name="Text Box 88"/>
              <p:cNvSpPr txBox="1">
                <a:spLocks noChangeArrowheads="1"/>
              </p:cNvSpPr>
              <p:nvPr/>
            </p:nvSpPr>
            <p:spPr bwMode="auto">
              <a:xfrm>
                <a:off x="3232" y="1495"/>
                <a:ext cx="383" cy="296"/>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o1</a:t>
                </a:r>
                <a:endParaRPr lang="en-US" altLang="zh-CN" i="1">
                  <a:solidFill>
                    <a:schemeClr val="accent2"/>
                  </a:solidFill>
                  <a:ea typeface="方正琥珀繁体"/>
                  <a:cs typeface="方正琥珀繁体"/>
                </a:endParaRPr>
              </a:p>
            </p:txBody>
          </p:sp>
          <p:sp>
            <p:nvSpPr>
              <p:cNvPr id="113814" name="Text Box 89"/>
              <p:cNvSpPr txBox="1">
                <a:spLocks noChangeArrowheads="1"/>
              </p:cNvSpPr>
              <p:nvPr/>
            </p:nvSpPr>
            <p:spPr bwMode="auto">
              <a:xfrm>
                <a:off x="3282" y="1401"/>
                <a:ext cx="166" cy="238"/>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sp>
          <p:nvSpPr>
            <p:cNvPr id="113801" name="Text Box 91"/>
            <p:cNvSpPr txBox="1">
              <a:spLocks noChangeArrowheads="1"/>
            </p:cNvSpPr>
            <p:nvPr/>
          </p:nvSpPr>
          <p:spPr bwMode="auto">
            <a:xfrm>
              <a:off x="1632"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1</a:t>
              </a:r>
            </a:p>
          </p:txBody>
        </p:sp>
        <p:sp>
          <p:nvSpPr>
            <p:cNvPr id="113802" name="Text Box 92"/>
            <p:cNvSpPr txBox="1">
              <a:spLocks noChangeArrowheads="1"/>
            </p:cNvSpPr>
            <p:nvPr/>
          </p:nvSpPr>
          <p:spPr bwMode="auto">
            <a:xfrm>
              <a:off x="2544"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1</a:t>
              </a:r>
            </a:p>
          </p:txBody>
        </p:sp>
        <p:sp>
          <p:nvSpPr>
            <p:cNvPr id="113803" name="Text Box 93"/>
            <p:cNvSpPr txBox="1">
              <a:spLocks noChangeArrowheads="1"/>
            </p:cNvSpPr>
            <p:nvPr/>
          </p:nvSpPr>
          <p:spPr bwMode="auto">
            <a:xfrm>
              <a:off x="2064" y="1680"/>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1</a:t>
              </a:r>
            </a:p>
          </p:txBody>
        </p:sp>
        <p:sp>
          <p:nvSpPr>
            <p:cNvPr id="113804" name="Text Box 94"/>
            <p:cNvSpPr txBox="1">
              <a:spLocks noChangeArrowheads="1"/>
            </p:cNvSpPr>
            <p:nvPr/>
          </p:nvSpPr>
          <p:spPr bwMode="auto">
            <a:xfrm>
              <a:off x="3456"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2</a:t>
              </a:r>
            </a:p>
          </p:txBody>
        </p:sp>
        <p:sp>
          <p:nvSpPr>
            <p:cNvPr id="113805" name="Line 95"/>
            <p:cNvSpPr>
              <a:spLocks noChangeShapeType="1"/>
            </p:cNvSpPr>
            <p:nvPr/>
          </p:nvSpPr>
          <p:spPr bwMode="auto">
            <a:xfrm>
              <a:off x="2496" y="672"/>
              <a:ext cx="1248" cy="0"/>
            </a:xfrm>
            <a:prstGeom prst="line">
              <a:avLst/>
            </a:prstGeom>
            <a:noFill/>
            <a:ln w="38100">
              <a:solidFill>
                <a:srgbClr val="000000"/>
              </a:solidFill>
              <a:round/>
              <a:headEnd/>
              <a:tailEnd/>
            </a:ln>
          </p:spPr>
          <p:txBody>
            <a:bodyPr wrap="none" anchor="ctr"/>
            <a:lstStyle/>
            <a:p>
              <a:endParaRPr lang="zh-CN" altLang="en-US"/>
            </a:p>
          </p:txBody>
        </p:sp>
        <p:sp>
          <p:nvSpPr>
            <p:cNvPr id="113806" name="Text Box 96"/>
            <p:cNvSpPr txBox="1">
              <a:spLocks noChangeArrowheads="1"/>
            </p:cNvSpPr>
            <p:nvPr/>
          </p:nvSpPr>
          <p:spPr bwMode="auto">
            <a:xfrm>
              <a:off x="4272"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2</a:t>
              </a:r>
            </a:p>
          </p:txBody>
        </p:sp>
        <p:sp>
          <p:nvSpPr>
            <p:cNvPr id="113807" name="Text Box 97"/>
            <p:cNvSpPr txBox="1">
              <a:spLocks noChangeArrowheads="1"/>
            </p:cNvSpPr>
            <p:nvPr/>
          </p:nvSpPr>
          <p:spPr bwMode="auto">
            <a:xfrm>
              <a:off x="4195" y="1888"/>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2</a:t>
              </a:r>
            </a:p>
          </p:txBody>
        </p:sp>
        <p:sp>
          <p:nvSpPr>
            <p:cNvPr id="113808" name="Line 160"/>
            <p:cNvSpPr>
              <a:spLocks noChangeShapeType="1"/>
            </p:cNvSpPr>
            <p:nvPr/>
          </p:nvSpPr>
          <p:spPr bwMode="auto">
            <a:xfrm>
              <a:off x="5280" y="672"/>
              <a:ext cx="5" cy="1310"/>
            </a:xfrm>
            <a:prstGeom prst="line">
              <a:avLst/>
            </a:prstGeom>
            <a:noFill/>
            <a:ln w="38100">
              <a:solidFill>
                <a:srgbClr val="000000"/>
              </a:solidFill>
              <a:round/>
              <a:headEnd/>
              <a:tailEnd type="none" w="med" len="lg"/>
            </a:ln>
          </p:spPr>
          <p:txBody>
            <a:bodyPr wrap="none" anchor="ctr"/>
            <a:lstStyle/>
            <a:p>
              <a:endParaRPr lang="zh-CN" altLang="en-US"/>
            </a:p>
          </p:txBody>
        </p:sp>
        <p:sp>
          <p:nvSpPr>
            <p:cNvPr id="113809" name="Rectangle 161"/>
            <p:cNvSpPr>
              <a:spLocks noChangeArrowheads="1"/>
            </p:cNvSpPr>
            <p:nvPr/>
          </p:nvSpPr>
          <p:spPr bwMode="auto">
            <a:xfrm>
              <a:off x="5232" y="1152"/>
              <a:ext cx="96" cy="288"/>
            </a:xfrm>
            <a:prstGeom prst="rect">
              <a:avLst/>
            </a:prstGeom>
            <a:solidFill>
              <a:schemeClr val="bg2"/>
            </a:solidFill>
            <a:ln w="38100">
              <a:solidFill>
                <a:schemeClr val="tx1"/>
              </a:solidFill>
              <a:miter lim="800000"/>
              <a:headEnd/>
              <a:tailEnd/>
            </a:ln>
          </p:spPr>
          <p:txBody>
            <a:bodyPr wrap="none" anchor="ctr"/>
            <a:lstStyle/>
            <a:p>
              <a:pPr algn="ctr" eaLnBrk="1" hangingPunct="1"/>
              <a:endParaRPr lang="zh-CN" altLang="en-US"/>
            </a:p>
          </p:txBody>
        </p:sp>
        <p:sp>
          <p:nvSpPr>
            <p:cNvPr id="113810" name="Text Box 162"/>
            <p:cNvSpPr txBox="1">
              <a:spLocks noChangeArrowheads="1"/>
            </p:cNvSpPr>
            <p:nvPr/>
          </p:nvSpPr>
          <p:spPr bwMode="auto">
            <a:xfrm>
              <a:off x="4464" y="1152"/>
              <a:ext cx="432"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E2</a:t>
              </a:r>
            </a:p>
          </p:txBody>
        </p:sp>
        <p:sp>
          <p:nvSpPr>
            <p:cNvPr id="113811" name="Freeform 165"/>
            <p:cNvSpPr>
              <a:spLocks/>
            </p:cNvSpPr>
            <p:nvPr/>
          </p:nvSpPr>
          <p:spPr bwMode="auto">
            <a:xfrm flipV="1">
              <a:off x="3424" y="436"/>
              <a:ext cx="235" cy="454"/>
            </a:xfrm>
            <a:custGeom>
              <a:avLst/>
              <a:gdLst>
                <a:gd name="T0" fmla="*/ 0 w 192"/>
                <a:gd name="T1" fmla="*/ 10941 h 384"/>
                <a:gd name="T2" fmla="*/ 0 w 192"/>
                <a:gd name="T3" fmla="*/ 0 h 384"/>
                <a:gd name="T4" fmla="*/ 10954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13812" name="Rectangle 166"/>
            <p:cNvSpPr>
              <a:spLocks noChangeArrowheads="1"/>
            </p:cNvSpPr>
            <p:nvPr/>
          </p:nvSpPr>
          <p:spPr bwMode="auto">
            <a:xfrm>
              <a:off x="3288" y="119"/>
              <a:ext cx="413" cy="327"/>
            </a:xfrm>
            <a:prstGeom prst="rect">
              <a:avLst/>
            </a:prstGeom>
            <a:noFill/>
            <a:ln w="38100">
              <a:noFill/>
              <a:miter lim="800000"/>
              <a:headEnd/>
              <a:tailEnd type="none" w="sm" len="lg"/>
            </a:ln>
          </p:spPr>
          <p:txBody>
            <a:bodyPr wrap="none">
              <a:spAutoFit/>
            </a:bodyPr>
            <a:lstStyle/>
            <a:p>
              <a:pPr algn="ctr"/>
              <a:r>
                <a:rPr lang="en-US" altLang="zh-CN" i="1">
                  <a:solidFill>
                    <a:srgbClr val="CC3300"/>
                  </a:solidFill>
                </a:rPr>
                <a:t>R</a:t>
              </a:r>
              <a:r>
                <a:rPr lang="en-US" altLang="zh-CN" sz="1600">
                  <a:solidFill>
                    <a:srgbClr val="CC3300"/>
                  </a:solidFill>
                </a:rPr>
                <a:t>i</a:t>
              </a:r>
              <a:r>
                <a:rPr lang="zh-CN" altLang="en-US" sz="1400">
                  <a:solidFill>
                    <a:srgbClr val="CC3300"/>
                  </a:solidFill>
                </a:rPr>
                <a:t>２</a:t>
              </a:r>
            </a:p>
          </p:txBody>
        </p:sp>
      </p:grpSp>
      <p:sp>
        <p:nvSpPr>
          <p:cNvPr id="2" name="文本框 1"/>
          <p:cNvSpPr txBox="1">
            <a:spLocks noChangeArrowheads="1"/>
          </p:cNvSpPr>
          <p:nvPr/>
        </p:nvSpPr>
        <p:spPr bwMode="auto">
          <a:xfrm>
            <a:off x="195263" y="141288"/>
            <a:ext cx="2735262" cy="585787"/>
          </a:xfrm>
          <a:prstGeom prst="rect">
            <a:avLst/>
          </a:prstGeom>
          <a:solidFill>
            <a:srgbClr val="FFCC00"/>
          </a:solidFill>
          <a:ln w="9525">
            <a:noFill/>
            <a:miter lim="800000"/>
            <a:headEnd/>
            <a:tailEnd/>
          </a:ln>
        </p:spPr>
        <p:txBody>
          <a:bodyPr>
            <a:spAutoFit/>
          </a:bodyPr>
          <a:lstStyle/>
          <a:p>
            <a:r>
              <a:rPr lang="zh-CN" altLang="en-US" sz="1600">
                <a:latin typeface="黑体" pitchFamily="49" charset="-122"/>
                <a:ea typeface="黑体" pitchFamily="49" charset="-122"/>
              </a:rPr>
              <a:t>第一级放大倍数需要求</a:t>
            </a:r>
            <a:r>
              <a:rPr lang="en-US" altLang="zh-CN" sz="1600">
                <a:latin typeface="黑体" pitchFamily="49" charset="-122"/>
                <a:ea typeface="黑体" pitchFamily="49" charset="-122"/>
              </a:rPr>
              <a:t>Ri2</a:t>
            </a:r>
            <a:r>
              <a:rPr lang="zh-CN" altLang="en-US" sz="1600">
                <a:latin typeface="黑体" pitchFamily="49" charset="-122"/>
                <a:ea typeface="黑体" pitchFamily="49" charset="-122"/>
              </a:rPr>
              <a:t>；</a:t>
            </a:r>
            <a:endParaRPr lang="en-US" altLang="zh-CN" sz="1600">
              <a:latin typeface="黑体" pitchFamily="49" charset="-122"/>
              <a:ea typeface="黑体" pitchFamily="49" charset="-122"/>
            </a:endParaRPr>
          </a:p>
          <a:p>
            <a:r>
              <a:rPr lang="zh-CN" altLang="en-US" sz="1600">
                <a:latin typeface="黑体" pitchFamily="49" charset="-122"/>
                <a:ea typeface="黑体" pitchFamily="49" charset="-122"/>
              </a:rPr>
              <a:t>输出电阻需要求</a:t>
            </a:r>
            <a:r>
              <a:rPr lang="en-US" altLang="zh-CN" sz="1600">
                <a:latin typeface="黑体" pitchFamily="49" charset="-122"/>
                <a:ea typeface="黑体" pitchFamily="49" charset="-122"/>
              </a:rPr>
              <a:t>Ro1</a:t>
            </a:r>
            <a:endParaRPr lang="zh-CN" altLang="en-US" sz="1600">
              <a:latin typeface="黑体" pitchFamily="49" charset="-122"/>
              <a:ea typeface="黑体"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0" fill="hold"/>
                                        <p:tgtEl>
                                          <p:spTgt spid="7"/>
                                        </p:tgtEl>
                                        <p:attrNameLst>
                                          <p:attrName>ppt_x</p:attrName>
                                        </p:attrNameLst>
                                      </p:cBhvr>
                                      <p:tavLst>
                                        <p:tav tm="0">
                                          <p:val>
                                            <p:strVal val="#ppt_x"/>
                                          </p:val>
                                        </p:tav>
                                        <p:tav tm="100000">
                                          <p:val>
                                            <p:strVal val="#ppt_x"/>
                                          </p:val>
                                        </p:tav>
                                      </p:tavLst>
                                    </p:anim>
                                    <p:anim calcmode="lin" valueType="num">
                                      <p:cBhvr additive="base">
                                        <p:cTn id="8" dur="5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79388" y="188913"/>
            <a:ext cx="3886200" cy="519112"/>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t>2.  </a:t>
            </a:r>
            <a:r>
              <a:rPr lang="zh-CN" altLang="en-US"/>
              <a:t>求动态参数：</a:t>
            </a:r>
          </a:p>
        </p:txBody>
      </p:sp>
      <p:grpSp>
        <p:nvGrpSpPr>
          <p:cNvPr id="2" name="Group 116"/>
          <p:cNvGrpSpPr>
            <a:grpSpLocks/>
          </p:cNvGrpSpPr>
          <p:nvPr/>
        </p:nvGrpSpPr>
        <p:grpSpPr bwMode="auto">
          <a:xfrm>
            <a:off x="228600" y="6019800"/>
            <a:ext cx="2708275" cy="703263"/>
            <a:chOff x="233" y="2466"/>
            <a:chExt cx="1706" cy="443"/>
          </a:xfrm>
        </p:grpSpPr>
        <p:grpSp>
          <p:nvGrpSpPr>
            <p:cNvPr id="11386" name="Group 108"/>
            <p:cNvGrpSpPr>
              <a:grpSpLocks/>
            </p:cNvGrpSpPr>
            <p:nvPr/>
          </p:nvGrpSpPr>
          <p:grpSpPr bwMode="auto">
            <a:xfrm>
              <a:off x="233" y="2544"/>
              <a:ext cx="1706" cy="365"/>
              <a:chOff x="3310" y="2208"/>
              <a:chExt cx="1706" cy="365"/>
            </a:xfrm>
          </p:grpSpPr>
          <p:sp>
            <p:nvSpPr>
              <p:cNvPr id="11390" name="Rectangle 109"/>
              <p:cNvSpPr>
                <a:spLocks noChangeArrowheads="1"/>
              </p:cNvSpPr>
              <p:nvPr/>
            </p:nvSpPr>
            <p:spPr bwMode="auto">
              <a:xfrm>
                <a:off x="3310" y="2208"/>
                <a:ext cx="63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3200" i="1">
                    <a:solidFill>
                      <a:schemeClr val="accent2"/>
                    </a:solidFill>
                    <a:ea typeface="方正琥珀繁体"/>
                    <a:cs typeface="方正琥珀繁体"/>
                  </a:rPr>
                  <a:t> =</a:t>
                </a:r>
              </a:p>
            </p:txBody>
          </p:sp>
          <p:sp>
            <p:nvSpPr>
              <p:cNvPr id="11391" name="Rectangle 110"/>
              <p:cNvSpPr>
                <a:spLocks noChangeArrowheads="1"/>
              </p:cNvSpPr>
              <p:nvPr/>
            </p:nvSpPr>
            <p:spPr bwMode="auto">
              <a:xfrm>
                <a:off x="3886" y="2208"/>
                <a:ext cx="50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2000">
                    <a:solidFill>
                      <a:schemeClr val="accent2"/>
                    </a:solidFill>
                    <a:ea typeface="方正琥珀繁体"/>
                    <a:cs typeface="方正琥珀繁体"/>
                  </a:rPr>
                  <a:t>1</a:t>
                </a:r>
                <a:endParaRPr lang="en-US" altLang="zh-CN" sz="2000" i="1">
                  <a:solidFill>
                    <a:schemeClr val="accent2"/>
                  </a:solidFill>
                  <a:ea typeface="方正琥珀繁体"/>
                  <a:cs typeface="方正琥珀繁体"/>
                </a:endParaRPr>
              </a:p>
            </p:txBody>
          </p:sp>
          <p:sp>
            <p:nvSpPr>
              <p:cNvPr id="11392" name="Rectangle 111"/>
              <p:cNvSpPr>
                <a:spLocks noChangeArrowheads="1"/>
              </p:cNvSpPr>
              <p:nvPr/>
            </p:nvSpPr>
            <p:spPr bwMode="auto">
              <a:xfrm>
                <a:off x="4510" y="2208"/>
                <a:ext cx="506" cy="365"/>
              </a:xfrm>
              <a:prstGeom prst="rect">
                <a:avLst/>
              </a:prstGeom>
              <a:noFill/>
              <a:ln w="28575">
                <a:noFill/>
                <a:miter lim="800000"/>
                <a:headEnd/>
                <a:tailEnd type="none" w="sm" len="lg"/>
              </a:ln>
            </p:spPr>
            <p:txBody>
              <a:bodyPr wrap="none" anchor="ctr">
                <a:spAutoFit/>
              </a:bodyPr>
              <a:lstStyle/>
              <a:p>
                <a:pPr algn="ctr" eaLnBrk="1" hangingPunct="1"/>
                <a:r>
                  <a:rPr lang="en-US" altLang="zh-CN" sz="3200">
                    <a:solidFill>
                      <a:schemeClr val="accent2"/>
                    </a:solidFill>
                    <a:ea typeface="方正琥珀繁体"/>
                    <a:cs typeface="方正琥珀繁体"/>
                  </a:rPr>
                  <a:t>A</a:t>
                </a:r>
                <a:r>
                  <a:rPr lang="en-US" altLang="zh-CN">
                    <a:solidFill>
                      <a:schemeClr val="accent2"/>
                    </a:solidFill>
                    <a:ea typeface="方正琥珀繁体"/>
                    <a:cs typeface="方正琥珀繁体"/>
                  </a:rPr>
                  <a:t>u</a:t>
                </a:r>
                <a:r>
                  <a:rPr lang="en-US" altLang="zh-CN" sz="2000">
                    <a:solidFill>
                      <a:schemeClr val="accent2"/>
                    </a:solidFill>
                    <a:ea typeface="方正琥珀繁体"/>
                    <a:cs typeface="方正琥珀繁体"/>
                  </a:rPr>
                  <a:t>2</a:t>
                </a:r>
                <a:endParaRPr lang="en-US" altLang="zh-CN" sz="2000" i="1">
                  <a:solidFill>
                    <a:schemeClr val="accent2"/>
                  </a:solidFill>
                  <a:ea typeface="方正琥珀繁体"/>
                  <a:cs typeface="方正琥珀繁体"/>
                </a:endParaRPr>
              </a:p>
            </p:txBody>
          </p:sp>
          <p:sp>
            <p:nvSpPr>
              <p:cNvPr id="11393" name="Text Box 112"/>
              <p:cNvSpPr txBox="1">
                <a:spLocks noChangeArrowheads="1"/>
              </p:cNvSpPr>
              <p:nvPr/>
            </p:nvSpPr>
            <p:spPr bwMode="auto">
              <a:xfrm>
                <a:off x="4365" y="2304"/>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sp>
          <p:nvSpPr>
            <p:cNvPr id="11387" name="Text Box 113"/>
            <p:cNvSpPr txBox="1">
              <a:spLocks noChangeArrowheads="1"/>
            </p:cNvSpPr>
            <p:nvPr/>
          </p:nvSpPr>
          <p:spPr bwMode="auto">
            <a:xfrm>
              <a:off x="1504" y="2472"/>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388" name="Text Box 114"/>
            <p:cNvSpPr txBox="1">
              <a:spLocks noChangeArrowheads="1"/>
            </p:cNvSpPr>
            <p:nvPr/>
          </p:nvSpPr>
          <p:spPr bwMode="auto">
            <a:xfrm>
              <a:off x="880" y="2472"/>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389" name="Text Box 115"/>
            <p:cNvSpPr txBox="1">
              <a:spLocks noChangeArrowheads="1"/>
            </p:cNvSpPr>
            <p:nvPr/>
          </p:nvSpPr>
          <p:spPr bwMode="auto">
            <a:xfrm>
              <a:off x="306" y="2466"/>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sp>
        <p:nvSpPr>
          <p:cNvPr id="14454" name="Text Box 118"/>
          <p:cNvSpPr txBox="1">
            <a:spLocks noChangeArrowheads="1"/>
          </p:cNvSpPr>
          <p:nvPr/>
        </p:nvSpPr>
        <p:spPr bwMode="auto">
          <a:xfrm>
            <a:off x="4284663" y="3716338"/>
            <a:ext cx="5040312" cy="461962"/>
          </a:xfrm>
          <a:prstGeom prst="rect">
            <a:avLst/>
          </a:prstGeom>
          <a:solidFill>
            <a:srgbClr val="AAEFF6"/>
          </a:solidFill>
          <a:ln w="9525">
            <a:noFill/>
            <a:miter lim="800000"/>
            <a:headEnd/>
            <a:tailEnd/>
          </a:ln>
        </p:spPr>
        <p:txBody>
          <a:bodyPr>
            <a:spAutoFit/>
          </a:bodyPr>
          <a:lstStyle/>
          <a:p>
            <a:pPr algn="ctr">
              <a:spcBef>
                <a:spcPct val="50000"/>
              </a:spcBef>
            </a:pPr>
            <a:r>
              <a:rPr lang="en-US" altLang="zh-CN" i="1">
                <a:solidFill>
                  <a:schemeClr val="accent2"/>
                </a:solidFill>
              </a:rPr>
              <a:t>R</a:t>
            </a:r>
            <a:r>
              <a:rPr lang="en-US" altLang="zh-CN" baseline="-25000">
                <a:solidFill>
                  <a:schemeClr val="accent2"/>
                </a:solidFill>
              </a:rPr>
              <a:t>i2</a:t>
            </a:r>
            <a:r>
              <a:rPr lang="en-US" altLang="zh-CN">
                <a:solidFill>
                  <a:schemeClr val="accent2"/>
                </a:solidFill>
              </a:rPr>
              <a:t>=R</a:t>
            </a:r>
            <a:r>
              <a:rPr lang="en-US" altLang="zh-CN" baseline="-25000">
                <a:solidFill>
                  <a:schemeClr val="accent2"/>
                </a:solidFill>
              </a:rPr>
              <a:t>B3</a:t>
            </a:r>
            <a:r>
              <a:rPr lang="en-US" altLang="zh-CN">
                <a:solidFill>
                  <a:schemeClr val="accent2"/>
                </a:solidFill>
              </a:rPr>
              <a:t>//[</a:t>
            </a:r>
            <a:r>
              <a:rPr lang="en-US" altLang="zh-CN" i="1">
                <a:solidFill>
                  <a:schemeClr val="accent2"/>
                </a:solidFill>
              </a:rPr>
              <a:t>r</a:t>
            </a:r>
            <a:r>
              <a:rPr lang="en-US" altLang="zh-CN" baseline="-25000">
                <a:solidFill>
                  <a:schemeClr val="accent2"/>
                </a:solidFill>
              </a:rPr>
              <a:t>be2 </a:t>
            </a:r>
            <a:r>
              <a:rPr lang="en-US" altLang="zh-CN">
                <a:solidFill>
                  <a:schemeClr val="accent2"/>
                </a:solidFill>
                <a:sym typeface="Symbol" pitchFamily="18" charset="2"/>
              </a:rPr>
              <a:t>+</a:t>
            </a:r>
            <a:r>
              <a:rPr lang="zh-CN" altLang="en-US">
                <a:solidFill>
                  <a:schemeClr val="accent2"/>
                </a:solidFill>
                <a:sym typeface="Symbol" pitchFamily="18" charset="2"/>
              </a:rPr>
              <a:t>（</a:t>
            </a:r>
            <a:r>
              <a:rPr lang="en-US" altLang="zh-CN">
                <a:solidFill>
                  <a:schemeClr val="accent2"/>
                </a:solidFill>
                <a:sym typeface="Symbol" pitchFamily="18" charset="2"/>
              </a:rPr>
              <a:t>1+</a:t>
            </a:r>
            <a:r>
              <a:rPr lang="en-US" altLang="zh-CN" i="1">
                <a:solidFill>
                  <a:schemeClr val="accent2"/>
                </a:solidFill>
                <a:sym typeface="Symbol" pitchFamily="18" charset="2"/>
              </a:rPr>
              <a:t></a:t>
            </a:r>
            <a:r>
              <a:rPr lang="en-US" altLang="zh-CN" sz="1600" i="1">
                <a:solidFill>
                  <a:schemeClr val="accent2"/>
                </a:solidFill>
                <a:sym typeface="Symbol" pitchFamily="18" charset="2"/>
              </a:rPr>
              <a:t>2</a:t>
            </a:r>
            <a:r>
              <a:rPr lang="zh-CN" altLang="en-US">
                <a:solidFill>
                  <a:schemeClr val="accent2"/>
                </a:solidFill>
                <a:sym typeface="Symbol" pitchFamily="18" charset="2"/>
              </a:rPr>
              <a:t>） </a:t>
            </a:r>
            <a:r>
              <a:rPr lang="en-US" altLang="zh-CN">
                <a:solidFill>
                  <a:schemeClr val="accent2"/>
                </a:solidFill>
                <a:sym typeface="Symbol" pitchFamily="18" charset="2"/>
              </a:rPr>
              <a:t>(</a:t>
            </a:r>
            <a:r>
              <a:rPr lang="en-US" altLang="zh-CN">
                <a:solidFill>
                  <a:schemeClr val="accent2"/>
                </a:solidFill>
              </a:rPr>
              <a:t>R</a:t>
            </a:r>
            <a:r>
              <a:rPr lang="en-US" altLang="zh-CN" sz="1600">
                <a:solidFill>
                  <a:schemeClr val="accent2"/>
                </a:solidFill>
              </a:rPr>
              <a:t>E2</a:t>
            </a:r>
            <a:r>
              <a:rPr lang="en-US" altLang="zh-CN">
                <a:solidFill>
                  <a:schemeClr val="accent2"/>
                </a:solidFill>
              </a:rPr>
              <a:t>//R</a:t>
            </a:r>
            <a:r>
              <a:rPr lang="en-US" altLang="zh-CN" sz="1600">
                <a:solidFill>
                  <a:schemeClr val="accent2"/>
                </a:solidFill>
              </a:rPr>
              <a:t>L</a:t>
            </a:r>
            <a:r>
              <a:rPr lang="zh-CN" altLang="en-US">
                <a:solidFill>
                  <a:schemeClr val="accent2"/>
                </a:solidFill>
              </a:rPr>
              <a:t>）</a:t>
            </a:r>
            <a:r>
              <a:rPr lang="en-US" altLang="zh-CN">
                <a:solidFill>
                  <a:schemeClr val="accent2"/>
                </a:solidFill>
              </a:rPr>
              <a:t>]</a:t>
            </a:r>
            <a:endParaRPr lang="en-US" altLang="zh-CN">
              <a:solidFill>
                <a:schemeClr val="accent2"/>
              </a:solidFill>
              <a:sym typeface="Symbol" pitchFamily="18" charset="2"/>
            </a:endParaRPr>
          </a:p>
        </p:txBody>
      </p:sp>
      <p:grpSp>
        <p:nvGrpSpPr>
          <p:cNvPr id="4" name="Group 168"/>
          <p:cNvGrpSpPr>
            <a:grpSpLocks/>
          </p:cNvGrpSpPr>
          <p:nvPr/>
        </p:nvGrpSpPr>
        <p:grpSpPr bwMode="auto">
          <a:xfrm>
            <a:off x="304800" y="4724400"/>
            <a:ext cx="7867650" cy="1243013"/>
            <a:chOff x="192" y="2976"/>
            <a:chExt cx="4956" cy="783"/>
          </a:xfrm>
        </p:grpSpPr>
        <p:sp>
          <p:nvSpPr>
            <p:cNvPr id="11367" name="Line 121"/>
            <p:cNvSpPr>
              <a:spLocks noChangeShapeType="1"/>
            </p:cNvSpPr>
            <p:nvPr/>
          </p:nvSpPr>
          <p:spPr bwMode="auto">
            <a:xfrm>
              <a:off x="773" y="3408"/>
              <a:ext cx="334" cy="0"/>
            </a:xfrm>
            <a:prstGeom prst="line">
              <a:avLst/>
            </a:prstGeom>
            <a:noFill/>
            <a:ln w="28575">
              <a:solidFill>
                <a:schemeClr val="accent2"/>
              </a:solidFill>
              <a:round/>
              <a:headEnd/>
              <a:tailEnd type="none" w="sm" len="lg"/>
            </a:ln>
          </p:spPr>
          <p:txBody>
            <a:bodyPr wrap="none" anchor="ctr"/>
            <a:lstStyle/>
            <a:p>
              <a:endParaRPr lang="zh-CN" altLang="en-US"/>
            </a:p>
          </p:txBody>
        </p:sp>
        <p:sp>
          <p:nvSpPr>
            <p:cNvPr id="11368" name="Text Box 123"/>
            <p:cNvSpPr txBox="1">
              <a:spLocks noChangeArrowheads="1"/>
            </p:cNvSpPr>
            <p:nvPr/>
          </p:nvSpPr>
          <p:spPr bwMode="auto">
            <a:xfrm>
              <a:off x="192" y="3237"/>
              <a:ext cx="440" cy="327"/>
            </a:xfrm>
            <a:prstGeom prst="rect">
              <a:avLst/>
            </a:prstGeom>
            <a:noFill/>
            <a:ln w="28575">
              <a:noFill/>
              <a:miter lim="800000"/>
              <a:headEnd/>
              <a:tailEnd type="none" w="sm" len="lg"/>
            </a:ln>
          </p:spPr>
          <p:txBody>
            <a:bodyPr wrap="none" anchor="ctr">
              <a:spAutoFit/>
            </a:bodyPr>
            <a:lstStyle/>
            <a:p>
              <a:pPr algn="ctr" eaLnBrk="1" hangingPunct="1"/>
              <a:r>
                <a:rPr lang="en-US" altLang="zh-CN">
                  <a:solidFill>
                    <a:schemeClr val="accent2"/>
                  </a:solidFill>
                  <a:ea typeface="方正琥珀繁体"/>
                  <a:cs typeface="方正琥珀繁体"/>
                </a:rPr>
                <a:t>A</a:t>
              </a:r>
              <a:r>
                <a:rPr lang="en-US" altLang="zh-CN" baseline="-25000">
                  <a:solidFill>
                    <a:schemeClr val="accent2"/>
                  </a:solidFill>
                  <a:ea typeface="方正琥珀繁体"/>
                  <a:cs typeface="方正琥珀繁体"/>
                </a:rPr>
                <a:t>u2</a:t>
              </a:r>
            </a:p>
          </p:txBody>
        </p:sp>
        <p:sp>
          <p:nvSpPr>
            <p:cNvPr id="11369" name="Text Box 124"/>
            <p:cNvSpPr txBox="1">
              <a:spLocks noChangeArrowheads="1"/>
            </p:cNvSpPr>
            <p:nvPr/>
          </p:nvSpPr>
          <p:spPr bwMode="auto">
            <a:xfrm>
              <a:off x="244" y="3168"/>
              <a:ext cx="167"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sp>
          <p:nvSpPr>
            <p:cNvPr id="11370" name="Text Box 125"/>
            <p:cNvSpPr txBox="1">
              <a:spLocks noChangeArrowheads="1"/>
            </p:cNvSpPr>
            <p:nvPr/>
          </p:nvSpPr>
          <p:spPr bwMode="auto">
            <a:xfrm>
              <a:off x="514" y="3216"/>
              <a:ext cx="244" cy="327"/>
            </a:xfrm>
            <a:prstGeom prst="rect">
              <a:avLst/>
            </a:prstGeom>
            <a:noFill/>
            <a:ln w="28575">
              <a:noFill/>
              <a:miter lim="800000"/>
              <a:headEnd/>
              <a:tailEnd type="none" w="sm" len="lg"/>
            </a:ln>
          </p:spPr>
          <p:txBody>
            <a:bodyPr wrap="none" anchor="ctr">
              <a:spAutoFit/>
            </a:bodyPr>
            <a:lstStyle/>
            <a:p>
              <a:pPr algn="ctr" eaLnBrk="1" hangingPunct="1"/>
              <a:r>
                <a:rPr lang="en-US" altLang="zh-CN">
                  <a:solidFill>
                    <a:schemeClr val="accent2"/>
                  </a:solidFill>
                  <a:ea typeface="方正琥珀繁体"/>
                  <a:cs typeface="方正琥珀繁体"/>
                </a:rPr>
                <a:t>=</a:t>
              </a:r>
            </a:p>
          </p:txBody>
        </p:sp>
        <p:grpSp>
          <p:nvGrpSpPr>
            <p:cNvPr id="11371" name="Group 126"/>
            <p:cNvGrpSpPr>
              <a:grpSpLocks/>
            </p:cNvGrpSpPr>
            <p:nvPr/>
          </p:nvGrpSpPr>
          <p:grpSpPr bwMode="auto">
            <a:xfrm>
              <a:off x="745" y="2976"/>
              <a:ext cx="355" cy="399"/>
              <a:chOff x="696" y="2328"/>
              <a:chExt cx="306" cy="399"/>
            </a:xfrm>
          </p:grpSpPr>
          <p:sp>
            <p:nvSpPr>
              <p:cNvPr id="11384" name="Text Box 127"/>
              <p:cNvSpPr txBox="1">
                <a:spLocks noChangeArrowheads="1"/>
              </p:cNvSpPr>
              <p:nvPr/>
            </p:nvSpPr>
            <p:spPr bwMode="auto">
              <a:xfrm>
                <a:off x="696" y="2400"/>
                <a:ext cx="306" cy="327"/>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endParaRPr lang="en-US" altLang="zh-CN" i="1" baseline="-25000">
                  <a:solidFill>
                    <a:schemeClr val="accent2"/>
                  </a:solidFill>
                  <a:ea typeface="方正琥珀繁体"/>
                  <a:cs typeface="方正琥珀繁体"/>
                </a:endParaRPr>
              </a:p>
            </p:txBody>
          </p:sp>
          <p:sp>
            <p:nvSpPr>
              <p:cNvPr id="11385" name="Text Box 128"/>
              <p:cNvSpPr txBox="1">
                <a:spLocks noChangeArrowheads="1"/>
              </p:cNvSpPr>
              <p:nvPr/>
            </p:nvSpPr>
            <p:spPr bwMode="auto">
              <a:xfrm>
                <a:off x="732" y="2328"/>
                <a:ext cx="143"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372" name="Group 129"/>
            <p:cNvGrpSpPr>
              <a:grpSpLocks/>
            </p:cNvGrpSpPr>
            <p:nvPr/>
          </p:nvGrpSpPr>
          <p:grpSpPr bwMode="auto">
            <a:xfrm>
              <a:off x="744" y="3360"/>
              <a:ext cx="430" cy="399"/>
              <a:chOff x="839" y="3480"/>
              <a:chExt cx="371" cy="399"/>
            </a:xfrm>
          </p:grpSpPr>
          <p:sp>
            <p:nvSpPr>
              <p:cNvPr id="11382" name="Text Box 130"/>
              <p:cNvSpPr txBox="1">
                <a:spLocks noChangeArrowheads="1"/>
              </p:cNvSpPr>
              <p:nvPr/>
            </p:nvSpPr>
            <p:spPr bwMode="auto">
              <a:xfrm>
                <a:off x="839" y="3552"/>
                <a:ext cx="371" cy="327"/>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o1</a:t>
                </a:r>
                <a:endParaRPr lang="en-US" altLang="zh-CN" i="1" baseline="-25000">
                  <a:solidFill>
                    <a:schemeClr val="accent2"/>
                  </a:solidFill>
                  <a:ea typeface="方正琥珀繁体"/>
                  <a:cs typeface="方正琥珀繁体"/>
                </a:endParaRPr>
              </a:p>
            </p:txBody>
          </p:sp>
          <p:sp>
            <p:nvSpPr>
              <p:cNvPr id="11383" name="Text Box 131"/>
              <p:cNvSpPr txBox="1">
                <a:spLocks noChangeArrowheads="1"/>
              </p:cNvSpPr>
              <p:nvPr/>
            </p:nvSpPr>
            <p:spPr bwMode="auto">
              <a:xfrm>
                <a:off x="923" y="3480"/>
                <a:ext cx="143"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373" name="Group 149"/>
            <p:cNvGrpSpPr>
              <a:grpSpLocks/>
            </p:cNvGrpSpPr>
            <p:nvPr/>
          </p:nvGrpSpPr>
          <p:grpSpPr bwMode="auto">
            <a:xfrm>
              <a:off x="1166" y="3072"/>
              <a:ext cx="2720" cy="663"/>
              <a:chOff x="3328" y="2256"/>
              <a:chExt cx="2350" cy="663"/>
            </a:xfrm>
          </p:grpSpPr>
          <p:sp>
            <p:nvSpPr>
              <p:cNvPr id="11375" name="Line 150"/>
              <p:cNvSpPr>
                <a:spLocks noChangeShapeType="1"/>
              </p:cNvSpPr>
              <p:nvPr/>
            </p:nvSpPr>
            <p:spPr bwMode="auto">
              <a:xfrm>
                <a:off x="3552" y="2592"/>
                <a:ext cx="1968" cy="0"/>
              </a:xfrm>
              <a:prstGeom prst="line">
                <a:avLst/>
              </a:prstGeom>
              <a:noFill/>
              <a:ln w="28575">
                <a:solidFill>
                  <a:schemeClr val="accent2"/>
                </a:solidFill>
                <a:round/>
                <a:headEnd/>
                <a:tailEnd type="none" w="sm" len="lg"/>
              </a:ln>
            </p:spPr>
            <p:txBody>
              <a:bodyPr wrap="none" anchor="ctr"/>
              <a:lstStyle/>
              <a:p>
                <a:endParaRPr lang="zh-CN" altLang="en-US"/>
              </a:p>
            </p:txBody>
          </p:sp>
          <p:sp>
            <p:nvSpPr>
              <p:cNvPr id="11376" name="Text Box 151"/>
              <p:cNvSpPr txBox="1">
                <a:spLocks noChangeArrowheads="1"/>
              </p:cNvSpPr>
              <p:nvPr/>
            </p:nvSpPr>
            <p:spPr bwMode="auto">
              <a:xfrm>
                <a:off x="3552" y="2496"/>
                <a:ext cx="576" cy="404"/>
              </a:xfrm>
              <a:prstGeom prst="rect">
                <a:avLst/>
              </a:prstGeom>
              <a:noFill/>
              <a:ln w="9525">
                <a:noFill/>
                <a:miter lim="800000"/>
                <a:headEnd/>
                <a:tailEnd/>
              </a:ln>
            </p:spPr>
            <p:txBody>
              <a:bodyPr anchor="ctr">
                <a:spAutoFit/>
              </a:bodyPr>
              <a:lstStyle/>
              <a:p>
                <a:pPr algn="ctr" eaLnBrk="1" hangingPunct="1"/>
                <a:r>
                  <a:rPr lang="en-US" altLang="zh-CN" i="1">
                    <a:solidFill>
                      <a:schemeClr val="accent2"/>
                    </a:solidFill>
                    <a:ea typeface="方正琥珀繁体"/>
                    <a:cs typeface="方正琥珀繁体"/>
                  </a:rPr>
                  <a:t> r</a:t>
                </a:r>
                <a:r>
                  <a:rPr lang="en-US" altLang="zh-CN" baseline="-25000">
                    <a:solidFill>
                      <a:schemeClr val="accent2"/>
                    </a:solidFill>
                    <a:ea typeface="方正琥珀繁体"/>
                    <a:cs typeface="方正琥珀繁体"/>
                  </a:rPr>
                  <a:t>be2</a:t>
                </a:r>
                <a:r>
                  <a:rPr lang="en-US" altLang="zh-CN">
                    <a:solidFill>
                      <a:schemeClr val="accent2"/>
                    </a:solidFill>
                    <a:ea typeface="方正琥珀繁体"/>
                    <a:cs typeface="方正琥珀繁体"/>
                  </a:rPr>
                  <a:t>+</a:t>
                </a:r>
                <a:r>
                  <a:rPr lang="en-US" altLang="zh-CN" sz="3600" i="1">
                    <a:ea typeface="方正琥珀繁体"/>
                    <a:cs typeface="方正琥珀繁体"/>
                  </a:rPr>
                  <a:t> </a:t>
                </a:r>
                <a:endParaRPr lang="en-US" altLang="zh-CN" i="1">
                  <a:latin typeface="宋体" pitchFamily="2" charset="-122"/>
                </a:endParaRPr>
              </a:p>
            </p:txBody>
          </p:sp>
          <p:sp>
            <p:nvSpPr>
              <p:cNvPr id="11377" name="Text Box 152"/>
              <p:cNvSpPr txBox="1">
                <a:spLocks noChangeArrowheads="1"/>
              </p:cNvSpPr>
              <p:nvPr/>
            </p:nvSpPr>
            <p:spPr bwMode="auto">
              <a:xfrm>
                <a:off x="3328" y="2400"/>
                <a:ext cx="211" cy="327"/>
              </a:xfrm>
              <a:prstGeom prst="rect">
                <a:avLst/>
              </a:prstGeom>
              <a:noFill/>
              <a:ln w="28575">
                <a:noFill/>
                <a:miter lim="800000"/>
                <a:headEnd/>
                <a:tailEnd type="none" w="sm" len="lg"/>
              </a:ln>
            </p:spPr>
            <p:txBody>
              <a:bodyPr wrap="none" anchor="ctr">
                <a:spAutoFit/>
              </a:bodyPr>
              <a:lstStyle/>
              <a:p>
                <a:pPr algn="ctr" eaLnBrk="1" hangingPunct="1"/>
                <a:r>
                  <a:rPr lang="en-US" altLang="zh-CN">
                    <a:solidFill>
                      <a:schemeClr val="accent2"/>
                    </a:solidFill>
                    <a:ea typeface="方正琥珀繁体"/>
                    <a:cs typeface="方正琥珀繁体"/>
                  </a:rPr>
                  <a:t>=</a:t>
                </a:r>
              </a:p>
            </p:txBody>
          </p:sp>
          <p:sp>
            <p:nvSpPr>
              <p:cNvPr id="11378" name="Text Box 153"/>
              <p:cNvSpPr txBox="1">
                <a:spLocks noChangeArrowheads="1"/>
              </p:cNvSpPr>
              <p:nvPr/>
            </p:nvSpPr>
            <p:spPr bwMode="auto">
              <a:xfrm>
                <a:off x="4129" y="2256"/>
                <a:ext cx="1114"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ea typeface="方正琥珀繁体"/>
                    <a:cs typeface="方正琥珀繁体"/>
                  </a:rPr>
                  <a:t>（</a:t>
                </a:r>
                <a:r>
                  <a:rPr lang="en-US" altLang="zh-CN">
                    <a:solidFill>
                      <a:schemeClr val="accent2"/>
                    </a:solidFill>
                    <a:ea typeface="方正琥珀繁体"/>
                    <a:cs typeface="方正琥珀繁体"/>
                  </a:rPr>
                  <a:t>R</a:t>
                </a:r>
                <a:r>
                  <a:rPr lang="en-US" altLang="zh-CN" baseline="-25000">
                    <a:solidFill>
                      <a:schemeClr val="accent2"/>
                    </a:solidFill>
                    <a:ea typeface="方正琥珀繁体"/>
                    <a:cs typeface="方正琥珀繁体"/>
                  </a:rPr>
                  <a:t>E2</a:t>
                </a:r>
                <a:r>
                  <a:rPr lang="en-US" altLang="zh-CN">
                    <a:solidFill>
                      <a:schemeClr val="accent2"/>
                    </a:solidFill>
                    <a:ea typeface="方正琥珀繁体"/>
                    <a:cs typeface="方正琥珀繁体"/>
                  </a:rPr>
                  <a:t>//R</a:t>
                </a:r>
                <a:r>
                  <a:rPr lang="en-US" altLang="zh-CN" baseline="-25000">
                    <a:solidFill>
                      <a:schemeClr val="accent2"/>
                    </a:solidFill>
                    <a:ea typeface="方正琥珀繁体"/>
                    <a:cs typeface="方正琥珀繁体"/>
                  </a:rPr>
                  <a:t>L</a:t>
                </a:r>
                <a:r>
                  <a:rPr lang="zh-CN" altLang="en-US">
                    <a:solidFill>
                      <a:schemeClr val="accent2"/>
                    </a:solidFill>
                    <a:ea typeface="方正琥珀繁体"/>
                    <a:cs typeface="方正琥珀繁体"/>
                  </a:rPr>
                  <a:t>）</a:t>
                </a:r>
              </a:p>
            </p:txBody>
          </p:sp>
          <p:sp>
            <p:nvSpPr>
              <p:cNvPr id="11379" name="Text Box 154"/>
              <p:cNvSpPr txBox="1">
                <a:spLocks noChangeArrowheads="1"/>
              </p:cNvSpPr>
              <p:nvPr/>
            </p:nvSpPr>
            <p:spPr bwMode="auto">
              <a:xfrm>
                <a:off x="3456" y="2256"/>
                <a:ext cx="960" cy="327"/>
              </a:xfrm>
              <a:prstGeom prst="rect">
                <a:avLst/>
              </a:prstGeom>
              <a:noFill/>
              <a:ln w="28575">
                <a:noFill/>
                <a:miter lim="800000"/>
                <a:headEnd type="none" w="med" len="lg"/>
                <a:tailEnd type="none" w="med" len="lg"/>
              </a:ln>
            </p:spPr>
            <p:txBody>
              <a:bodyPr anchor="ctr">
                <a:spAutoFit/>
              </a:bodyPr>
              <a:lstStyle/>
              <a:p>
                <a:pPr algn="ctr"/>
                <a:r>
                  <a:rPr lang="zh-CN" altLang="en-US">
                    <a:solidFill>
                      <a:schemeClr val="accent2"/>
                    </a:solidFill>
                    <a:ea typeface="方正琥珀繁体"/>
                    <a:cs typeface="方正琥珀繁体"/>
                    <a:sym typeface="Symbol" pitchFamily="18" charset="2"/>
                  </a:rPr>
                  <a:t>（</a:t>
                </a:r>
                <a:r>
                  <a:rPr lang="en-US" altLang="zh-CN">
                    <a:solidFill>
                      <a:schemeClr val="accent2"/>
                    </a:solidFill>
                    <a:ea typeface="方正琥珀繁体"/>
                    <a:cs typeface="方正琥珀繁体"/>
                    <a:sym typeface="Symbol" pitchFamily="18" charset="2"/>
                  </a:rPr>
                  <a:t>1+</a:t>
                </a:r>
                <a:r>
                  <a:rPr lang="en-US" altLang="zh-CN" i="1">
                    <a:solidFill>
                      <a:schemeClr val="accent2"/>
                    </a:solidFill>
                    <a:ea typeface="方正琥珀繁体"/>
                    <a:cs typeface="方正琥珀繁体"/>
                    <a:sym typeface="Symbol" pitchFamily="18" charset="2"/>
                  </a:rPr>
                  <a:t></a:t>
                </a:r>
                <a:r>
                  <a:rPr lang="en-US" altLang="zh-CN" sz="1600" i="1">
                    <a:solidFill>
                      <a:schemeClr val="accent2"/>
                    </a:solidFill>
                    <a:ea typeface="方正琥珀繁体"/>
                    <a:cs typeface="方正琥珀繁体"/>
                    <a:sym typeface="Symbol" pitchFamily="18" charset="2"/>
                  </a:rPr>
                  <a:t>2</a:t>
                </a:r>
                <a:r>
                  <a:rPr lang="zh-CN" altLang="en-US">
                    <a:solidFill>
                      <a:schemeClr val="accent2"/>
                    </a:solidFill>
                    <a:ea typeface="方正琥珀繁体"/>
                    <a:cs typeface="方正琥珀繁体"/>
                    <a:sym typeface="Symbol" pitchFamily="18" charset="2"/>
                  </a:rPr>
                  <a:t>）</a:t>
                </a:r>
              </a:p>
            </p:txBody>
          </p:sp>
          <p:sp>
            <p:nvSpPr>
              <p:cNvPr id="11380" name="Text Box 155"/>
              <p:cNvSpPr txBox="1">
                <a:spLocks noChangeArrowheads="1"/>
              </p:cNvSpPr>
              <p:nvPr/>
            </p:nvSpPr>
            <p:spPr bwMode="auto">
              <a:xfrm>
                <a:off x="4464" y="2592"/>
                <a:ext cx="1214" cy="327"/>
              </a:xfrm>
              <a:prstGeom prst="rect">
                <a:avLst/>
              </a:prstGeom>
              <a:noFill/>
              <a:ln w="28575">
                <a:noFill/>
                <a:miter lim="800000"/>
                <a:headEnd/>
                <a:tailEnd type="none" w="sm" len="lg"/>
              </a:ln>
            </p:spPr>
            <p:txBody>
              <a:bodyPr anchor="ctr">
                <a:spAutoFit/>
              </a:bodyPr>
              <a:lstStyle/>
              <a:p>
                <a:pPr algn="ctr" eaLnBrk="1" hangingPunct="1"/>
                <a:r>
                  <a:rPr lang="zh-CN" altLang="en-US">
                    <a:solidFill>
                      <a:schemeClr val="accent2"/>
                    </a:solidFill>
                    <a:ea typeface="方正琥珀繁体"/>
                    <a:cs typeface="方正琥珀繁体"/>
                  </a:rPr>
                  <a:t>（</a:t>
                </a:r>
                <a:r>
                  <a:rPr lang="en-US" altLang="zh-CN">
                    <a:solidFill>
                      <a:schemeClr val="accent2"/>
                    </a:solidFill>
                    <a:ea typeface="方正琥珀繁体"/>
                    <a:cs typeface="方正琥珀繁体"/>
                  </a:rPr>
                  <a:t>R</a:t>
                </a:r>
                <a:r>
                  <a:rPr lang="en-US" altLang="zh-CN" baseline="-25000">
                    <a:solidFill>
                      <a:schemeClr val="accent2"/>
                    </a:solidFill>
                    <a:ea typeface="方正琥珀繁体"/>
                    <a:cs typeface="方正琥珀繁体"/>
                  </a:rPr>
                  <a:t>E2</a:t>
                </a:r>
                <a:r>
                  <a:rPr lang="en-US" altLang="zh-CN">
                    <a:solidFill>
                      <a:schemeClr val="accent2"/>
                    </a:solidFill>
                    <a:ea typeface="方正琥珀繁体"/>
                    <a:cs typeface="方正琥珀繁体"/>
                  </a:rPr>
                  <a:t>//R</a:t>
                </a:r>
                <a:r>
                  <a:rPr lang="en-US" altLang="zh-CN" baseline="-25000">
                    <a:solidFill>
                      <a:schemeClr val="accent2"/>
                    </a:solidFill>
                    <a:ea typeface="方正琥珀繁体"/>
                    <a:cs typeface="方正琥珀繁体"/>
                  </a:rPr>
                  <a:t>L</a:t>
                </a:r>
                <a:r>
                  <a:rPr lang="zh-CN" altLang="en-US">
                    <a:solidFill>
                      <a:schemeClr val="accent2"/>
                    </a:solidFill>
                    <a:ea typeface="方正琥珀繁体"/>
                    <a:cs typeface="方正琥珀繁体"/>
                  </a:rPr>
                  <a:t>）</a:t>
                </a:r>
              </a:p>
            </p:txBody>
          </p:sp>
          <p:sp>
            <p:nvSpPr>
              <p:cNvPr id="11381" name="Text Box 156"/>
              <p:cNvSpPr txBox="1">
                <a:spLocks noChangeArrowheads="1"/>
              </p:cNvSpPr>
              <p:nvPr/>
            </p:nvSpPr>
            <p:spPr bwMode="auto">
              <a:xfrm>
                <a:off x="3840" y="2592"/>
                <a:ext cx="960" cy="327"/>
              </a:xfrm>
              <a:prstGeom prst="rect">
                <a:avLst/>
              </a:prstGeom>
              <a:noFill/>
              <a:ln w="28575">
                <a:noFill/>
                <a:miter lim="800000"/>
                <a:headEnd type="none" w="med" len="lg"/>
                <a:tailEnd type="none" w="med" len="lg"/>
              </a:ln>
            </p:spPr>
            <p:txBody>
              <a:bodyPr anchor="ctr">
                <a:spAutoFit/>
              </a:bodyPr>
              <a:lstStyle/>
              <a:p>
                <a:pPr algn="ctr"/>
                <a:r>
                  <a:rPr lang="zh-CN" altLang="en-US">
                    <a:solidFill>
                      <a:schemeClr val="accent2"/>
                    </a:solidFill>
                    <a:ea typeface="方正琥珀繁体"/>
                    <a:cs typeface="方正琥珀繁体"/>
                    <a:sym typeface="Symbol" pitchFamily="18" charset="2"/>
                  </a:rPr>
                  <a:t>（</a:t>
                </a:r>
                <a:r>
                  <a:rPr lang="en-US" altLang="zh-CN">
                    <a:solidFill>
                      <a:schemeClr val="accent2"/>
                    </a:solidFill>
                    <a:ea typeface="方正琥珀繁体"/>
                    <a:cs typeface="方正琥珀繁体"/>
                    <a:sym typeface="Symbol" pitchFamily="18" charset="2"/>
                  </a:rPr>
                  <a:t>1+</a:t>
                </a:r>
                <a:r>
                  <a:rPr lang="en-US" altLang="zh-CN" i="1">
                    <a:solidFill>
                      <a:schemeClr val="accent2"/>
                    </a:solidFill>
                    <a:ea typeface="方正琥珀繁体"/>
                    <a:cs typeface="方正琥珀繁体"/>
                    <a:sym typeface="Symbol" pitchFamily="18" charset="2"/>
                  </a:rPr>
                  <a:t></a:t>
                </a:r>
                <a:r>
                  <a:rPr lang="en-US" altLang="zh-CN" sz="1600" i="1">
                    <a:solidFill>
                      <a:schemeClr val="accent2"/>
                    </a:solidFill>
                    <a:ea typeface="方正琥珀繁体"/>
                    <a:cs typeface="方正琥珀繁体"/>
                    <a:sym typeface="Symbol" pitchFamily="18" charset="2"/>
                  </a:rPr>
                  <a:t>2</a:t>
                </a:r>
                <a:r>
                  <a:rPr lang="zh-CN" altLang="en-US">
                    <a:solidFill>
                      <a:schemeClr val="accent2"/>
                    </a:solidFill>
                    <a:ea typeface="方正琥珀繁体"/>
                    <a:cs typeface="方正琥珀繁体"/>
                    <a:sym typeface="Symbol" pitchFamily="18" charset="2"/>
                  </a:rPr>
                  <a:t>）</a:t>
                </a:r>
              </a:p>
            </p:txBody>
          </p:sp>
        </p:grpSp>
        <p:sp>
          <p:nvSpPr>
            <p:cNvPr id="11374" name="Text Box 157"/>
            <p:cNvSpPr txBox="1">
              <a:spLocks noChangeArrowheads="1"/>
            </p:cNvSpPr>
            <p:nvPr/>
          </p:nvSpPr>
          <p:spPr bwMode="auto">
            <a:xfrm>
              <a:off x="3759" y="3216"/>
              <a:ext cx="1389" cy="327"/>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chemeClr val="accent2"/>
                  </a:solidFill>
                  <a:sym typeface="Symbol" pitchFamily="18" charset="2"/>
                </a:rPr>
                <a:t>1</a:t>
              </a:r>
              <a:endParaRPr lang="en-US" altLang="zh-CN">
                <a:solidFill>
                  <a:schemeClr val="accent2"/>
                </a:solidFill>
              </a:endParaRPr>
            </a:p>
          </p:txBody>
        </p:sp>
      </p:grpSp>
      <p:grpSp>
        <p:nvGrpSpPr>
          <p:cNvPr id="8" name="Group 172"/>
          <p:cNvGrpSpPr>
            <a:grpSpLocks/>
          </p:cNvGrpSpPr>
          <p:nvPr/>
        </p:nvGrpSpPr>
        <p:grpSpPr bwMode="auto">
          <a:xfrm>
            <a:off x="0" y="152400"/>
            <a:ext cx="9040813" cy="3505200"/>
            <a:chOff x="0" y="96"/>
            <a:chExt cx="5695" cy="2208"/>
          </a:xfrm>
        </p:grpSpPr>
        <p:sp>
          <p:nvSpPr>
            <p:cNvPr id="11273" name="Line 64"/>
            <p:cNvSpPr>
              <a:spLocks noChangeShapeType="1"/>
            </p:cNvSpPr>
            <p:nvPr/>
          </p:nvSpPr>
          <p:spPr bwMode="auto">
            <a:xfrm>
              <a:off x="3216" y="336"/>
              <a:ext cx="0" cy="1968"/>
            </a:xfrm>
            <a:prstGeom prst="line">
              <a:avLst/>
            </a:prstGeom>
            <a:noFill/>
            <a:ln w="28575">
              <a:solidFill>
                <a:srgbClr val="FF3300"/>
              </a:solidFill>
              <a:prstDash val="dashDot"/>
              <a:round/>
              <a:headEnd/>
              <a:tailEnd type="none" w="sm" len="lg"/>
            </a:ln>
          </p:spPr>
          <p:txBody>
            <a:bodyPr/>
            <a:lstStyle/>
            <a:p>
              <a:endParaRPr lang="zh-CN" altLang="en-US"/>
            </a:p>
          </p:txBody>
        </p:sp>
        <p:grpSp>
          <p:nvGrpSpPr>
            <p:cNvPr id="11274" name="Group 21"/>
            <p:cNvGrpSpPr>
              <a:grpSpLocks/>
            </p:cNvGrpSpPr>
            <p:nvPr/>
          </p:nvGrpSpPr>
          <p:grpSpPr bwMode="auto">
            <a:xfrm>
              <a:off x="5376" y="1008"/>
              <a:ext cx="319" cy="395"/>
              <a:chOff x="4440" y="1065"/>
              <a:chExt cx="319" cy="395"/>
            </a:xfrm>
          </p:grpSpPr>
          <p:sp>
            <p:nvSpPr>
              <p:cNvPr id="11365" name="Text Box 22"/>
              <p:cNvSpPr txBox="1">
                <a:spLocks noChangeArrowheads="1"/>
              </p:cNvSpPr>
              <p:nvPr/>
            </p:nvSpPr>
            <p:spPr bwMode="auto">
              <a:xfrm>
                <a:off x="4440" y="1172"/>
                <a:ext cx="319"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endParaRPr lang="en-US" altLang="zh-CN" i="1">
                  <a:solidFill>
                    <a:schemeClr val="accent2"/>
                  </a:solidFill>
                  <a:ea typeface="方正琥珀繁体"/>
                  <a:cs typeface="方正琥珀繁体"/>
                </a:endParaRPr>
              </a:p>
            </p:txBody>
          </p:sp>
          <p:sp>
            <p:nvSpPr>
              <p:cNvPr id="11366" name="Text Box 23"/>
              <p:cNvSpPr txBox="1">
                <a:spLocks noChangeArrowheads="1"/>
              </p:cNvSpPr>
              <p:nvPr/>
            </p:nvSpPr>
            <p:spPr bwMode="auto">
              <a:xfrm>
                <a:off x="4494" y="1065"/>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275" name="Group 78"/>
            <p:cNvGrpSpPr>
              <a:grpSpLocks/>
            </p:cNvGrpSpPr>
            <p:nvPr/>
          </p:nvGrpSpPr>
          <p:grpSpPr bwMode="auto">
            <a:xfrm>
              <a:off x="3888" y="192"/>
              <a:ext cx="326" cy="374"/>
              <a:chOff x="1960" y="911"/>
              <a:chExt cx="326" cy="374"/>
            </a:xfrm>
          </p:grpSpPr>
          <p:sp>
            <p:nvSpPr>
              <p:cNvPr id="11363" name="Text Box 79"/>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364" name="Text Box 80"/>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276" name="Text Box 99"/>
            <p:cNvSpPr txBox="1">
              <a:spLocks noChangeArrowheads="1"/>
            </p:cNvSpPr>
            <p:nvPr/>
          </p:nvSpPr>
          <p:spPr bwMode="auto">
            <a:xfrm>
              <a:off x="1968" y="96"/>
              <a:ext cx="789"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第一级</a:t>
              </a:r>
            </a:p>
          </p:txBody>
        </p:sp>
        <p:sp>
          <p:nvSpPr>
            <p:cNvPr id="11277" name="Text Box 100"/>
            <p:cNvSpPr txBox="1">
              <a:spLocks noChangeArrowheads="1"/>
            </p:cNvSpPr>
            <p:nvPr/>
          </p:nvSpPr>
          <p:spPr bwMode="auto">
            <a:xfrm>
              <a:off x="4416" y="96"/>
              <a:ext cx="791"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第二级</a:t>
              </a:r>
            </a:p>
          </p:txBody>
        </p:sp>
        <p:sp>
          <p:nvSpPr>
            <p:cNvPr id="11278" name="Line 5"/>
            <p:cNvSpPr>
              <a:spLocks noChangeShapeType="1"/>
            </p:cNvSpPr>
            <p:nvPr/>
          </p:nvSpPr>
          <p:spPr bwMode="auto">
            <a:xfrm flipV="1">
              <a:off x="4320" y="672"/>
              <a:ext cx="1008" cy="0"/>
            </a:xfrm>
            <a:prstGeom prst="line">
              <a:avLst/>
            </a:prstGeom>
            <a:noFill/>
            <a:ln w="38100">
              <a:solidFill>
                <a:srgbClr val="000000"/>
              </a:solidFill>
              <a:round/>
              <a:headEnd/>
              <a:tailEnd/>
            </a:ln>
          </p:spPr>
          <p:txBody>
            <a:bodyPr wrap="none" anchor="ctr"/>
            <a:lstStyle/>
            <a:p>
              <a:endParaRPr lang="zh-CN" altLang="en-US"/>
            </a:p>
          </p:txBody>
        </p:sp>
        <p:sp>
          <p:nvSpPr>
            <p:cNvPr id="11279" name="Line 74"/>
            <p:cNvSpPr>
              <a:spLocks noChangeShapeType="1"/>
            </p:cNvSpPr>
            <p:nvPr/>
          </p:nvSpPr>
          <p:spPr bwMode="auto">
            <a:xfrm>
              <a:off x="3744" y="672"/>
              <a:ext cx="624" cy="0"/>
            </a:xfrm>
            <a:prstGeom prst="line">
              <a:avLst/>
            </a:prstGeom>
            <a:noFill/>
            <a:ln w="38100">
              <a:solidFill>
                <a:srgbClr val="993300"/>
              </a:solidFill>
              <a:round/>
              <a:headEnd/>
              <a:tailEnd type="none" w="sm" len="lg"/>
            </a:ln>
          </p:spPr>
          <p:txBody>
            <a:bodyPr/>
            <a:lstStyle/>
            <a:p>
              <a:endParaRPr lang="zh-CN" altLang="en-US"/>
            </a:p>
          </p:txBody>
        </p:sp>
        <p:sp>
          <p:nvSpPr>
            <p:cNvPr id="11280" name="Line 69"/>
            <p:cNvSpPr>
              <a:spLocks noChangeShapeType="1"/>
            </p:cNvSpPr>
            <p:nvPr/>
          </p:nvSpPr>
          <p:spPr bwMode="auto">
            <a:xfrm flipV="1">
              <a:off x="4368" y="672"/>
              <a:ext cx="0" cy="1296"/>
            </a:xfrm>
            <a:prstGeom prst="line">
              <a:avLst/>
            </a:prstGeom>
            <a:noFill/>
            <a:ln w="38100">
              <a:solidFill>
                <a:srgbClr val="A50021"/>
              </a:solidFill>
              <a:round/>
              <a:headEnd/>
              <a:tailEnd/>
            </a:ln>
          </p:spPr>
          <p:txBody>
            <a:bodyPr wrap="none" anchor="ctr"/>
            <a:lstStyle/>
            <a:p>
              <a:endParaRPr lang="zh-CN" altLang="en-US"/>
            </a:p>
          </p:txBody>
        </p:sp>
        <p:sp>
          <p:nvSpPr>
            <p:cNvPr id="11281" name="Line 61"/>
            <p:cNvSpPr>
              <a:spLocks noChangeShapeType="1"/>
            </p:cNvSpPr>
            <p:nvPr/>
          </p:nvSpPr>
          <p:spPr bwMode="auto">
            <a:xfrm>
              <a:off x="2016" y="672"/>
              <a:ext cx="0" cy="1296"/>
            </a:xfrm>
            <a:prstGeom prst="line">
              <a:avLst/>
            </a:prstGeom>
            <a:noFill/>
            <a:ln w="38100">
              <a:solidFill>
                <a:srgbClr val="993300"/>
              </a:solidFill>
              <a:round/>
              <a:headEnd/>
              <a:tailEnd type="none" w="sm" len="lg"/>
            </a:ln>
          </p:spPr>
          <p:txBody>
            <a:bodyPr/>
            <a:lstStyle/>
            <a:p>
              <a:endParaRPr lang="zh-CN" altLang="en-US"/>
            </a:p>
          </p:txBody>
        </p:sp>
        <p:sp>
          <p:nvSpPr>
            <p:cNvPr id="11282" name="Oval 4"/>
            <p:cNvSpPr>
              <a:spLocks noChangeArrowheads="1"/>
            </p:cNvSpPr>
            <p:nvPr/>
          </p:nvSpPr>
          <p:spPr bwMode="auto">
            <a:xfrm>
              <a:off x="259" y="1508"/>
              <a:ext cx="288" cy="288"/>
            </a:xfrm>
            <a:prstGeom prst="ellipse">
              <a:avLst/>
            </a:prstGeom>
            <a:solidFill>
              <a:srgbClr val="FFFFCC"/>
            </a:solidFill>
            <a:ln w="38100">
              <a:solidFill>
                <a:srgbClr val="FF3300"/>
              </a:solidFill>
              <a:round/>
              <a:headEnd/>
              <a:tailEnd/>
            </a:ln>
          </p:spPr>
          <p:txBody>
            <a:bodyPr wrap="none" anchor="ctr"/>
            <a:lstStyle/>
            <a:p>
              <a:pPr algn="ctr" eaLnBrk="1" hangingPunct="1"/>
              <a:endParaRPr lang="zh-CN" altLang="en-US"/>
            </a:p>
          </p:txBody>
        </p:sp>
        <p:sp>
          <p:nvSpPr>
            <p:cNvPr id="11283" name="Line 7"/>
            <p:cNvSpPr>
              <a:spLocks noChangeShapeType="1"/>
            </p:cNvSpPr>
            <p:nvPr/>
          </p:nvSpPr>
          <p:spPr bwMode="auto">
            <a:xfrm flipH="1" flipV="1">
              <a:off x="2496" y="672"/>
              <a:ext cx="0" cy="1296"/>
            </a:xfrm>
            <a:prstGeom prst="line">
              <a:avLst/>
            </a:prstGeom>
            <a:noFill/>
            <a:ln w="38100">
              <a:solidFill>
                <a:srgbClr val="A50021"/>
              </a:solidFill>
              <a:round/>
              <a:headEnd/>
              <a:tailEnd/>
            </a:ln>
          </p:spPr>
          <p:txBody>
            <a:bodyPr wrap="none" anchor="ctr"/>
            <a:lstStyle/>
            <a:p>
              <a:endParaRPr lang="zh-CN" altLang="en-US"/>
            </a:p>
          </p:txBody>
        </p:sp>
        <p:sp>
          <p:nvSpPr>
            <p:cNvPr id="11284" name="Line 8"/>
            <p:cNvSpPr>
              <a:spLocks noChangeShapeType="1"/>
            </p:cNvSpPr>
            <p:nvPr/>
          </p:nvSpPr>
          <p:spPr bwMode="auto">
            <a:xfrm>
              <a:off x="2496" y="672"/>
              <a:ext cx="1248" cy="0"/>
            </a:xfrm>
            <a:prstGeom prst="line">
              <a:avLst/>
            </a:prstGeom>
            <a:noFill/>
            <a:ln w="38100">
              <a:solidFill>
                <a:srgbClr val="000000"/>
              </a:solidFill>
              <a:round/>
              <a:headEnd/>
              <a:tailEnd/>
            </a:ln>
          </p:spPr>
          <p:txBody>
            <a:bodyPr wrap="none" anchor="ctr"/>
            <a:lstStyle/>
            <a:p>
              <a:endParaRPr lang="zh-CN" altLang="en-US"/>
            </a:p>
          </p:txBody>
        </p:sp>
        <p:sp>
          <p:nvSpPr>
            <p:cNvPr id="11285" name="Line 9"/>
            <p:cNvSpPr>
              <a:spLocks noChangeShapeType="1"/>
            </p:cNvSpPr>
            <p:nvPr/>
          </p:nvSpPr>
          <p:spPr bwMode="auto">
            <a:xfrm>
              <a:off x="2136" y="2093"/>
              <a:ext cx="192" cy="0"/>
            </a:xfrm>
            <a:prstGeom prst="line">
              <a:avLst/>
            </a:prstGeom>
            <a:noFill/>
            <a:ln w="76200">
              <a:solidFill>
                <a:srgbClr val="000000"/>
              </a:solidFill>
              <a:round/>
              <a:headEnd/>
              <a:tailEnd/>
            </a:ln>
          </p:spPr>
          <p:txBody>
            <a:bodyPr wrap="none" anchor="ctr"/>
            <a:lstStyle/>
            <a:p>
              <a:endParaRPr lang="zh-CN" altLang="en-US"/>
            </a:p>
          </p:txBody>
        </p:sp>
        <p:sp>
          <p:nvSpPr>
            <p:cNvPr id="11286" name="Oval 10"/>
            <p:cNvSpPr>
              <a:spLocks noChangeArrowheads="1"/>
            </p:cNvSpPr>
            <p:nvPr/>
          </p:nvSpPr>
          <p:spPr bwMode="auto">
            <a:xfrm>
              <a:off x="5328" y="642"/>
              <a:ext cx="53" cy="48"/>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287" name="Oval 11"/>
            <p:cNvSpPr>
              <a:spLocks noChangeArrowheads="1"/>
            </p:cNvSpPr>
            <p:nvPr/>
          </p:nvSpPr>
          <p:spPr bwMode="auto">
            <a:xfrm>
              <a:off x="5376" y="1938"/>
              <a:ext cx="48" cy="52"/>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288" name="Text Box 12"/>
            <p:cNvSpPr txBox="1">
              <a:spLocks noChangeArrowheads="1"/>
            </p:cNvSpPr>
            <p:nvPr/>
          </p:nvSpPr>
          <p:spPr bwMode="auto">
            <a:xfrm>
              <a:off x="1536" y="1056"/>
              <a:ext cx="528" cy="327"/>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be1</a:t>
              </a:r>
              <a:r>
                <a:rPr lang="en-US" altLang="zh-CN" i="1">
                  <a:solidFill>
                    <a:srgbClr val="A50021"/>
                  </a:solidFill>
                  <a:ea typeface="方正琥珀繁体"/>
                  <a:cs typeface="方正琥珀繁体"/>
                </a:rPr>
                <a:t> </a:t>
              </a:r>
            </a:p>
          </p:txBody>
        </p:sp>
        <p:sp>
          <p:nvSpPr>
            <p:cNvPr id="11289" name="Line 14"/>
            <p:cNvSpPr>
              <a:spLocks noChangeShapeType="1"/>
            </p:cNvSpPr>
            <p:nvPr/>
          </p:nvSpPr>
          <p:spPr bwMode="auto">
            <a:xfrm flipH="1">
              <a:off x="5376" y="864"/>
              <a:ext cx="0" cy="816"/>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290" name="Line 15"/>
            <p:cNvSpPr>
              <a:spLocks noChangeShapeType="1"/>
            </p:cNvSpPr>
            <p:nvPr/>
          </p:nvSpPr>
          <p:spPr bwMode="auto">
            <a:xfrm>
              <a:off x="2088" y="643"/>
              <a:ext cx="0" cy="480"/>
            </a:xfrm>
            <a:prstGeom prst="line">
              <a:avLst/>
            </a:prstGeom>
            <a:noFill/>
            <a:ln w="28575">
              <a:solidFill>
                <a:srgbClr val="FF0000"/>
              </a:solidFill>
              <a:round/>
              <a:headEnd/>
              <a:tailEnd type="triangle" w="sm" len="lg"/>
            </a:ln>
          </p:spPr>
          <p:txBody>
            <a:bodyPr wrap="none" anchor="ctr"/>
            <a:lstStyle/>
            <a:p>
              <a:endParaRPr lang="zh-CN" altLang="en-US"/>
            </a:p>
          </p:txBody>
        </p:sp>
        <p:sp>
          <p:nvSpPr>
            <p:cNvPr id="11291" name="Line 16"/>
            <p:cNvSpPr>
              <a:spLocks noChangeShapeType="1"/>
            </p:cNvSpPr>
            <p:nvPr/>
          </p:nvSpPr>
          <p:spPr bwMode="auto">
            <a:xfrm>
              <a:off x="2544" y="720"/>
              <a:ext cx="0" cy="384"/>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292" name="Line 17"/>
            <p:cNvSpPr>
              <a:spLocks noChangeShapeType="1"/>
            </p:cNvSpPr>
            <p:nvPr/>
          </p:nvSpPr>
          <p:spPr bwMode="auto">
            <a:xfrm flipV="1">
              <a:off x="408" y="1968"/>
              <a:ext cx="4968" cy="0"/>
            </a:xfrm>
            <a:prstGeom prst="line">
              <a:avLst/>
            </a:prstGeom>
            <a:noFill/>
            <a:ln w="38100">
              <a:solidFill>
                <a:srgbClr val="000000"/>
              </a:solidFill>
              <a:round/>
              <a:headEnd/>
              <a:tailEnd/>
            </a:ln>
          </p:spPr>
          <p:txBody>
            <a:bodyPr wrap="none" anchor="ctr"/>
            <a:lstStyle/>
            <a:p>
              <a:endParaRPr lang="zh-CN" altLang="en-US"/>
            </a:p>
          </p:txBody>
        </p:sp>
        <p:sp>
          <p:nvSpPr>
            <p:cNvPr id="11293" name="Line 18"/>
            <p:cNvSpPr>
              <a:spLocks noChangeShapeType="1"/>
            </p:cNvSpPr>
            <p:nvPr/>
          </p:nvSpPr>
          <p:spPr bwMode="auto">
            <a:xfrm>
              <a:off x="408" y="653"/>
              <a:ext cx="0" cy="1315"/>
            </a:xfrm>
            <a:prstGeom prst="line">
              <a:avLst/>
            </a:prstGeom>
            <a:noFill/>
            <a:ln w="38100">
              <a:solidFill>
                <a:srgbClr val="000000"/>
              </a:solidFill>
              <a:round/>
              <a:headEnd/>
              <a:tailEnd/>
            </a:ln>
          </p:spPr>
          <p:txBody>
            <a:bodyPr wrap="none" anchor="ctr"/>
            <a:lstStyle/>
            <a:p>
              <a:endParaRPr lang="zh-CN" altLang="en-US"/>
            </a:p>
          </p:txBody>
        </p:sp>
        <p:sp>
          <p:nvSpPr>
            <p:cNvPr id="11294" name="Line 19"/>
            <p:cNvSpPr>
              <a:spLocks noChangeShapeType="1"/>
            </p:cNvSpPr>
            <p:nvPr/>
          </p:nvSpPr>
          <p:spPr bwMode="auto">
            <a:xfrm>
              <a:off x="648" y="845"/>
              <a:ext cx="0" cy="1008"/>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295" name="Oval 20"/>
            <p:cNvSpPr>
              <a:spLocks noChangeArrowheads="1"/>
            </p:cNvSpPr>
            <p:nvPr/>
          </p:nvSpPr>
          <p:spPr bwMode="auto">
            <a:xfrm>
              <a:off x="2206" y="1936"/>
              <a:ext cx="48" cy="48"/>
            </a:xfrm>
            <a:prstGeom prst="ellipse">
              <a:avLst/>
            </a:prstGeom>
            <a:solidFill>
              <a:schemeClr val="tx1"/>
            </a:solidFill>
            <a:ln w="38100">
              <a:solidFill>
                <a:srgbClr val="000000"/>
              </a:solidFill>
              <a:round/>
              <a:headEnd/>
              <a:tailEnd/>
            </a:ln>
          </p:spPr>
          <p:txBody>
            <a:bodyPr wrap="none" anchor="ctr"/>
            <a:lstStyle/>
            <a:p>
              <a:pPr algn="ctr" eaLnBrk="1" hangingPunct="1"/>
              <a:endParaRPr lang="zh-CN" altLang="en-US"/>
            </a:p>
          </p:txBody>
        </p:sp>
        <p:grpSp>
          <p:nvGrpSpPr>
            <p:cNvPr id="11296" name="Group 62"/>
            <p:cNvGrpSpPr>
              <a:grpSpLocks/>
            </p:cNvGrpSpPr>
            <p:nvPr/>
          </p:nvGrpSpPr>
          <p:grpSpPr bwMode="auto">
            <a:xfrm>
              <a:off x="2064" y="672"/>
              <a:ext cx="326" cy="374"/>
              <a:chOff x="1960" y="911"/>
              <a:chExt cx="326" cy="374"/>
            </a:xfrm>
          </p:grpSpPr>
          <p:sp>
            <p:nvSpPr>
              <p:cNvPr id="11361" name="Text Box 25"/>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362" name="Text Box 26"/>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grpSp>
          <p:nvGrpSpPr>
            <p:cNvPr id="11297" name="Group 72"/>
            <p:cNvGrpSpPr>
              <a:grpSpLocks/>
            </p:cNvGrpSpPr>
            <p:nvPr/>
          </p:nvGrpSpPr>
          <p:grpSpPr bwMode="auto">
            <a:xfrm>
              <a:off x="2496" y="624"/>
              <a:ext cx="518" cy="384"/>
              <a:chOff x="2544" y="816"/>
              <a:chExt cx="518" cy="384"/>
            </a:xfrm>
          </p:grpSpPr>
          <p:grpSp>
            <p:nvGrpSpPr>
              <p:cNvPr id="11357" name="Group 63"/>
              <p:cNvGrpSpPr>
                <a:grpSpLocks/>
              </p:cNvGrpSpPr>
              <p:nvPr/>
            </p:nvGrpSpPr>
            <p:grpSpPr bwMode="auto">
              <a:xfrm>
                <a:off x="2736" y="816"/>
                <a:ext cx="326" cy="380"/>
                <a:chOff x="2719" y="857"/>
                <a:chExt cx="326" cy="380"/>
              </a:xfrm>
            </p:grpSpPr>
            <p:sp>
              <p:nvSpPr>
                <p:cNvPr id="11359" name="Text Box 28"/>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360" name="Text Box 29"/>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58" name="Text Box 30"/>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1</a:t>
                </a:r>
              </a:p>
            </p:txBody>
          </p:sp>
        </p:grpSp>
        <p:grpSp>
          <p:nvGrpSpPr>
            <p:cNvPr id="11298" name="Group 31"/>
            <p:cNvGrpSpPr>
              <a:grpSpLocks/>
            </p:cNvGrpSpPr>
            <p:nvPr/>
          </p:nvGrpSpPr>
          <p:grpSpPr bwMode="auto">
            <a:xfrm>
              <a:off x="384" y="1085"/>
              <a:ext cx="291" cy="395"/>
              <a:chOff x="748" y="2016"/>
              <a:chExt cx="291" cy="395"/>
            </a:xfrm>
          </p:grpSpPr>
          <p:sp>
            <p:nvSpPr>
              <p:cNvPr id="11355" name="Text Box 32"/>
              <p:cNvSpPr txBox="1">
                <a:spLocks noChangeArrowheads="1"/>
              </p:cNvSpPr>
              <p:nvPr/>
            </p:nvSpPr>
            <p:spPr bwMode="auto">
              <a:xfrm>
                <a:off x="748" y="2123"/>
                <a:ext cx="291"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i</a:t>
                </a:r>
                <a:endParaRPr lang="en-US" altLang="zh-CN" i="1">
                  <a:solidFill>
                    <a:schemeClr val="accent2"/>
                  </a:solidFill>
                  <a:ea typeface="方正琥珀繁体"/>
                  <a:cs typeface="方正琥珀繁体"/>
                </a:endParaRPr>
              </a:p>
            </p:txBody>
          </p:sp>
          <p:sp>
            <p:nvSpPr>
              <p:cNvPr id="11356" name="Text Box 33"/>
              <p:cNvSpPr txBox="1">
                <a:spLocks noChangeArrowheads="1"/>
              </p:cNvSpPr>
              <p:nvPr/>
            </p:nvSpPr>
            <p:spPr bwMode="auto">
              <a:xfrm>
                <a:off x="800" y="2016"/>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299" name="Group 34"/>
            <p:cNvGrpSpPr>
              <a:grpSpLocks/>
            </p:cNvGrpSpPr>
            <p:nvPr/>
          </p:nvGrpSpPr>
          <p:grpSpPr bwMode="auto">
            <a:xfrm>
              <a:off x="0" y="1373"/>
              <a:ext cx="305" cy="417"/>
              <a:chOff x="30" y="3232"/>
              <a:chExt cx="305" cy="357"/>
            </a:xfrm>
          </p:grpSpPr>
          <p:sp>
            <p:nvSpPr>
              <p:cNvPr id="11353" name="Text Box 35"/>
              <p:cNvSpPr txBox="1">
                <a:spLocks noChangeArrowheads="1"/>
              </p:cNvSpPr>
              <p:nvPr/>
            </p:nvSpPr>
            <p:spPr bwMode="auto">
              <a:xfrm>
                <a:off x="30" y="3342"/>
                <a:ext cx="305" cy="247"/>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U</a:t>
                </a:r>
                <a:r>
                  <a:rPr lang="en-US" altLang="zh-CN" baseline="-25000">
                    <a:ea typeface="方正琥珀繁体"/>
                    <a:cs typeface="方正琥珀繁体"/>
                  </a:rPr>
                  <a:t>s</a:t>
                </a:r>
                <a:endParaRPr lang="en-US" altLang="zh-CN" i="1">
                  <a:ea typeface="方正琥珀繁体"/>
                  <a:cs typeface="方正琥珀繁体"/>
                </a:endParaRPr>
              </a:p>
            </p:txBody>
          </p:sp>
          <p:sp>
            <p:nvSpPr>
              <p:cNvPr id="11354" name="Text Box 36"/>
              <p:cNvSpPr txBox="1">
                <a:spLocks noChangeArrowheads="1"/>
              </p:cNvSpPr>
              <p:nvPr/>
            </p:nvSpPr>
            <p:spPr bwMode="auto">
              <a:xfrm>
                <a:off x="78" y="3232"/>
                <a:ext cx="166" cy="198"/>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00" name="Line 37"/>
            <p:cNvSpPr>
              <a:spLocks noChangeShapeType="1"/>
            </p:cNvSpPr>
            <p:nvPr/>
          </p:nvSpPr>
          <p:spPr bwMode="auto">
            <a:xfrm>
              <a:off x="1512" y="653"/>
              <a:ext cx="0" cy="1304"/>
            </a:xfrm>
            <a:prstGeom prst="line">
              <a:avLst/>
            </a:prstGeom>
            <a:noFill/>
            <a:ln w="38100">
              <a:solidFill>
                <a:srgbClr val="000000"/>
              </a:solidFill>
              <a:round/>
              <a:headEnd/>
              <a:tailEnd type="none" w="med" len="lg"/>
            </a:ln>
          </p:spPr>
          <p:txBody>
            <a:bodyPr wrap="none" anchor="ctr"/>
            <a:lstStyle/>
            <a:p>
              <a:endParaRPr lang="zh-CN" altLang="en-US"/>
            </a:p>
          </p:txBody>
        </p:sp>
        <p:sp>
          <p:nvSpPr>
            <p:cNvPr id="11301" name="Line 38"/>
            <p:cNvSpPr>
              <a:spLocks noChangeShapeType="1"/>
            </p:cNvSpPr>
            <p:nvPr/>
          </p:nvSpPr>
          <p:spPr bwMode="auto">
            <a:xfrm flipH="1">
              <a:off x="3017" y="672"/>
              <a:ext cx="7" cy="1296"/>
            </a:xfrm>
            <a:prstGeom prst="line">
              <a:avLst/>
            </a:prstGeom>
            <a:noFill/>
            <a:ln w="38100">
              <a:solidFill>
                <a:srgbClr val="000000"/>
              </a:solidFill>
              <a:round/>
              <a:headEnd/>
              <a:tailEnd type="none" w="med" len="lg"/>
            </a:ln>
          </p:spPr>
          <p:txBody>
            <a:bodyPr wrap="none" anchor="ctr"/>
            <a:lstStyle/>
            <a:p>
              <a:endParaRPr lang="zh-CN" altLang="en-US"/>
            </a:p>
          </p:txBody>
        </p:sp>
        <p:sp>
          <p:nvSpPr>
            <p:cNvPr id="11302" name="Line 39"/>
            <p:cNvSpPr>
              <a:spLocks noChangeShapeType="1"/>
            </p:cNvSpPr>
            <p:nvPr/>
          </p:nvSpPr>
          <p:spPr bwMode="auto">
            <a:xfrm>
              <a:off x="4896" y="672"/>
              <a:ext cx="5" cy="1310"/>
            </a:xfrm>
            <a:prstGeom prst="line">
              <a:avLst/>
            </a:prstGeom>
            <a:noFill/>
            <a:ln w="38100">
              <a:solidFill>
                <a:srgbClr val="000000"/>
              </a:solidFill>
              <a:round/>
              <a:headEnd/>
              <a:tailEnd type="none" w="med" len="lg"/>
            </a:ln>
          </p:spPr>
          <p:txBody>
            <a:bodyPr wrap="none" anchor="ctr"/>
            <a:lstStyle/>
            <a:p>
              <a:endParaRPr lang="zh-CN" altLang="en-US"/>
            </a:p>
          </p:txBody>
        </p:sp>
        <p:sp>
          <p:nvSpPr>
            <p:cNvPr id="11303" name="Text Box 40"/>
            <p:cNvSpPr txBox="1">
              <a:spLocks noChangeArrowheads="1"/>
            </p:cNvSpPr>
            <p:nvPr/>
          </p:nvSpPr>
          <p:spPr bwMode="auto">
            <a:xfrm>
              <a:off x="2592" y="1248"/>
              <a:ext cx="411"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C1</a:t>
              </a:r>
            </a:p>
          </p:txBody>
        </p:sp>
        <p:sp>
          <p:nvSpPr>
            <p:cNvPr id="11304" name="Rectangle 41"/>
            <p:cNvSpPr>
              <a:spLocks noChangeArrowheads="1"/>
            </p:cNvSpPr>
            <p:nvPr/>
          </p:nvSpPr>
          <p:spPr bwMode="auto">
            <a:xfrm>
              <a:off x="2976" y="1200"/>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05" name="Text Box 42"/>
            <p:cNvSpPr txBox="1">
              <a:spLocks noChangeArrowheads="1"/>
            </p:cNvSpPr>
            <p:nvPr/>
          </p:nvSpPr>
          <p:spPr bwMode="auto">
            <a:xfrm>
              <a:off x="4896" y="1152"/>
              <a:ext cx="432"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L</a:t>
              </a:r>
            </a:p>
          </p:txBody>
        </p:sp>
        <p:sp>
          <p:nvSpPr>
            <p:cNvPr id="11306" name="Rectangle 43"/>
            <p:cNvSpPr>
              <a:spLocks noChangeArrowheads="1"/>
            </p:cNvSpPr>
            <p:nvPr/>
          </p:nvSpPr>
          <p:spPr bwMode="auto">
            <a:xfrm>
              <a:off x="4848" y="1152"/>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07" name="Text Box 44"/>
            <p:cNvSpPr txBox="1">
              <a:spLocks noChangeArrowheads="1"/>
            </p:cNvSpPr>
            <p:nvPr/>
          </p:nvSpPr>
          <p:spPr bwMode="auto">
            <a:xfrm>
              <a:off x="1056" y="1104"/>
              <a:ext cx="480"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B2</a:t>
              </a:r>
            </a:p>
          </p:txBody>
        </p:sp>
        <p:sp>
          <p:nvSpPr>
            <p:cNvPr id="11308" name="Rectangle 45"/>
            <p:cNvSpPr>
              <a:spLocks noChangeArrowheads="1"/>
            </p:cNvSpPr>
            <p:nvPr/>
          </p:nvSpPr>
          <p:spPr bwMode="auto">
            <a:xfrm>
              <a:off x="1464" y="1133"/>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09" name="Rectangle 46"/>
            <p:cNvSpPr>
              <a:spLocks noChangeArrowheads="1"/>
            </p:cNvSpPr>
            <p:nvPr/>
          </p:nvSpPr>
          <p:spPr bwMode="auto">
            <a:xfrm>
              <a:off x="355" y="864"/>
              <a:ext cx="96" cy="240"/>
            </a:xfrm>
            <a:prstGeom prst="rect">
              <a:avLst/>
            </a:prstGeom>
            <a:solidFill>
              <a:srgbClr val="FFFFCC"/>
            </a:solidFill>
            <a:ln w="38100">
              <a:solidFill>
                <a:srgbClr val="FF3300"/>
              </a:solidFill>
              <a:miter lim="800000"/>
              <a:headEnd/>
              <a:tailEnd/>
            </a:ln>
          </p:spPr>
          <p:txBody>
            <a:bodyPr wrap="none" anchor="ctr"/>
            <a:lstStyle/>
            <a:p>
              <a:pPr algn="ctr" eaLnBrk="1" hangingPunct="1"/>
              <a:endParaRPr lang="zh-CN" altLang="en-US"/>
            </a:p>
          </p:txBody>
        </p:sp>
        <p:sp>
          <p:nvSpPr>
            <p:cNvPr id="11310" name="Text Box 47"/>
            <p:cNvSpPr txBox="1">
              <a:spLocks noChangeArrowheads="1"/>
            </p:cNvSpPr>
            <p:nvPr/>
          </p:nvSpPr>
          <p:spPr bwMode="auto">
            <a:xfrm>
              <a:off x="72" y="797"/>
              <a:ext cx="326" cy="288"/>
            </a:xfrm>
            <a:prstGeom prst="rect">
              <a:avLst/>
            </a:prstGeom>
            <a:noFill/>
            <a:ln w="9525">
              <a:noFill/>
              <a:miter lim="800000"/>
              <a:headEnd/>
              <a:tailEnd/>
            </a:ln>
          </p:spPr>
          <p:txBody>
            <a:bodyPr>
              <a:spAutoFit/>
            </a:bodyPr>
            <a:lstStyle/>
            <a:p>
              <a:pPr algn="ctr" eaLnBrk="1" hangingPunct="1"/>
              <a:r>
                <a:rPr lang="en-US" altLang="zh-CN"/>
                <a:t>R</a:t>
              </a:r>
              <a:r>
                <a:rPr lang="en-US" altLang="zh-CN" baseline="-25000"/>
                <a:t>S</a:t>
              </a:r>
            </a:p>
          </p:txBody>
        </p:sp>
        <p:sp>
          <p:nvSpPr>
            <p:cNvPr id="11311" name="Rectangle 48"/>
            <p:cNvSpPr>
              <a:spLocks noChangeArrowheads="1"/>
            </p:cNvSpPr>
            <p:nvPr/>
          </p:nvSpPr>
          <p:spPr bwMode="auto">
            <a:xfrm>
              <a:off x="168" y="1248"/>
              <a:ext cx="244" cy="327"/>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rPr>
                <a:t>+</a:t>
              </a:r>
            </a:p>
          </p:txBody>
        </p:sp>
        <p:sp>
          <p:nvSpPr>
            <p:cNvPr id="11312" name="Rectangle 49"/>
            <p:cNvSpPr>
              <a:spLocks noChangeArrowheads="1"/>
            </p:cNvSpPr>
            <p:nvPr/>
          </p:nvSpPr>
          <p:spPr bwMode="auto">
            <a:xfrm>
              <a:off x="168" y="1680"/>
              <a:ext cx="239" cy="327"/>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sym typeface="Symbol" pitchFamily="18" charset="2"/>
                </a:rPr>
                <a:t></a:t>
              </a:r>
            </a:p>
          </p:txBody>
        </p:sp>
        <p:sp>
          <p:nvSpPr>
            <p:cNvPr id="11313" name="Rectangle 50"/>
            <p:cNvSpPr>
              <a:spLocks noChangeArrowheads="1"/>
            </p:cNvSpPr>
            <p:nvPr/>
          </p:nvSpPr>
          <p:spPr bwMode="auto">
            <a:xfrm>
              <a:off x="1968" y="1152"/>
              <a:ext cx="96" cy="316"/>
            </a:xfrm>
            <a:prstGeom prst="rect">
              <a:avLst/>
            </a:prstGeom>
            <a:solidFill>
              <a:srgbClr val="FFFFCC"/>
            </a:solidFill>
            <a:ln w="38100">
              <a:solidFill>
                <a:srgbClr val="A50021"/>
              </a:solidFill>
              <a:miter lim="800000"/>
              <a:headEnd/>
              <a:tailEnd/>
            </a:ln>
          </p:spPr>
          <p:txBody>
            <a:bodyPr wrap="none" anchor="ctr"/>
            <a:lstStyle/>
            <a:p>
              <a:pPr algn="ctr" eaLnBrk="1" hangingPunct="1"/>
              <a:endParaRPr lang="zh-CN" altLang="en-US"/>
            </a:p>
          </p:txBody>
        </p:sp>
        <p:grpSp>
          <p:nvGrpSpPr>
            <p:cNvPr id="11314" name="Group 51"/>
            <p:cNvGrpSpPr>
              <a:grpSpLocks/>
            </p:cNvGrpSpPr>
            <p:nvPr/>
          </p:nvGrpSpPr>
          <p:grpSpPr bwMode="auto">
            <a:xfrm>
              <a:off x="2352" y="1056"/>
              <a:ext cx="288" cy="480"/>
              <a:chOff x="2496" y="2880"/>
              <a:chExt cx="288" cy="480"/>
            </a:xfrm>
          </p:grpSpPr>
          <p:sp>
            <p:nvSpPr>
              <p:cNvPr id="11351" name="Freeform 52"/>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352" name="Line 53"/>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315" name="Line 54"/>
            <p:cNvSpPr>
              <a:spLocks noChangeShapeType="1"/>
            </p:cNvSpPr>
            <p:nvPr/>
          </p:nvSpPr>
          <p:spPr bwMode="auto">
            <a:xfrm>
              <a:off x="2232" y="1949"/>
              <a:ext cx="0" cy="144"/>
            </a:xfrm>
            <a:prstGeom prst="line">
              <a:avLst/>
            </a:prstGeom>
            <a:noFill/>
            <a:ln w="38100">
              <a:solidFill>
                <a:schemeClr val="tx1"/>
              </a:solidFill>
              <a:round/>
              <a:headEnd/>
              <a:tailEnd type="none" w="sm" len="lg"/>
            </a:ln>
          </p:spPr>
          <p:txBody>
            <a:bodyPr anchor="ctr">
              <a:spAutoFit/>
            </a:bodyPr>
            <a:lstStyle/>
            <a:p>
              <a:endParaRPr lang="zh-CN" altLang="en-US"/>
            </a:p>
          </p:txBody>
        </p:sp>
        <p:sp>
          <p:nvSpPr>
            <p:cNvPr id="11316" name="Line 57"/>
            <p:cNvSpPr>
              <a:spLocks noChangeShapeType="1"/>
            </p:cNvSpPr>
            <p:nvPr/>
          </p:nvSpPr>
          <p:spPr bwMode="auto">
            <a:xfrm>
              <a:off x="1032" y="653"/>
              <a:ext cx="0" cy="1304"/>
            </a:xfrm>
            <a:prstGeom prst="line">
              <a:avLst/>
            </a:prstGeom>
            <a:noFill/>
            <a:ln w="38100">
              <a:solidFill>
                <a:srgbClr val="000000"/>
              </a:solidFill>
              <a:round/>
              <a:headEnd/>
              <a:tailEnd type="none" w="med" len="lg"/>
            </a:ln>
          </p:spPr>
          <p:txBody>
            <a:bodyPr wrap="none" anchor="ctr"/>
            <a:lstStyle/>
            <a:p>
              <a:endParaRPr lang="zh-CN" altLang="en-US"/>
            </a:p>
          </p:txBody>
        </p:sp>
        <p:sp>
          <p:nvSpPr>
            <p:cNvPr id="11317" name="Text Box 58"/>
            <p:cNvSpPr txBox="1">
              <a:spLocks noChangeArrowheads="1"/>
            </p:cNvSpPr>
            <p:nvPr/>
          </p:nvSpPr>
          <p:spPr bwMode="auto">
            <a:xfrm>
              <a:off x="576" y="1104"/>
              <a:ext cx="528"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B1</a:t>
              </a:r>
            </a:p>
          </p:txBody>
        </p:sp>
        <p:sp>
          <p:nvSpPr>
            <p:cNvPr id="11318" name="Rectangle 59"/>
            <p:cNvSpPr>
              <a:spLocks noChangeArrowheads="1"/>
            </p:cNvSpPr>
            <p:nvPr/>
          </p:nvSpPr>
          <p:spPr bwMode="auto">
            <a:xfrm>
              <a:off x="984" y="1133"/>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19" name="Line 60"/>
            <p:cNvSpPr>
              <a:spLocks noChangeShapeType="1"/>
            </p:cNvSpPr>
            <p:nvPr/>
          </p:nvSpPr>
          <p:spPr bwMode="auto">
            <a:xfrm flipV="1">
              <a:off x="402" y="666"/>
              <a:ext cx="1632" cy="0"/>
            </a:xfrm>
            <a:prstGeom prst="line">
              <a:avLst/>
            </a:prstGeom>
            <a:noFill/>
            <a:ln w="38100">
              <a:solidFill>
                <a:schemeClr val="tx1"/>
              </a:solidFill>
              <a:round/>
              <a:headEnd/>
              <a:tailEnd type="none" w="sm" len="lg"/>
            </a:ln>
          </p:spPr>
          <p:txBody>
            <a:bodyPr/>
            <a:lstStyle/>
            <a:p>
              <a:endParaRPr lang="zh-CN" altLang="en-US"/>
            </a:p>
          </p:txBody>
        </p:sp>
        <p:sp>
          <p:nvSpPr>
            <p:cNvPr id="11320" name="Rectangle 65"/>
            <p:cNvSpPr>
              <a:spLocks noChangeArrowheads="1"/>
            </p:cNvSpPr>
            <p:nvPr/>
          </p:nvSpPr>
          <p:spPr bwMode="auto">
            <a:xfrm>
              <a:off x="3888" y="624"/>
              <a:ext cx="336" cy="96"/>
            </a:xfrm>
            <a:prstGeom prst="rect">
              <a:avLst/>
            </a:prstGeom>
            <a:solidFill>
              <a:srgbClr val="FFFFCC"/>
            </a:solidFill>
            <a:ln w="38100">
              <a:solidFill>
                <a:srgbClr val="993300"/>
              </a:solidFill>
              <a:miter lim="800000"/>
              <a:headEnd/>
              <a:tailEnd type="none" w="sm" len="lg"/>
            </a:ln>
          </p:spPr>
          <p:txBody>
            <a:bodyPr wrap="none" anchor="ctr"/>
            <a:lstStyle/>
            <a:p>
              <a:pPr algn="ctr" eaLnBrk="1" hangingPunct="1"/>
              <a:endParaRPr lang="zh-CN" altLang="zh-CN"/>
            </a:p>
          </p:txBody>
        </p:sp>
        <p:grpSp>
          <p:nvGrpSpPr>
            <p:cNvPr id="11321" name="Group 66"/>
            <p:cNvGrpSpPr>
              <a:grpSpLocks/>
            </p:cNvGrpSpPr>
            <p:nvPr/>
          </p:nvGrpSpPr>
          <p:grpSpPr bwMode="auto">
            <a:xfrm>
              <a:off x="4224" y="1104"/>
              <a:ext cx="288" cy="480"/>
              <a:chOff x="2496" y="2880"/>
              <a:chExt cx="288" cy="480"/>
            </a:xfrm>
          </p:grpSpPr>
          <p:sp>
            <p:nvSpPr>
              <p:cNvPr id="11349" name="Freeform 67"/>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350" name="Line 68"/>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322" name="Line 70"/>
            <p:cNvSpPr>
              <a:spLocks noChangeShapeType="1"/>
            </p:cNvSpPr>
            <p:nvPr/>
          </p:nvSpPr>
          <p:spPr bwMode="auto">
            <a:xfrm>
              <a:off x="3744" y="672"/>
              <a:ext cx="0" cy="1296"/>
            </a:xfrm>
            <a:prstGeom prst="line">
              <a:avLst/>
            </a:prstGeom>
            <a:noFill/>
            <a:ln w="38100">
              <a:solidFill>
                <a:srgbClr val="000000"/>
              </a:solidFill>
              <a:round/>
              <a:headEnd/>
              <a:tailEnd type="none" w="med" len="lg"/>
            </a:ln>
          </p:spPr>
          <p:txBody>
            <a:bodyPr wrap="none" anchor="ctr"/>
            <a:lstStyle/>
            <a:p>
              <a:endParaRPr lang="zh-CN" altLang="en-US"/>
            </a:p>
          </p:txBody>
        </p:sp>
        <p:sp>
          <p:nvSpPr>
            <p:cNvPr id="11323" name="Rectangle 71"/>
            <p:cNvSpPr>
              <a:spLocks noChangeArrowheads="1"/>
            </p:cNvSpPr>
            <p:nvPr/>
          </p:nvSpPr>
          <p:spPr bwMode="auto">
            <a:xfrm>
              <a:off x="3696" y="1200"/>
              <a:ext cx="96" cy="288"/>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324" name="Text Box 73"/>
            <p:cNvSpPr txBox="1">
              <a:spLocks noChangeArrowheads="1"/>
            </p:cNvSpPr>
            <p:nvPr/>
          </p:nvSpPr>
          <p:spPr bwMode="auto">
            <a:xfrm>
              <a:off x="3696" y="1200"/>
              <a:ext cx="528"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B3</a:t>
              </a:r>
            </a:p>
          </p:txBody>
        </p:sp>
        <p:sp>
          <p:nvSpPr>
            <p:cNvPr id="11325" name="Text Box 75"/>
            <p:cNvSpPr txBox="1">
              <a:spLocks noChangeArrowheads="1"/>
            </p:cNvSpPr>
            <p:nvPr/>
          </p:nvSpPr>
          <p:spPr bwMode="auto">
            <a:xfrm>
              <a:off x="3840" y="624"/>
              <a:ext cx="528" cy="327"/>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be2</a:t>
              </a:r>
              <a:r>
                <a:rPr lang="en-US" altLang="zh-CN" i="1">
                  <a:solidFill>
                    <a:srgbClr val="A50021"/>
                  </a:solidFill>
                  <a:ea typeface="方正琥珀繁体"/>
                  <a:cs typeface="方正琥珀繁体"/>
                </a:rPr>
                <a:t> </a:t>
              </a:r>
            </a:p>
          </p:txBody>
        </p:sp>
        <p:sp>
          <p:nvSpPr>
            <p:cNvPr id="11326" name="Line 76"/>
            <p:cNvSpPr>
              <a:spLocks noChangeShapeType="1"/>
            </p:cNvSpPr>
            <p:nvPr/>
          </p:nvSpPr>
          <p:spPr bwMode="auto">
            <a:xfrm flipV="1">
              <a:off x="4416" y="720"/>
              <a:ext cx="0" cy="384"/>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327" name="Line 77"/>
            <p:cNvSpPr>
              <a:spLocks noChangeShapeType="1"/>
            </p:cNvSpPr>
            <p:nvPr/>
          </p:nvSpPr>
          <p:spPr bwMode="auto">
            <a:xfrm>
              <a:off x="3840" y="576"/>
              <a:ext cx="480" cy="0"/>
            </a:xfrm>
            <a:prstGeom prst="line">
              <a:avLst/>
            </a:prstGeom>
            <a:noFill/>
            <a:ln w="28575">
              <a:solidFill>
                <a:srgbClr val="FF3300"/>
              </a:solidFill>
              <a:round/>
              <a:headEnd/>
              <a:tailEnd type="stealth" w="sm" len="lg"/>
            </a:ln>
          </p:spPr>
          <p:txBody>
            <a:bodyPr/>
            <a:lstStyle/>
            <a:p>
              <a:endParaRPr lang="zh-CN" altLang="en-US"/>
            </a:p>
          </p:txBody>
        </p:sp>
        <p:grpSp>
          <p:nvGrpSpPr>
            <p:cNvPr id="11328" name="Group 81"/>
            <p:cNvGrpSpPr>
              <a:grpSpLocks/>
            </p:cNvGrpSpPr>
            <p:nvPr/>
          </p:nvGrpSpPr>
          <p:grpSpPr bwMode="auto">
            <a:xfrm>
              <a:off x="4368" y="624"/>
              <a:ext cx="518" cy="384"/>
              <a:chOff x="2544" y="816"/>
              <a:chExt cx="518" cy="384"/>
            </a:xfrm>
          </p:grpSpPr>
          <p:grpSp>
            <p:nvGrpSpPr>
              <p:cNvPr id="11345" name="Group 82"/>
              <p:cNvGrpSpPr>
                <a:grpSpLocks/>
              </p:cNvGrpSpPr>
              <p:nvPr/>
            </p:nvGrpSpPr>
            <p:grpSpPr bwMode="auto">
              <a:xfrm>
                <a:off x="2736" y="816"/>
                <a:ext cx="326" cy="380"/>
                <a:chOff x="2719" y="857"/>
                <a:chExt cx="326" cy="380"/>
              </a:xfrm>
            </p:grpSpPr>
            <p:sp>
              <p:nvSpPr>
                <p:cNvPr id="11347" name="Text Box 83"/>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348" name="Text Box 84"/>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346" name="Text Box 85"/>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2</a:t>
                </a:r>
              </a:p>
            </p:txBody>
          </p:sp>
        </p:grpSp>
        <p:sp>
          <p:nvSpPr>
            <p:cNvPr id="11329" name="Line 86"/>
            <p:cNvSpPr>
              <a:spLocks noChangeShapeType="1"/>
            </p:cNvSpPr>
            <p:nvPr/>
          </p:nvSpPr>
          <p:spPr bwMode="auto">
            <a:xfrm>
              <a:off x="3312" y="816"/>
              <a:ext cx="0" cy="1008"/>
            </a:xfrm>
            <a:prstGeom prst="line">
              <a:avLst/>
            </a:prstGeom>
            <a:noFill/>
            <a:ln w="28575">
              <a:solidFill>
                <a:schemeClr val="accent2"/>
              </a:solidFill>
              <a:round/>
              <a:headEnd/>
              <a:tailEnd type="stealth" w="sm" len="lg"/>
            </a:ln>
          </p:spPr>
          <p:txBody>
            <a:bodyPr wrap="none" anchor="ctr"/>
            <a:lstStyle/>
            <a:p>
              <a:endParaRPr lang="zh-CN" altLang="en-US"/>
            </a:p>
          </p:txBody>
        </p:sp>
        <p:grpSp>
          <p:nvGrpSpPr>
            <p:cNvPr id="11330" name="Group 90"/>
            <p:cNvGrpSpPr>
              <a:grpSpLocks/>
            </p:cNvGrpSpPr>
            <p:nvPr/>
          </p:nvGrpSpPr>
          <p:grpSpPr bwMode="auto">
            <a:xfrm>
              <a:off x="3312" y="1152"/>
              <a:ext cx="383" cy="379"/>
              <a:chOff x="3232" y="1401"/>
              <a:chExt cx="383" cy="390"/>
            </a:xfrm>
          </p:grpSpPr>
          <p:sp>
            <p:nvSpPr>
              <p:cNvPr id="11343" name="Text Box 88"/>
              <p:cNvSpPr txBox="1">
                <a:spLocks noChangeArrowheads="1"/>
              </p:cNvSpPr>
              <p:nvPr/>
            </p:nvSpPr>
            <p:spPr bwMode="auto">
              <a:xfrm>
                <a:off x="3232" y="1495"/>
                <a:ext cx="383" cy="296"/>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o1</a:t>
                </a:r>
                <a:endParaRPr lang="en-US" altLang="zh-CN" i="1">
                  <a:solidFill>
                    <a:schemeClr val="accent2"/>
                  </a:solidFill>
                  <a:ea typeface="方正琥珀繁体"/>
                  <a:cs typeface="方正琥珀繁体"/>
                </a:endParaRPr>
              </a:p>
            </p:txBody>
          </p:sp>
          <p:sp>
            <p:nvSpPr>
              <p:cNvPr id="11344" name="Text Box 89"/>
              <p:cNvSpPr txBox="1">
                <a:spLocks noChangeArrowheads="1"/>
              </p:cNvSpPr>
              <p:nvPr/>
            </p:nvSpPr>
            <p:spPr bwMode="auto">
              <a:xfrm>
                <a:off x="3282" y="1401"/>
                <a:ext cx="166" cy="238"/>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sp>
          <p:nvSpPr>
            <p:cNvPr id="11331" name="Text Box 91"/>
            <p:cNvSpPr txBox="1">
              <a:spLocks noChangeArrowheads="1"/>
            </p:cNvSpPr>
            <p:nvPr/>
          </p:nvSpPr>
          <p:spPr bwMode="auto">
            <a:xfrm>
              <a:off x="1632"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1</a:t>
              </a:r>
            </a:p>
          </p:txBody>
        </p:sp>
        <p:sp>
          <p:nvSpPr>
            <p:cNvPr id="11332" name="Text Box 92"/>
            <p:cNvSpPr txBox="1">
              <a:spLocks noChangeArrowheads="1"/>
            </p:cNvSpPr>
            <p:nvPr/>
          </p:nvSpPr>
          <p:spPr bwMode="auto">
            <a:xfrm>
              <a:off x="2544"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1</a:t>
              </a:r>
            </a:p>
          </p:txBody>
        </p:sp>
        <p:sp>
          <p:nvSpPr>
            <p:cNvPr id="11333" name="Text Box 93"/>
            <p:cNvSpPr txBox="1">
              <a:spLocks noChangeArrowheads="1"/>
            </p:cNvSpPr>
            <p:nvPr/>
          </p:nvSpPr>
          <p:spPr bwMode="auto">
            <a:xfrm>
              <a:off x="2064" y="1680"/>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1</a:t>
              </a:r>
            </a:p>
          </p:txBody>
        </p:sp>
        <p:sp>
          <p:nvSpPr>
            <p:cNvPr id="11334" name="Text Box 94"/>
            <p:cNvSpPr txBox="1">
              <a:spLocks noChangeArrowheads="1"/>
            </p:cNvSpPr>
            <p:nvPr/>
          </p:nvSpPr>
          <p:spPr bwMode="auto">
            <a:xfrm>
              <a:off x="3456"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2</a:t>
              </a:r>
            </a:p>
          </p:txBody>
        </p:sp>
        <p:sp>
          <p:nvSpPr>
            <p:cNvPr id="11335" name="Line 95"/>
            <p:cNvSpPr>
              <a:spLocks noChangeShapeType="1"/>
            </p:cNvSpPr>
            <p:nvPr/>
          </p:nvSpPr>
          <p:spPr bwMode="auto">
            <a:xfrm>
              <a:off x="2496" y="672"/>
              <a:ext cx="1248" cy="0"/>
            </a:xfrm>
            <a:prstGeom prst="line">
              <a:avLst/>
            </a:prstGeom>
            <a:noFill/>
            <a:ln w="38100">
              <a:solidFill>
                <a:srgbClr val="000000"/>
              </a:solidFill>
              <a:round/>
              <a:headEnd/>
              <a:tailEnd/>
            </a:ln>
          </p:spPr>
          <p:txBody>
            <a:bodyPr wrap="none" anchor="ctr"/>
            <a:lstStyle/>
            <a:p>
              <a:endParaRPr lang="zh-CN" altLang="en-US"/>
            </a:p>
          </p:txBody>
        </p:sp>
        <p:sp>
          <p:nvSpPr>
            <p:cNvPr id="11336" name="Text Box 96"/>
            <p:cNvSpPr txBox="1">
              <a:spLocks noChangeArrowheads="1"/>
            </p:cNvSpPr>
            <p:nvPr/>
          </p:nvSpPr>
          <p:spPr bwMode="auto">
            <a:xfrm>
              <a:off x="4272" y="384"/>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2</a:t>
              </a:r>
            </a:p>
          </p:txBody>
        </p:sp>
        <p:sp>
          <p:nvSpPr>
            <p:cNvPr id="11337" name="Text Box 97"/>
            <p:cNvSpPr txBox="1">
              <a:spLocks noChangeArrowheads="1"/>
            </p:cNvSpPr>
            <p:nvPr/>
          </p:nvSpPr>
          <p:spPr bwMode="auto">
            <a:xfrm>
              <a:off x="4195" y="1888"/>
              <a:ext cx="480" cy="288"/>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2</a:t>
              </a:r>
            </a:p>
          </p:txBody>
        </p:sp>
        <p:sp>
          <p:nvSpPr>
            <p:cNvPr id="11338" name="Line 160"/>
            <p:cNvSpPr>
              <a:spLocks noChangeShapeType="1"/>
            </p:cNvSpPr>
            <p:nvPr/>
          </p:nvSpPr>
          <p:spPr bwMode="auto">
            <a:xfrm>
              <a:off x="5280" y="672"/>
              <a:ext cx="5" cy="1310"/>
            </a:xfrm>
            <a:prstGeom prst="line">
              <a:avLst/>
            </a:prstGeom>
            <a:noFill/>
            <a:ln w="38100">
              <a:solidFill>
                <a:srgbClr val="000000"/>
              </a:solidFill>
              <a:round/>
              <a:headEnd/>
              <a:tailEnd type="none" w="med" len="lg"/>
            </a:ln>
          </p:spPr>
          <p:txBody>
            <a:bodyPr wrap="none" anchor="ctr"/>
            <a:lstStyle/>
            <a:p>
              <a:endParaRPr lang="zh-CN" altLang="en-US"/>
            </a:p>
          </p:txBody>
        </p:sp>
        <p:sp>
          <p:nvSpPr>
            <p:cNvPr id="11339" name="Rectangle 161"/>
            <p:cNvSpPr>
              <a:spLocks noChangeArrowheads="1"/>
            </p:cNvSpPr>
            <p:nvPr/>
          </p:nvSpPr>
          <p:spPr bwMode="auto">
            <a:xfrm>
              <a:off x="5232" y="1152"/>
              <a:ext cx="96" cy="288"/>
            </a:xfrm>
            <a:prstGeom prst="rect">
              <a:avLst/>
            </a:prstGeom>
            <a:solidFill>
              <a:schemeClr val="bg2"/>
            </a:solidFill>
            <a:ln w="38100">
              <a:solidFill>
                <a:schemeClr val="tx1"/>
              </a:solidFill>
              <a:miter lim="800000"/>
              <a:headEnd/>
              <a:tailEnd/>
            </a:ln>
          </p:spPr>
          <p:txBody>
            <a:bodyPr wrap="none" anchor="ctr"/>
            <a:lstStyle/>
            <a:p>
              <a:pPr algn="ctr" eaLnBrk="1" hangingPunct="1"/>
              <a:endParaRPr lang="zh-CN" altLang="en-US"/>
            </a:p>
          </p:txBody>
        </p:sp>
        <p:sp>
          <p:nvSpPr>
            <p:cNvPr id="11340" name="Text Box 162"/>
            <p:cNvSpPr txBox="1">
              <a:spLocks noChangeArrowheads="1"/>
            </p:cNvSpPr>
            <p:nvPr/>
          </p:nvSpPr>
          <p:spPr bwMode="auto">
            <a:xfrm>
              <a:off x="4464" y="1152"/>
              <a:ext cx="432" cy="288"/>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E2</a:t>
              </a:r>
            </a:p>
          </p:txBody>
        </p:sp>
        <p:sp>
          <p:nvSpPr>
            <p:cNvPr id="11341" name="Freeform 165"/>
            <p:cNvSpPr>
              <a:spLocks/>
            </p:cNvSpPr>
            <p:nvPr/>
          </p:nvSpPr>
          <p:spPr bwMode="auto">
            <a:xfrm flipV="1">
              <a:off x="3424" y="436"/>
              <a:ext cx="235" cy="454"/>
            </a:xfrm>
            <a:custGeom>
              <a:avLst/>
              <a:gdLst>
                <a:gd name="T0" fmla="*/ 0 w 192"/>
                <a:gd name="T1" fmla="*/ 10941 h 384"/>
                <a:gd name="T2" fmla="*/ 0 w 192"/>
                <a:gd name="T3" fmla="*/ 0 h 384"/>
                <a:gd name="T4" fmla="*/ 10954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4413" name="Rectangle 166"/>
            <p:cNvSpPr>
              <a:spLocks noChangeArrowheads="1"/>
            </p:cNvSpPr>
            <p:nvPr/>
          </p:nvSpPr>
          <p:spPr bwMode="auto">
            <a:xfrm>
              <a:off x="3303" y="119"/>
              <a:ext cx="384" cy="291"/>
            </a:xfrm>
            <a:prstGeom prst="rect">
              <a:avLst/>
            </a:prstGeom>
            <a:noFill/>
            <a:ln w="38100">
              <a:noFill/>
              <a:miter lim="800000"/>
              <a:headEnd/>
              <a:tailEnd type="none" w="sm" len="lg"/>
            </a:ln>
          </p:spPr>
          <p:txBody>
            <a:bodyPr wrap="none">
              <a:spAutoFit/>
            </a:bodyPr>
            <a:lstStyle/>
            <a:p>
              <a:pPr algn="ctr">
                <a:defRPr/>
              </a:pPr>
              <a:r>
                <a:rPr lang="en-US" altLang="zh-CN" i="1" dirty="0">
                  <a:solidFill>
                    <a:srgbClr val="FF0000"/>
                  </a:solidFill>
                  <a:highlight>
                    <a:srgbClr val="FFFF00"/>
                  </a:highlight>
                </a:rPr>
                <a:t>R</a:t>
              </a:r>
              <a:r>
                <a:rPr lang="en-US" altLang="zh-CN" sz="1600" dirty="0">
                  <a:solidFill>
                    <a:srgbClr val="FF0000"/>
                  </a:solidFill>
                  <a:highlight>
                    <a:srgbClr val="FFFF00"/>
                  </a:highlight>
                </a:rPr>
                <a:t>i</a:t>
              </a:r>
              <a:r>
                <a:rPr lang="zh-CN" altLang="en-US" sz="1400" dirty="0">
                  <a:solidFill>
                    <a:srgbClr val="FF0000"/>
                  </a:solidFill>
                  <a:highlight>
                    <a:srgbClr val="FFFF00"/>
                  </a:highlight>
                </a:rPr>
                <a:t>２</a:t>
              </a:r>
            </a:p>
          </p:txBody>
        </p:sp>
      </p:grpSp>
      <p:graphicFrame>
        <p:nvGraphicFramePr>
          <p:cNvPr id="14505" name="Object 169"/>
          <p:cNvGraphicFramePr>
            <a:graphicFrameLocks noChangeAspect="1"/>
          </p:cNvGraphicFramePr>
          <p:nvPr/>
        </p:nvGraphicFramePr>
        <p:xfrm>
          <a:off x="-31750" y="3716338"/>
          <a:ext cx="4095750" cy="1174750"/>
        </p:xfrm>
        <a:graphic>
          <a:graphicData uri="http://schemas.openxmlformats.org/presentationml/2006/ole">
            <mc:AlternateContent xmlns:mc="http://schemas.openxmlformats.org/markup-compatibility/2006">
              <mc:Choice xmlns:v="urn:schemas-microsoft-com:vml" Requires="v">
                <p:oleObj spid="_x0000_s9219" name="Equation" r:id="rId3" imgW="39014400" imgH="10972800" progId="Equation.DSMT4">
                  <p:embed/>
                </p:oleObj>
              </mc:Choice>
              <mc:Fallback>
                <p:oleObj name="Equation" r:id="rId3" imgW="39014400" imgH="10972800" progId="Equation.DSMT4">
                  <p:embed/>
                  <p:pic>
                    <p:nvPicPr>
                      <p:cNvPr id="0" name="Object 1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0" y="3716338"/>
                        <a:ext cx="4095750" cy="117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 name="矩形 128"/>
          <p:cNvSpPr/>
          <p:nvPr/>
        </p:nvSpPr>
        <p:spPr>
          <a:xfrm>
            <a:off x="300038" y="0"/>
            <a:ext cx="4808537" cy="598488"/>
          </a:xfrm>
          <a:prstGeom prst="rect">
            <a:avLst/>
          </a:prstGeom>
          <a:solidFill>
            <a:srgbClr val="AAEFF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solidFill>
                  <a:srgbClr val="FF0000"/>
                </a:solidFill>
              </a:rPr>
              <a:t>第二级的输入电阻为第一级的负载</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0" fill="hold"/>
                                        <p:tgtEl>
                                          <p:spTgt spid="8"/>
                                        </p:tgtEl>
                                        <p:attrNameLst>
                                          <p:attrName>ppt_x</p:attrName>
                                        </p:attrNameLst>
                                      </p:cBhvr>
                                      <p:tavLst>
                                        <p:tav tm="0">
                                          <p:val>
                                            <p:strVal val="#ppt_x"/>
                                          </p:val>
                                        </p:tav>
                                        <p:tav tm="100000">
                                          <p:val>
                                            <p:strVal val="#ppt_x"/>
                                          </p:val>
                                        </p:tav>
                                      </p:tavLst>
                                    </p:anim>
                                    <p:anim calcmode="lin" valueType="num">
                                      <p:cBhvr additive="base">
                                        <p:cTn id="8" dur="5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29"/>
                                        </p:tgtEl>
                                        <p:attrNameLst>
                                          <p:attrName>style.visibility</p:attrName>
                                        </p:attrNameLst>
                                      </p:cBhvr>
                                      <p:to>
                                        <p:strVal val="visible"/>
                                      </p:to>
                                    </p:set>
                                    <p:animEffect transition="in" filter="blinds(horizontal)">
                                      <p:cBhvr>
                                        <p:cTn id="13" dur="500"/>
                                        <p:tgtEl>
                                          <p:spTgt spid="12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4505"/>
                                        </p:tgtEl>
                                        <p:attrNameLst>
                                          <p:attrName>style.visibility</p:attrName>
                                        </p:attrNameLst>
                                      </p:cBhvr>
                                      <p:to>
                                        <p:strVal val="visible"/>
                                      </p:to>
                                    </p:set>
                                    <p:anim calcmode="lin" valueType="num">
                                      <p:cBhvr additive="base">
                                        <p:cTn id="18" dur="3000" fill="hold"/>
                                        <p:tgtEl>
                                          <p:spTgt spid="14505"/>
                                        </p:tgtEl>
                                        <p:attrNameLst>
                                          <p:attrName>ppt_x</p:attrName>
                                        </p:attrNameLst>
                                      </p:cBhvr>
                                      <p:tavLst>
                                        <p:tav tm="0">
                                          <p:val>
                                            <p:strVal val="#ppt_x"/>
                                          </p:val>
                                        </p:tav>
                                        <p:tav tm="100000">
                                          <p:val>
                                            <p:strVal val="#ppt_x"/>
                                          </p:val>
                                        </p:tav>
                                      </p:tavLst>
                                    </p:anim>
                                    <p:anim calcmode="lin" valueType="num">
                                      <p:cBhvr additive="base">
                                        <p:cTn id="19" dur="3000" fill="hold"/>
                                        <p:tgtEl>
                                          <p:spTgt spid="14505"/>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454"/>
                                        </p:tgtEl>
                                        <p:attrNameLst>
                                          <p:attrName>style.visibility</p:attrName>
                                        </p:attrNameLst>
                                      </p:cBhvr>
                                      <p:to>
                                        <p:strVal val="visible"/>
                                      </p:to>
                                    </p:set>
                                    <p:anim calcmode="lin" valueType="num">
                                      <p:cBhvr additive="base">
                                        <p:cTn id="24" dur="3000" fill="hold"/>
                                        <p:tgtEl>
                                          <p:spTgt spid="14454"/>
                                        </p:tgtEl>
                                        <p:attrNameLst>
                                          <p:attrName>ppt_x</p:attrName>
                                        </p:attrNameLst>
                                      </p:cBhvr>
                                      <p:tavLst>
                                        <p:tav tm="0">
                                          <p:val>
                                            <p:strVal val="#ppt_x"/>
                                          </p:val>
                                        </p:tav>
                                        <p:tav tm="100000">
                                          <p:val>
                                            <p:strVal val="#ppt_x"/>
                                          </p:val>
                                        </p:tav>
                                      </p:tavLst>
                                    </p:anim>
                                    <p:anim calcmode="lin" valueType="num">
                                      <p:cBhvr additive="base">
                                        <p:cTn id="25" dur="3000" fill="hold"/>
                                        <p:tgtEl>
                                          <p:spTgt spid="14454"/>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3000" fill="hold"/>
                                        <p:tgtEl>
                                          <p:spTgt spid="4"/>
                                        </p:tgtEl>
                                        <p:attrNameLst>
                                          <p:attrName>ppt_x</p:attrName>
                                        </p:attrNameLst>
                                      </p:cBhvr>
                                      <p:tavLst>
                                        <p:tav tm="0">
                                          <p:val>
                                            <p:strVal val="#ppt_x"/>
                                          </p:val>
                                        </p:tav>
                                        <p:tav tm="100000">
                                          <p:val>
                                            <p:strVal val="#ppt_x"/>
                                          </p:val>
                                        </p:tav>
                                      </p:tavLst>
                                    </p:anim>
                                    <p:anim calcmode="lin" valueType="num">
                                      <p:cBhvr additive="base">
                                        <p:cTn id="31" dur="3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54" grpId="0" animBg="1"/>
      <p:bldP spid="12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56" name="Rectangle 96"/>
          <p:cNvSpPr>
            <a:spLocks noChangeArrowheads="1"/>
          </p:cNvSpPr>
          <p:nvPr/>
        </p:nvSpPr>
        <p:spPr bwMode="auto">
          <a:xfrm>
            <a:off x="381000" y="4114800"/>
            <a:ext cx="3287713" cy="519113"/>
          </a:xfrm>
          <a:prstGeom prst="rect">
            <a:avLst/>
          </a:prstGeom>
          <a:noFill/>
          <a:ln w="38100">
            <a:noFill/>
            <a:miter lim="800000"/>
            <a:headEnd/>
            <a:tailEnd type="none" w="sm" len="lg"/>
          </a:ln>
        </p:spPr>
        <p:txBody>
          <a:bodyPr wrap="none">
            <a:spAutoFit/>
          </a:bodyPr>
          <a:lstStyle/>
          <a:p>
            <a:pPr algn="ctr" eaLnBrk="1" hangingPunct="1"/>
            <a:r>
              <a:rPr lang="en-US" altLang="zh-CN" i="1">
                <a:solidFill>
                  <a:schemeClr val="accent2"/>
                </a:solidFill>
              </a:rPr>
              <a:t>R</a:t>
            </a:r>
            <a:r>
              <a:rPr lang="en-US" altLang="zh-CN" baseline="-25000">
                <a:solidFill>
                  <a:schemeClr val="accent2"/>
                </a:solidFill>
              </a:rPr>
              <a:t>i</a:t>
            </a:r>
            <a:r>
              <a:rPr lang="en-US" altLang="zh-CN">
                <a:solidFill>
                  <a:schemeClr val="accent2"/>
                </a:solidFill>
              </a:rPr>
              <a:t>=</a:t>
            </a:r>
            <a:r>
              <a:rPr lang="en-US" altLang="zh-CN" i="1">
                <a:solidFill>
                  <a:schemeClr val="accent2"/>
                </a:solidFill>
              </a:rPr>
              <a:t>R</a:t>
            </a:r>
            <a:r>
              <a:rPr lang="en-US" altLang="zh-CN" baseline="-25000">
                <a:solidFill>
                  <a:schemeClr val="accent2"/>
                </a:solidFill>
              </a:rPr>
              <a:t>i1</a:t>
            </a:r>
            <a:r>
              <a:rPr lang="en-US" altLang="zh-CN">
                <a:solidFill>
                  <a:schemeClr val="accent2"/>
                </a:solidFill>
              </a:rPr>
              <a:t>=R</a:t>
            </a:r>
            <a:r>
              <a:rPr lang="en-US" altLang="zh-CN" baseline="-25000">
                <a:solidFill>
                  <a:schemeClr val="accent2"/>
                </a:solidFill>
              </a:rPr>
              <a:t>B1</a:t>
            </a:r>
            <a:r>
              <a:rPr lang="en-US" altLang="zh-CN">
                <a:solidFill>
                  <a:schemeClr val="accent2"/>
                </a:solidFill>
              </a:rPr>
              <a:t>//R</a:t>
            </a:r>
            <a:r>
              <a:rPr lang="en-US" altLang="zh-CN" baseline="-25000">
                <a:solidFill>
                  <a:schemeClr val="accent2"/>
                </a:solidFill>
              </a:rPr>
              <a:t>B2</a:t>
            </a:r>
            <a:r>
              <a:rPr lang="en-US" altLang="zh-CN">
                <a:solidFill>
                  <a:schemeClr val="accent2"/>
                </a:solidFill>
              </a:rPr>
              <a:t>//</a:t>
            </a:r>
            <a:r>
              <a:rPr lang="en-US" altLang="zh-CN" i="1">
                <a:solidFill>
                  <a:schemeClr val="accent2"/>
                </a:solidFill>
              </a:rPr>
              <a:t>r</a:t>
            </a:r>
            <a:r>
              <a:rPr lang="en-US" altLang="zh-CN" baseline="-25000">
                <a:solidFill>
                  <a:schemeClr val="accent2"/>
                </a:solidFill>
              </a:rPr>
              <a:t>be1</a:t>
            </a:r>
          </a:p>
        </p:txBody>
      </p:sp>
      <p:sp>
        <p:nvSpPr>
          <p:cNvPr id="114691" name="Text Box 90"/>
          <p:cNvSpPr txBox="1">
            <a:spLocks noChangeArrowheads="1"/>
          </p:cNvSpPr>
          <p:nvPr/>
        </p:nvSpPr>
        <p:spPr bwMode="auto">
          <a:xfrm>
            <a:off x="838200" y="457200"/>
            <a:ext cx="1252538" cy="519113"/>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第一级</a:t>
            </a:r>
          </a:p>
        </p:txBody>
      </p:sp>
      <p:sp>
        <p:nvSpPr>
          <p:cNvPr id="114692" name="Text Box 91"/>
          <p:cNvSpPr txBox="1">
            <a:spLocks noChangeArrowheads="1"/>
          </p:cNvSpPr>
          <p:nvPr/>
        </p:nvSpPr>
        <p:spPr bwMode="auto">
          <a:xfrm>
            <a:off x="7239000" y="457200"/>
            <a:ext cx="1244600" cy="519113"/>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rPr>
              <a:t>第二级</a:t>
            </a:r>
          </a:p>
        </p:txBody>
      </p:sp>
      <p:sp>
        <p:nvSpPr>
          <p:cNvPr id="114693" name="Freeform 92"/>
          <p:cNvSpPr>
            <a:spLocks/>
          </p:cNvSpPr>
          <p:nvPr/>
        </p:nvSpPr>
        <p:spPr bwMode="auto">
          <a:xfrm>
            <a:off x="1219200" y="2895600"/>
            <a:ext cx="304800" cy="762000"/>
          </a:xfrm>
          <a:custGeom>
            <a:avLst/>
            <a:gdLst>
              <a:gd name="T0" fmla="*/ 0 w 192"/>
              <a:gd name="T1" fmla="*/ 2147483647 h 432"/>
              <a:gd name="T2" fmla="*/ 0 w 192"/>
              <a:gd name="T3" fmla="*/ 0 h 432"/>
              <a:gd name="T4" fmla="*/ 2147483647 w 192"/>
              <a:gd name="T5" fmla="*/ 0 h 432"/>
              <a:gd name="T6" fmla="*/ 0 60000 65536"/>
              <a:gd name="T7" fmla="*/ 0 60000 65536"/>
              <a:gd name="T8" fmla="*/ 0 60000 65536"/>
              <a:gd name="T9" fmla="*/ 0 w 192"/>
              <a:gd name="T10" fmla="*/ 0 h 432"/>
              <a:gd name="T11" fmla="*/ 192 w 192"/>
              <a:gd name="T12" fmla="*/ 432 h 432"/>
            </a:gdLst>
            <a:ahLst/>
            <a:cxnLst>
              <a:cxn ang="T6">
                <a:pos x="T0" y="T1"/>
              </a:cxn>
              <a:cxn ang="T7">
                <a:pos x="T2" y="T3"/>
              </a:cxn>
              <a:cxn ang="T8">
                <a:pos x="T4" y="T5"/>
              </a:cxn>
            </a:cxnLst>
            <a:rect l="T9" t="T10" r="T11" b="T12"/>
            <a:pathLst>
              <a:path w="192" h="432">
                <a:moveTo>
                  <a:pt x="0" y="432"/>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14694" name="Freeform 93"/>
          <p:cNvSpPr>
            <a:spLocks/>
          </p:cNvSpPr>
          <p:nvPr/>
        </p:nvSpPr>
        <p:spPr bwMode="auto">
          <a:xfrm flipH="1">
            <a:off x="7848600" y="2895600"/>
            <a:ext cx="304800" cy="685800"/>
          </a:xfrm>
          <a:custGeom>
            <a:avLst/>
            <a:gdLst>
              <a:gd name="T0" fmla="*/ 0 w 192"/>
              <a:gd name="T1" fmla="*/ 2147483647 h 432"/>
              <a:gd name="T2" fmla="*/ 0 w 192"/>
              <a:gd name="T3" fmla="*/ 0 h 432"/>
              <a:gd name="T4" fmla="*/ 2147483647 w 192"/>
              <a:gd name="T5" fmla="*/ 0 h 432"/>
              <a:gd name="T6" fmla="*/ 0 60000 65536"/>
              <a:gd name="T7" fmla="*/ 0 60000 65536"/>
              <a:gd name="T8" fmla="*/ 0 60000 65536"/>
              <a:gd name="T9" fmla="*/ 0 w 192"/>
              <a:gd name="T10" fmla="*/ 0 h 432"/>
              <a:gd name="T11" fmla="*/ 192 w 192"/>
              <a:gd name="T12" fmla="*/ 432 h 432"/>
            </a:gdLst>
            <a:ahLst/>
            <a:cxnLst>
              <a:cxn ang="T6">
                <a:pos x="T0" y="T1"/>
              </a:cxn>
              <a:cxn ang="T7">
                <a:pos x="T2" y="T3"/>
              </a:cxn>
              <a:cxn ang="T8">
                <a:pos x="T4" y="T5"/>
              </a:cxn>
            </a:cxnLst>
            <a:rect l="T9" t="T10" r="T11" b="T12"/>
            <a:pathLst>
              <a:path w="192" h="432">
                <a:moveTo>
                  <a:pt x="0" y="432"/>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08551" name="Rectangle 94"/>
          <p:cNvSpPr>
            <a:spLocks noChangeArrowheads="1"/>
          </p:cNvSpPr>
          <p:nvPr/>
        </p:nvSpPr>
        <p:spPr bwMode="auto">
          <a:xfrm>
            <a:off x="1219200" y="3200400"/>
            <a:ext cx="530225" cy="579438"/>
          </a:xfrm>
          <a:prstGeom prst="rect">
            <a:avLst/>
          </a:prstGeom>
          <a:noFill/>
          <a:ln w="38100">
            <a:noFill/>
            <a:miter lim="800000"/>
            <a:headEnd/>
            <a:tailEnd type="none" w="sm" len="lg"/>
          </a:ln>
        </p:spPr>
        <p:txBody>
          <a:bodyPr wrap="none">
            <a:spAutoFit/>
          </a:bodyPr>
          <a:lstStyle/>
          <a:p>
            <a:pPr algn="ctr" eaLnBrk="1" hangingPunct="1">
              <a:defRPr/>
            </a:pPr>
            <a:r>
              <a:rPr lang="en-US" altLang="zh-CN" sz="3200" i="1" dirty="0">
                <a:solidFill>
                  <a:srgbClr val="FF0000"/>
                </a:solidFill>
                <a:highlight>
                  <a:srgbClr val="FFFF00"/>
                </a:highlight>
              </a:rPr>
              <a:t>R</a:t>
            </a:r>
            <a:r>
              <a:rPr lang="en-US" altLang="zh-CN" sz="3200" baseline="-25000" dirty="0">
                <a:solidFill>
                  <a:srgbClr val="FF0000"/>
                </a:solidFill>
                <a:highlight>
                  <a:srgbClr val="FFFF00"/>
                </a:highlight>
              </a:rPr>
              <a:t>i</a:t>
            </a:r>
          </a:p>
        </p:txBody>
      </p:sp>
      <p:sp>
        <p:nvSpPr>
          <p:cNvPr id="108552" name="Rectangle 95"/>
          <p:cNvSpPr>
            <a:spLocks noChangeArrowheads="1"/>
          </p:cNvSpPr>
          <p:nvPr/>
        </p:nvSpPr>
        <p:spPr bwMode="auto">
          <a:xfrm>
            <a:off x="8153400" y="3200400"/>
            <a:ext cx="588963" cy="579438"/>
          </a:xfrm>
          <a:prstGeom prst="rect">
            <a:avLst/>
          </a:prstGeom>
          <a:noFill/>
          <a:ln w="38100">
            <a:noFill/>
            <a:miter lim="800000"/>
            <a:headEnd/>
            <a:tailEnd type="none" w="sm" len="lg"/>
          </a:ln>
        </p:spPr>
        <p:txBody>
          <a:bodyPr wrap="none">
            <a:spAutoFit/>
          </a:bodyPr>
          <a:lstStyle/>
          <a:p>
            <a:pPr algn="ctr" eaLnBrk="1" hangingPunct="1">
              <a:defRPr/>
            </a:pPr>
            <a:r>
              <a:rPr lang="en-US" altLang="zh-CN" sz="3200" i="1" dirty="0">
                <a:solidFill>
                  <a:srgbClr val="FF0000"/>
                </a:solidFill>
                <a:highlight>
                  <a:srgbClr val="FFFF00"/>
                </a:highlight>
              </a:rPr>
              <a:t>R</a:t>
            </a:r>
            <a:r>
              <a:rPr lang="en-US" altLang="zh-CN" sz="3200" baseline="-25000" dirty="0">
                <a:solidFill>
                  <a:srgbClr val="FF0000"/>
                </a:solidFill>
                <a:highlight>
                  <a:srgbClr val="FFFF00"/>
                </a:highlight>
              </a:rPr>
              <a:t>o</a:t>
            </a:r>
          </a:p>
        </p:txBody>
      </p:sp>
      <p:sp>
        <p:nvSpPr>
          <p:cNvPr id="114697" name="Line 99"/>
          <p:cNvSpPr>
            <a:spLocks noChangeShapeType="1"/>
          </p:cNvSpPr>
          <p:nvPr/>
        </p:nvSpPr>
        <p:spPr bwMode="auto">
          <a:xfrm flipV="1">
            <a:off x="6858000" y="1143000"/>
            <a:ext cx="1600200" cy="0"/>
          </a:xfrm>
          <a:prstGeom prst="line">
            <a:avLst/>
          </a:prstGeom>
          <a:noFill/>
          <a:ln w="38100">
            <a:solidFill>
              <a:srgbClr val="000000"/>
            </a:solidFill>
            <a:round/>
            <a:headEnd/>
            <a:tailEnd/>
          </a:ln>
        </p:spPr>
        <p:txBody>
          <a:bodyPr wrap="none" anchor="ctr"/>
          <a:lstStyle/>
          <a:p>
            <a:endParaRPr lang="zh-CN" altLang="en-US"/>
          </a:p>
        </p:txBody>
      </p:sp>
      <p:sp>
        <p:nvSpPr>
          <p:cNvPr id="114698" name="Line 100"/>
          <p:cNvSpPr>
            <a:spLocks noChangeShapeType="1"/>
          </p:cNvSpPr>
          <p:nvPr/>
        </p:nvSpPr>
        <p:spPr bwMode="auto">
          <a:xfrm>
            <a:off x="5943600" y="1143000"/>
            <a:ext cx="990600" cy="0"/>
          </a:xfrm>
          <a:prstGeom prst="line">
            <a:avLst/>
          </a:prstGeom>
          <a:noFill/>
          <a:ln w="38100">
            <a:solidFill>
              <a:srgbClr val="993300"/>
            </a:solidFill>
            <a:round/>
            <a:headEnd/>
            <a:tailEnd type="none" w="sm" len="lg"/>
          </a:ln>
        </p:spPr>
        <p:txBody>
          <a:bodyPr/>
          <a:lstStyle/>
          <a:p>
            <a:endParaRPr lang="zh-CN" altLang="en-US"/>
          </a:p>
        </p:txBody>
      </p:sp>
      <p:sp>
        <p:nvSpPr>
          <p:cNvPr id="114699" name="Line 101"/>
          <p:cNvSpPr>
            <a:spLocks noChangeShapeType="1"/>
          </p:cNvSpPr>
          <p:nvPr/>
        </p:nvSpPr>
        <p:spPr bwMode="auto">
          <a:xfrm flipV="1">
            <a:off x="6934200" y="1143000"/>
            <a:ext cx="0" cy="2057400"/>
          </a:xfrm>
          <a:prstGeom prst="line">
            <a:avLst/>
          </a:prstGeom>
          <a:noFill/>
          <a:ln w="38100">
            <a:solidFill>
              <a:srgbClr val="A50021"/>
            </a:solidFill>
            <a:round/>
            <a:headEnd/>
            <a:tailEnd/>
          </a:ln>
        </p:spPr>
        <p:txBody>
          <a:bodyPr wrap="none" anchor="ctr"/>
          <a:lstStyle/>
          <a:p>
            <a:endParaRPr lang="zh-CN" altLang="en-US"/>
          </a:p>
        </p:txBody>
      </p:sp>
      <p:sp>
        <p:nvSpPr>
          <p:cNvPr id="114700" name="Line 102"/>
          <p:cNvSpPr>
            <a:spLocks noChangeShapeType="1"/>
          </p:cNvSpPr>
          <p:nvPr/>
        </p:nvSpPr>
        <p:spPr bwMode="auto">
          <a:xfrm>
            <a:off x="3200400" y="1143000"/>
            <a:ext cx="0" cy="2057400"/>
          </a:xfrm>
          <a:prstGeom prst="line">
            <a:avLst/>
          </a:prstGeom>
          <a:noFill/>
          <a:ln w="38100">
            <a:solidFill>
              <a:srgbClr val="993300"/>
            </a:solidFill>
            <a:round/>
            <a:headEnd/>
            <a:tailEnd type="none" w="sm" len="lg"/>
          </a:ln>
        </p:spPr>
        <p:txBody>
          <a:bodyPr/>
          <a:lstStyle/>
          <a:p>
            <a:endParaRPr lang="zh-CN" altLang="en-US"/>
          </a:p>
        </p:txBody>
      </p:sp>
      <p:sp>
        <p:nvSpPr>
          <p:cNvPr id="114701" name="Oval 103"/>
          <p:cNvSpPr>
            <a:spLocks noChangeArrowheads="1"/>
          </p:cNvSpPr>
          <p:nvPr/>
        </p:nvSpPr>
        <p:spPr bwMode="auto">
          <a:xfrm>
            <a:off x="411163" y="2470150"/>
            <a:ext cx="457200" cy="457200"/>
          </a:xfrm>
          <a:prstGeom prst="ellipse">
            <a:avLst/>
          </a:prstGeom>
          <a:solidFill>
            <a:srgbClr val="FFFFCC"/>
          </a:solidFill>
          <a:ln w="38100">
            <a:solidFill>
              <a:srgbClr val="FF3300"/>
            </a:solidFill>
            <a:round/>
            <a:headEnd/>
            <a:tailEnd/>
          </a:ln>
        </p:spPr>
        <p:txBody>
          <a:bodyPr wrap="none" anchor="ctr"/>
          <a:lstStyle/>
          <a:p>
            <a:pPr algn="ctr" eaLnBrk="1" hangingPunct="1"/>
            <a:endParaRPr lang="zh-CN" altLang="en-US"/>
          </a:p>
        </p:txBody>
      </p:sp>
      <p:sp>
        <p:nvSpPr>
          <p:cNvPr id="114702" name="Line 104"/>
          <p:cNvSpPr>
            <a:spLocks noChangeShapeType="1"/>
          </p:cNvSpPr>
          <p:nvPr/>
        </p:nvSpPr>
        <p:spPr bwMode="auto">
          <a:xfrm flipH="1" flipV="1">
            <a:off x="3962400" y="1143000"/>
            <a:ext cx="0" cy="2057400"/>
          </a:xfrm>
          <a:prstGeom prst="line">
            <a:avLst/>
          </a:prstGeom>
          <a:noFill/>
          <a:ln w="38100">
            <a:solidFill>
              <a:srgbClr val="A50021"/>
            </a:solidFill>
            <a:round/>
            <a:headEnd/>
            <a:tailEnd/>
          </a:ln>
        </p:spPr>
        <p:txBody>
          <a:bodyPr wrap="none" anchor="ctr"/>
          <a:lstStyle/>
          <a:p>
            <a:endParaRPr lang="zh-CN" altLang="en-US"/>
          </a:p>
        </p:txBody>
      </p:sp>
      <p:sp>
        <p:nvSpPr>
          <p:cNvPr id="114703" name="Line 105"/>
          <p:cNvSpPr>
            <a:spLocks noChangeShapeType="1"/>
          </p:cNvSpPr>
          <p:nvPr/>
        </p:nvSpPr>
        <p:spPr bwMode="auto">
          <a:xfrm>
            <a:off x="3962400" y="1143000"/>
            <a:ext cx="1981200" cy="0"/>
          </a:xfrm>
          <a:prstGeom prst="line">
            <a:avLst/>
          </a:prstGeom>
          <a:noFill/>
          <a:ln w="38100">
            <a:solidFill>
              <a:srgbClr val="000000"/>
            </a:solidFill>
            <a:round/>
            <a:headEnd/>
            <a:tailEnd/>
          </a:ln>
        </p:spPr>
        <p:txBody>
          <a:bodyPr wrap="none" anchor="ctr"/>
          <a:lstStyle/>
          <a:p>
            <a:endParaRPr lang="zh-CN" altLang="en-US"/>
          </a:p>
        </p:txBody>
      </p:sp>
      <p:sp>
        <p:nvSpPr>
          <p:cNvPr id="114704" name="Line 106"/>
          <p:cNvSpPr>
            <a:spLocks noChangeShapeType="1"/>
          </p:cNvSpPr>
          <p:nvPr/>
        </p:nvSpPr>
        <p:spPr bwMode="auto">
          <a:xfrm>
            <a:off x="3390900" y="3398838"/>
            <a:ext cx="304800" cy="0"/>
          </a:xfrm>
          <a:prstGeom prst="line">
            <a:avLst/>
          </a:prstGeom>
          <a:noFill/>
          <a:ln w="76200">
            <a:solidFill>
              <a:srgbClr val="000000"/>
            </a:solidFill>
            <a:round/>
            <a:headEnd/>
            <a:tailEnd/>
          </a:ln>
        </p:spPr>
        <p:txBody>
          <a:bodyPr wrap="none" anchor="ctr"/>
          <a:lstStyle/>
          <a:p>
            <a:endParaRPr lang="zh-CN" altLang="en-US"/>
          </a:p>
        </p:txBody>
      </p:sp>
      <p:sp>
        <p:nvSpPr>
          <p:cNvPr id="114705" name="Oval 107"/>
          <p:cNvSpPr>
            <a:spLocks noChangeArrowheads="1"/>
          </p:cNvSpPr>
          <p:nvPr/>
        </p:nvSpPr>
        <p:spPr bwMode="auto">
          <a:xfrm>
            <a:off x="8458200" y="1095375"/>
            <a:ext cx="84138" cy="76200"/>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4706" name="Oval 108"/>
          <p:cNvSpPr>
            <a:spLocks noChangeArrowheads="1"/>
          </p:cNvSpPr>
          <p:nvPr/>
        </p:nvSpPr>
        <p:spPr bwMode="auto">
          <a:xfrm>
            <a:off x="8534400" y="3152775"/>
            <a:ext cx="76200" cy="82550"/>
          </a:xfrm>
          <a:prstGeom prst="ellipse">
            <a:avLst/>
          </a:prstGeom>
          <a:solidFill>
            <a:srgbClr val="FFFFFF"/>
          </a:solidFill>
          <a:ln w="38100">
            <a:solidFill>
              <a:srgbClr val="000000"/>
            </a:solidFill>
            <a:round/>
            <a:headEnd/>
            <a:tailEnd/>
          </a:ln>
        </p:spPr>
        <p:txBody>
          <a:bodyPr wrap="none" anchor="ctr"/>
          <a:lstStyle/>
          <a:p>
            <a:pPr algn="ctr" eaLnBrk="1" hangingPunct="1"/>
            <a:endParaRPr lang="zh-CN" altLang="en-US"/>
          </a:p>
        </p:txBody>
      </p:sp>
      <p:sp>
        <p:nvSpPr>
          <p:cNvPr id="114707" name="Text Box 109"/>
          <p:cNvSpPr txBox="1">
            <a:spLocks noChangeArrowheads="1"/>
          </p:cNvSpPr>
          <p:nvPr/>
        </p:nvSpPr>
        <p:spPr bwMode="auto">
          <a:xfrm>
            <a:off x="2438400" y="1752600"/>
            <a:ext cx="838200" cy="519113"/>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be1</a:t>
            </a:r>
            <a:r>
              <a:rPr lang="en-US" altLang="zh-CN" i="1">
                <a:solidFill>
                  <a:srgbClr val="A50021"/>
                </a:solidFill>
                <a:ea typeface="方正琥珀繁体"/>
                <a:cs typeface="方正琥珀繁体"/>
              </a:rPr>
              <a:t> </a:t>
            </a:r>
          </a:p>
        </p:txBody>
      </p:sp>
      <p:sp>
        <p:nvSpPr>
          <p:cNvPr id="114708" name="Line 110"/>
          <p:cNvSpPr>
            <a:spLocks noChangeShapeType="1"/>
          </p:cNvSpPr>
          <p:nvPr/>
        </p:nvSpPr>
        <p:spPr bwMode="auto">
          <a:xfrm flipH="1">
            <a:off x="8534400" y="1447800"/>
            <a:ext cx="0" cy="1295400"/>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4709" name="Line 111"/>
          <p:cNvSpPr>
            <a:spLocks noChangeShapeType="1"/>
          </p:cNvSpPr>
          <p:nvPr/>
        </p:nvSpPr>
        <p:spPr bwMode="auto">
          <a:xfrm>
            <a:off x="3314700" y="1096963"/>
            <a:ext cx="0" cy="762000"/>
          </a:xfrm>
          <a:prstGeom prst="line">
            <a:avLst/>
          </a:prstGeom>
          <a:noFill/>
          <a:ln w="28575">
            <a:solidFill>
              <a:srgbClr val="FF0000"/>
            </a:solidFill>
            <a:round/>
            <a:headEnd/>
            <a:tailEnd type="triangle" w="sm" len="lg"/>
          </a:ln>
        </p:spPr>
        <p:txBody>
          <a:bodyPr wrap="none" anchor="ctr"/>
          <a:lstStyle/>
          <a:p>
            <a:endParaRPr lang="zh-CN" altLang="en-US"/>
          </a:p>
        </p:txBody>
      </p:sp>
      <p:sp>
        <p:nvSpPr>
          <p:cNvPr id="114710" name="Line 112"/>
          <p:cNvSpPr>
            <a:spLocks noChangeShapeType="1"/>
          </p:cNvSpPr>
          <p:nvPr/>
        </p:nvSpPr>
        <p:spPr bwMode="auto">
          <a:xfrm>
            <a:off x="4038600" y="1219200"/>
            <a:ext cx="0" cy="609600"/>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4711" name="Line 113"/>
          <p:cNvSpPr>
            <a:spLocks noChangeShapeType="1"/>
          </p:cNvSpPr>
          <p:nvPr/>
        </p:nvSpPr>
        <p:spPr bwMode="auto">
          <a:xfrm flipV="1">
            <a:off x="647700" y="3200400"/>
            <a:ext cx="7886700" cy="0"/>
          </a:xfrm>
          <a:prstGeom prst="line">
            <a:avLst/>
          </a:prstGeom>
          <a:noFill/>
          <a:ln w="38100">
            <a:solidFill>
              <a:srgbClr val="000000"/>
            </a:solidFill>
            <a:round/>
            <a:headEnd/>
            <a:tailEnd/>
          </a:ln>
        </p:spPr>
        <p:txBody>
          <a:bodyPr wrap="none" anchor="ctr"/>
          <a:lstStyle/>
          <a:p>
            <a:endParaRPr lang="zh-CN" altLang="en-US"/>
          </a:p>
        </p:txBody>
      </p:sp>
      <p:sp>
        <p:nvSpPr>
          <p:cNvPr id="114712" name="Line 114"/>
          <p:cNvSpPr>
            <a:spLocks noChangeShapeType="1"/>
          </p:cNvSpPr>
          <p:nvPr/>
        </p:nvSpPr>
        <p:spPr bwMode="auto">
          <a:xfrm>
            <a:off x="647700" y="1112838"/>
            <a:ext cx="0" cy="2087562"/>
          </a:xfrm>
          <a:prstGeom prst="line">
            <a:avLst/>
          </a:prstGeom>
          <a:noFill/>
          <a:ln w="38100">
            <a:solidFill>
              <a:srgbClr val="000000"/>
            </a:solidFill>
            <a:round/>
            <a:headEnd/>
            <a:tailEnd/>
          </a:ln>
        </p:spPr>
        <p:txBody>
          <a:bodyPr wrap="none" anchor="ctr"/>
          <a:lstStyle/>
          <a:p>
            <a:endParaRPr lang="zh-CN" altLang="en-US"/>
          </a:p>
        </p:txBody>
      </p:sp>
      <p:sp>
        <p:nvSpPr>
          <p:cNvPr id="114713" name="Line 115"/>
          <p:cNvSpPr>
            <a:spLocks noChangeShapeType="1"/>
          </p:cNvSpPr>
          <p:nvPr/>
        </p:nvSpPr>
        <p:spPr bwMode="auto">
          <a:xfrm>
            <a:off x="1028700" y="1417638"/>
            <a:ext cx="0" cy="1600200"/>
          </a:xfrm>
          <a:prstGeom prst="line">
            <a:avLst/>
          </a:prstGeom>
          <a:noFill/>
          <a:ln w="28575">
            <a:solidFill>
              <a:schemeClr val="accent2"/>
            </a:solidFill>
            <a:round/>
            <a:headEnd/>
            <a:tailEnd type="stealth" w="sm" len="lg"/>
          </a:ln>
        </p:spPr>
        <p:txBody>
          <a:bodyPr wrap="none" anchor="ctr"/>
          <a:lstStyle/>
          <a:p>
            <a:endParaRPr lang="zh-CN" altLang="en-US"/>
          </a:p>
        </p:txBody>
      </p:sp>
      <p:sp>
        <p:nvSpPr>
          <p:cNvPr id="114714" name="Oval 116"/>
          <p:cNvSpPr>
            <a:spLocks noChangeArrowheads="1"/>
          </p:cNvSpPr>
          <p:nvPr/>
        </p:nvSpPr>
        <p:spPr bwMode="auto">
          <a:xfrm>
            <a:off x="3502025" y="3149600"/>
            <a:ext cx="76200" cy="76200"/>
          </a:xfrm>
          <a:prstGeom prst="ellipse">
            <a:avLst/>
          </a:prstGeom>
          <a:solidFill>
            <a:schemeClr val="tx1"/>
          </a:solidFill>
          <a:ln w="38100">
            <a:solidFill>
              <a:srgbClr val="000000"/>
            </a:solidFill>
            <a:round/>
            <a:headEnd/>
            <a:tailEnd/>
          </a:ln>
        </p:spPr>
        <p:txBody>
          <a:bodyPr wrap="none" anchor="ctr"/>
          <a:lstStyle/>
          <a:p>
            <a:pPr algn="ctr" eaLnBrk="1" hangingPunct="1"/>
            <a:endParaRPr lang="zh-CN" altLang="en-US"/>
          </a:p>
        </p:txBody>
      </p:sp>
      <p:grpSp>
        <p:nvGrpSpPr>
          <p:cNvPr id="114715" name="Group 117"/>
          <p:cNvGrpSpPr>
            <a:grpSpLocks/>
          </p:cNvGrpSpPr>
          <p:nvPr/>
        </p:nvGrpSpPr>
        <p:grpSpPr bwMode="auto">
          <a:xfrm>
            <a:off x="8534400" y="1676400"/>
            <a:ext cx="506413" cy="627063"/>
            <a:chOff x="4440" y="1065"/>
            <a:chExt cx="319" cy="395"/>
          </a:xfrm>
        </p:grpSpPr>
        <p:sp>
          <p:nvSpPr>
            <p:cNvPr id="114795" name="Text Box 118"/>
            <p:cNvSpPr txBox="1">
              <a:spLocks noChangeArrowheads="1"/>
            </p:cNvSpPr>
            <p:nvPr/>
          </p:nvSpPr>
          <p:spPr bwMode="auto">
            <a:xfrm>
              <a:off x="4440" y="1172"/>
              <a:ext cx="319"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a:t>
              </a:r>
              <a:endParaRPr lang="en-US" altLang="zh-CN" i="1">
                <a:solidFill>
                  <a:schemeClr val="accent2"/>
                </a:solidFill>
                <a:ea typeface="方正琥珀繁体"/>
                <a:cs typeface="方正琥珀繁体"/>
              </a:endParaRPr>
            </a:p>
          </p:txBody>
        </p:sp>
        <p:sp>
          <p:nvSpPr>
            <p:cNvPr id="114796" name="Text Box 119"/>
            <p:cNvSpPr txBox="1">
              <a:spLocks noChangeArrowheads="1"/>
            </p:cNvSpPr>
            <p:nvPr/>
          </p:nvSpPr>
          <p:spPr bwMode="auto">
            <a:xfrm>
              <a:off x="4494" y="1065"/>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4716" name="Group 120"/>
          <p:cNvGrpSpPr>
            <a:grpSpLocks/>
          </p:cNvGrpSpPr>
          <p:nvPr/>
        </p:nvGrpSpPr>
        <p:grpSpPr bwMode="auto">
          <a:xfrm>
            <a:off x="3276600" y="1143000"/>
            <a:ext cx="517525" cy="593725"/>
            <a:chOff x="1960" y="911"/>
            <a:chExt cx="326" cy="374"/>
          </a:xfrm>
        </p:grpSpPr>
        <p:sp>
          <p:nvSpPr>
            <p:cNvPr id="114793" name="Text Box 121"/>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4794" name="Text Box 122"/>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grpSp>
        <p:nvGrpSpPr>
          <p:cNvPr id="114717" name="Group 123"/>
          <p:cNvGrpSpPr>
            <a:grpSpLocks/>
          </p:cNvGrpSpPr>
          <p:nvPr/>
        </p:nvGrpSpPr>
        <p:grpSpPr bwMode="auto">
          <a:xfrm>
            <a:off x="3962400" y="1066800"/>
            <a:ext cx="822325" cy="609600"/>
            <a:chOff x="2544" y="816"/>
            <a:chExt cx="518" cy="384"/>
          </a:xfrm>
        </p:grpSpPr>
        <p:grpSp>
          <p:nvGrpSpPr>
            <p:cNvPr id="114789" name="Group 124"/>
            <p:cNvGrpSpPr>
              <a:grpSpLocks/>
            </p:cNvGrpSpPr>
            <p:nvPr/>
          </p:nvGrpSpPr>
          <p:grpSpPr bwMode="auto">
            <a:xfrm>
              <a:off x="2736" y="816"/>
              <a:ext cx="326" cy="380"/>
              <a:chOff x="2719" y="857"/>
              <a:chExt cx="326" cy="380"/>
            </a:xfrm>
          </p:grpSpPr>
          <p:sp>
            <p:nvSpPr>
              <p:cNvPr id="114791" name="Text Box 125"/>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b1</a:t>
                </a:r>
                <a:endParaRPr lang="en-US" altLang="zh-CN" i="1">
                  <a:ea typeface="方正琥珀繁体"/>
                  <a:cs typeface="方正琥珀繁体"/>
                </a:endParaRPr>
              </a:p>
            </p:txBody>
          </p:sp>
          <p:sp>
            <p:nvSpPr>
              <p:cNvPr id="114792" name="Text Box 126"/>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4790" name="Text Box 127"/>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1</a:t>
              </a:r>
            </a:p>
          </p:txBody>
        </p:sp>
      </p:grpSp>
      <p:grpSp>
        <p:nvGrpSpPr>
          <p:cNvPr id="114718" name="Group 128"/>
          <p:cNvGrpSpPr>
            <a:grpSpLocks/>
          </p:cNvGrpSpPr>
          <p:nvPr/>
        </p:nvGrpSpPr>
        <p:grpSpPr bwMode="auto">
          <a:xfrm>
            <a:off x="609600" y="1798638"/>
            <a:ext cx="461963" cy="627062"/>
            <a:chOff x="748" y="2016"/>
            <a:chExt cx="291" cy="395"/>
          </a:xfrm>
        </p:grpSpPr>
        <p:sp>
          <p:nvSpPr>
            <p:cNvPr id="114787" name="Text Box 129"/>
            <p:cNvSpPr txBox="1">
              <a:spLocks noChangeArrowheads="1"/>
            </p:cNvSpPr>
            <p:nvPr/>
          </p:nvSpPr>
          <p:spPr bwMode="auto">
            <a:xfrm>
              <a:off x="748" y="2123"/>
              <a:ext cx="291" cy="288"/>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i</a:t>
              </a:r>
              <a:endParaRPr lang="en-US" altLang="zh-CN" i="1">
                <a:solidFill>
                  <a:schemeClr val="accent2"/>
                </a:solidFill>
                <a:ea typeface="方正琥珀繁体"/>
                <a:cs typeface="方正琥珀繁体"/>
              </a:endParaRPr>
            </a:p>
          </p:txBody>
        </p:sp>
        <p:sp>
          <p:nvSpPr>
            <p:cNvPr id="114788" name="Text Box 130"/>
            <p:cNvSpPr txBox="1">
              <a:spLocks noChangeArrowheads="1"/>
            </p:cNvSpPr>
            <p:nvPr/>
          </p:nvSpPr>
          <p:spPr bwMode="auto">
            <a:xfrm>
              <a:off x="800" y="2016"/>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grpSp>
        <p:nvGrpSpPr>
          <p:cNvPr id="114719" name="Group 131"/>
          <p:cNvGrpSpPr>
            <a:grpSpLocks/>
          </p:cNvGrpSpPr>
          <p:nvPr/>
        </p:nvGrpSpPr>
        <p:grpSpPr bwMode="auto">
          <a:xfrm>
            <a:off x="0" y="2255838"/>
            <a:ext cx="484188" cy="661987"/>
            <a:chOff x="30" y="3232"/>
            <a:chExt cx="305" cy="357"/>
          </a:xfrm>
        </p:grpSpPr>
        <p:sp>
          <p:nvSpPr>
            <p:cNvPr id="114785" name="Text Box 132"/>
            <p:cNvSpPr txBox="1">
              <a:spLocks noChangeArrowheads="1"/>
            </p:cNvSpPr>
            <p:nvPr/>
          </p:nvSpPr>
          <p:spPr bwMode="auto">
            <a:xfrm>
              <a:off x="30" y="3342"/>
              <a:ext cx="305" cy="247"/>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U</a:t>
              </a:r>
              <a:r>
                <a:rPr lang="en-US" altLang="zh-CN" baseline="-25000">
                  <a:ea typeface="方正琥珀繁体"/>
                  <a:cs typeface="方正琥珀繁体"/>
                </a:rPr>
                <a:t>s</a:t>
              </a:r>
              <a:endParaRPr lang="en-US" altLang="zh-CN" i="1">
                <a:ea typeface="方正琥珀繁体"/>
                <a:cs typeface="方正琥珀繁体"/>
              </a:endParaRPr>
            </a:p>
          </p:txBody>
        </p:sp>
        <p:sp>
          <p:nvSpPr>
            <p:cNvPr id="114786" name="Text Box 133"/>
            <p:cNvSpPr txBox="1">
              <a:spLocks noChangeArrowheads="1"/>
            </p:cNvSpPr>
            <p:nvPr/>
          </p:nvSpPr>
          <p:spPr bwMode="auto">
            <a:xfrm>
              <a:off x="78" y="3232"/>
              <a:ext cx="166" cy="198"/>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4720" name="Line 134"/>
          <p:cNvSpPr>
            <a:spLocks noChangeShapeType="1"/>
          </p:cNvSpPr>
          <p:nvPr/>
        </p:nvSpPr>
        <p:spPr bwMode="auto">
          <a:xfrm>
            <a:off x="2400300" y="1112838"/>
            <a:ext cx="0" cy="2070100"/>
          </a:xfrm>
          <a:prstGeom prst="line">
            <a:avLst/>
          </a:prstGeom>
          <a:noFill/>
          <a:ln w="38100">
            <a:solidFill>
              <a:srgbClr val="000000"/>
            </a:solidFill>
            <a:round/>
            <a:headEnd/>
            <a:tailEnd type="none" w="med" len="lg"/>
          </a:ln>
        </p:spPr>
        <p:txBody>
          <a:bodyPr wrap="none" anchor="ctr"/>
          <a:lstStyle/>
          <a:p>
            <a:endParaRPr lang="zh-CN" altLang="en-US"/>
          </a:p>
        </p:txBody>
      </p:sp>
      <p:sp>
        <p:nvSpPr>
          <p:cNvPr id="114721" name="Line 135"/>
          <p:cNvSpPr>
            <a:spLocks noChangeShapeType="1"/>
          </p:cNvSpPr>
          <p:nvPr/>
        </p:nvSpPr>
        <p:spPr bwMode="auto">
          <a:xfrm flipH="1">
            <a:off x="4789488" y="1143000"/>
            <a:ext cx="11112" cy="2057400"/>
          </a:xfrm>
          <a:prstGeom prst="line">
            <a:avLst/>
          </a:prstGeom>
          <a:noFill/>
          <a:ln w="38100">
            <a:solidFill>
              <a:srgbClr val="000000"/>
            </a:solidFill>
            <a:round/>
            <a:headEnd/>
            <a:tailEnd type="none" w="med" len="lg"/>
          </a:ln>
        </p:spPr>
        <p:txBody>
          <a:bodyPr wrap="none" anchor="ctr"/>
          <a:lstStyle/>
          <a:p>
            <a:endParaRPr lang="zh-CN" altLang="en-US"/>
          </a:p>
        </p:txBody>
      </p:sp>
      <p:sp>
        <p:nvSpPr>
          <p:cNvPr id="114722" name="Line 136"/>
          <p:cNvSpPr>
            <a:spLocks noChangeShapeType="1"/>
          </p:cNvSpPr>
          <p:nvPr/>
        </p:nvSpPr>
        <p:spPr bwMode="auto">
          <a:xfrm>
            <a:off x="7772400" y="1143000"/>
            <a:ext cx="7938" cy="2079625"/>
          </a:xfrm>
          <a:prstGeom prst="line">
            <a:avLst/>
          </a:prstGeom>
          <a:noFill/>
          <a:ln w="38100">
            <a:solidFill>
              <a:srgbClr val="000000"/>
            </a:solidFill>
            <a:round/>
            <a:headEnd/>
            <a:tailEnd type="none" w="med" len="lg"/>
          </a:ln>
        </p:spPr>
        <p:txBody>
          <a:bodyPr wrap="none" anchor="ctr"/>
          <a:lstStyle/>
          <a:p>
            <a:endParaRPr lang="zh-CN" altLang="en-US"/>
          </a:p>
        </p:txBody>
      </p:sp>
      <p:sp>
        <p:nvSpPr>
          <p:cNvPr id="114723" name="Text Box 137"/>
          <p:cNvSpPr txBox="1">
            <a:spLocks noChangeArrowheads="1"/>
          </p:cNvSpPr>
          <p:nvPr/>
        </p:nvSpPr>
        <p:spPr bwMode="auto">
          <a:xfrm>
            <a:off x="4114800" y="2057400"/>
            <a:ext cx="652463"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C1</a:t>
            </a:r>
          </a:p>
        </p:txBody>
      </p:sp>
      <p:sp>
        <p:nvSpPr>
          <p:cNvPr id="114724" name="Rectangle 138"/>
          <p:cNvSpPr>
            <a:spLocks noChangeArrowheads="1"/>
          </p:cNvSpPr>
          <p:nvPr/>
        </p:nvSpPr>
        <p:spPr bwMode="auto">
          <a:xfrm>
            <a:off x="4724400" y="1981200"/>
            <a:ext cx="152400" cy="457200"/>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4725" name="Text Box 139"/>
          <p:cNvSpPr txBox="1">
            <a:spLocks noChangeArrowheads="1"/>
          </p:cNvSpPr>
          <p:nvPr/>
        </p:nvSpPr>
        <p:spPr bwMode="auto">
          <a:xfrm>
            <a:off x="7772400" y="1905000"/>
            <a:ext cx="685800"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L</a:t>
            </a:r>
          </a:p>
        </p:txBody>
      </p:sp>
      <p:sp>
        <p:nvSpPr>
          <p:cNvPr id="114726" name="Rectangle 140"/>
          <p:cNvSpPr>
            <a:spLocks noChangeArrowheads="1"/>
          </p:cNvSpPr>
          <p:nvPr/>
        </p:nvSpPr>
        <p:spPr bwMode="auto">
          <a:xfrm>
            <a:off x="7696200" y="1905000"/>
            <a:ext cx="152400" cy="457200"/>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4727" name="Text Box 141"/>
          <p:cNvSpPr txBox="1">
            <a:spLocks noChangeArrowheads="1"/>
          </p:cNvSpPr>
          <p:nvPr/>
        </p:nvSpPr>
        <p:spPr bwMode="auto">
          <a:xfrm>
            <a:off x="1676400" y="1828800"/>
            <a:ext cx="762000"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B2</a:t>
            </a:r>
          </a:p>
        </p:txBody>
      </p:sp>
      <p:sp>
        <p:nvSpPr>
          <p:cNvPr id="114728" name="Rectangle 142"/>
          <p:cNvSpPr>
            <a:spLocks noChangeArrowheads="1"/>
          </p:cNvSpPr>
          <p:nvPr/>
        </p:nvSpPr>
        <p:spPr bwMode="auto">
          <a:xfrm>
            <a:off x="2324100" y="1874838"/>
            <a:ext cx="152400" cy="457200"/>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4729" name="Rectangle 143"/>
          <p:cNvSpPr>
            <a:spLocks noChangeArrowheads="1"/>
          </p:cNvSpPr>
          <p:nvPr/>
        </p:nvSpPr>
        <p:spPr bwMode="auto">
          <a:xfrm>
            <a:off x="563563" y="1447800"/>
            <a:ext cx="152400" cy="381000"/>
          </a:xfrm>
          <a:prstGeom prst="rect">
            <a:avLst/>
          </a:prstGeom>
          <a:solidFill>
            <a:srgbClr val="FFFFCC"/>
          </a:solidFill>
          <a:ln w="38100">
            <a:solidFill>
              <a:srgbClr val="FF3300"/>
            </a:solidFill>
            <a:miter lim="800000"/>
            <a:headEnd/>
            <a:tailEnd/>
          </a:ln>
        </p:spPr>
        <p:txBody>
          <a:bodyPr wrap="none" anchor="ctr"/>
          <a:lstStyle/>
          <a:p>
            <a:pPr algn="ctr" eaLnBrk="1" hangingPunct="1"/>
            <a:endParaRPr lang="zh-CN" altLang="en-US"/>
          </a:p>
        </p:txBody>
      </p:sp>
      <p:sp>
        <p:nvSpPr>
          <p:cNvPr id="114730" name="Text Box 144"/>
          <p:cNvSpPr txBox="1">
            <a:spLocks noChangeArrowheads="1"/>
          </p:cNvSpPr>
          <p:nvPr/>
        </p:nvSpPr>
        <p:spPr bwMode="auto">
          <a:xfrm>
            <a:off x="114300" y="1341438"/>
            <a:ext cx="517525" cy="457200"/>
          </a:xfrm>
          <a:prstGeom prst="rect">
            <a:avLst/>
          </a:prstGeom>
          <a:noFill/>
          <a:ln w="9525">
            <a:noFill/>
            <a:miter lim="800000"/>
            <a:headEnd/>
            <a:tailEnd/>
          </a:ln>
        </p:spPr>
        <p:txBody>
          <a:bodyPr>
            <a:spAutoFit/>
          </a:bodyPr>
          <a:lstStyle/>
          <a:p>
            <a:pPr algn="ctr" eaLnBrk="1" hangingPunct="1"/>
            <a:r>
              <a:rPr lang="en-US" altLang="zh-CN"/>
              <a:t>R</a:t>
            </a:r>
            <a:r>
              <a:rPr lang="en-US" altLang="zh-CN" baseline="-25000"/>
              <a:t>S</a:t>
            </a:r>
          </a:p>
        </p:txBody>
      </p:sp>
      <p:sp>
        <p:nvSpPr>
          <p:cNvPr id="114731" name="Rectangle 145"/>
          <p:cNvSpPr>
            <a:spLocks noChangeArrowheads="1"/>
          </p:cNvSpPr>
          <p:nvPr/>
        </p:nvSpPr>
        <p:spPr bwMode="auto">
          <a:xfrm>
            <a:off x="266700" y="2057400"/>
            <a:ext cx="387350" cy="519113"/>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rPr>
              <a:t>+</a:t>
            </a:r>
          </a:p>
        </p:txBody>
      </p:sp>
      <p:sp>
        <p:nvSpPr>
          <p:cNvPr id="114732" name="Rectangle 146"/>
          <p:cNvSpPr>
            <a:spLocks noChangeArrowheads="1"/>
          </p:cNvSpPr>
          <p:nvPr/>
        </p:nvSpPr>
        <p:spPr bwMode="auto">
          <a:xfrm>
            <a:off x="266700" y="2743200"/>
            <a:ext cx="379413" cy="519113"/>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rgbClr val="FF3300"/>
                </a:solidFill>
                <a:sym typeface="Symbol" pitchFamily="18" charset="2"/>
              </a:rPr>
              <a:t></a:t>
            </a:r>
          </a:p>
        </p:txBody>
      </p:sp>
      <p:sp>
        <p:nvSpPr>
          <p:cNvPr id="114733" name="Rectangle 147"/>
          <p:cNvSpPr>
            <a:spLocks noChangeArrowheads="1"/>
          </p:cNvSpPr>
          <p:nvPr/>
        </p:nvSpPr>
        <p:spPr bwMode="auto">
          <a:xfrm>
            <a:off x="3124200" y="1905000"/>
            <a:ext cx="152400" cy="501650"/>
          </a:xfrm>
          <a:prstGeom prst="rect">
            <a:avLst/>
          </a:prstGeom>
          <a:solidFill>
            <a:srgbClr val="FFFFCC"/>
          </a:solidFill>
          <a:ln w="38100">
            <a:solidFill>
              <a:srgbClr val="A50021"/>
            </a:solidFill>
            <a:miter lim="800000"/>
            <a:headEnd/>
            <a:tailEnd/>
          </a:ln>
        </p:spPr>
        <p:txBody>
          <a:bodyPr wrap="none" anchor="ctr"/>
          <a:lstStyle/>
          <a:p>
            <a:pPr algn="ctr" eaLnBrk="1" hangingPunct="1"/>
            <a:endParaRPr lang="zh-CN" altLang="en-US"/>
          </a:p>
        </p:txBody>
      </p:sp>
      <p:grpSp>
        <p:nvGrpSpPr>
          <p:cNvPr id="114734" name="Group 148"/>
          <p:cNvGrpSpPr>
            <a:grpSpLocks/>
          </p:cNvGrpSpPr>
          <p:nvPr/>
        </p:nvGrpSpPr>
        <p:grpSpPr bwMode="auto">
          <a:xfrm>
            <a:off x="3733800" y="1752600"/>
            <a:ext cx="457200" cy="762000"/>
            <a:chOff x="2496" y="2880"/>
            <a:chExt cx="288" cy="480"/>
          </a:xfrm>
        </p:grpSpPr>
        <p:sp>
          <p:nvSpPr>
            <p:cNvPr id="114783" name="Freeform 149"/>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4784" name="Line 150"/>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4735" name="Line 151"/>
          <p:cNvSpPr>
            <a:spLocks noChangeShapeType="1"/>
          </p:cNvSpPr>
          <p:nvPr/>
        </p:nvSpPr>
        <p:spPr bwMode="auto">
          <a:xfrm>
            <a:off x="3543300" y="3170238"/>
            <a:ext cx="0" cy="228600"/>
          </a:xfrm>
          <a:prstGeom prst="line">
            <a:avLst/>
          </a:prstGeom>
          <a:noFill/>
          <a:ln w="38100">
            <a:solidFill>
              <a:schemeClr val="tx1"/>
            </a:solidFill>
            <a:round/>
            <a:headEnd/>
            <a:tailEnd type="none" w="sm" len="lg"/>
          </a:ln>
        </p:spPr>
        <p:txBody>
          <a:bodyPr anchor="ctr">
            <a:spAutoFit/>
          </a:bodyPr>
          <a:lstStyle/>
          <a:p>
            <a:endParaRPr lang="zh-CN" altLang="en-US"/>
          </a:p>
        </p:txBody>
      </p:sp>
      <p:sp>
        <p:nvSpPr>
          <p:cNvPr id="114736" name="Line 152"/>
          <p:cNvSpPr>
            <a:spLocks noChangeShapeType="1"/>
          </p:cNvSpPr>
          <p:nvPr/>
        </p:nvSpPr>
        <p:spPr bwMode="auto">
          <a:xfrm>
            <a:off x="1638300" y="1112838"/>
            <a:ext cx="0" cy="2070100"/>
          </a:xfrm>
          <a:prstGeom prst="line">
            <a:avLst/>
          </a:prstGeom>
          <a:noFill/>
          <a:ln w="38100">
            <a:solidFill>
              <a:srgbClr val="000000"/>
            </a:solidFill>
            <a:round/>
            <a:headEnd/>
            <a:tailEnd type="none" w="med" len="lg"/>
          </a:ln>
        </p:spPr>
        <p:txBody>
          <a:bodyPr wrap="none" anchor="ctr"/>
          <a:lstStyle/>
          <a:p>
            <a:endParaRPr lang="zh-CN" altLang="en-US"/>
          </a:p>
        </p:txBody>
      </p:sp>
      <p:sp>
        <p:nvSpPr>
          <p:cNvPr id="114737" name="Text Box 153"/>
          <p:cNvSpPr txBox="1">
            <a:spLocks noChangeArrowheads="1"/>
          </p:cNvSpPr>
          <p:nvPr/>
        </p:nvSpPr>
        <p:spPr bwMode="auto">
          <a:xfrm>
            <a:off x="914400" y="1828800"/>
            <a:ext cx="838200"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B1</a:t>
            </a:r>
          </a:p>
        </p:txBody>
      </p:sp>
      <p:sp>
        <p:nvSpPr>
          <p:cNvPr id="114738" name="Rectangle 154"/>
          <p:cNvSpPr>
            <a:spLocks noChangeArrowheads="1"/>
          </p:cNvSpPr>
          <p:nvPr/>
        </p:nvSpPr>
        <p:spPr bwMode="auto">
          <a:xfrm>
            <a:off x="1562100" y="1874838"/>
            <a:ext cx="152400" cy="457200"/>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4739" name="Line 155"/>
          <p:cNvSpPr>
            <a:spLocks noChangeShapeType="1"/>
          </p:cNvSpPr>
          <p:nvPr/>
        </p:nvSpPr>
        <p:spPr bwMode="auto">
          <a:xfrm flipV="1">
            <a:off x="638175" y="1133475"/>
            <a:ext cx="2590800" cy="0"/>
          </a:xfrm>
          <a:prstGeom prst="line">
            <a:avLst/>
          </a:prstGeom>
          <a:noFill/>
          <a:ln w="38100">
            <a:solidFill>
              <a:schemeClr val="tx1"/>
            </a:solidFill>
            <a:round/>
            <a:headEnd/>
            <a:tailEnd type="none" w="sm" len="lg"/>
          </a:ln>
        </p:spPr>
        <p:txBody>
          <a:bodyPr/>
          <a:lstStyle/>
          <a:p>
            <a:endParaRPr lang="zh-CN" altLang="en-US"/>
          </a:p>
        </p:txBody>
      </p:sp>
      <p:sp>
        <p:nvSpPr>
          <p:cNvPr id="114740" name="Line 156"/>
          <p:cNvSpPr>
            <a:spLocks noChangeShapeType="1"/>
          </p:cNvSpPr>
          <p:nvPr/>
        </p:nvSpPr>
        <p:spPr bwMode="auto">
          <a:xfrm>
            <a:off x="5105400" y="609600"/>
            <a:ext cx="0" cy="3124200"/>
          </a:xfrm>
          <a:prstGeom prst="line">
            <a:avLst/>
          </a:prstGeom>
          <a:noFill/>
          <a:ln w="28575">
            <a:solidFill>
              <a:srgbClr val="FF3300"/>
            </a:solidFill>
            <a:prstDash val="dashDot"/>
            <a:round/>
            <a:headEnd/>
            <a:tailEnd type="none" w="sm" len="lg"/>
          </a:ln>
        </p:spPr>
        <p:txBody>
          <a:bodyPr/>
          <a:lstStyle/>
          <a:p>
            <a:endParaRPr lang="zh-CN" altLang="en-US"/>
          </a:p>
        </p:txBody>
      </p:sp>
      <p:sp>
        <p:nvSpPr>
          <p:cNvPr id="114741" name="Rectangle 157"/>
          <p:cNvSpPr>
            <a:spLocks noChangeArrowheads="1"/>
          </p:cNvSpPr>
          <p:nvPr/>
        </p:nvSpPr>
        <p:spPr bwMode="auto">
          <a:xfrm>
            <a:off x="6172200" y="1066800"/>
            <a:ext cx="533400" cy="152400"/>
          </a:xfrm>
          <a:prstGeom prst="rect">
            <a:avLst/>
          </a:prstGeom>
          <a:solidFill>
            <a:srgbClr val="FFFFCC"/>
          </a:solidFill>
          <a:ln w="38100">
            <a:solidFill>
              <a:srgbClr val="993300"/>
            </a:solidFill>
            <a:miter lim="800000"/>
            <a:headEnd/>
            <a:tailEnd type="none" w="sm" len="lg"/>
          </a:ln>
        </p:spPr>
        <p:txBody>
          <a:bodyPr wrap="none" anchor="ctr"/>
          <a:lstStyle/>
          <a:p>
            <a:pPr algn="ctr" eaLnBrk="1" hangingPunct="1"/>
            <a:endParaRPr lang="zh-CN" altLang="zh-CN"/>
          </a:p>
        </p:txBody>
      </p:sp>
      <p:grpSp>
        <p:nvGrpSpPr>
          <p:cNvPr id="114742" name="Group 158"/>
          <p:cNvGrpSpPr>
            <a:grpSpLocks/>
          </p:cNvGrpSpPr>
          <p:nvPr/>
        </p:nvGrpSpPr>
        <p:grpSpPr bwMode="auto">
          <a:xfrm>
            <a:off x="6705600" y="1828800"/>
            <a:ext cx="457200" cy="762000"/>
            <a:chOff x="2496" y="2880"/>
            <a:chExt cx="288" cy="480"/>
          </a:xfrm>
        </p:grpSpPr>
        <p:sp>
          <p:nvSpPr>
            <p:cNvPr id="114781" name="Freeform 159"/>
            <p:cNvSpPr>
              <a:spLocks/>
            </p:cNvSpPr>
            <p:nvPr/>
          </p:nvSpPr>
          <p:spPr bwMode="auto">
            <a:xfrm>
              <a:off x="2496" y="2880"/>
              <a:ext cx="288" cy="480"/>
            </a:xfrm>
            <a:custGeom>
              <a:avLst/>
              <a:gdLst>
                <a:gd name="T0" fmla="*/ 144 w 288"/>
                <a:gd name="T1" fmla="*/ 0 h 480"/>
                <a:gd name="T2" fmla="*/ 0 w 288"/>
                <a:gd name="T3" fmla="*/ 240 h 480"/>
                <a:gd name="T4" fmla="*/ 144 w 288"/>
                <a:gd name="T5" fmla="*/ 480 h 480"/>
                <a:gd name="T6" fmla="*/ 288 w 288"/>
                <a:gd name="T7" fmla="*/ 240 h 480"/>
                <a:gd name="T8" fmla="*/ 144 w 288"/>
                <a:gd name="T9" fmla="*/ 0 h 480"/>
                <a:gd name="T10" fmla="*/ 0 60000 65536"/>
                <a:gd name="T11" fmla="*/ 0 60000 65536"/>
                <a:gd name="T12" fmla="*/ 0 60000 65536"/>
                <a:gd name="T13" fmla="*/ 0 60000 65536"/>
                <a:gd name="T14" fmla="*/ 0 60000 65536"/>
                <a:gd name="T15" fmla="*/ 0 w 288"/>
                <a:gd name="T16" fmla="*/ 0 h 480"/>
                <a:gd name="T17" fmla="*/ 288 w 288"/>
                <a:gd name="T18" fmla="*/ 480 h 480"/>
              </a:gdLst>
              <a:ahLst/>
              <a:cxnLst>
                <a:cxn ang="T10">
                  <a:pos x="T0" y="T1"/>
                </a:cxn>
                <a:cxn ang="T11">
                  <a:pos x="T2" y="T3"/>
                </a:cxn>
                <a:cxn ang="T12">
                  <a:pos x="T4" y="T5"/>
                </a:cxn>
                <a:cxn ang="T13">
                  <a:pos x="T6" y="T7"/>
                </a:cxn>
                <a:cxn ang="T14">
                  <a:pos x="T8" y="T9"/>
                </a:cxn>
              </a:cxnLst>
              <a:rect l="T15" t="T16" r="T17" b="T18"/>
              <a:pathLst>
                <a:path w="288" h="480">
                  <a:moveTo>
                    <a:pt x="144" y="0"/>
                  </a:moveTo>
                  <a:lnTo>
                    <a:pt x="0" y="240"/>
                  </a:lnTo>
                  <a:lnTo>
                    <a:pt x="144" y="480"/>
                  </a:lnTo>
                  <a:lnTo>
                    <a:pt x="288" y="240"/>
                  </a:lnTo>
                  <a:lnTo>
                    <a:pt x="144" y="0"/>
                  </a:lnTo>
                  <a:close/>
                </a:path>
              </a:pathLst>
            </a:custGeom>
            <a:solidFill>
              <a:srgbClr val="FFFFCC"/>
            </a:solidFill>
            <a:ln w="28575">
              <a:solidFill>
                <a:srgbClr val="A50021"/>
              </a:solidFill>
              <a:round/>
              <a:headEnd/>
              <a:tailEnd type="none" w="sm" len="lg"/>
            </a:ln>
          </p:spPr>
          <p:txBody>
            <a:bodyPr wrap="none" anchor="ctr">
              <a:spAutoFit/>
            </a:bodyPr>
            <a:lstStyle/>
            <a:p>
              <a:endParaRPr lang="zh-CN" altLang="en-US"/>
            </a:p>
          </p:txBody>
        </p:sp>
        <p:sp>
          <p:nvSpPr>
            <p:cNvPr id="114782" name="Line 160"/>
            <p:cNvSpPr>
              <a:spLocks noChangeShapeType="1"/>
            </p:cNvSpPr>
            <p:nvPr/>
          </p:nvSpPr>
          <p:spPr bwMode="auto">
            <a:xfrm>
              <a:off x="2496" y="3120"/>
              <a:ext cx="288" cy="0"/>
            </a:xfrm>
            <a:prstGeom prst="line">
              <a:avLst/>
            </a:prstGeom>
            <a:noFill/>
            <a:ln w="38100">
              <a:solidFill>
                <a:srgbClr val="A50021"/>
              </a:solidFill>
              <a:round/>
              <a:headEnd/>
              <a:tailEnd type="none" w="sm" len="lg"/>
            </a:ln>
          </p:spPr>
          <p:txBody>
            <a:bodyPr wrap="none" anchor="ctr">
              <a:spAutoFit/>
            </a:bodyPr>
            <a:lstStyle/>
            <a:p>
              <a:endParaRPr lang="zh-CN" altLang="en-US"/>
            </a:p>
          </p:txBody>
        </p:sp>
      </p:grpSp>
      <p:sp>
        <p:nvSpPr>
          <p:cNvPr id="114743" name="Line 161"/>
          <p:cNvSpPr>
            <a:spLocks noChangeShapeType="1"/>
          </p:cNvSpPr>
          <p:nvPr/>
        </p:nvSpPr>
        <p:spPr bwMode="auto">
          <a:xfrm>
            <a:off x="5943600" y="1143000"/>
            <a:ext cx="0" cy="2057400"/>
          </a:xfrm>
          <a:prstGeom prst="line">
            <a:avLst/>
          </a:prstGeom>
          <a:noFill/>
          <a:ln w="38100">
            <a:solidFill>
              <a:srgbClr val="000000"/>
            </a:solidFill>
            <a:round/>
            <a:headEnd/>
            <a:tailEnd type="none" w="med" len="lg"/>
          </a:ln>
        </p:spPr>
        <p:txBody>
          <a:bodyPr wrap="none" anchor="ctr"/>
          <a:lstStyle/>
          <a:p>
            <a:endParaRPr lang="zh-CN" altLang="en-US"/>
          </a:p>
        </p:txBody>
      </p:sp>
      <p:sp>
        <p:nvSpPr>
          <p:cNvPr id="114744" name="Rectangle 162"/>
          <p:cNvSpPr>
            <a:spLocks noChangeArrowheads="1"/>
          </p:cNvSpPr>
          <p:nvPr/>
        </p:nvSpPr>
        <p:spPr bwMode="auto">
          <a:xfrm>
            <a:off x="5867400" y="1981200"/>
            <a:ext cx="152400" cy="457200"/>
          </a:xfrm>
          <a:prstGeom prst="rect">
            <a:avLst/>
          </a:prstGeom>
          <a:solidFill>
            <a:schemeClr val="accent1"/>
          </a:solidFill>
          <a:ln w="38100">
            <a:solidFill>
              <a:schemeClr val="tx1"/>
            </a:solidFill>
            <a:miter lim="800000"/>
            <a:headEnd/>
            <a:tailEnd/>
          </a:ln>
        </p:spPr>
        <p:txBody>
          <a:bodyPr wrap="none" anchor="ctr"/>
          <a:lstStyle/>
          <a:p>
            <a:pPr algn="ctr" eaLnBrk="1" hangingPunct="1"/>
            <a:endParaRPr lang="zh-CN" altLang="en-US"/>
          </a:p>
        </p:txBody>
      </p:sp>
      <p:sp>
        <p:nvSpPr>
          <p:cNvPr id="114745" name="Text Box 163"/>
          <p:cNvSpPr txBox="1">
            <a:spLocks noChangeArrowheads="1"/>
          </p:cNvSpPr>
          <p:nvPr/>
        </p:nvSpPr>
        <p:spPr bwMode="auto">
          <a:xfrm>
            <a:off x="5867400" y="1981200"/>
            <a:ext cx="838200"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B3</a:t>
            </a:r>
          </a:p>
        </p:txBody>
      </p:sp>
      <p:sp>
        <p:nvSpPr>
          <p:cNvPr id="114746" name="Text Box 164"/>
          <p:cNvSpPr txBox="1">
            <a:spLocks noChangeArrowheads="1"/>
          </p:cNvSpPr>
          <p:nvPr/>
        </p:nvSpPr>
        <p:spPr bwMode="auto">
          <a:xfrm>
            <a:off x="6096000" y="1066800"/>
            <a:ext cx="838200" cy="519113"/>
          </a:xfrm>
          <a:prstGeom prst="rect">
            <a:avLst/>
          </a:prstGeom>
          <a:noFill/>
          <a:ln w="9525">
            <a:noFill/>
            <a:miter lim="800000"/>
            <a:headEnd/>
            <a:tailEnd/>
          </a:ln>
        </p:spPr>
        <p:txBody>
          <a:bodyPr anchor="ctr">
            <a:spAutoFit/>
          </a:bodyPr>
          <a:lstStyle/>
          <a:p>
            <a:pPr algn="ctr" eaLnBrk="1" hangingPunct="1"/>
            <a:r>
              <a:rPr lang="en-US" altLang="zh-CN" i="1">
                <a:solidFill>
                  <a:srgbClr val="A50021"/>
                </a:solidFill>
                <a:ea typeface="方正琥珀繁体"/>
                <a:cs typeface="方正琥珀繁体"/>
              </a:rPr>
              <a:t>r</a:t>
            </a:r>
            <a:r>
              <a:rPr lang="en-US" altLang="zh-CN" baseline="-25000">
                <a:solidFill>
                  <a:srgbClr val="A50021"/>
                </a:solidFill>
                <a:ea typeface="方正琥珀繁体"/>
                <a:cs typeface="方正琥珀繁体"/>
              </a:rPr>
              <a:t>be2</a:t>
            </a:r>
            <a:r>
              <a:rPr lang="en-US" altLang="zh-CN" i="1">
                <a:solidFill>
                  <a:srgbClr val="A50021"/>
                </a:solidFill>
                <a:ea typeface="方正琥珀繁体"/>
                <a:cs typeface="方正琥珀繁体"/>
              </a:rPr>
              <a:t> </a:t>
            </a:r>
          </a:p>
        </p:txBody>
      </p:sp>
      <p:sp>
        <p:nvSpPr>
          <p:cNvPr id="114747" name="Line 165"/>
          <p:cNvSpPr>
            <a:spLocks noChangeShapeType="1"/>
          </p:cNvSpPr>
          <p:nvPr/>
        </p:nvSpPr>
        <p:spPr bwMode="auto">
          <a:xfrm flipV="1">
            <a:off x="7010400" y="1219200"/>
            <a:ext cx="0" cy="609600"/>
          </a:xfrm>
          <a:prstGeom prst="line">
            <a:avLst/>
          </a:prstGeom>
          <a:noFill/>
          <a:ln w="28575">
            <a:solidFill>
              <a:srgbClr val="FF3300"/>
            </a:solidFill>
            <a:round/>
            <a:headEnd/>
            <a:tailEnd type="triangle" w="sm" len="lg"/>
          </a:ln>
        </p:spPr>
        <p:txBody>
          <a:bodyPr wrap="none" anchor="ctr"/>
          <a:lstStyle/>
          <a:p>
            <a:endParaRPr lang="zh-CN" altLang="en-US"/>
          </a:p>
        </p:txBody>
      </p:sp>
      <p:sp>
        <p:nvSpPr>
          <p:cNvPr id="114748" name="Line 166"/>
          <p:cNvSpPr>
            <a:spLocks noChangeShapeType="1"/>
          </p:cNvSpPr>
          <p:nvPr/>
        </p:nvSpPr>
        <p:spPr bwMode="auto">
          <a:xfrm>
            <a:off x="6096000" y="990600"/>
            <a:ext cx="762000" cy="0"/>
          </a:xfrm>
          <a:prstGeom prst="line">
            <a:avLst/>
          </a:prstGeom>
          <a:noFill/>
          <a:ln w="28575">
            <a:solidFill>
              <a:srgbClr val="FF3300"/>
            </a:solidFill>
            <a:round/>
            <a:headEnd/>
            <a:tailEnd type="stealth" w="sm" len="lg"/>
          </a:ln>
        </p:spPr>
        <p:txBody>
          <a:bodyPr/>
          <a:lstStyle/>
          <a:p>
            <a:endParaRPr lang="zh-CN" altLang="en-US"/>
          </a:p>
        </p:txBody>
      </p:sp>
      <p:grpSp>
        <p:nvGrpSpPr>
          <p:cNvPr id="114749" name="Group 167"/>
          <p:cNvGrpSpPr>
            <a:grpSpLocks/>
          </p:cNvGrpSpPr>
          <p:nvPr/>
        </p:nvGrpSpPr>
        <p:grpSpPr bwMode="auto">
          <a:xfrm>
            <a:off x="6934200" y="1066800"/>
            <a:ext cx="822325" cy="609600"/>
            <a:chOff x="2544" y="816"/>
            <a:chExt cx="518" cy="384"/>
          </a:xfrm>
        </p:grpSpPr>
        <p:grpSp>
          <p:nvGrpSpPr>
            <p:cNvPr id="114777" name="Group 168"/>
            <p:cNvGrpSpPr>
              <a:grpSpLocks/>
            </p:cNvGrpSpPr>
            <p:nvPr/>
          </p:nvGrpSpPr>
          <p:grpSpPr bwMode="auto">
            <a:xfrm>
              <a:off x="2736" y="816"/>
              <a:ext cx="326" cy="380"/>
              <a:chOff x="2719" y="857"/>
              <a:chExt cx="326" cy="380"/>
            </a:xfrm>
          </p:grpSpPr>
          <p:sp>
            <p:nvSpPr>
              <p:cNvPr id="114779" name="Text Box 169"/>
              <p:cNvSpPr txBox="1">
                <a:spLocks noChangeArrowheads="1"/>
              </p:cNvSpPr>
              <p:nvPr/>
            </p:nvSpPr>
            <p:spPr bwMode="auto">
              <a:xfrm>
                <a:off x="2719" y="949"/>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4780" name="Text Box 170"/>
              <p:cNvSpPr txBox="1">
                <a:spLocks noChangeArrowheads="1"/>
              </p:cNvSpPr>
              <p:nvPr/>
            </p:nvSpPr>
            <p:spPr bwMode="auto">
              <a:xfrm>
                <a:off x="2729" y="857"/>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sp>
          <p:nvSpPr>
            <p:cNvPr id="114778" name="Text Box 171"/>
            <p:cNvSpPr txBox="1">
              <a:spLocks noChangeArrowheads="1"/>
            </p:cNvSpPr>
            <p:nvPr/>
          </p:nvSpPr>
          <p:spPr bwMode="auto">
            <a:xfrm>
              <a:off x="2544" y="912"/>
              <a:ext cx="336" cy="288"/>
            </a:xfrm>
            <a:prstGeom prst="rect">
              <a:avLst/>
            </a:prstGeom>
            <a:noFill/>
            <a:ln w="28575">
              <a:noFill/>
              <a:miter lim="800000"/>
              <a:headEnd type="none" w="med" len="lg"/>
              <a:tailEnd type="none" w="med" len="lg"/>
            </a:ln>
          </p:spPr>
          <p:txBody>
            <a:bodyPr anchor="ctr">
              <a:spAutoFit/>
            </a:bodyPr>
            <a:lstStyle/>
            <a:p>
              <a:pPr algn="ctr"/>
              <a:r>
                <a:rPr lang="en-US" altLang="zh-CN" i="1">
                  <a:ea typeface="方正琥珀繁体"/>
                  <a:cs typeface="方正琥珀繁体"/>
                  <a:sym typeface="Symbol" pitchFamily="18" charset="2"/>
                </a:rPr>
                <a:t></a:t>
              </a:r>
              <a:r>
                <a:rPr lang="en-US" altLang="zh-CN" baseline="-25000">
                  <a:ea typeface="方正琥珀繁体"/>
                  <a:cs typeface="方正琥珀繁体"/>
                  <a:sym typeface="Symbol" pitchFamily="18" charset="2"/>
                </a:rPr>
                <a:t>2</a:t>
              </a:r>
            </a:p>
          </p:txBody>
        </p:sp>
      </p:grpSp>
      <p:sp>
        <p:nvSpPr>
          <p:cNvPr id="114750" name="Line 172"/>
          <p:cNvSpPr>
            <a:spLocks noChangeShapeType="1"/>
          </p:cNvSpPr>
          <p:nvPr/>
        </p:nvSpPr>
        <p:spPr bwMode="auto">
          <a:xfrm>
            <a:off x="5257800" y="1295400"/>
            <a:ext cx="0" cy="1600200"/>
          </a:xfrm>
          <a:prstGeom prst="line">
            <a:avLst/>
          </a:prstGeom>
          <a:noFill/>
          <a:ln w="28575">
            <a:solidFill>
              <a:schemeClr val="accent2"/>
            </a:solidFill>
            <a:round/>
            <a:headEnd/>
            <a:tailEnd type="stealth" w="sm" len="lg"/>
          </a:ln>
        </p:spPr>
        <p:txBody>
          <a:bodyPr wrap="none" anchor="ctr"/>
          <a:lstStyle/>
          <a:p>
            <a:endParaRPr lang="zh-CN" altLang="en-US"/>
          </a:p>
        </p:txBody>
      </p:sp>
      <p:grpSp>
        <p:nvGrpSpPr>
          <p:cNvPr id="114751" name="Group 173"/>
          <p:cNvGrpSpPr>
            <a:grpSpLocks/>
          </p:cNvGrpSpPr>
          <p:nvPr/>
        </p:nvGrpSpPr>
        <p:grpSpPr bwMode="auto">
          <a:xfrm>
            <a:off x="5257800" y="1905000"/>
            <a:ext cx="608013" cy="601663"/>
            <a:chOff x="3232" y="1401"/>
            <a:chExt cx="383" cy="390"/>
          </a:xfrm>
        </p:grpSpPr>
        <p:sp>
          <p:nvSpPr>
            <p:cNvPr id="114775" name="Text Box 174"/>
            <p:cNvSpPr txBox="1">
              <a:spLocks noChangeArrowheads="1"/>
            </p:cNvSpPr>
            <p:nvPr/>
          </p:nvSpPr>
          <p:spPr bwMode="auto">
            <a:xfrm>
              <a:off x="3232" y="1495"/>
              <a:ext cx="383" cy="296"/>
            </a:xfrm>
            <a:prstGeom prst="rect">
              <a:avLst/>
            </a:prstGeom>
            <a:noFill/>
            <a:ln w="9525">
              <a:noFill/>
              <a:miter lim="800000"/>
              <a:headEnd/>
              <a:tailEnd/>
            </a:ln>
          </p:spPr>
          <p:txBody>
            <a:bodyPr wrap="none" anchor="ctr">
              <a:spAutoFit/>
            </a:bodyPr>
            <a:lstStyle/>
            <a:p>
              <a:pPr algn="ctr" eaLnBrk="1" hangingPunct="1"/>
              <a:r>
                <a:rPr lang="en-US" altLang="zh-CN">
                  <a:solidFill>
                    <a:schemeClr val="accent2"/>
                  </a:solidFill>
                  <a:ea typeface="方正琥珀繁体"/>
                  <a:cs typeface="方正琥珀繁体"/>
                </a:rPr>
                <a:t>U</a:t>
              </a:r>
              <a:r>
                <a:rPr lang="en-US" altLang="zh-CN" baseline="-25000">
                  <a:solidFill>
                    <a:schemeClr val="accent2"/>
                  </a:solidFill>
                  <a:ea typeface="方正琥珀繁体"/>
                  <a:cs typeface="方正琥珀繁体"/>
                </a:rPr>
                <a:t>o1</a:t>
              </a:r>
              <a:endParaRPr lang="en-US" altLang="zh-CN" i="1">
                <a:solidFill>
                  <a:schemeClr val="accent2"/>
                </a:solidFill>
                <a:ea typeface="方正琥珀繁体"/>
                <a:cs typeface="方正琥珀繁体"/>
              </a:endParaRPr>
            </a:p>
          </p:txBody>
        </p:sp>
        <p:sp>
          <p:nvSpPr>
            <p:cNvPr id="114776" name="Text Box 175"/>
            <p:cNvSpPr txBox="1">
              <a:spLocks noChangeArrowheads="1"/>
            </p:cNvSpPr>
            <p:nvPr/>
          </p:nvSpPr>
          <p:spPr bwMode="auto">
            <a:xfrm>
              <a:off x="3282" y="1401"/>
              <a:ext cx="166" cy="238"/>
            </a:xfrm>
            <a:prstGeom prst="rect">
              <a:avLst/>
            </a:prstGeom>
            <a:noFill/>
            <a:ln w="28575">
              <a:noFill/>
              <a:miter lim="800000"/>
              <a:headEnd/>
              <a:tailEnd type="none" w="sm" len="lg"/>
            </a:ln>
          </p:spPr>
          <p:txBody>
            <a:bodyPr wrap="none" anchor="ctr">
              <a:spAutoFit/>
            </a:bodyPr>
            <a:lstStyle/>
            <a:p>
              <a:pPr algn="ctr" eaLnBrk="1" hangingPunct="1"/>
              <a:r>
                <a:rPr lang="en-US" altLang="zh-CN" sz="1800" i="1">
                  <a:solidFill>
                    <a:schemeClr val="accent2"/>
                  </a:solidFill>
                  <a:ea typeface="方正琥珀繁体"/>
                  <a:cs typeface="方正琥珀繁体"/>
                </a:rPr>
                <a:t>•</a:t>
              </a:r>
            </a:p>
          </p:txBody>
        </p:sp>
      </p:grpSp>
      <p:sp>
        <p:nvSpPr>
          <p:cNvPr id="114752" name="Text Box 176"/>
          <p:cNvSpPr txBox="1">
            <a:spLocks noChangeArrowheads="1"/>
          </p:cNvSpPr>
          <p:nvPr/>
        </p:nvSpPr>
        <p:spPr bwMode="auto">
          <a:xfrm>
            <a:off x="2590800" y="6858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1</a:t>
            </a:r>
          </a:p>
        </p:txBody>
      </p:sp>
      <p:sp>
        <p:nvSpPr>
          <p:cNvPr id="114753" name="Text Box 177"/>
          <p:cNvSpPr txBox="1">
            <a:spLocks noChangeArrowheads="1"/>
          </p:cNvSpPr>
          <p:nvPr/>
        </p:nvSpPr>
        <p:spPr bwMode="auto">
          <a:xfrm>
            <a:off x="4038600" y="6858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1</a:t>
            </a:r>
          </a:p>
        </p:txBody>
      </p:sp>
      <p:sp>
        <p:nvSpPr>
          <p:cNvPr id="114754" name="Text Box 178"/>
          <p:cNvSpPr txBox="1">
            <a:spLocks noChangeArrowheads="1"/>
          </p:cNvSpPr>
          <p:nvPr/>
        </p:nvSpPr>
        <p:spPr bwMode="auto">
          <a:xfrm>
            <a:off x="3276600" y="27432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1</a:t>
            </a:r>
          </a:p>
        </p:txBody>
      </p:sp>
      <p:sp>
        <p:nvSpPr>
          <p:cNvPr id="114755" name="Text Box 179"/>
          <p:cNvSpPr txBox="1">
            <a:spLocks noChangeArrowheads="1"/>
          </p:cNvSpPr>
          <p:nvPr/>
        </p:nvSpPr>
        <p:spPr bwMode="auto">
          <a:xfrm>
            <a:off x="5486400" y="6858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B</a:t>
            </a:r>
            <a:r>
              <a:rPr lang="en-US" altLang="zh-CN" baseline="-25000">
                <a:solidFill>
                  <a:srgbClr val="993300"/>
                </a:solidFill>
              </a:rPr>
              <a:t>2</a:t>
            </a:r>
          </a:p>
        </p:txBody>
      </p:sp>
      <p:sp>
        <p:nvSpPr>
          <p:cNvPr id="114756" name="Line 180"/>
          <p:cNvSpPr>
            <a:spLocks noChangeShapeType="1"/>
          </p:cNvSpPr>
          <p:nvPr/>
        </p:nvSpPr>
        <p:spPr bwMode="auto">
          <a:xfrm>
            <a:off x="3962400" y="1143000"/>
            <a:ext cx="1981200" cy="0"/>
          </a:xfrm>
          <a:prstGeom prst="line">
            <a:avLst/>
          </a:prstGeom>
          <a:noFill/>
          <a:ln w="38100">
            <a:solidFill>
              <a:srgbClr val="000000"/>
            </a:solidFill>
            <a:round/>
            <a:headEnd/>
            <a:tailEnd/>
          </a:ln>
        </p:spPr>
        <p:txBody>
          <a:bodyPr wrap="none" anchor="ctr"/>
          <a:lstStyle/>
          <a:p>
            <a:endParaRPr lang="zh-CN" altLang="en-US"/>
          </a:p>
        </p:txBody>
      </p:sp>
      <p:sp>
        <p:nvSpPr>
          <p:cNvPr id="114757" name="Text Box 181"/>
          <p:cNvSpPr txBox="1">
            <a:spLocks noChangeArrowheads="1"/>
          </p:cNvSpPr>
          <p:nvPr/>
        </p:nvSpPr>
        <p:spPr bwMode="auto">
          <a:xfrm>
            <a:off x="6781800" y="6858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E</a:t>
            </a:r>
            <a:r>
              <a:rPr lang="en-US" altLang="zh-CN" baseline="-25000">
                <a:solidFill>
                  <a:srgbClr val="993300"/>
                </a:solidFill>
              </a:rPr>
              <a:t>2</a:t>
            </a:r>
          </a:p>
        </p:txBody>
      </p:sp>
      <p:sp>
        <p:nvSpPr>
          <p:cNvPr id="114758" name="Text Box 182"/>
          <p:cNvSpPr txBox="1">
            <a:spLocks noChangeArrowheads="1"/>
          </p:cNvSpPr>
          <p:nvPr/>
        </p:nvSpPr>
        <p:spPr bwMode="auto">
          <a:xfrm>
            <a:off x="6172200" y="2743200"/>
            <a:ext cx="762000" cy="457200"/>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a:solidFill>
                  <a:srgbClr val="993300"/>
                </a:solidFill>
              </a:rPr>
              <a:t>C</a:t>
            </a:r>
            <a:r>
              <a:rPr lang="en-US" altLang="zh-CN" baseline="-25000">
                <a:solidFill>
                  <a:srgbClr val="993300"/>
                </a:solidFill>
              </a:rPr>
              <a:t>2</a:t>
            </a:r>
          </a:p>
        </p:txBody>
      </p:sp>
      <p:sp>
        <p:nvSpPr>
          <p:cNvPr id="114759" name="Line 183"/>
          <p:cNvSpPr>
            <a:spLocks noChangeShapeType="1"/>
          </p:cNvSpPr>
          <p:nvPr/>
        </p:nvSpPr>
        <p:spPr bwMode="auto">
          <a:xfrm>
            <a:off x="8382000" y="1143000"/>
            <a:ext cx="7938" cy="2079625"/>
          </a:xfrm>
          <a:prstGeom prst="line">
            <a:avLst/>
          </a:prstGeom>
          <a:noFill/>
          <a:ln w="38100">
            <a:solidFill>
              <a:srgbClr val="000000"/>
            </a:solidFill>
            <a:round/>
            <a:headEnd/>
            <a:tailEnd type="none" w="med" len="lg"/>
          </a:ln>
        </p:spPr>
        <p:txBody>
          <a:bodyPr wrap="none" anchor="ctr"/>
          <a:lstStyle/>
          <a:p>
            <a:endParaRPr lang="zh-CN" altLang="en-US"/>
          </a:p>
        </p:txBody>
      </p:sp>
      <p:sp>
        <p:nvSpPr>
          <p:cNvPr id="114760" name="Rectangle 184"/>
          <p:cNvSpPr>
            <a:spLocks noChangeArrowheads="1"/>
          </p:cNvSpPr>
          <p:nvPr/>
        </p:nvSpPr>
        <p:spPr bwMode="auto">
          <a:xfrm>
            <a:off x="8305800" y="1905000"/>
            <a:ext cx="152400" cy="457200"/>
          </a:xfrm>
          <a:prstGeom prst="rect">
            <a:avLst/>
          </a:prstGeom>
          <a:solidFill>
            <a:schemeClr val="bg2"/>
          </a:solidFill>
          <a:ln w="38100">
            <a:solidFill>
              <a:schemeClr val="tx1"/>
            </a:solidFill>
            <a:miter lim="800000"/>
            <a:headEnd/>
            <a:tailEnd/>
          </a:ln>
        </p:spPr>
        <p:txBody>
          <a:bodyPr wrap="none" anchor="ctr"/>
          <a:lstStyle/>
          <a:p>
            <a:pPr algn="ctr" eaLnBrk="1" hangingPunct="1"/>
            <a:endParaRPr lang="zh-CN" altLang="en-US"/>
          </a:p>
        </p:txBody>
      </p:sp>
      <p:sp>
        <p:nvSpPr>
          <p:cNvPr id="114761" name="Text Box 185"/>
          <p:cNvSpPr txBox="1">
            <a:spLocks noChangeArrowheads="1"/>
          </p:cNvSpPr>
          <p:nvPr/>
        </p:nvSpPr>
        <p:spPr bwMode="auto">
          <a:xfrm>
            <a:off x="7086600" y="1905000"/>
            <a:ext cx="685800" cy="457200"/>
          </a:xfrm>
          <a:prstGeom prst="rect">
            <a:avLst/>
          </a:prstGeom>
          <a:noFill/>
          <a:ln w="9525">
            <a:noFill/>
            <a:miter lim="800000"/>
            <a:headEnd/>
            <a:tailEnd/>
          </a:ln>
        </p:spPr>
        <p:txBody>
          <a:bodyPr anchor="ctr">
            <a:spAutoFit/>
          </a:bodyPr>
          <a:lstStyle/>
          <a:p>
            <a:pPr algn="ctr" eaLnBrk="1" hangingPunct="1"/>
            <a:r>
              <a:rPr lang="en-US" altLang="zh-CN"/>
              <a:t>R</a:t>
            </a:r>
            <a:r>
              <a:rPr lang="en-US" altLang="zh-CN" baseline="-25000"/>
              <a:t>E2</a:t>
            </a:r>
          </a:p>
        </p:txBody>
      </p:sp>
      <p:grpSp>
        <p:nvGrpSpPr>
          <p:cNvPr id="114762" name="Group 186"/>
          <p:cNvGrpSpPr>
            <a:grpSpLocks/>
          </p:cNvGrpSpPr>
          <p:nvPr/>
        </p:nvGrpSpPr>
        <p:grpSpPr bwMode="auto">
          <a:xfrm>
            <a:off x="6172200" y="381000"/>
            <a:ext cx="517525" cy="593725"/>
            <a:chOff x="1960" y="911"/>
            <a:chExt cx="326" cy="374"/>
          </a:xfrm>
        </p:grpSpPr>
        <p:sp>
          <p:nvSpPr>
            <p:cNvPr id="114773" name="Text Box 187"/>
            <p:cNvSpPr txBox="1">
              <a:spLocks noChangeArrowheads="1"/>
            </p:cNvSpPr>
            <p:nvPr/>
          </p:nvSpPr>
          <p:spPr bwMode="auto">
            <a:xfrm>
              <a:off x="1960" y="997"/>
              <a:ext cx="326" cy="288"/>
            </a:xfrm>
            <a:prstGeom prst="rect">
              <a:avLst/>
            </a:prstGeom>
            <a:noFill/>
            <a:ln w="9525">
              <a:noFill/>
              <a:miter lim="800000"/>
              <a:headEnd/>
              <a:tailEnd/>
            </a:ln>
          </p:spPr>
          <p:txBody>
            <a:bodyPr wrap="none" anchor="ctr">
              <a:spAutoFit/>
            </a:bodyPr>
            <a:lstStyle/>
            <a:p>
              <a:pPr algn="ctr" eaLnBrk="1" hangingPunct="1"/>
              <a:r>
                <a:rPr lang="en-US" altLang="zh-CN">
                  <a:ea typeface="方正琥珀繁体"/>
                  <a:cs typeface="方正琥珀繁体"/>
                </a:rPr>
                <a:t>I</a:t>
              </a:r>
              <a:r>
                <a:rPr lang="en-US" altLang="zh-CN" baseline="-25000">
                  <a:ea typeface="方正琥珀繁体"/>
                  <a:cs typeface="方正琥珀繁体"/>
                </a:rPr>
                <a:t>b2</a:t>
              </a:r>
              <a:endParaRPr lang="en-US" altLang="zh-CN" i="1">
                <a:ea typeface="方正琥珀繁体"/>
                <a:cs typeface="方正琥珀繁体"/>
              </a:endParaRPr>
            </a:p>
          </p:txBody>
        </p:sp>
        <p:sp>
          <p:nvSpPr>
            <p:cNvPr id="114774" name="Text Box 188"/>
            <p:cNvSpPr txBox="1">
              <a:spLocks noChangeArrowheads="1"/>
            </p:cNvSpPr>
            <p:nvPr/>
          </p:nvSpPr>
          <p:spPr bwMode="auto">
            <a:xfrm>
              <a:off x="1980" y="911"/>
              <a:ext cx="166" cy="231"/>
            </a:xfrm>
            <a:prstGeom prst="rect">
              <a:avLst/>
            </a:prstGeom>
            <a:noFill/>
            <a:ln w="28575">
              <a:noFill/>
              <a:miter lim="800000"/>
              <a:headEnd/>
              <a:tailEnd type="none" w="sm" len="lg"/>
            </a:ln>
          </p:spPr>
          <p:txBody>
            <a:bodyPr wrap="none" anchor="ctr">
              <a:spAutoFit/>
            </a:bodyPr>
            <a:lstStyle/>
            <a:p>
              <a:pPr algn="ctr" eaLnBrk="1" hangingPunct="1"/>
              <a:r>
                <a:rPr lang="en-US" altLang="zh-CN" sz="1800" i="1">
                  <a:ea typeface="方正琥珀繁体"/>
                  <a:cs typeface="方正琥珀繁体"/>
                </a:rPr>
                <a:t>•</a:t>
              </a:r>
            </a:p>
          </p:txBody>
        </p:sp>
      </p:grpSp>
      <p:grpSp>
        <p:nvGrpSpPr>
          <p:cNvPr id="14" name="Group 196"/>
          <p:cNvGrpSpPr>
            <a:grpSpLocks/>
          </p:cNvGrpSpPr>
          <p:nvPr/>
        </p:nvGrpSpPr>
        <p:grpSpPr bwMode="auto">
          <a:xfrm>
            <a:off x="304800" y="5257800"/>
            <a:ext cx="4364038" cy="976313"/>
            <a:chOff x="2544" y="2832"/>
            <a:chExt cx="2749" cy="615"/>
          </a:xfrm>
        </p:grpSpPr>
        <p:sp>
          <p:nvSpPr>
            <p:cNvPr id="114768" name="Line 191"/>
            <p:cNvSpPr>
              <a:spLocks noChangeShapeType="1"/>
            </p:cNvSpPr>
            <p:nvPr/>
          </p:nvSpPr>
          <p:spPr bwMode="auto">
            <a:xfrm>
              <a:off x="3368" y="3158"/>
              <a:ext cx="1384" cy="10"/>
            </a:xfrm>
            <a:prstGeom prst="line">
              <a:avLst/>
            </a:prstGeom>
            <a:noFill/>
            <a:ln w="28575">
              <a:solidFill>
                <a:schemeClr val="accent2"/>
              </a:solidFill>
              <a:round/>
              <a:headEnd/>
              <a:tailEnd type="none" w="sm" len="lg"/>
            </a:ln>
          </p:spPr>
          <p:txBody>
            <a:bodyPr wrap="none" anchor="ctr"/>
            <a:lstStyle/>
            <a:p>
              <a:endParaRPr lang="zh-CN" altLang="en-US"/>
            </a:p>
          </p:txBody>
        </p:sp>
        <p:sp>
          <p:nvSpPr>
            <p:cNvPr id="114769" name="Text Box 192"/>
            <p:cNvSpPr txBox="1">
              <a:spLocks noChangeArrowheads="1"/>
            </p:cNvSpPr>
            <p:nvPr/>
          </p:nvSpPr>
          <p:spPr bwMode="auto">
            <a:xfrm>
              <a:off x="3616" y="3120"/>
              <a:ext cx="991" cy="327"/>
            </a:xfrm>
            <a:prstGeom prst="rect">
              <a:avLst/>
            </a:prstGeom>
            <a:noFill/>
            <a:ln w="28575">
              <a:noFill/>
              <a:miter lim="800000"/>
              <a:headEnd/>
              <a:tailEnd type="none" w="sm" len="lg"/>
            </a:ln>
          </p:spPr>
          <p:txBody>
            <a:bodyPr wrap="none" anchor="ctr">
              <a:spAutoFit/>
            </a:bodyPr>
            <a:lstStyle/>
            <a:p>
              <a:pPr algn="ctr" eaLnBrk="1" hangingPunct="1"/>
              <a:r>
                <a:rPr lang="zh-CN" altLang="en-US">
                  <a:solidFill>
                    <a:schemeClr val="accent2"/>
                  </a:solidFill>
                  <a:ea typeface="方正琥珀繁体"/>
                  <a:cs typeface="方正琥珀繁体"/>
                </a:rPr>
                <a:t>（</a:t>
              </a:r>
              <a:r>
                <a:rPr lang="en-US" altLang="zh-CN">
                  <a:solidFill>
                    <a:schemeClr val="accent2"/>
                  </a:solidFill>
                  <a:ea typeface="方正琥珀繁体"/>
                  <a:cs typeface="方正琥珀繁体"/>
                </a:rPr>
                <a:t>1+</a:t>
              </a:r>
              <a:r>
                <a:rPr lang="en-US" altLang="zh-CN" i="1">
                  <a:solidFill>
                    <a:schemeClr val="accent2"/>
                  </a:solidFill>
                  <a:ea typeface="方正琥珀繁体"/>
                  <a:cs typeface="方正琥珀繁体"/>
                  <a:sym typeface="Symbol" pitchFamily="18" charset="2"/>
                </a:rPr>
                <a:t></a:t>
              </a:r>
              <a:r>
                <a:rPr lang="en-US" altLang="zh-CN" sz="1600" i="1">
                  <a:solidFill>
                    <a:schemeClr val="accent2"/>
                  </a:solidFill>
                  <a:ea typeface="方正琥珀繁体"/>
                  <a:cs typeface="方正琥珀繁体"/>
                  <a:sym typeface="Symbol" pitchFamily="18" charset="2"/>
                </a:rPr>
                <a:t>2</a:t>
              </a:r>
              <a:r>
                <a:rPr lang="zh-CN" altLang="en-US">
                  <a:solidFill>
                    <a:schemeClr val="accent2"/>
                  </a:solidFill>
                  <a:ea typeface="方正琥珀繁体"/>
                  <a:cs typeface="方正琥珀繁体"/>
                  <a:sym typeface="Symbol" pitchFamily="18" charset="2"/>
                </a:rPr>
                <a:t>）</a:t>
              </a:r>
              <a:endParaRPr lang="zh-CN" altLang="en-US">
                <a:solidFill>
                  <a:schemeClr val="accent2"/>
                </a:solidFill>
                <a:ea typeface="方正琥珀繁体"/>
                <a:cs typeface="方正琥珀繁体"/>
              </a:endParaRPr>
            </a:p>
          </p:txBody>
        </p:sp>
        <p:sp>
          <p:nvSpPr>
            <p:cNvPr id="114770" name="Text Box 193"/>
            <p:cNvSpPr txBox="1">
              <a:spLocks noChangeArrowheads="1"/>
            </p:cNvSpPr>
            <p:nvPr/>
          </p:nvSpPr>
          <p:spPr bwMode="auto">
            <a:xfrm>
              <a:off x="3344" y="2832"/>
              <a:ext cx="1504" cy="327"/>
            </a:xfrm>
            <a:prstGeom prst="rect">
              <a:avLst/>
            </a:prstGeom>
            <a:noFill/>
            <a:ln w="9525">
              <a:noFill/>
              <a:miter lim="800000"/>
              <a:headEnd/>
              <a:tailEnd/>
            </a:ln>
          </p:spPr>
          <p:txBody>
            <a:bodyPr wrap="none">
              <a:spAutoFit/>
            </a:bodyPr>
            <a:lstStyle/>
            <a:p>
              <a:pPr algn="ctr" eaLnBrk="1" hangingPunct="1"/>
              <a:r>
                <a:rPr lang="en-US" altLang="zh-CN">
                  <a:solidFill>
                    <a:schemeClr val="accent2"/>
                  </a:solidFill>
                </a:rPr>
                <a:t>R</a:t>
              </a:r>
              <a:r>
                <a:rPr lang="en-US" altLang="zh-CN" baseline="-25000">
                  <a:solidFill>
                    <a:schemeClr val="accent2"/>
                  </a:solidFill>
                </a:rPr>
                <a:t>o1</a:t>
              </a:r>
              <a:r>
                <a:rPr lang="en-US" altLang="zh-CN">
                  <a:solidFill>
                    <a:schemeClr val="accent2"/>
                  </a:solidFill>
                </a:rPr>
                <a:t>//R</a:t>
              </a:r>
              <a:r>
                <a:rPr lang="en-US" altLang="zh-CN" baseline="-25000">
                  <a:solidFill>
                    <a:schemeClr val="accent2"/>
                  </a:solidFill>
                </a:rPr>
                <a:t>B3</a:t>
              </a:r>
              <a:r>
                <a:rPr lang="en-US" altLang="zh-CN"/>
                <a:t>  </a:t>
              </a:r>
              <a:r>
                <a:rPr lang="en-US" altLang="zh-CN">
                  <a:solidFill>
                    <a:schemeClr val="accent2"/>
                  </a:solidFill>
                </a:rPr>
                <a:t>+ </a:t>
              </a:r>
              <a:r>
                <a:rPr lang="en-US" altLang="zh-CN" i="1">
                  <a:solidFill>
                    <a:schemeClr val="accent2"/>
                  </a:solidFill>
                  <a:ea typeface="方正琥珀繁体"/>
                  <a:cs typeface="方正琥珀繁体"/>
                </a:rPr>
                <a:t>r</a:t>
              </a:r>
              <a:r>
                <a:rPr lang="en-US" altLang="zh-CN" baseline="-25000">
                  <a:solidFill>
                    <a:schemeClr val="accent2"/>
                  </a:solidFill>
                  <a:ea typeface="方正琥珀繁体"/>
                  <a:cs typeface="方正琥珀繁体"/>
                </a:rPr>
                <a:t>be2</a:t>
              </a:r>
            </a:p>
          </p:txBody>
        </p:sp>
        <p:sp>
          <p:nvSpPr>
            <p:cNvPr id="114771" name="Rectangle 194"/>
            <p:cNvSpPr>
              <a:spLocks noChangeArrowheads="1"/>
            </p:cNvSpPr>
            <p:nvPr/>
          </p:nvSpPr>
          <p:spPr bwMode="auto">
            <a:xfrm>
              <a:off x="2544" y="2976"/>
              <a:ext cx="912" cy="327"/>
            </a:xfrm>
            <a:prstGeom prst="rect">
              <a:avLst/>
            </a:prstGeom>
            <a:noFill/>
            <a:ln w="38100">
              <a:noFill/>
              <a:miter lim="800000"/>
              <a:headEnd/>
              <a:tailEnd type="none" w="sm" len="lg"/>
            </a:ln>
          </p:spPr>
          <p:txBody>
            <a:bodyPr>
              <a:spAutoFit/>
            </a:bodyPr>
            <a:lstStyle/>
            <a:p>
              <a:pPr algn="ctr">
                <a:spcBef>
                  <a:spcPct val="50000"/>
                </a:spcBef>
              </a:pPr>
              <a:r>
                <a:rPr lang="en-US" altLang="zh-CN" i="1">
                  <a:solidFill>
                    <a:schemeClr val="accent2"/>
                  </a:solidFill>
                  <a:ea typeface="方正琥珀繁体"/>
                  <a:cs typeface="方正琥珀繁体"/>
                </a:rPr>
                <a:t>R</a:t>
              </a:r>
              <a:r>
                <a:rPr lang="en-US" altLang="zh-CN" baseline="-25000">
                  <a:solidFill>
                    <a:schemeClr val="accent2"/>
                  </a:solidFill>
                  <a:ea typeface="方正琥珀繁体"/>
                  <a:cs typeface="方正琥珀繁体"/>
                </a:rPr>
                <a:t>o</a:t>
              </a:r>
              <a:r>
                <a:rPr lang="en-US" altLang="zh-CN" i="1">
                  <a:solidFill>
                    <a:schemeClr val="accent2"/>
                  </a:solidFill>
                  <a:ea typeface="方正琥珀繁体"/>
                  <a:cs typeface="方正琥珀繁体"/>
                </a:rPr>
                <a:t>=R</a:t>
              </a:r>
              <a:r>
                <a:rPr lang="en-US" altLang="zh-CN" baseline="-25000">
                  <a:solidFill>
                    <a:schemeClr val="accent2"/>
                  </a:solidFill>
                  <a:ea typeface="方正琥珀繁体"/>
                  <a:cs typeface="方正琥珀繁体"/>
                </a:rPr>
                <a:t>o2</a:t>
              </a:r>
              <a:r>
                <a:rPr lang="en-US" altLang="zh-CN">
                  <a:solidFill>
                    <a:schemeClr val="accent2"/>
                  </a:solidFill>
                  <a:ea typeface="方正琥珀繁体"/>
                  <a:cs typeface="方正琥珀繁体"/>
                </a:rPr>
                <a:t>=</a:t>
              </a:r>
              <a:endParaRPr lang="en-US" altLang="zh-CN" baseline="-25000">
                <a:solidFill>
                  <a:schemeClr val="accent2"/>
                </a:solidFill>
                <a:ea typeface="方正琥珀繁体"/>
                <a:cs typeface="方正琥珀繁体"/>
              </a:endParaRPr>
            </a:p>
          </p:txBody>
        </p:sp>
        <p:sp>
          <p:nvSpPr>
            <p:cNvPr id="114772" name="Rectangle 195"/>
            <p:cNvSpPr>
              <a:spLocks noChangeArrowheads="1"/>
            </p:cNvSpPr>
            <p:nvPr/>
          </p:nvSpPr>
          <p:spPr bwMode="auto">
            <a:xfrm>
              <a:off x="4714" y="2976"/>
              <a:ext cx="579" cy="327"/>
            </a:xfrm>
            <a:prstGeom prst="rect">
              <a:avLst/>
            </a:prstGeom>
            <a:noFill/>
            <a:ln w="38100">
              <a:noFill/>
              <a:miter lim="800000"/>
              <a:headEnd/>
              <a:tailEnd type="none" w="sm" len="lg"/>
            </a:ln>
          </p:spPr>
          <p:txBody>
            <a:bodyPr wrap="none">
              <a:spAutoFit/>
            </a:bodyPr>
            <a:lstStyle/>
            <a:p>
              <a:pPr algn="ctr">
                <a:spcBef>
                  <a:spcPct val="50000"/>
                </a:spcBef>
              </a:pPr>
              <a:r>
                <a:rPr lang="en-US" altLang="zh-CN">
                  <a:solidFill>
                    <a:schemeClr val="accent2"/>
                  </a:solidFill>
                  <a:ea typeface="方正琥珀繁体"/>
                  <a:cs typeface="方正琥珀繁体"/>
                </a:rPr>
                <a:t>//R</a:t>
              </a:r>
              <a:r>
                <a:rPr lang="en-US" altLang="zh-CN" baseline="-25000">
                  <a:solidFill>
                    <a:schemeClr val="accent2"/>
                  </a:solidFill>
                  <a:ea typeface="方正琥珀繁体"/>
                  <a:cs typeface="方正琥珀繁体"/>
                </a:rPr>
                <a:t>E2</a:t>
              </a:r>
            </a:p>
          </p:txBody>
        </p:sp>
      </p:grpSp>
      <p:sp>
        <p:nvSpPr>
          <p:cNvPr id="15557" name="Rectangle 197"/>
          <p:cNvSpPr>
            <a:spLocks noChangeArrowheads="1"/>
          </p:cNvSpPr>
          <p:nvPr/>
        </p:nvSpPr>
        <p:spPr bwMode="auto">
          <a:xfrm>
            <a:off x="5181600" y="5486400"/>
            <a:ext cx="3733800" cy="519113"/>
          </a:xfrm>
          <a:prstGeom prst="rect">
            <a:avLst/>
          </a:prstGeom>
          <a:noFill/>
          <a:ln w="38100">
            <a:noFill/>
            <a:miter lim="800000"/>
            <a:headEnd/>
            <a:tailEnd type="none" w="sm" len="lg"/>
          </a:ln>
        </p:spPr>
        <p:txBody>
          <a:bodyPr>
            <a:spAutoFit/>
          </a:bodyPr>
          <a:lstStyle/>
          <a:p>
            <a:pPr algn="ctr" eaLnBrk="1" hangingPunct="1"/>
            <a:r>
              <a:rPr lang="zh-CN" altLang="en-US"/>
              <a:t>其中  </a:t>
            </a:r>
            <a:r>
              <a:rPr lang="en-US" altLang="zh-CN" i="1">
                <a:solidFill>
                  <a:schemeClr val="accent2"/>
                </a:solidFill>
              </a:rPr>
              <a:t>R</a:t>
            </a:r>
            <a:r>
              <a:rPr lang="en-US" altLang="zh-CN" baseline="-25000">
                <a:solidFill>
                  <a:schemeClr val="accent2"/>
                </a:solidFill>
              </a:rPr>
              <a:t>o1</a:t>
            </a:r>
            <a:r>
              <a:rPr lang="en-US" altLang="zh-CN">
                <a:solidFill>
                  <a:schemeClr val="accent2"/>
                </a:solidFill>
              </a:rPr>
              <a:t>=R</a:t>
            </a:r>
            <a:r>
              <a:rPr lang="en-US" altLang="zh-CN" baseline="-25000">
                <a:solidFill>
                  <a:schemeClr val="accent2"/>
                </a:solidFill>
              </a:rPr>
              <a:t>C1</a:t>
            </a:r>
            <a:r>
              <a:rPr lang="en-US" altLang="zh-CN" baseline="-25000"/>
              <a:t> </a:t>
            </a:r>
          </a:p>
        </p:txBody>
      </p:sp>
      <p:sp>
        <p:nvSpPr>
          <p:cNvPr id="114765" name="Freeform 198"/>
          <p:cNvSpPr>
            <a:spLocks/>
          </p:cNvSpPr>
          <p:nvPr/>
        </p:nvSpPr>
        <p:spPr bwMode="auto">
          <a:xfrm flipH="1">
            <a:off x="4953000" y="2971800"/>
            <a:ext cx="304800" cy="685800"/>
          </a:xfrm>
          <a:custGeom>
            <a:avLst/>
            <a:gdLst>
              <a:gd name="T0" fmla="*/ 0 w 192"/>
              <a:gd name="T1" fmla="*/ 2147483647 h 432"/>
              <a:gd name="T2" fmla="*/ 0 w 192"/>
              <a:gd name="T3" fmla="*/ 0 h 432"/>
              <a:gd name="T4" fmla="*/ 2147483647 w 192"/>
              <a:gd name="T5" fmla="*/ 0 h 432"/>
              <a:gd name="T6" fmla="*/ 0 60000 65536"/>
              <a:gd name="T7" fmla="*/ 0 60000 65536"/>
              <a:gd name="T8" fmla="*/ 0 60000 65536"/>
              <a:gd name="T9" fmla="*/ 0 w 192"/>
              <a:gd name="T10" fmla="*/ 0 h 432"/>
              <a:gd name="T11" fmla="*/ 192 w 192"/>
              <a:gd name="T12" fmla="*/ 432 h 432"/>
            </a:gdLst>
            <a:ahLst/>
            <a:cxnLst>
              <a:cxn ang="T6">
                <a:pos x="T0" y="T1"/>
              </a:cxn>
              <a:cxn ang="T7">
                <a:pos x="T2" y="T3"/>
              </a:cxn>
              <a:cxn ang="T8">
                <a:pos x="T4" y="T5"/>
              </a:cxn>
            </a:cxnLst>
            <a:rect l="T9" t="T10" r="T11" b="T12"/>
            <a:pathLst>
              <a:path w="192" h="432">
                <a:moveTo>
                  <a:pt x="0" y="432"/>
                </a:moveTo>
                <a:lnTo>
                  <a:pt x="0" y="0"/>
                </a:lnTo>
                <a:lnTo>
                  <a:pt x="192" y="0"/>
                </a:lnTo>
              </a:path>
            </a:pathLst>
          </a:custGeom>
          <a:noFill/>
          <a:ln w="28575">
            <a:solidFill>
              <a:srgbClr val="CC3300"/>
            </a:solidFill>
            <a:round/>
            <a:headEnd/>
            <a:tailEnd type="stealth" w="sm" len="lg"/>
          </a:ln>
        </p:spPr>
        <p:txBody>
          <a:bodyPr/>
          <a:lstStyle/>
          <a:p>
            <a:endParaRPr lang="zh-CN" altLang="en-US"/>
          </a:p>
        </p:txBody>
      </p:sp>
      <p:sp>
        <p:nvSpPr>
          <p:cNvPr id="108622" name="Rectangle 199"/>
          <p:cNvSpPr>
            <a:spLocks noChangeArrowheads="1"/>
          </p:cNvSpPr>
          <p:nvPr/>
        </p:nvSpPr>
        <p:spPr bwMode="auto">
          <a:xfrm>
            <a:off x="5257800" y="3276600"/>
            <a:ext cx="1254125" cy="461665"/>
          </a:xfrm>
          <a:prstGeom prst="rect">
            <a:avLst/>
          </a:prstGeom>
          <a:noFill/>
          <a:ln w="38100">
            <a:noFill/>
            <a:miter lim="800000"/>
            <a:headEnd/>
            <a:tailEnd type="none" w="sm" len="lg"/>
          </a:ln>
        </p:spPr>
        <p:txBody>
          <a:bodyPr>
            <a:spAutoFit/>
          </a:bodyPr>
          <a:lstStyle/>
          <a:p>
            <a:pPr algn="ctr" eaLnBrk="1" hangingPunct="1">
              <a:defRPr/>
            </a:pPr>
            <a:r>
              <a:rPr lang="en-US" altLang="zh-CN" i="1" dirty="0">
                <a:solidFill>
                  <a:srgbClr val="0000FF"/>
                </a:solidFill>
                <a:highlight>
                  <a:srgbClr val="FFFF00"/>
                </a:highlight>
              </a:rPr>
              <a:t>R</a:t>
            </a:r>
            <a:r>
              <a:rPr lang="en-US" altLang="zh-CN" baseline="-25000" dirty="0">
                <a:solidFill>
                  <a:srgbClr val="0000FF"/>
                </a:solidFill>
                <a:highlight>
                  <a:srgbClr val="FFFF00"/>
                </a:highlight>
              </a:rPr>
              <a:t>o1</a:t>
            </a:r>
          </a:p>
        </p:txBody>
      </p:sp>
      <p:sp>
        <p:nvSpPr>
          <p:cNvPr id="108" name="矩形 107"/>
          <p:cNvSpPr/>
          <p:nvPr/>
        </p:nvSpPr>
        <p:spPr>
          <a:xfrm>
            <a:off x="5318125" y="3956050"/>
            <a:ext cx="2166938" cy="598488"/>
          </a:xfrm>
          <a:prstGeom prst="rect">
            <a:avLst/>
          </a:prstGeom>
          <a:solidFill>
            <a:srgbClr val="AAEFF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600" b="1" dirty="0">
                <a:solidFill>
                  <a:srgbClr val="FF0000"/>
                </a:solidFill>
              </a:rPr>
              <a:t>第一级的输出电阻为第二级的信号源内阻</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blinds(horizontal)">
                                      <p:cBhvr>
                                        <p:cTn id="7" dur="500"/>
                                        <p:tgtEl>
                                          <p:spTgt spid="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56"/>
                                        </p:tgtEl>
                                        <p:attrNameLst>
                                          <p:attrName>style.visibility</p:attrName>
                                        </p:attrNameLst>
                                      </p:cBhvr>
                                      <p:to>
                                        <p:strVal val="visible"/>
                                      </p:to>
                                    </p:set>
                                    <p:animEffect transition="in" filter="wipe(left)">
                                      <p:cBhvr>
                                        <p:cTn id="12" dur="3000"/>
                                        <p:tgtEl>
                                          <p:spTgt spid="154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30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557"/>
                                        </p:tgtEl>
                                        <p:attrNameLst>
                                          <p:attrName>style.visibility</p:attrName>
                                        </p:attrNameLst>
                                      </p:cBhvr>
                                      <p:to>
                                        <p:strVal val="visible"/>
                                      </p:to>
                                    </p:set>
                                    <p:anim calcmode="lin" valueType="num">
                                      <p:cBhvr additive="base">
                                        <p:cTn id="22" dur="3000" fill="hold"/>
                                        <p:tgtEl>
                                          <p:spTgt spid="15557"/>
                                        </p:tgtEl>
                                        <p:attrNameLst>
                                          <p:attrName>ppt_x</p:attrName>
                                        </p:attrNameLst>
                                      </p:cBhvr>
                                      <p:tavLst>
                                        <p:tav tm="0">
                                          <p:val>
                                            <p:strVal val="#ppt_x"/>
                                          </p:val>
                                        </p:tav>
                                        <p:tav tm="100000">
                                          <p:val>
                                            <p:strVal val="#ppt_x"/>
                                          </p:val>
                                        </p:tav>
                                      </p:tavLst>
                                    </p:anim>
                                    <p:anim calcmode="lin" valueType="num">
                                      <p:cBhvr additive="base">
                                        <p:cTn id="23" dur="3000" fill="hold"/>
                                        <p:tgtEl>
                                          <p:spTgt spid="155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56" grpId="0" autoUpdateAnimBg="0"/>
      <p:bldP spid="15557" grpId="0"/>
      <p:bldP spid="10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F4A13DC-A217-D3CA-865B-4AB5EEABD81A}"/>
              </a:ext>
            </a:extLst>
          </p:cNvPr>
          <p:cNvPicPr>
            <a:picLocks noChangeAspect="1"/>
          </p:cNvPicPr>
          <p:nvPr/>
        </p:nvPicPr>
        <p:blipFill>
          <a:blip r:embed="rId2"/>
          <a:stretch>
            <a:fillRect/>
          </a:stretch>
        </p:blipFill>
        <p:spPr>
          <a:xfrm>
            <a:off x="4418576" y="2352864"/>
            <a:ext cx="4153731" cy="2968733"/>
          </a:xfrm>
          <a:prstGeom prst="rect">
            <a:avLst/>
          </a:prstGeom>
        </p:spPr>
      </p:pic>
      <p:pic>
        <p:nvPicPr>
          <p:cNvPr id="7" name="图片 6">
            <a:extLst>
              <a:ext uri="{FF2B5EF4-FFF2-40B4-BE49-F238E27FC236}">
                <a16:creationId xmlns:a16="http://schemas.microsoft.com/office/drawing/2014/main" id="{0FB4582F-FB4E-1D5B-E161-82FB8E7067D8}"/>
              </a:ext>
            </a:extLst>
          </p:cNvPr>
          <p:cNvPicPr>
            <a:picLocks noChangeAspect="1"/>
          </p:cNvPicPr>
          <p:nvPr/>
        </p:nvPicPr>
        <p:blipFill>
          <a:blip r:embed="rId3"/>
          <a:stretch>
            <a:fillRect/>
          </a:stretch>
        </p:blipFill>
        <p:spPr>
          <a:xfrm>
            <a:off x="0" y="506444"/>
            <a:ext cx="9144000" cy="1708833"/>
          </a:xfrm>
          <a:prstGeom prst="rect">
            <a:avLst/>
          </a:prstGeom>
        </p:spPr>
      </p:pic>
      <p:sp>
        <p:nvSpPr>
          <p:cNvPr id="10" name="文本框 9">
            <a:extLst>
              <a:ext uri="{FF2B5EF4-FFF2-40B4-BE49-F238E27FC236}">
                <a16:creationId xmlns:a16="http://schemas.microsoft.com/office/drawing/2014/main" id="{0A2B16EC-B78A-5D12-8276-537F01DCED70}"/>
              </a:ext>
            </a:extLst>
          </p:cNvPr>
          <p:cNvSpPr txBox="1"/>
          <p:nvPr/>
        </p:nvSpPr>
        <p:spPr>
          <a:xfrm>
            <a:off x="270024" y="2571366"/>
            <a:ext cx="3264838" cy="193899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在分析多级放大电路的动态参数时，应首先搞清楚各级电路属于哪种基本电路，并画出其交流等效电路。</a:t>
            </a:r>
          </a:p>
        </p:txBody>
      </p:sp>
      <p:sp>
        <p:nvSpPr>
          <p:cNvPr id="11" name="文本框 10">
            <a:extLst>
              <a:ext uri="{FF2B5EF4-FFF2-40B4-BE49-F238E27FC236}">
                <a16:creationId xmlns:a16="http://schemas.microsoft.com/office/drawing/2014/main" id="{BCA206FF-044B-D5B2-2AA8-49279CEA9AD4}"/>
              </a:ext>
            </a:extLst>
          </p:cNvPr>
          <p:cNvSpPr txBox="1"/>
          <p:nvPr/>
        </p:nvSpPr>
        <p:spPr>
          <a:xfrm>
            <a:off x="270024" y="4822989"/>
            <a:ext cx="3019361" cy="461665"/>
          </a:xfrm>
          <a:prstGeom prst="rect">
            <a:avLst/>
          </a:prstGeom>
          <a:noFill/>
        </p:spPr>
        <p:txBody>
          <a:bodyPr wrap="square" rtlCol="0">
            <a:spAutoFit/>
          </a:bodyPr>
          <a:lstStyle/>
          <a:p>
            <a:r>
              <a:rPr lang="zh-CN" altLang="en-US" dirty="0"/>
              <a:t>清楚动态信号的通路</a:t>
            </a:r>
          </a:p>
        </p:txBody>
      </p:sp>
      <p:pic>
        <p:nvPicPr>
          <p:cNvPr id="13" name="图片 12">
            <a:extLst>
              <a:ext uri="{FF2B5EF4-FFF2-40B4-BE49-F238E27FC236}">
                <a16:creationId xmlns:a16="http://schemas.microsoft.com/office/drawing/2014/main" id="{005B02D1-08F1-1C81-7316-B924064A3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62" y="5403395"/>
            <a:ext cx="9002476" cy="461665"/>
          </a:xfrm>
          <a:prstGeom prst="rect">
            <a:avLst/>
          </a:prstGeom>
        </p:spPr>
      </p:pic>
    </p:spTree>
    <p:extLst>
      <p:ext uri="{BB962C8B-B14F-4D97-AF65-F5344CB8AC3E}">
        <p14:creationId xmlns:p14="http://schemas.microsoft.com/office/powerpoint/2010/main" val="93247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A90E41D-FA1C-858C-822D-A4EEFA84C362}"/>
              </a:ext>
            </a:extLst>
          </p:cNvPr>
          <p:cNvPicPr>
            <a:picLocks noChangeAspect="1"/>
          </p:cNvPicPr>
          <p:nvPr/>
        </p:nvPicPr>
        <p:blipFill>
          <a:blip r:embed="rId2"/>
          <a:stretch>
            <a:fillRect/>
          </a:stretch>
        </p:blipFill>
        <p:spPr>
          <a:xfrm>
            <a:off x="5601854" y="150001"/>
            <a:ext cx="3375490" cy="2412513"/>
          </a:xfrm>
          <a:prstGeom prst="rect">
            <a:avLst/>
          </a:prstGeom>
        </p:spPr>
      </p:pic>
      <p:pic>
        <p:nvPicPr>
          <p:cNvPr id="3" name="图片 2">
            <a:extLst>
              <a:ext uri="{FF2B5EF4-FFF2-40B4-BE49-F238E27FC236}">
                <a16:creationId xmlns:a16="http://schemas.microsoft.com/office/drawing/2014/main" id="{C9AF9038-BF9D-6C8B-3D4A-632DDD39D923}"/>
              </a:ext>
            </a:extLst>
          </p:cNvPr>
          <p:cNvPicPr>
            <a:picLocks noChangeAspect="1"/>
          </p:cNvPicPr>
          <p:nvPr/>
        </p:nvPicPr>
        <p:blipFill>
          <a:blip r:embed="rId3"/>
          <a:stretch>
            <a:fillRect/>
          </a:stretch>
        </p:blipFill>
        <p:spPr>
          <a:xfrm>
            <a:off x="0" y="249791"/>
            <a:ext cx="5914568" cy="1106467"/>
          </a:xfrm>
          <a:prstGeom prst="rect">
            <a:avLst/>
          </a:prstGeom>
        </p:spPr>
      </p:pic>
      <p:pic>
        <p:nvPicPr>
          <p:cNvPr id="8" name="图片 7">
            <a:extLst>
              <a:ext uri="{FF2B5EF4-FFF2-40B4-BE49-F238E27FC236}">
                <a16:creationId xmlns:a16="http://schemas.microsoft.com/office/drawing/2014/main" id="{73C0ECB2-381F-C3F7-A536-4DDBAF613C2F}"/>
              </a:ext>
            </a:extLst>
          </p:cNvPr>
          <p:cNvPicPr>
            <a:picLocks noChangeAspect="1"/>
          </p:cNvPicPr>
          <p:nvPr/>
        </p:nvPicPr>
        <p:blipFill>
          <a:blip r:embed="rId4"/>
          <a:stretch>
            <a:fillRect/>
          </a:stretch>
        </p:blipFill>
        <p:spPr>
          <a:xfrm>
            <a:off x="394844" y="2896622"/>
            <a:ext cx="3369994" cy="1910754"/>
          </a:xfrm>
          <a:prstGeom prst="rect">
            <a:avLst/>
          </a:prstGeom>
        </p:spPr>
      </p:pic>
      <p:pic>
        <p:nvPicPr>
          <p:cNvPr id="10" name="图片 9">
            <a:extLst>
              <a:ext uri="{FF2B5EF4-FFF2-40B4-BE49-F238E27FC236}">
                <a16:creationId xmlns:a16="http://schemas.microsoft.com/office/drawing/2014/main" id="{ED2C2456-B90F-723B-AD51-0945AFE67D21}"/>
              </a:ext>
            </a:extLst>
          </p:cNvPr>
          <p:cNvPicPr>
            <a:picLocks noChangeAspect="1"/>
          </p:cNvPicPr>
          <p:nvPr/>
        </p:nvPicPr>
        <p:blipFill>
          <a:blip r:embed="rId5"/>
          <a:stretch>
            <a:fillRect/>
          </a:stretch>
        </p:blipFill>
        <p:spPr>
          <a:xfrm>
            <a:off x="3554022" y="2872074"/>
            <a:ext cx="1908426" cy="2092688"/>
          </a:xfrm>
          <a:prstGeom prst="rect">
            <a:avLst/>
          </a:prstGeom>
        </p:spPr>
      </p:pic>
      <p:pic>
        <p:nvPicPr>
          <p:cNvPr id="12" name="图片 11">
            <a:extLst>
              <a:ext uri="{FF2B5EF4-FFF2-40B4-BE49-F238E27FC236}">
                <a16:creationId xmlns:a16="http://schemas.microsoft.com/office/drawing/2014/main" id="{1A32F5CD-A4E9-4FE6-048D-50901A98C993}"/>
              </a:ext>
            </a:extLst>
          </p:cNvPr>
          <p:cNvPicPr>
            <a:picLocks noChangeAspect="1"/>
          </p:cNvPicPr>
          <p:nvPr/>
        </p:nvPicPr>
        <p:blipFill>
          <a:blip r:embed="rId6"/>
          <a:stretch>
            <a:fillRect/>
          </a:stretch>
        </p:blipFill>
        <p:spPr>
          <a:xfrm>
            <a:off x="5450498" y="2884347"/>
            <a:ext cx="2981624" cy="1972357"/>
          </a:xfrm>
          <a:prstGeom prst="rect">
            <a:avLst/>
          </a:prstGeom>
        </p:spPr>
      </p:pic>
      <p:cxnSp>
        <p:nvCxnSpPr>
          <p:cNvPr id="5" name="直接连接符 4">
            <a:extLst>
              <a:ext uri="{FF2B5EF4-FFF2-40B4-BE49-F238E27FC236}">
                <a16:creationId xmlns:a16="http://schemas.microsoft.com/office/drawing/2014/main" id="{BBEC069F-F346-D076-7950-6EE601529BC1}"/>
              </a:ext>
            </a:extLst>
          </p:cNvPr>
          <p:cNvCxnSpPr/>
          <p:nvPr/>
        </p:nvCxnSpPr>
        <p:spPr>
          <a:xfrm>
            <a:off x="7787743" y="85917"/>
            <a:ext cx="0" cy="2522271"/>
          </a:xfrm>
          <a:prstGeom prst="line">
            <a:avLst/>
          </a:prstGeom>
          <a:ln w="38100">
            <a:solidFill>
              <a:srgbClr val="0000FF"/>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116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0F34D75-061C-FBE4-200E-344D4CFAC7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57" y="140118"/>
            <a:ext cx="6691526" cy="1810712"/>
          </a:xfrm>
          <a:prstGeom prst="rect">
            <a:avLst/>
          </a:prstGeom>
        </p:spPr>
      </p:pic>
      <p:pic>
        <p:nvPicPr>
          <p:cNvPr id="5" name="图片 4">
            <a:extLst>
              <a:ext uri="{FF2B5EF4-FFF2-40B4-BE49-F238E27FC236}">
                <a16:creationId xmlns:a16="http://schemas.microsoft.com/office/drawing/2014/main" id="{44AC0135-40C1-CEE6-9FCE-67ACB5CF5740}"/>
              </a:ext>
            </a:extLst>
          </p:cNvPr>
          <p:cNvPicPr>
            <a:picLocks noChangeAspect="1"/>
          </p:cNvPicPr>
          <p:nvPr/>
        </p:nvPicPr>
        <p:blipFill>
          <a:blip r:embed="rId3"/>
          <a:stretch>
            <a:fillRect/>
          </a:stretch>
        </p:blipFill>
        <p:spPr>
          <a:xfrm>
            <a:off x="118167" y="2339286"/>
            <a:ext cx="4507344" cy="946921"/>
          </a:xfrm>
          <a:prstGeom prst="rect">
            <a:avLst/>
          </a:prstGeom>
        </p:spPr>
      </p:pic>
      <p:sp>
        <p:nvSpPr>
          <p:cNvPr id="6" name="箭头: 圆角右 5">
            <a:extLst>
              <a:ext uri="{FF2B5EF4-FFF2-40B4-BE49-F238E27FC236}">
                <a16:creationId xmlns:a16="http://schemas.microsoft.com/office/drawing/2014/main" id="{5EF3F318-39CF-A097-050F-127BF77BC6A6}"/>
              </a:ext>
            </a:extLst>
          </p:cNvPr>
          <p:cNvSpPr/>
          <p:nvPr/>
        </p:nvSpPr>
        <p:spPr>
          <a:xfrm>
            <a:off x="5308432" y="1331710"/>
            <a:ext cx="202518" cy="52777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8" name="直接连接符 7">
            <a:extLst>
              <a:ext uri="{FF2B5EF4-FFF2-40B4-BE49-F238E27FC236}">
                <a16:creationId xmlns:a16="http://schemas.microsoft.com/office/drawing/2014/main" id="{4194FAAE-BFEA-A2E9-FB47-926E1193937D}"/>
              </a:ext>
            </a:extLst>
          </p:cNvPr>
          <p:cNvCxnSpPr/>
          <p:nvPr/>
        </p:nvCxnSpPr>
        <p:spPr>
          <a:xfrm>
            <a:off x="5124322" y="49095"/>
            <a:ext cx="0" cy="198836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A26549E-E286-8DC8-91A3-A54EAD5E095E}"/>
              </a:ext>
            </a:extLst>
          </p:cNvPr>
          <p:cNvPicPr>
            <a:picLocks noChangeAspect="1"/>
          </p:cNvPicPr>
          <p:nvPr/>
        </p:nvPicPr>
        <p:blipFill>
          <a:blip r:embed="rId4"/>
          <a:stretch>
            <a:fillRect/>
          </a:stretch>
        </p:blipFill>
        <p:spPr>
          <a:xfrm>
            <a:off x="-18411" y="3741558"/>
            <a:ext cx="6185496" cy="920795"/>
          </a:xfrm>
          <a:prstGeom prst="rect">
            <a:avLst/>
          </a:prstGeom>
        </p:spPr>
      </p:pic>
      <p:pic>
        <p:nvPicPr>
          <p:cNvPr id="12" name="图片 11">
            <a:extLst>
              <a:ext uri="{FF2B5EF4-FFF2-40B4-BE49-F238E27FC236}">
                <a16:creationId xmlns:a16="http://schemas.microsoft.com/office/drawing/2014/main" id="{A1F3CFA7-4EBD-7BE2-D982-8BA7B35BD535}"/>
              </a:ext>
            </a:extLst>
          </p:cNvPr>
          <p:cNvPicPr>
            <a:picLocks noChangeAspect="1"/>
          </p:cNvPicPr>
          <p:nvPr/>
        </p:nvPicPr>
        <p:blipFill>
          <a:blip r:embed="rId5"/>
          <a:stretch>
            <a:fillRect/>
          </a:stretch>
        </p:blipFill>
        <p:spPr>
          <a:xfrm>
            <a:off x="1472545" y="5076935"/>
            <a:ext cx="4147094" cy="808332"/>
          </a:xfrm>
          <a:prstGeom prst="rect">
            <a:avLst/>
          </a:prstGeom>
        </p:spPr>
      </p:pic>
      <p:pic>
        <p:nvPicPr>
          <p:cNvPr id="2" name="图片 1">
            <a:extLst>
              <a:ext uri="{FF2B5EF4-FFF2-40B4-BE49-F238E27FC236}">
                <a16:creationId xmlns:a16="http://schemas.microsoft.com/office/drawing/2014/main" id="{AFAE37B1-BE72-2A90-7231-6E48C28E97CE}"/>
              </a:ext>
            </a:extLst>
          </p:cNvPr>
          <p:cNvPicPr>
            <a:picLocks noChangeAspect="1"/>
          </p:cNvPicPr>
          <p:nvPr/>
        </p:nvPicPr>
        <p:blipFill>
          <a:blip r:embed="rId6"/>
          <a:stretch>
            <a:fillRect/>
          </a:stretch>
        </p:blipFill>
        <p:spPr>
          <a:xfrm>
            <a:off x="5731270" y="1950830"/>
            <a:ext cx="3375490" cy="2412513"/>
          </a:xfrm>
          <a:prstGeom prst="rect">
            <a:avLst/>
          </a:prstGeom>
        </p:spPr>
      </p:pic>
    </p:spTree>
    <p:extLst>
      <p:ext uri="{BB962C8B-B14F-4D97-AF65-F5344CB8AC3E}">
        <p14:creationId xmlns:p14="http://schemas.microsoft.com/office/powerpoint/2010/main" val="253602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6201A6C-E0B4-F7B7-4940-863E15C15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57" y="140118"/>
            <a:ext cx="6691526" cy="1810712"/>
          </a:xfrm>
          <a:prstGeom prst="rect">
            <a:avLst/>
          </a:prstGeom>
        </p:spPr>
      </p:pic>
      <p:pic>
        <p:nvPicPr>
          <p:cNvPr id="4" name="图片 3">
            <a:extLst>
              <a:ext uri="{FF2B5EF4-FFF2-40B4-BE49-F238E27FC236}">
                <a16:creationId xmlns:a16="http://schemas.microsoft.com/office/drawing/2014/main" id="{DC41C4E5-841F-66AE-B0A3-C39A2D0DF26B}"/>
              </a:ext>
            </a:extLst>
          </p:cNvPr>
          <p:cNvPicPr>
            <a:picLocks noChangeAspect="1"/>
          </p:cNvPicPr>
          <p:nvPr/>
        </p:nvPicPr>
        <p:blipFill>
          <a:blip r:embed="rId3"/>
          <a:stretch>
            <a:fillRect/>
          </a:stretch>
        </p:blipFill>
        <p:spPr>
          <a:xfrm>
            <a:off x="472541" y="2067729"/>
            <a:ext cx="3409503" cy="468637"/>
          </a:xfrm>
          <a:prstGeom prst="rect">
            <a:avLst/>
          </a:prstGeom>
        </p:spPr>
      </p:pic>
      <p:pic>
        <p:nvPicPr>
          <p:cNvPr id="6" name="图片 5">
            <a:extLst>
              <a:ext uri="{FF2B5EF4-FFF2-40B4-BE49-F238E27FC236}">
                <a16:creationId xmlns:a16="http://schemas.microsoft.com/office/drawing/2014/main" id="{6AF54A63-C19C-3057-4D8F-BA82220F96EA}"/>
              </a:ext>
            </a:extLst>
          </p:cNvPr>
          <p:cNvPicPr>
            <a:picLocks noChangeAspect="1"/>
          </p:cNvPicPr>
          <p:nvPr/>
        </p:nvPicPr>
        <p:blipFill>
          <a:blip r:embed="rId4"/>
          <a:stretch>
            <a:fillRect/>
          </a:stretch>
        </p:blipFill>
        <p:spPr>
          <a:xfrm>
            <a:off x="270088" y="2937249"/>
            <a:ext cx="6290334" cy="3871656"/>
          </a:xfrm>
          <a:prstGeom prst="rect">
            <a:avLst/>
          </a:prstGeom>
        </p:spPr>
      </p:pic>
      <p:cxnSp>
        <p:nvCxnSpPr>
          <p:cNvPr id="7" name="直接连接符 6">
            <a:extLst>
              <a:ext uri="{FF2B5EF4-FFF2-40B4-BE49-F238E27FC236}">
                <a16:creationId xmlns:a16="http://schemas.microsoft.com/office/drawing/2014/main" id="{4D209D96-D6B5-9A51-DEF5-83D6E6905DFD}"/>
              </a:ext>
            </a:extLst>
          </p:cNvPr>
          <p:cNvCxnSpPr/>
          <p:nvPr/>
        </p:nvCxnSpPr>
        <p:spPr>
          <a:xfrm>
            <a:off x="5124322" y="49095"/>
            <a:ext cx="0" cy="198836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8" name="箭头: 圆角右 7">
            <a:extLst>
              <a:ext uri="{FF2B5EF4-FFF2-40B4-BE49-F238E27FC236}">
                <a16:creationId xmlns:a16="http://schemas.microsoft.com/office/drawing/2014/main" id="{E165D3F6-6CA2-C0C2-9843-EBB6BBB7C5FB}"/>
              </a:ext>
            </a:extLst>
          </p:cNvPr>
          <p:cNvSpPr/>
          <p:nvPr/>
        </p:nvSpPr>
        <p:spPr>
          <a:xfrm>
            <a:off x="5308432" y="1331710"/>
            <a:ext cx="202518" cy="52777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3" name="图片 2">
            <a:extLst>
              <a:ext uri="{FF2B5EF4-FFF2-40B4-BE49-F238E27FC236}">
                <a16:creationId xmlns:a16="http://schemas.microsoft.com/office/drawing/2014/main" id="{20661AF9-16ED-82B6-2E2D-41AAD32F5E5E}"/>
              </a:ext>
            </a:extLst>
          </p:cNvPr>
          <p:cNvPicPr>
            <a:picLocks noChangeAspect="1"/>
          </p:cNvPicPr>
          <p:nvPr/>
        </p:nvPicPr>
        <p:blipFill>
          <a:blip r:embed="rId5"/>
          <a:stretch>
            <a:fillRect/>
          </a:stretch>
        </p:blipFill>
        <p:spPr>
          <a:xfrm>
            <a:off x="5310723" y="2536366"/>
            <a:ext cx="3375490" cy="2412513"/>
          </a:xfrm>
          <a:prstGeom prst="rect">
            <a:avLst/>
          </a:prstGeom>
        </p:spPr>
      </p:pic>
    </p:spTree>
    <p:extLst>
      <p:ext uri="{BB962C8B-B14F-4D97-AF65-F5344CB8AC3E}">
        <p14:creationId xmlns:p14="http://schemas.microsoft.com/office/powerpoint/2010/main" val="237461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6201A6C-E0B4-F7B7-4940-863E15C15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57" y="140118"/>
            <a:ext cx="6691526" cy="1810712"/>
          </a:xfrm>
          <a:prstGeom prst="rect">
            <a:avLst/>
          </a:prstGeom>
        </p:spPr>
      </p:pic>
      <p:cxnSp>
        <p:nvCxnSpPr>
          <p:cNvPr id="7" name="直接连接符 6">
            <a:extLst>
              <a:ext uri="{FF2B5EF4-FFF2-40B4-BE49-F238E27FC236}">
                <a16:creationId xmlns:a16="http://schemas.microsoft.com/office/drawing/2014/main" id="{4D209D96-D6B5-9A51-DEF5-83D6E6905DFD}"/>
              </a:ext>
            </a:extLst>
          </p:cNvPr>
          <p:cNvCxnSpPr/>
          <p:nvPr/>
        </p:nvCxnSpPr>
        <p:spPr>
          <a:xfrm>
            <a:off x="5124322" y="49095"/>
            <a:ext cx="0" cy="198836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8" name="箭头: 圆角右 7">
            <a:extLst>
              <a:ext uri="{FF2B5EF4-FFF2-40B4-BE49-F238E27FC236}">
                <a16:creationId xmlns:a16="http://schemas.microsoft.com/office/drawing/2014/main" id="{E165D3F6-6CA2-C0C2-9843-EBB6BBB7C5FB}"/>
              </a:ext>
            </a:extLst>
          </p:cNvPr>
          <p:cNvSpPr/>
          <p:nvPr/>
        </p:nvSpPr>
        <p:spPr>
          <a:xfrm>
            <a:off x="5308432" y="1331710"/>
            <a:ext cx="202518" cy="52777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5" name="图片 4">
            <a:extLst>
              <a:ext uri="{FF2B5EF4-FFF2-40B4-BE49-F238E27FC236}">
                <a16:creationId xmlns:a16="http://schemas.microsoft.com/office/drawing/2014/main" id="{F018C06D-936A-3F46-B271-06DCA52CA865}"/>
              </a:ext>
            </a:extLst>
          </p:cNvPr>
          <p:cNvPicPr>
            <a:picLocks noChangeAspect="1"/>
          </p:cNvPicPr>
          <p:nvPr/>
        </p:nvPicPr>
        <p:blipFill>
          <a:blip r:embed="rId3"/>
          <a:stretch>
            <a:fillRect/>
          </a:stretch>
        </p:blipFill>
        <p:spPr>
          <a:xfrm>
            <a:off x="552321" y="2075573"/>
            <a:ext cx="3820132" cy="492164"/>
          </a:xfrm>
          <a:prstGeom prst="rect">
            <a:avLst/>
          </a:prstGeom>
        </p:spPr>
      </p:pic>
      <p:pic>
        <p:nvPicPr>
          <p:cNvPr id="10" name="图片 9">
            <a:extLst>
              <a:ext uri="{FF2B5EF4-FFF2-40B4-BE49-F238E27FC236}">
                <a16:creationId xmlns:a16="http://schemas.microsoft.com/office/drawing/2014/main" id="{FE66FAC7-8361-BA1C-F884-C88641C5CA15}"/>
              </a:ext>
            </a:extLst>
          </p:cNvPr>
          <p:cNvPicPr>
            <a:picLocks noChangeAspect="1"/>
          </p:cNvPicPr>
          <p:nvPr/>
        </p:nvPicPr>
        <p:blipFill>
          <a:blip r:embed="rId4"/>
          <a:stretch>
            <a:fillRect/>
          </a:stretch>
        </p:blipFill>
        <p:spPr>
          <a:xfrm>
            <a:off x="0" y="2724150"/>
            <a:ext cx="5343525" cy="1409700"/>
          </a:xfrm>
          <a:prstGeom prst="rect">
            <a:avLst/>
          </a:prstGeom>
        </p:spPr>
      </p:pic>
      <p:pic>
        <p:nvPicPr>
          <p:cNvPr id="12" name="图片 11">
            <a:extLst>
              <a:ext uri="{FF2B5EF4-FFF2-40B4-BE49-F238E27FC236}">
                <a16:creationId xmlns:a16="http://schemas.microsoft.com/office/drawing/2014/main" id="{D808327A-08E9-81A3-7368-EA680FCD0DCC}"/>
              </a:ext>
            </a:extLst>
          </p:cNvPr>
          <p:cNvPicPr>
            <a:picLocks noChangeAspect="1"/>
          </p:cNvPicPr>
          <p:nvPr/>
        </p:nvPicPr>
        <p:blipFill>
          <a:blip r:embed="rId5"/>
          <a:stretch>
            <a:fillRect/>
          </a:stretch>
        </p:blipFill>
        <p:spPr>
          <a:xfrm>
            <a:off x="71024" y="4607296"/>
            <a:ext cx="5898020" cy="918994"/>
          </a:xfrm>
          <a:prstGeom prst="rect">
            <a:avLst/>
          </a:prstGeom>
        </p:spPr>
      </p:pic>
      <p:pic>
        <p:nvPicPr>
          <p:cNvPr id="3" name="图片 2">
            <a:extLst>
              <a:ext uri="{FF2B5EF4-FFF2-40B4-BE49-F238E27FC236}">
                <a16:creationId xmlns:a16="http://schemas.microsoft.com/office/drawing/2014/main" id="{00BF9042-EA0D-BE46-6DC6-0031E35F75CF}"/>
              </a:ext>
            </a:extLst>
          </p:cNvPr>
          <p:cNvPicPr>
            <a:picLocks noChangeAspect="1"/>
          </p:cNvPicPr>
          <p:nvPr/>
        </p:nvPicPr>
        <p:blipFill>
          <a:blip r:embed="rId6"/>
          <a:stretch>
            <a:fillRect/>
          </a:stretch>
        </p:blipFill>
        <p:spPr>
          <a:xfrm>
            <a:off x="5460705" y="2377700"/>
            <a:ext cx="3375490" cy="2412513"/>
          </a:xfrm>
          <a:prstGeom prst="rect">
            <a:avLst/>
          </a:prstGeom>
        </p:spPr>
      </p:pic>
    </p:spTree>
    <p:extLst>
      <p:ext uri="{BB962C8B-B14F-4D97-AF65-F5344CB8AC3E}">
        <p14:creationId xmlns:p14="http://schemas.microsoft.com/office/powerpoint/2010/main" val="1880083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6201A6C-E0B4-F7B7-4940-863E15C15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57" y="140118"/>
            <a:ext cx="6691526" cy="1810712"/>
          </a:xfrm>
          <a:prstGeom prst="rect">
            <a:avLst/>
          </a:prstGeom>
        </p:spPr>
      </p:pic>
      <p:cxnSp>
        <p:nvCxnSpPr>
          <p:cNvPr id="7" name="直接连接符 6">
            <a:extLst>
              <a:ext uri="{FF2B5EF4-FFF2-40B4-BE49-F238E27FC236}">
                <a16:creationId xmlns:a16="http://schemas.microsoft.com/office/drawing/2014/main" id="{4D209D96-D6B5-9A51-DEF5-83D6E6905DFD}"/>
              </a:ext>
            </a:extLst>
          </p:cNvPr>
          <p:cNvCxnSpPr/>
          <p:nvPr/>
        </p:nvCxnSpPr>
        <p:spPr>
          <a:xfrm>
            <a:off x="5124322" y="49095"/>
            <a:ext cx="0" cy="198836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8" name="箭头: 圆角右 7">
            <a:extLst>
              <a:ext uri="{FF2B5EF4-FFF2-40B4-BE49-F238E27FC236}">
                <a16:creationId xmlns:a16="http://schemas.microsoft.com/office/drawing/2014/main" id="{E165D3F6-6CA2-C0C2-9843-EBB6BBB7C5FB}"/>
              </a:ext>
            </a:extLst>
          </p:cNvPr>
          <p:cNvSpPr/>
          <p:nvPr/>
        </p:nvSpPr>
        <p:spPr>
          <a:xfrm>
            <a:off x="1294891" y="1466367"/>
            <a:ext cx="202518" cy="52777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4" name="图片 3">
            <a:extLst>
              <a:ext uri="{FF2B5EF4-FFF2-40B4-BE49-F238E27FC236}">
                <a16:creationId xmlns:a16="http://schemas.microsoft.com/office/drawing/2014/main" id="{7BA118AA-5C4D-2B14-3D9C-6944120EA5E9}"/>
              </a:ext>
            </a:extLst>
          </p:cNvPr>
          <p:cNvPicPr>
            <a:picLocks noChangeAspect="1"/>
          </p:cNvPicPr>
          <p:nvPr/>
        </p:nvPicPr>
        <p:blipFill>
          <a:blip r:embed="rId3"/>
          <a:stretch>
            <a:fillRect/>
          </a:stretch>
        </p:blipFill>
        <p:spPr>
          <a:xfrm>
            <a:off x="257398" y="2095283"/>
            <a:ext cx="3952875" cy="857250"/>
          </a:xfrm>
          <a:prstGeom prst="rect">
            <a:avLst/>
          </a:prstGeom>
        </p:spPr>
      </p:pic>
      <p:pic>
        <p:nvPicPr>
          <p:cNvPr id="9" name="图片 8">
            <a:extLst>
              <a:ext uri="{FF2B5EF4-FFF2-40B4-BE49-F238E27FC236}">
                <a16:creationId xmlns:a16="http://schemas.microsoft.com/office/drawing/2014/main" id="{4250A273-41CF-6060-2A48-DC8943CD5983}"/>
              </a:ext>
            </a:extLst>
          </p:cNvPr>
          <p:cNvPicPr>
            <a:picLocks noChangeAspect="1"/>
          </p:cNvPicPr>
          <p:nvPr/>
        </p:nvPicPr>
        <p:blipFill>
          <a:blip r:embed="rId4"/>
          <a:stretch>
            <a:fillRect/>
          </a:stretch>
        </p:blipFill>
        <p:spPr>
          <a:xfrm>
            <a:off x="781274" y="2995845"/>
            <a:ext cx="2905125" cy="733425"/>
          </a:xfrm>
          <a:prstGeom prst="rect">
            <a:avLst/>
          </a:prstGeom>
        </p:spPr>
      </p:pic>
      <p:pic>
        <p:nvPicPr>
          <p:cNvPr id="13" name="图片 12">
            <a:extLst>
              <a:ext uri="{FF2B5EF4-FFF2-40B4-BE49-F238E27FC236}">
                <a16:creationId xmlns:a16="http://schemas.microsoft.com/office/drawing/2014/main" id="{BDEB7A14-DC75-A06D-07DE-64E7F09C596A}"/>
              </a:ext>
            </a:extLst>
          </p:cNvPr>
          <p:cNvPicPr>
            <a:picLocks noChangeAspect="1"/>
          </p:cNvPicPr>
          <p:nvPr/>
        </p:nvPicPr>
        <p:blipFill>
          <a:blip r:embed="rId5"/>
          <a:stretch>
            <a:fillRect/>
          </a:stretch>
        </p:blipFill>
        <p:spPr>
          <a:xfrm>
            <a:off x="781274" y="4123252"/>
            <a:ext cx="2800350" cy="1076325"/>
          </a:xfrm>
          <a:prstGeom prst="rect">
            <a:avLst/>
          </a:prstGeom>
        </p:spPr>
      </p:pic>
      <p:sp>
        <p:nvSpPr>
          <p:cNvPr id="14" name="箭头: 直角上 13">
            <a:extLst>
              <a:ext uri="{FF2B5EF4-FFF2-40B4-BE49-F238E27FC236}">
                <a16:creationId xmlns:a16="http://schemas.microsoft.com/office/drawing/2014/main" id="{DA14936B-8E28-679F-EA36-853A08FD203C}"/>
              </a:ext>
            </a:extLst>
          </p:cNvPr>
          <p:cNvSpPr/>
          <p:nvPr/>
        </p:nvSpPr>
        <p:spPr>
          <a:xfrm rot="16485345">
            <a:off x="6726056" y="1622486"/>
            <a:ext cx="466404" cy="172188"/>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AE38ACFC-E9D1-98F4-AAB5-7B14BBD2539F}"/>
              </a:ext>
            </a:extLst>
          </p:cNvPr>
          <p:cNvPicPr>
            <a:picLocks noChangeAspect="1"/>
          </p:cNvPicPr>
          <p:nvPr/>
        </p:nvPicPr>
        <p:blipFill>
          <a:blip r:embed="rId6"/>
          <a:stretch>
            <a:fillRect/>
          </a:stretch>
        </p:blipFill>
        <p:spPr>
          <a:xfrm>
            <a:off x="5124322" y="2629313"/>
            <a:ext cx="3375490" cy="2412513"/>
          </a:xfrm>
          <a:prstGeom prst="rect">
            <a:avLst/>
          </a:prstGeom>
        </p:spPr>
      </p:pic>
    </p:spTree>
    <p:extLst>
      <p:ext uri="{BB962C8B-B14F-4D97-AF65-F5344CB8AC3E}">
        <p14:creationId xmlns:p14="http://schemas.microsoft.com/office/powerpoint/2010/main" val="208404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483911-A910-50EC-3607-9704E4ADE08D}"/>
              </a:ext>
            </a:extLst>
          </p:cNvPr>
          <p:cNvSpPr txBox="1"/>
          <p:nvPr/>
        </p:nvSpPr>
        <p:spPr>
          <a:xfrm>
            <a:off x="724155" y="3603063"/>
            <a:ext cx="7806153" cy="830997"/>
          </a:xfrm>
          <a:prstGeom prst="rect">
            <a:avLst/>
          </a:prstGeom>
          <a:noFill/>
        </p:spPr>
        <p:txBody>
          <a:bodyPr wrap="square">
            <a:spAutoFit/>
          </a:bodyPr>
          <a:lstStyle/>
          <a:p>
            <a:r>
              <a:rPr lang="zh-CN" altLang="en-US" dirty="0"/>
              <a:t>也可以认为是三级放大电路，第一级为共射放大电路，第二级为共基放大电路，第三级为共极电极放大电路。</a:t>
            </a:r>
          </a:p>
        </p:txBody>
      </p:sp>
      <p:pic>
        <p:nvPicPr>
          <p:cNvPr id="4" name="图片 3">
            <a:extLst>
              <a:ext uri="{FF2B5EF4-FFF2-40B4-BE49-F238E27FC236}">
                <a16:creationId xmlns:a16="http://schemas.microsoft.com/office/drawing/2014/main" id="{A4CD2878-0B95-F58E-76CE-1D259F9F45F2}"/>
              </a:ext>
            </a:extLst>
          </p:cNvPr>
          <p:cNvPicPr>
            <a:picLocks noChangeAspect="1"/>
          </p:cNvPicPr>
          <p:nvPr/>
        </p:nvPicPr>
        <p:blipFill>
          <a:blip r:embed="rId2"/>
          <a:stretch>
            <a:fillRect/>
          </a:stretch>
        </p:blipFill>
        <p:spPr>
          <a:xfrm>
            <a:off x="2135644" y="505653"/>
            <a:ext cx="4153731" cy="2968733"/>
          </a:xfrm>
          <a:prstGeom prst="rect">
            <a:avLst/>
          </a:prstGeom>
        </p:spPr>
      </p:pic>
    </p:spTree>
    <p:extLst>
      <p:ext uri="{BB962C8B-B14F-4D97-AF65-F5344CB8AC3E}">
        <p14:creationId xmlns:p14="http://schemas.microsoft.com/office/powerpoint/2010/main" val="1595285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457200" y="1341438"/>
            <a:ext cx="7772400" cy="863600"/>
          </a:xfrm>
        </p:spPr>
        <p:txBody>
          <a:bodyPr/>
          <a:lstStyle/>
          <a:p>
            <a:r>
              <a:rPr lang="en-US" altLang="zh-CN" sz="4000" b="1">
                <a:latin typeface="华文行楷" pitchFamily="2" charset="-122"/>
                <a:ea typeface="华文行楷" pitchFamily="2" charset="-122"/>
                <a:cs typeface="Times New Roman" pitchFamily="18" charset="0"/>
              </a:rPr>
              <a:t>§3.3  </a:t>
            </a:r>
            <a:r>
              <a:rPr lang="zh-CN" altLang="en-US" sz="4000" b="1">
                <a:latin typeface="华文行楷" pitchFamily="2" charset="-122"/>
                <a:ea typeface="华文行楷" pitchFamily="2" charset="-122"/>
                <a:cs typeface="Times New Roman" pitchFamily="18" charset="0"/>
              </a:rPr>
              <a:t>直接耦合放大电路</a:t>
            </a:r>
          </a:p>
        </p:txBody>
      </p:sp>
      <p:sp>
        <p:nvSpPr>
          <p:cNvPr id="118787" name="Text Box 9">
            <a:hlinkClick r:id="rId3" action="ppaction://hlinksldjump"/>
          </p:cNvPr>
          <p:cNvSpPr txBox="1">
            <a:spLocks noChangeArrowheads="1"/>
          </p:cNvSpPr>
          <p:nvPr/>
        </p:nvSpPr>
        <p:spPr bwMode="auto">
          <a:xfrm>
            <a:off x="1547813" y="2433638"/>
            <a:ext cx="6777037" cy="523875"/>
          </a:xfrm>
          <a:prstGeom prst="rect">
            <a:avLst/>
          </a:prstGeom>
          <a:noFill/>
          <a:ln w="9525">
            <a:noFill/>
            <a:miter lim="800000"/>
            <a:headEnd/>
            <a:tailEnd/>
          </a:ln>
        </p:spPr>
        <p:txBody>
          <a:bodyPr>
            <a:spAutoFit/>
          </a:bodyPr>
          <a:lstStyle/>
          <a:p>
            <a:pPr eaLnBrk="1" hangingPunct="1">
              <a:spcBef>
                <a:spcPct val="50000"/>
              </a:spcBef>
            </a:pPr>
            <a:r>
              <a:rPr lang="en-US" altLang="zh-CN" sz="2800" b="1">
                <a:ea typeface="华文楷体" pitchFamily="2" charset="-122"/>
              </a:rPr>
              <a:t>3.3.1</a:t>
            </a:r>
            <a:r>
              <a:rPr lang="zh-CN" altLang="en-US" sz="2800" b="1">
                <a:ea typeface="华文楷体" pitchFamily="2" charset="-122"/>
              </a:rPr>
              <a:t>、</a:t>
            </a:r>
            <a:r>
              <a:rPr lang="zh-CN" altLang="en-US" sz="2800" b="1"/>
              <a:t>直接耦合放大电路的零点漂移现象</a:t>
            </a:r>
            <a:endParaRPr lang="zh-CN" altLang="en-US" sz="2800" b="1">
              <a:ea typeface="华文楷体" pitchFamily="2" charset="-122"/>
            </a:endParaRPr>
          </a:p>
        </p:txBody>
      </p:sp>
      <p:sp>
        <p:nvSpPr>
          <p:cNvPr id="118788" name="Text Box 10">
            <a:hlinkClick r:id="rId4" action="ppaction://hlinksldjump"/>
          </p:cNvPr>
          <p:cNvSpPr txBox="1">
            <a:spLocks noChangeArrowheads="1"/>
          </p:cNvSpPr>
          <p:nvPr/>
        </p:nvSpPr>
        <p:spPr bwMode="auto">
          <a:xfrm>
            <a:off x="1547813" y="2967038"/>
            <a:ext cx="5472112" cy="523875"/>
          </a:xfrm>
          <a:prstGeom prst="rect">
            <a:avLst/>
          </a:prstGeom>
          <a:noFill/>
          <a:ln w="9525">
            <a:noFill/>
            <a:miter lim="800000"/>
            <a:headEnd/>
            <a:tailEnd/>
          </a:ln>
        </p:spPr>
        <p:txBody>
          <a:bodyPr>
            <a:spAutoFit/>
          </a:bodyPr>
          <a:lstStyle/>
          <a:p>
            <a:pPr eaLnBrk="1" hangingPunct="1">
              <a:spcBef>
                <a:spcPct val="50000"/>
              </a:spcBef>
            </a:pPr>
            <a:r>
              <a:rPr lang="en-US" altLang="zh-CN" sz="2800" b="1">
                <a:ea typeface="华文楷体" pitchFamily="2" charset="-122"/>
              </a:rPr>
              <a:t>3.3.2</a:t>
            </a:r>
            <a:r>
              <a:rPr lang="zh-CN" altLang="en-US" sz="2800" b="1">
                <a:ea typeface="华文楷体" pitchFamily="2" charset="-122"/>
              </a:rPr>
              <a:t>、</a:t>
            </a:r>
            <a:r>
              <a:rPr lang="zh-CN" altLang="en-US" sz="2800" b="1">
                <a:solidFill>
                  <a:srgbClr val="FF3300"/>
                </a:solidFill>
              </a:rPr>
              <a:t>差分放大电路</a:t>
            </a:r>
            <a:endParaRPr lang="zh-CN" altLang="en-US" sz="2800" b="1">
              <a:ea typeface="华文楷体" pitchFamily="2" charset="-122"/>
            </a:endParaRPr>
          </a:p>
        </p:txBody>
      </p:sp>
      <p:sp>
        <p:nvSpPr>
          <p:cNvPr id="118789" name="Text Box 11">
            <a:hlinkClick r:id="rId4" action="ppaction://hlinksldjump"/>
          </p:cNvPr>
          <p:cNvSpPr txBox="1">
            <a:spLocks noChangeArrowheads="1"/>
          </p:cNvSpPr>
          <p:nvPr/>
        </p:nvSpPr>
        <p:spPr bwMode="auto">
          <a:xfrm>
            <a:off x="1733550" y="3500438"/>
            <a:ext cx="5359400" cy="519112"/>
          </a:xfrm>
          <a:prstGeom prst="rect">
            <a:avLst/>
          </a:prstGeom>
          <a:noFill/>
          <a:ln w="9525">
            <a:noFill/>
            <a:miter lim="800000"/>
            <a:headEnd/>
            <a:tailEnd/>
          </a:ln>
        </p:spPr>
        <p:txBody>
          <a:bodyPr>
            <a:spAutoFit/>
          </a:bodyPr>
          <a:lstStyle/>
          <a:p>
            <a:pPr eaLnBrk="1" hangingPunct="1">
              <a:spcBef>
                <a:spcPct val="20000"/>
              </a:spcBef>
            </a:pPr>
            <a:r>
              <a:rPr lang="zh-CN" altLang="en-US" sz="2800" b="1">
                <a:ea typeface="华文楷体" pitchFamily="2" charset="-122"/>
              </a:rPr>
              <a:t>一、差分放大电路的组成</a:t>
            </a:r>
          </a:p>
        </p:txBody>
      </p:sp>
      <p:sp>
        <p:nvSpPr>
          <p:cNvPr id="118790" name="Text Box 12">
            <a:hlinkClick r:id="rId5" action="ppaction://hlinksldjump"/>
          </p:cNvPr>
          <p:cNvSpPr txBox="1">
            <a:spLocks noChangeArrowheads="1"/>
          </p:cNvSpPr>
          <p:nvPr/>
        </p:nvSpPr>
        <p:spPr bwMode="auto">
          <a:xfrm>
            <a:off x="1512888" y="4538663"/>
            <a:ext cx="5283200" cy="519112"/>
          </a:xfrm>
          <a:prstGeom prst="rect">
            <a:avLst/>
          </a:prstGeom>
          <a:noFill/>
          <a:ln w="9525">
            <a:noFill/>
            <a:miter lim="800000"/>
            <a:headEnd/>
            <a:tailEnd/>
          </a:ln>
        </p:spPr>
        <p:txBody>
          <a:bodyPr>
            <a:spAutoFit/>
          </a:bodyPr>
          <a:lstStyle/>
          <a:p>
            <a:pPr algn="ctr" eaLnBrk="1" hangingPunct="1">
              <a:spcBef>
                <a:spcPct val="50000"/>
              </a:spcBef>
            </a:pPr>
            <a:r>
              <a:rPr lang="zh-CN" altLang="en-US" sz="2800" b="1">
                <a:ea typeface="华文楷体" pitchFamily="2" charset="-122"/>
              </a:rPr>
              <a:t>三、差分放大电路的四种接法</a:t>
            </a:r>
          </a:p>
        </p:txBody>
      </p:sp>
      <p:sp>
        <p:nvSpPr>
          <p:cNvPr id="118791" name="Text Box 13">
            <a:hlinkClick r:id="rId6" action="ppaction://hlinksldjump"/>
          </p:cNvPr>
          <p:cNvSpPr txBox="1">
            <a:spLocks noChangeArrowheads="1"/>
          </p:cNvSpPr>
          <p:nvPr/>
        </p:nvSpPr>
        <p:spPr bwMode="auto">
          <a:xfrm>
            <a:off x="1595438" y="5072063"/>
            <a:ext cx="5400675" cy="519112"/>
          </a:xfrm>
          <a:prstGeom prst="rect">
            <a:avLst/>
          </a:prstGeom>
          <a:noFill/>
          <a:ln w="9525">
            <a:noFill/>
            <a:miter lim="800000"/>
            <a:headEnd/>
            <a:tailEnd/>
          </a:ln>
        </p:spPr>
        <p:txBody>
          <a:bodyPr>
            <a:spAutoFit/>
          </a:bodyPr>
          <a:lstStyle/>
          <a:p>
            <a:pPr algn="ctr" eaLnBrk="1" hangingPunct="1">
              <a:spcBef>
                <a:spcPct val="20000"/>
              </a:spcBef>
            </a:pPr>
            <a:r>
              <a:rPr lang="zh-CN" altLang="en-US" sz="2800" b="1">
                <a:ea typeface="华文楷体" pitchFamily="2" charset="-122"/>
              </a:rPr>
              <a:t>四、具有恒流源的差分放大电路</a:t>
            </a:r>
          </a:p>
        </p:txBody>
      </p:sp>
      <p:sp>
        <p:nvSpPr>
          <p:cNvPr id="118792" name="Text Box 14">
            <a:hlinkClick r:id="rId7" action="ppaction://hlinksldjump"/>
          </p:cNvPr>
          <p:cNvSpPr txBox="1">
            <a:spLocks noChangeArrowheads="1"/>
          </p:cNvSpPr>
          <p:nvPr/>
        </p:nvSpPr>
        <p:spPr bwMode="auto">
          <a:xfrm>
            <a:off x="1387475" y="5621338"/>
            <a:ext cx="4768850" cy="519112"/>
          </a:xfrm>
          <a:prstGeom prst="rect">
            <a:avLst/>
          </a:prstGeom>
          <a:noFill/>
          <a:ln w="9525">
            <a:noFill/>
            <a:miter lim="800000"/>
            <a:headEnd/>
            <a:tailEnd/>
          </a:ln>
        </p:spPr>
        <p:txBody>
          <a:bodyPr>
            <a:spAutoFit/>
          </a:bodyPr>
          <a:lstStyle/>
          <a:p>
            <a:pPr algn="ctr" eaLnBrk="1" hangingPunct="1">
              <a:spcBef>
                <a:spcPct val="20000"/>
              </a:spcBef>
            </a:pPr>
            <a:r>
              <a:rPr lang="zh-CN" altLang="en-US" sz="2800" b="1">
                <a:ea typeface="华文楷体" pitchFamily="2" charset="-122"/>
              </a:rPr>
              <a:t>五、差分放大电路的改进</a:t>
            </a:r>
          </a:p>
        </p:txBody>
      </p:sp>
      <p:sp>
        <p:nvSpPr>
          <p:cNvPr id="118793" name="Text Box 11">
            <a:hlinkClick r:id="rId4" action="ppaction://hlinksldjump"/>
          </p:cNvPr>
          <p:cNvSpPr txBox="1">
            <a:spLocks noChangeArrowheads="1"/>
          </p:cNvSpPr>
          <p:nvPr/>
        </p:nvSpPr>
        <p:spPr bwMode="auto">
          <a:xfrm>
            <a:off x="1543050" y="3968750"/>
            <a:ext cx="5545138" cy="519113"/>
          </a:xfrm>
          <a:prstGeom prst="rect">
            <a:avLst/>
          </a:prstGeom>
          <a:noFill/>
          <a:ln w="9525">
            <a:noFill/>
            <a:miter lim="800000"/>
            <a:headEnd/>
            <a:tailEnd/>
          </a:ln>
        </p:spPr>
        <p:txBody>
          <a:bodyPr>
            <a:spAutoFit/>
          </a:bodyPr>
          <a:lstStyle/>
          <a:p>
            <a:pPr algn="ctr" eaLnBrk="1" hangingPunct="1">
              <a:spcBef>
                <a:spcPct val="20000"/>
              </a:spcBef>
            </a:pPr>
            <a:r>
              <a:rPr lang="zh-CN" altLang="en-US" sz="2800" b="1" dirty="0">
                <a:ea typeface="华文楷体" pitchFamily="2" charset="-122"/>
              </a:rPr>
              <a:t>二、长尾式</a:t>
            </a:r>
            <a:r>
              <a:rPr lang="zh-CN" altLang="en-US" sz="2800" b="1" dirty="0">
                <a:solidFill>
                  <a:srgbClr val="0000FF"/>
                </a:solidFill>
                <a:ea typeface="华文楷体" pitchFamily="2" charset="-122"/>
              </a:rPr>
              <a:t>差分放大电路的分析</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DA87D-D561-090C-BEE0-A60B088CF0C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D7AE78A-1A69-E4E2-BD4B-105238E794CD}"/>
              </a:ext>
            </a:extLst>
          </p:cNvPr>
          <p:cNvSpPr>
            <a:spLocks noChangeArrowheads="1"/>
          </p:cNvSpPr>
          <p:nvPr/>
        </p:nvSpPr>
        <p:spPr bwMode="auto">
          <a:xfrm>
            <a:off x="433132" y="1536498"/>
            <a:ext cx="8115300" cy="3539430"/>
          </a:xfrm>
          <a:prstGeom prst="rect">
            <a:avLst/>
          </a:prstGeom>
          <a:noFill/>
          <a:ln w="9525">
            <a:noFill/>
            <a:miter lim="800000"/>
            <a:headEnd/>
            <a:tailEnd/>
          </a:ln>
        </p:spPr>
        <p:txBody>
          <a:bodyPr>
            <a:spAutoFit/>
          </a:bodyPr>
          <a:lstStyle/>
          <a:p>
            <a:pPr eaLnBrk="1" hangingPunct="1"/>
            <a:r>
              <a:rPr lang="zh-CN" altLang="en-US" sz="3200" b="1" dirty="0">
                <a:latin typeface="华文新魏" pitchFamily="2" charset="-122"/>
                <a:ea typeface="华文新魏" pitchFamily="2" charset="-122"/>
                <a:hlinkClick r:id="rId2"/>
              </a:rPr>
              <a:t>对于差分放大电路</a:t>
            </a:r>
            <a:endParaRPr lang="en-US" altLang="zh-CN" sz="3200" b="1" dirty="0">
              <a:latin typeface="华文新魏" pitchFamily="2" charset="-122"/>
              <a:ea typeface="华文新魏" pitchFamily="2" charset="-122"/>
              <a:hlinkClick r:id="rId2"/>
            </a:endParaRPr>
          </a:p>
          <a:p>
            <a:pPr eaLnBrk="1" hangingPunct="1"/>
            <a:r>
              <a:rPr lang="en-US" altLang="zh-CN" sz="3200" b="1" dirty="0" err="1">
                <a:latin typeface="华文新魏" pitchFamily="2" charset="-122"/>
                <a:ea typeface="华文新魏" pitchFamily="2" charset="-122"/>
                <a:hlinkClick r:id="rId2"/>
              </a:rPr>
              <a:t>共模信号</a:t>
            </a:r>
            <a:r>
              <a:rPr lang="zh-CN" altLang="en-US" sz="3200" b="1" dirty="0">
                <a:latin typeface="华文新魏" pitchFamily="2" charset="-122"/>
                <a:ea typeface="华文新魏" pitchFamily="2" charset="-122"/>
              </a:rPr>
              <a:t>是</a:t>
            </a:r>
            <a:r>
              <a:rPr lang="en-US" altLang="zh-CN" sz="3200" b="1" dirty="0" err="1">
                <a:latin typeface="华文新魏" pitchFamily="2" charset="-122"/>
                <a:ea typeface="华文新魏" pitchFamily="2" charset="-122"/>
                <a:hlinkClick r:id="rId3"/>
              </a:rPr>
              <a:t>电路</a:t>
            </a:r>
            <a:r>
              <a:rPr lang="zh-CN" altLang="en-US" sz="3200" b="1" dirty="0">
                <a:latin typeface="华文新魏" pitchFamily="2" charset="-122"/>
                <a:ea typeface="华文新魏" pitchFamily="2" charset="-122"/>
              </a:rPr>
              <a:t>固有的，如</a:t>
            </a:r>
            <a:r>
              <a:rPr lang="en-US" altLang="zh-CN" sz="3200" b="1" dirty="0">
                <a:latin typeface="华文新魏" pitchFamily="2" charset="-122"/>
                <a:ea typeface="华文新魏" pitchFamily="2" charset="-122"/>
              </a:rPr>
              <a:t>:</a:t>
            </a:r>
            <a:r>
              <a:rPr lang="zh-CN" altLang="en-US" sz="3200" b="1" dirty="0">
                <a:latin typeface="华文新魏" pitchFamily="2" charset="-122"/>
                <a:ea typeface="华文新魏" pitchFamily="2" charset="-122"/>
                <a:hlinkClick r:id="rId2"/>
              </a:rPr>
              <a:t>温漂、电源误差、</a:t>
            </a:r>
            <a:r>
              <a:rPr lang="en-US" altLang="zh-CN" sz="3200" b="1" dirty="0" err="1">
                <a:latin typeface="华文新魏" pitchFamily="2" charset="-122"/>
                <a:ea typeface="华文新魏" pitchFamily="2" charset="-122"/>
                <a:hlinkClick r:id="rId4"/>
              </a:rPr>
              <a:t>外界</a:t>
            </a:r>
            <a:r>
              <a:rPr lang="zh-CN" altLang="en-US" sz="3200" b="1" dirty="0">
                <a:latin typeface="华文新魏" pitchFamily="2" charset="-122"/>
                <a:ea typeface="华文新魏" pitchFamily="2" charset="-122"/>
              </a:rPr>
              <a:t>干扰等同时加载在两个</a:t>
            </a:r>
            <a:r>
              <a:rPr lang="en-US" altLang="zh-CN" sz="3200" b="1" dirty="0" err="1">
                <a:latin typeface="华文新魏" pitchFamily="2" charset="-122"/>
                <a:ea typeface="华文新魏" pitchFamily="2" charset="-122"/>
                <a:hlinkClick r:id="rId5"/>
              </a:rPr>
              <a:t>通道</a:t>
            </a:r>
            <a:r>
              <a:rPr lang="zh-CN" altLang="en-US" sz="3200" b="1" dirty="0">
                <a:latin typeface="华文新魏" pitchFamily="2" charset="-122"/>
                <a:ea typeface="华文新魏" pitchFamily="2" charset="-122"/>
              </a:rPr>
              <a:t>的信号，不可能为零，否则就无需用</a:t>
            </a:r>
            <a:r>
              <a:rPr lang="en-US" altLang="zh-CN" sz="3200" b="1" dirty="0" err="1">
                <a:latin typeface="华文新魏" pitchFamily="2" charset="-122"/>
                <a:ea typeface="华文新魏" pitchFamily="2" charset="-122"/>
                <a:hlinkClick r:id="rId6"/>
              </a:rPr>
              <a:t>差分电路</a:t>
            </a:r>
            <a:r>
              <a:rPr lang="zh-CN" altLang="en-US" sz="3200" b="1" dirty="0">
                <a:latin typeface="华文新魏" pitchFamily="2" charset="-122"/>
                <a:ea typeface="华文新魏" pitchFamily="2" charset="-122"/>
              </a:rPr>
              <a:t>来抑制共模信号</a:t>
            </a:r>
            <a:r>
              <a:rPr lang="en-US" altLang="zh-CN" sz="3200" b="1" dirty="0">
                <a:latin typeface="华文新魏" pitchFamily="2" charset="-122"/>
                <a:ea typeface="华文新魏" pitchFamily="2" charset="-122"/>
              </a:rPr>
              <a:t>;</a:t>
            </a:r>
          </a:p>
          <a:p>
            <a:pPr eaLnBrk="1" hangingPunct="1"/>
            <a:r>
              <a:rPr lang="en-US" altLang="zh-CN" sz="3200" b="1" dirty="0" err="1">
                <a:latin typeface="华文新魏" pitchFamily="2" charset="-122"/>
                <a:ea typeface="华文新魏" pitchFamily="2" charset="-122"/>
                <a:hlinkClick r:id="rId7"/>
              </a:rPr>
              <a:t>差模信号</a:t>
            </a:r>
            <a:r>
              <a:rPr lang="zh-CN" altLang="en-US" sz="3200" b="1" dirty="0">
                <a:latin typeface="华文新魏" pitchFamily="2" charset="-122"/>
                <a:ea typeface="华文新魏" pitchFamily="2" charset="-122"/>
              </a:rPr>
              <a:t>是</a:t>
            </a:r>
            <a:r>
              <a:rPr lang="en-US" altLang="zh-CN" sz="3200" b="1" dirty="0" err="1">
                <a:latin typeface="华文新魏" pitchFamily="2" charset="-122"/>
                <a:ea typeface="华文新魏" pitchFamily="2" charset="-122"/>
                <a:hlinkClick r:id="rId8"/>
              </a:rPr>
              <a:t>放大器</a:t>
            </a:r>
            <a:r>
              <a:rPr lang="zh-CN" altLang="en-US" sz="3200" b="1" dirty="0">
                <a:latin typeface="华文新魏" pitchFamily="2" charset="-122"/>
                <a:ea typeface="华文新魏" pitchFamily="2" charset="-122"/>
              </a:rPr>
              <a:t>的</a:t>
            </a:r>
            <a:r>
              <a:rPr lang="zh-CN" altLang="en-US" sz="3200" b="1" dirty="0">
                <a:solidFill>
                  <a:srgbClr val="FF0000"/>
                </a:solidFill>
                <a:latin typeface="华文新魏" pitchFamily="2" charset="-122"/>
                <a:ea typeface="华文新魏" pitchFamily="2" charset="-122"/>
              </a:rPr>
              <a:t>正常</a:t>
            </a:r>
            <a:r>
              <a:rPr lang="en-US" altLang="zh-CN" sz="3200" b="1" dirty="0" err="1">
                <a:solidFill>
                  <a:srgbClr val="FF0000"/>
                </a:solidFill>
                <a:latin typeface="华文新魏" pitchFamily="2" charset="-122"/>
                <a:ea typeface="华文新魏" pitchFamily="2" charset="-122"/>
                <a:hlinkClick r:id="rId9"/>
              </a:rPr>
              <a:t>输入信号</a:t>
            </a:r>
            <a:r>
              <a:rPr lang="zh-CN" altLang="en-US" sz="3200" b="1" dirty="0">
                <a:latin typeface="华文新魏" pitchFamily="2" charset="-122"/>
                <a:ea typeface="华文新魏" pitchFamily="2" charset="-122"/>
              </a:rPr>
              <a:t>，</a:t>
            </a:r>
            <a:endParaRPr lang="en-US" altLang="zh-CN" sz="3200" b="1" dirty="0">
              <a:latin typeface="华文新魏" pitchFamily="2" charset="-122"/>
              <a:ea typeface="华文新魏" pitchFamily="2" charset="-122"/>
            </a:endParaRPr>
          </a:p>
          <a:p>
            <a:pPr eaLnBrk="1" hangingPunct="1"/>
            <a:r>
              <a:rPr lang="zh-CN" altLang="en-US" sz="3200" b="1" dirty="0">
                <a:solidFill>
                  <a:srgbClr val="FF0000"/>
                </a:solidFill>
                <a:latin typeface="华文新魏" pitchFamily="2" charset="-122"/>
                <a:ea typeface="华文新魏" pitchFamily="2" charset="-122"/>
              </a:rPr>
              <a:t>两种信号同时存在</a:t>
            </a:r>
            <a:endParaRPr lang="zh-CN" altLang="en-US" sz="3200" b="1" dirty="0">
              <a:latin typeface="华文新魏" pitchFamily="2" charset="-122"/>
              <a:ea typeface="华文新魏" pitchFamily="2" charset="-122"/>
            </a:endParaRPr>
          </a:p>
        </p:txBody>
      </p:sp>
      <p:sp>
        <p:nvSpPr>
          <p:cNvPr id="4" name="文本框 3">
            <a:extLst>
              <a:ext uri="{FF2B5EF4-FFF2-40B4-BE49-F238E27FC236}">
                <a16:creationId xmlns:a16="http://schemas.microsoft.com/office/drawing/2014/main" id="{360DB7F4-B35B-3F7F-5303-E28EB93D8AAB}"/>
              </a:ext>
            </a:extLst>
          </p:cNvPr>
          <p:cNvSpPr txBox="1"/>
          <p:nvPr/>
        </p:nvSpPr>
        <p:spPr>
          <a:xfrm>
            <a:off x="150353" y="333764"/>
            <a:ext cx="8115299" cy="646331"/>
          </a:xfrm>
          <a:prstGeom prst="rect">
            <a:avLst/>
          </a:prstGeom>
          <a:noFill/>
        </p:spPr>
        <p:txBody>
          <a:bodyPr wrap="square">
            <a:spAutoFit/>
          </a:bodyPr>
          <a:lstStyle/>
          <a:p>
            <a:r>
              <a:rPr lang="zh-CN" altLang="en-US" sz="3600" b="1" dirty="0">
                <a:solidFill>
                  <a:srgbClr val="0000FF"/>
                </a:solidFill>
                <a:latin typeface="华文新魏" pitchFamily="2" charset="-122"/>
                <a:ea typeface="华文新魏" pitchFamily="2" charset="-122"/>
                <a:hlinkClick r:id="rId2">
                  <a:extLst>
                    <a:ext uri="{A12FA001-AC4F-418D-AE19-62706E023703}">
                      <ahyp:hlinkClr xmlns:ahyp="http://schemas.microsoft.com/office/drawing/2018/hyperlinkcolor" val="tx"/>
                    </a:ext>
                  </a:extLst>
                </a:hlinkClick>
              </a:rPr>
              <a:t>引入</a:t>
            </a:r>
            <a:r>
              <a:rPr lang="en-US" altLang="zh-CN" sz="3600" b="1" dirty="0" err="1">
                <a:latin typeface="华文新魏" pitchFamily="2" charset="-122"/>
                <a:ea typeface="华文新魏" pitchFamily="2" charset="-122"/>
                <a:hlinkClick r:id="rId2">
                  <a:extLst>
                    <a:ext uri="{A12FA001-AC4F-418D-AE19-62706E023703}">
                      <ahyp:hlinkClr xmlns:ahyp="http://schemas.microsoft.com/office/drawing/2018/hyperlinkcolor" val="tx"/>
                    </a:ext>
                  </a:extLst>
                </a:hlinkClick>
              </a:rPr>
              <a:t>共模信号</a:t>
            </a:r>
            <a:r>
              <a:rPr lang="zh-CN" altLang="en-US" sz="3600" b="1" dirty="0">
                <a:latin typeface="华文新魏" pitchFamily="2" charset="-122"/>
                <a:ea typeface="华文新魏" pitchFamily="2" charset="-122"/>
              </a:rPr>
              <a:t>和</a:t>
            </a:r>
            <a:r>
              <a:rPr lang="en-US" altLang="zh-CN" sz="3600" b="1" dirty="0" err="1">
                <a:latin typeface="华文新魏" pitchFamily="2" charset="-122"/>
                <a:ea typeface="华文新魏" pitchFamily="2" charset="-122"/>
                <a:hlinkClick r:id="rId7">
                  <a:extLst>
                    <a:ext uri="{A12FA001-AC4F-418D-AE19-62706E023703}">
                      <ahyp:hlinkClr xmlns:ahyp="http://schemas.microsoft.com/office/drawing/2018/hyperlinkcolor" val="tx"/>
                    </a:ext>
                  </a:extLst>
                </a:hlinkClick>
              </a:rPr>
              <a:t>差模信号</a:t>
            </a:r>
            <a:r>
              <a:rPr lang="zh-CN" altLang="en-US" sz="3600" b="1" dirty="0">
                <a:latin typeface="华文新魏" pitchFamily="2" charset="-122"/>
                <a:ea typeface="华文新魏" pitchFamily="2" charset="-122"/>
              </a:rPr>
              <a:t>概念</a:t>
            </a:r>
            <a:endParaRPr lang="zh-CN" altLang="en-US" sz="3600" dirty="0"/>
          </a:p>
        </p:txBody>
      </p:sp>
    </p:spTree>
    <p:extLst>
      <p:ext uri="{BB962C8B-B14F-4D97-AF65-F5344CB8AC3E}">
        <p14:creationId xmlns:p14="http://schemas.microsoft.com/office/powerpoint/2010/main" val="2160930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2">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1403-5429-2731-B1B7-B56831990CE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A7B73DA-08B4-3090-50BF-B12F2815452D}"/>
              </a:ext>
            </a:extLst>
          </p:cNvPr>
          <p:cNvSpPr>
            <a:spLocks noChangeArrowheads="1"/>
          </p:cNvSpPr>
          <p:nvPr/>
        </p:nvSpPr>
        <p:spPr bwMode="auto">
          <a:xfrm>
            <a:off x="200025" y="2100263"/>
            <a:ext cx="8372475" cy="4832092"/>
          </a:xfrm>
          <a:prstGeom prst="rect">
            <a:avLst/>
          </a:prstGeom>
          <a:noFill/>
          <a:ln w="9525">
            <a:noFill/>
            <a:miter lim="800000"/>
            <a:headEnd/>
            <a:tailEnd/>
          </a:ln>
        </p:spPr>
        <p:txBody>
          <a:bodyPr>
            <a:spAutoFit/>
          </a:bodyPr>
          <a:lstStyle/>
          <a:p>
            <a:pPr eaLnBrk="1" hangingPunct="1"/>
            <a:r>
              <a:rPr lang="zh-CN" altLang="en-US" sz="3200" b="1" dirty="0">
                <a:solidFill>
                  <a:srgbClr val="0000FF"/>
                </a:solidFill>
                <a:latin typeface="华文新魏" pitchFamily="2" charset="-122"/>
                <a:ea typeface="华文新魏" pitchFamily="2" charset="-122"/>
              </a:rPr>
              <a:t>与书上讲解一致</a:t>
            </a:r>
            <a:br>
              <a:rPr lang="zh-CN" altLang="en-US" sz="3200" b="1" dirty="0">
                <a:latin typeface="华文新魏" pitchFamily="2" charset="-122"/>
                <a:ea typeface="华文新魏" pitchFamily="2" charset="-122"/>
              </a:rPr>
            </a:br>
            <a:r>
              <a:rPr lang="en-US" altLang="zh-CN" sz="3200" b="1" dirty="0" err="1">
                <a:latin typeface="华文新魏" pitchFamily="2" charset="-122"/>
                <a:ea typeface="华文新魏" pitchFamily="2" charset="-122"/>
              </a:rPr>
              <a:t>m,</a:t>
            </a:r>
            <a:r>
              <a:rPr lang="en-US" altLang="zh-CN" sz="3200" b="1" dirty="0" err="1">
                <a:solidFill>
                  <a:srgbClr val="FF0000"/>
                </a:solidFill>
                <a:latin typeface="华文新魏" pitchFamily="2" charset="-122"/>
                <a:ea typeface="华文新魏" pitchFamily="2" charset="-122"/>
              </a:rPr>
              <a:t>n</a:t>
            </a:r>
            <a:r>
              <a:rPr lang="en-US" altLang="zh-CN" sz="3200" b="1" dirty="0">
                <a:solidFill>
                  <a:srgbClr val="FF0000"/>
                </a:solidFill>
                <a:latin typeface="华文新魏" pitchFamily="2" charset="-122"/>
                <a:ea typeface="华文新魏" pitchFamily="2" charset="-122"/>
              </a:rPr>
              <a:t>/2</a:t>
            </a:r>
            <a:r>
              <a:rPr lang="zh-CN" altLang="en-US" sz="3200" b="1" dirty="0">
                <a:latin typeface="华文新魏" pitchFamily="2" charset="-122"/>
                <a:ea typeface="华文新魏" pitchFamily="2" charset="-122"/>
              </a:rPr>
              <a:t>分别为输入信号</a:t>
            </a:r>
            <a:r>
              <a:rPr lang="en-US" altLang="zh-CN" sz="3200" b="1" i="1" dirty="0">
                <a:solidFill>
                  <a:schemeClr val="accent2"/>
                </a:solidFill>
              </a:rPr>
              <a:t>u</a:t>
            </a:r>
            <a:r>
              <a:rPr lang="en-US" altLang="zh-CN" sz="1800" b="1" dirty="0">
                <a:solidFill>
                  <a:schemeClr val="accent2"/>
                </a:solidFill>
              </a:rPr>
              <a:t>i1</a:t>
            </a:r>
            <a:r>
              <a:rPr lang="en-US" altLang="zh-CN" sz="3200" b="1" dirty="0">
                <a:solidFill>
                  <a:schemeClr val="accent2"/>
                </a:solidFill>
              </a:rPr>
              <a:t> </a:t>
            </a:r>
            <a:r>
              <a:rPr lang="zh-CN" altLang="en-US" sz="3200" b="1" dirty="0">
                <a:latin typeface="华文新魏" pitchFamily="2" charset="-122"/>
                <a:ea typeface="华文新魏" pitchFamily="2" charset="-122"/>
              </a:rPr>
              <a:t>，</a:t>
            </a:r>
            <a:r>
              <a:rPr lang="en-US" altLang="zh-CN" sz="3200" b="1" i="1" dirty="0">
                <a:solidFill>
                  <a:schemeClr val="accent2"/>
                </a:solidFill>
              </a:rPr>
              <a:t> u</a:t>
            </a:r>
            <a:r>
              <a:rPr lang="en-US" altLang="zh-CN" sz="1800" b="1" dirty="0">
                <a:solidFill>
                  <a:schemeClr val="accent2"/>
                </a:solidFill>
              </a:rPr>
              <a:t>i2</a:t>
            </a:r>
            <a:r>
              <a:rPr lang="zh-CN" altLang="en-US" sz="3200" b="1" dirty="0">
                <a:latin typeface="华文新魏" pitchFamily="2" charset="-122"/>
                <a:ea typeface="华文新魏" pitchFamily="2" charset="-122"/>
              </a:rPr>
              <a:t>的共模信号成分和差模信号成分。</a:t>
            </a:r>
            <a:br>
              <a:rPr lang="zh-CN" altLang="en-US" sz="3200" b="1" dirty="0">
                <a:latin typeface="华文新魏" pitchFamily="2" charset="-122"/>
                <a:ea typeface="华文新魏" pitchFamily="2" charset="-122"/>
              </a:rPr>
            </a:br>
            <a:r>
              <a:rPr lang="zh-CN" altLang="en-US" sz="3200" b="1" dirty="0">
                <a:latin typeface="华文新魏" pitchFamily="2" charset="-122"/>
                <a:ea typeface="华文新魏" pitchFamily="2" charset="-122"/>
              </a:rPr>
              <a:t>输入信号</a:t>
            </a:r>
            <a:r>
              <a:rPr lang="en-US" altLang="zh-CN" sz="3200" b="1" i="1" dirty="0">
                <a:solidFill>
                  <a:schemeClr val="accent2"/>
                </a:solidFill>
              </a:rPr>
              <a:t>u</a:t>
            </a:r>
            <a:r>
              <a:rPr lang="en-US" altLang="zh-CN" sz="1800" b="1" dirty="0">
                <a:solidFill>
                  <a:schemeClr val="accent2"/>
                </a:solidFill>
              </a:rPr>
              <a:t>i1</a:t>
            </a:r>
            <a:r>
              <a:rPr lang="en-US" altLang="zh-CN" sz="3200" b="1" dirty="0">
                <a:solidFill>
                  <a:schemeClr val="accent2"/>
                </a:solidFill>
              </a:rPr>
              <a:t> </a:t>
            </a:r>
            <a:r>
              <a:rPr lang="zh-CN" altLang="en-US" sz="3200" b="1" dirty="0">
                <a:latin typeface="华文新魏" pitchFamily="2" charset="-122"/>
                <a:ea typeface="华文新魏" pitchFamily="2" charset="-122"/>
              </a:rPr>
              <a:t>，</a:t>
            </a:r>
            <a:r>
              <a:rPr lang="en-US" altLang="zh-CN" sz="3200" b="1" i="1" dirty="0">
                <a:solidFill>
                  <a:schemeClr val="accent2"/>
                </a:solidFill>
              </a:rPr>
              <a:t> u</a:t>
            </a:r>
            <a:r>
              <a:rPr lang="en-US" altLang="zh-CN" sz="1800" b="1" dirty="0">
                <a:solidFill>
                  <a:schemeClr val="accent2"/>
                </a:solidFill>
              </a:rPr>
              <a:t>i2</a:t>
            </a:r>
            <a:r>
              <a:rPr lang="zh-CN" altLang="en-US" sz="3200" b="1" dirty="0">
                <a:latin typeface="华文新魏" pitchFamily="2" charset="-122"/>
                <a:ea typeface="华文新魏" pitchFamily="2" charset="-122"/>
              </a:rPr>
              <a:t>可表示为：</a:t>
            </a:r>
            <a:endParaRPr lang="en-US" altLang="zh-CN" sz="3200" b="1" dirty="0">
              <a:latin typeface="华文新魏" pitchFamily="2" charset="-122"/>
              <a:ea typeface="华文新魏" pitchFamily="2" charset="-122"/>
            </a:endParaRPr>
          </a:p>
          <a:p>
            <a:pPr eaLnBrk="1" hangingPunct="1"/>
            <a:r>
              <a:rPr lang="en-US" altLang="zh-CN" sz="3200" b="1" dirty="0">
                <a:latin typeface="华文新魏" pitchFamily="2" charset="-122"/>
                <a:ea typeface="华文新魏" pitchFamily="2" charset="-122"/>
              </a:rPr>
              <a:t>               </a:t>
            </a:r>
            <a:r>
              <a:rPr lang="en-US" altLang="zh-CN" sz="4000" b="1" i="1" dirty="0">
                <a:solidFill>
                  <a:schemeClr val="accent2"/>
                </a:solidFill>
              </a:rPr>
              <a:t>u</a:t>
            </a:r>
            <a:r>
              <a:rPr lang="en-US" altLang="zh-CN" sz="2000" b="1" dirty="0">
                <a:solidFill>
                  <a:schemeClr val="accent2"/>
                </a:solidFill>
              </a:rPr>
              <a:t>i1</a:t>
            </a:r>
            <a:r>
              <a:rPr lang="en-US" altLang="zh-CN" sz="3200" b="1" dirty="0">
                <a:solidFill>
                  <a:schemeClr val="accent2"/>
                </a:solidFill>
              </a:rPr>
              <a:t> </a:t>
            </a:r>
            <a:r>
              <a:rPr lang="en-US" altLang="zh-CN" sz="4000" b="1" dirty="0">
                <a:solidFill>
                  <a:srgbClr val="FF0000"/>
                </a:solidFill>
                <a:latin typeface="华文新魏" pitchFamily="2" charset="-122"/>
                <a:ea typeface="华文新魏" pitchFamily="2" charset="-122"/>
              </a:rPr>
              <a:t>=</a:t>
            </a:r>
            <a:r>
              <a:rPr lang="en-US" altLang="zh-CN" sz="4000" b="1" dirty="0" err="1">
                <a:solidFill>
                  <a:srgbClr val="FF0000"/>
                </a:solidFill>
                <a:latin typeface="华文新魏" pitchFamily="2" charset="-122"/>
                <a:ea typeface="华文新魏" pitchFamily="2" charset="-122"/>
              </a:rPr>
              <a:t>m+n</a:t>
            </a:r>
            <a:r>
              <a:rPr lang="en-US" altLang="zh-CN" sz="4000" b="1" dirty="0">
                <a:solidFill>
                  <a:srgbClr val="FF0000"/>
                </a:solidFill>
                <a:latin typeface="华文新魏" pitchFamily="2" charset="-122"/>
                <a:ea typeface="华文新魏" pitchFamily="2" charset="-122"/>
              </a:rPr>
              <a:t>/2</a:t>
            </a:r>
            <a:r>
              <a:rPr lang="zh-CN" altLang="en-US" sz="4000" b="1" dirty="0">
                <a:solidFill>
                  <a:srgbClr val="FF0000"/>
                </a:solidFill>
                <a:latin typeface="华文新魏" pitchFamily="2" charset="-122"/>
                <a:ea typeface="华文新魏" pitchFamily="2" charset="-122"/>
              </a:rPr>
              <a:t>；</a:t>
            </a:r>
            <a:r>
              <a:rPr lang="en-US" altLang="zh-CN" sz="4000" b="1" i="1" dirty="0">
                <a:solidFill>
                  <a:schemeClr val="accent2"/>
                </a:solidFill>
              </a:rPr>
              <a:t> u</a:t>
            </a:r>
            <a:r>
              <a:rPr lang="en-US" altLang="zh-CN" sz="2000" b="1" dirty="0">
                <a:solidFill>
                  <a:schemeClr val="accent2"/>
                </a:solidFill>
              </a:rPr>
              <a:t>i2</a:t>
            </a:r>
            <a:r>
              <a:rPr lang="en-US" altLang="zh-CN" sz="4000" b="1" dirty="0">
                <a:solidFill>
                  <a:schemeClr val="accent2"/>
                </a:solidFill>
              </a:rPr>
              <a:t> </a:t>
            </a:r>
            <a:r>
              <a:rPr lang="en-US" altLang="zh-CN" sz="4000" b="1" dirty="0">
                <a:solidFill>
                  <a:srgbClr val="FF0000"/>
                </a:solidFill>
                <a:latin typeface="华文新魏" pitchFamily="2" charset="-122"/>
                <a:ea typeface="华文新魏" pitchFamily="2" charset="-122"/>
              </a:rPr>
              <a:t>=m-n/2</a:t>
            </a:r>
            <a:br>
              <a:rPr lang="zh-CN" altLang="en-US" sz="3200" b="1" dirty="0">
                <a:latin typeface="华文新魏" pitchFamily="2" charset="-122"/>
                <a:ea typeface="华文新魏" pitchFamily="2" charset="-122"/>
              </a:rPr>
            </a:br>
            <a:r>
              <a:rPr lang="zh-CN" altLang="en-US" sz="3200" b="1" dirty="0">
                <a:latin typeface="华文新魏" pitchFamily="2" charset="-122"/>
                <a:ea typeface="华文新魏" pitchFamily="2" charset="-122"/>
              </a:rPr>
              <a:t>则输入信号</a:t>
            </a:r>
            <a:r>
              <a:rPr lang="en-US" altLang="zh-CN" sz="3200" b="1" dirty="0">
                <a:latin typeface="华文新魏" pitchFamily="2" charset="-122"/>
                <a:ea typeface="华文新魏" pitchFamily="2" charset="-122"/>
              </a:rPr>
              <a:t>A,B</a:t>
            </a:r>
            <a:r>
              <a:rPr lang="zh-CN" altLang="en-US" sz="3200" b="1" dirty="0">
                <a:latin typeface="华文新魏" pitchFamily="2" charset="-122"/>
                <a:ea typeface="华文新魏" pitchFamily="2" charset="-122"/>
              </a:rPr>
              <a:t>可以看成一个共模信号 </a:t>
            </a:r>
            <a:r>
              <a:rPr lang="en-US" altLang="zh-CN" sz="3200" b="1" dirty="0">
                <a:latin typeface="华文新魏" pitchFamily="2" charset="-122"/>
                <a:ea typeface="华文新魏" pitchFamily="2" charset="-122"/>
              </a:rPr>
              <a:t>m </a:t>
            </a:r>
            <a:r>
              <a:rPr lang="zh-CN" altLang="en-US" sz="3200" b="1" dirty="0">
                <a:latin typeface="华文新魏" pitchFamily="2" charset="-122"/>
                <a:ea typeface="华文新魏" pitchFamily="2" charset="-122"/>
              </a:rPr>
              <a:t>和差模信号 </a:t>
            </a:r>
            <a:r>
              <a:rPr lang="en-US" altLang="zh-CN" sz="3200" b="1" dirty="0">
                <a:latin typeface="华文新魏" pitchFamily="2" charset="-122"/>
                <a:ea typeface="华文新魏" pitchFamily="2" charset="-122"/>
              </a:rPr>
              <a:t>n </a:t>
            </a:r>
            <a:r>
              <a:rPr lang="zh-CN" altLang="en-US" sz="3200" b="1" dirty="0">
                <a:latin typeface="华文新魏" pitchFamily="2" charset="-122"/>
                <a:ea typeface="华文新魏" pitchFamily="2" charset="-122"/>
              </a:rPr>
              <a:t>的合成。</a:t>
            </a:r>
            <a:br>
              <a:rPr lang="zh-CN" altLang="en-US" sz="3200" b="1" dirty="0">
                <a:latin typeface="华文新魏" pitchFamily="2" charset="-122"/>
                <a:ea typeface="华文新魏" pitchFamily="2" charset="-122"/>
              </a:rPr>
            </a:br>
            <a:r>
              <a:rPr lang="zh-CN" altLang="en-US" sz="3200" b="1" dirty="0">
                <a:latin typeface="华文新魏" pitchFamily="2" charset="-122"/>
                <a:ea typeface="华文新魏" pitchFamily="2" charset="-122"/>
              </a:rPr>
              <a:t>     </a:t>
            </a:r>
            <a:r>
              <a:rPr lang="en-US" altLang="zh-CN" sz="4400" b="1" dirty="0">
                <a:solidFill>
                  <a:srgbClr val="FF0000"/>
                </a:solidFill>
                <a:latin typeface="华文新魏" pitchFamily="2" charset="-122"/>
                <a:ea typeface="华文新魏" pitchFamily="2" charset="-122"/>
              </a:rPr>
              <a:t>m=(</a:t>
            </a:r>
            <a:r>
              <a:rPr lang="en-US" altLang="zh-CN" sz="4400" b="1" i="1" dirty="0">
                <a:solidFill>
                  <a:schemeClr val="accent2"/>
                </a:solidFill>
              </a:rPr>
              <a:t>u</a:t>
            </a:r>
            <a:r>
              <a:rPr lang="en-US" altLang="zh-CN" b="1" dirty="0">
                <a:solidFill>
                  <a:schemeClr val="accent2"/>
                </a:solidFill>
              </a:rPr>
              <a:t>i1</a:t>
            </a:r>
            <a:r>
              <a:rPr lang="en-US" altLang="zh-CN" sz="4400" b="1" i="1" dirty="0">
                <a:solidFill>
                  <a:schemeClr val="accent2"/>
                </a:solidFill>
              </a:rPr>
              <a:t> +u</a:t>
            </a:r>
            <a:r>
              <a:rPr lang="en-US" altLang="zh-CN" b="1" dirty="0">
                <a:solidFill>
                  <a:schemeClr val="accent2"/>
                </a:solidFill>
              </a:rPr>
              <a:t>i2</a:t>
            </a:r>
            <a:r>
              <a:rPr lang="en-US" altLang="zh-CN" sz="4400" b="1" dirty="0"/>
              <a:t> </a:t>
            </a:r>
            <a:r>
              <a:rPr lang="en-US" altLang="zh-CN" sz="4400" b="1" dirty="0">
                <a:solidFill>
                  <a:srgbClr val="FF0000"/>
                </a:solidFill>
                <a:latin typeface="华文新魏" pitchFamily="2" charset="-122"/>
                <a:ea typeface="华文新魏" pitchFamily="2" charset="-122"/>
              </a:rPr>
              <a:t>)/2</a:t>
            </a:r>
            <a:r>
              <a:rPr lang="zh-CN" altLang="en-US" sz="4400" b="1" dirty="0">
                <a:solidFill>
                  <a:srgbClr val="FF0000"/>
                </a:solidFill>
                <a:latin typeface="华文新魏" pitchFamily="2" charset="-122"/>
                <a:ea typeface="华文新魏" pitchFamily="2" charset="-122"/>
              </a:rPr>
              <a:t>；</a:t>
            </a:r>
            <a:r>
              <a:rPr lang="en-US" altLang="zh-CN" sz="4400" b="1" dirty="0">
                <a:solidFill>
                  <a:srgbClr val="FF0000"/>
                </a:solidFill>
                <a:latin typeface="华文新魏" pitchFamily="2" charset="-122"/>
                <a:ea typeface="华文新魏" pitchFamily="2" charset="-122"/>
              </a:rPr>
              <a:t>n=(</a:t>
            </a:r>
            <a:r>
              <a:rPr lang="en-US" altLang="zh-CN" sz="4400" b="1" i="1" dirty="0">
                <a:solidFill>
                  <a:schemeClr val="accent2"/>
                </a:solidFill>
              </a:rPr>
              <a:t>u</a:t>
            </a:r>
            <a:r>
              <a:rPr lang="en-US" altLang="zh-CN" sz="2000" b="1" dirty="0">
                <a:solidFill>
                  <a:schemeClr val="accent2"/>
                </a:solidFill>
              </a:rPr>
              <a:t>i1</a:t>
            </a:r>
            <a:r>
              <a:rPr lang="en-US" altLang="zh-CN" sz="4400" b="1" i="1" dirty="0">
                <a:solidFill>
                  <a:schemeClr val="accent2"/>
                </a:solidFill>
              </a:rPr>
              <a:t> -u</a:t>
            </a:r>
            <a:r>
              <a:rPr lang="en-US" altLang="zh-CN" b="1" dirty="0">
                <a:solidFill>
                  <a:schemeClr val="accent2"/>
                </a:solidFill>
              </a:rPr>
              <a:t>i2</a:t>
            </a:r>
            <a:r>
              <a:rPr lang="en-US" altLang="zh-CN" sz="4400" b="1" dirty="0"/>
              <a:t> </a:t>
            </a:r>
            <a:r>
              <a:rPr lang="en-US" altLang="zh-CN" sz="4400" b="1" dirty="0">
                <a:solidFill>
                  <a:srgbClr val="FF0000"/>
                </a:solidFill>
                <a:latin typeface="华文新魏" pitchFamily="2" charset="-122"/>
                <a:ea typeface="华文新魏" pitchFamily="2" charset="-122"/>
              </a:rPr>
              <a:t>)</a:t>
            </a:r>
            <a:br>
              <a:rPr lang="zh-CN" altLang="en-US" sz="3200" b="1" dirty="0">
                <a:latin typeface="华文新魏" pitchFamily="2" charset="-122"/>
                <a:ea typeface="华文新魏" pitchFamily="2" charset="-122"/>
              </a:rPr>
            </a:br>
            <a:endParaRPr lang="zh-CN" altLang="en-US" sz="3200" b="1" dirty="0">
              <a:latin typeface="华文新魏" pitchFamily="2" charset="-122"/>
              <a:ea typeface="华文新魏" pitchFamily="2" charset="-122"/>
            </a:endParaRPr>
          </a:p>
        </p:txBody>
      </p:sp>
      <p:pic>
        <p:nvPicPr>
          <p:cNvPr id="124931" name="Picture 3" descr="Dz030303">
            <a:extLst>
              <a:ext uri="{FF2B5EF4-FFF2-40B4-BE49-F238E27FC236}">
                <a16:creationId xmlns:a16="http://schemas.microsoft.com/office/drawing/2014/main" id="{B2C032C0-0592-0E44-A03A-E5FE89BBB9E8}"/>
              </a:ext>
            </a:extLst>
          </p:cNvPr>
          <p:cNvPicPr>
            <a:picLocks noChangeAspect="1" noChangeArrowheads="1"/>
          </p:cNvPicPr>
          <p:nvPr/>
        </p:nvPicPr>
        <p:blipFill>
          <a:blip r:embed="rId2"/>
          <a:srcRect/>
          <a:stretch>
            <a:fillRect/>
          </a:stretch>
        </p:blipFill>
        <p:spPr bwMode="auto">
          <a:xfrm>
            <a:off x="5400675" y="0"/>
            <a:ext cx="3743325" cy="2713038"/>
          </a:xfrm>
          <a:prstGeom prst="rect">
            <a:avLst/>
          </a:prstGeom>
          <a:noFill/>
          <a:ln w="9525">
            <a:noFill/>
            <a:miter lim="800000"/>
            <a:headEnd/>
            <a:tailEnd/>
          </a:ln>
        </p:spPr>
      </p:pic>
      <p:sp>
        <p:nvSpPr>
          <p:cNvPr id="4" name="TextBox 3">
            <a:extLst>
              <a:ext uri="{FF2B5EF4-FFF2-40B4-BE49-F238E27FC236}">
                <a16:creationId xmlns:a16="http://schemas.microsoft.com/office/drawing/2014/main" id="{EB1AC191-8D74-C85B-AACE-C48221ECDC3F}"/>
              </a:ext>
            </a:extLst>
          </p:cNvPr>
          <p:cNvSpPr txBox="1"/>
          <p:nvPr/>
        </p:nvSpPr>
        <p:spPr>
          <a:xfrm>
            <a:off x="5113539" y="809625"/>
            <a:ext cx="658612" cy="461665"/>
          </a:xfrm>
          <a:prstGeom prst="rect">
            <a:avLst/>
          </a:prstGeom>
          <a:solidFill>
            <a:schemeClr val="accent1">
              <a:lumMod val="20000"/>
              <a:lumOff val="80000"/>
            </a:schemeClr>
          </a:solidFill>
        </p:spPr>
        <p:txBody>
          <a:bodyPr wrap="square">
            <a:spAutoFit/>
          </a:bodyPr>
          <a:lstStyle/>
          <a:p>
            <a:pPr algn="ctr" eaLnBrk="1" hangingPunct="1">
              <a:defRPr/>
            </a:pPr>
            <a:r>
              <a:rPr lang="en-US" altLang="zh-CN" b="1" i="1" dirty="0">
                <a:solidFill>
                  <a:schemeClr val="accent2"/>
                </a:solidFill>
              </a:rPr>
              <a:t>u</a:t>
            </a:r>
            <a:r>
              <a:rPr lang="en-US" altLang="zh-CN" b="1" dirty="0">
                <a:solidFill>
                  <a:schemeClr val="accent2"/>
                </a:solidFill>
              </a:rPr>
              <a:t>i1</a:t>
            </a:r>
            <a:endParaRPr lang="zh-CN" altLang="en-US" dirty="0">
              <a:solidFill>
                <a:srgbClr val="FF0000"/>
              </a:solidFill>
            </a:endParaRPr>
          </a:p>
        </p:txBody>
      </p:sp>
      <p:sp>
        <p:nvSpPr>
          <p:cNvPr id="5" name="TextBox 4">
            <a:extLst>
              <a:ext uri="{FF2B5EF4-FFF2-40B4-BE49-F238E27FC236}">
                <a16:creationId xmlns:a16="http://schemas.microsoft.com/office/drawing/2014/main" id="{2683472C-DA54-97BA-033D-89A933F80797}"/>
              </a:ext>
            </a:extLst>
          </p:cNvPr>
          <p:cNvSpPr txBox="1"/>
          <p:nvPr/>
        </p:nvSpPr>
        <p:spPr>
          <a:xfrm>
            <a:off x="8572501" y="776288"/>
            <a:ext cx="749052" cy="461665"/>
          </a:xfrm>
          <a:prstGeom prst="rect">
            <a:avLst/>
          </a:prstGeom>
          <a:solidFill>
            <a:schemeClr val="accent1">
              <a:lumMod val="20000"/>
              <a:lumOff val="80000"/>
            </a:schemeClr>
          </a:solidFill>
        </p:spPr>
        <p:txBody>
          <a:bodyPr wrap="square">
            <a:spAutoFit/>
          </a:bodyPr>
          <a:lstStyle/>
          <a:p>
            <a:pPr eaLnBrk="1" hangingPunct="1">
              <a:defRPr/>
            </a:pPr>
            <a:r>
              <a:rPr lang="en-US" altLang="zh-CN" b="1" i="1" dirty="0">
                <a:solidFill>
                  <a:schemeClr val="accent2"/>
                </a:solidFill>
              </a:rPr>
              <a:t>u</a:t>
            </a:r>
            <a:r>
              <a:rPr lang="en-US" altLang="zh-CN" b="1" dirty="0">
                <a:solidFill>
                  <a:schemeClr val="accent2"/>
                </a:solidFill>
              </a:rPr>
              <a:t>i2</a:t>
            </a:r>
            <a:endParaRPr lang="zh-CN" altLang="en-US" dirty="0">
              <a:solidFill>
                <a:srgbClr val="FF0000"/>
              </a:solidFill>
            </a:endParaRPr>
          </a:p>
        </p:txBody>
      </p:sp>
      <p:sp>
        <p:nvSpPr>
          <p:cNvPr id="6" name="Text Box 75">
            <a:extLst>
              <a:ext uri="{FF2B5EF4-FFF2-40B4-BE49-F238E27FC236}">
                <a16:creationId xmlns:a16="http://schemas.microsoft.com/office/drawing/2014/main" id="{20CA02F0-0423-AFF3-1067-46DC117E3D17}"/>
              </a:ext>
            </a:extLst>
          </p:cNvPr>
          <p:cNvSpPr txBox="1">
            <a:spLocks noChangeArrowheads="1"/>
          </p:cNvSpPr>
          <p:nvPr/>
        </p:nvSpPr>
        <p:spPr bwMode="auto">
          <a:xfrm>
            <a:off x="2800350" y="1253977"/>
            <a:ext cx="2432050" cy="830262"/>
          </a:xfrm>
          <a:prstGeom prst="rect">
            <a:avLst/>
          </a:prstGeom>
          <a:solidFill>
            <a:srgbClr val="FFFFCC"/>
          </a:solidFill>
          <a:ln w="19050">
            <a:solidFill>
              <a:srgbClr val="FF33CC"/>
            </a:solidFill>
            <a:miter lim="800000"/>
            <a:headEnd/>
            <a:tailEnd/>
          </a:ln>
        </p:spPr>
        <p:txBody>
          <a:bodyPr wrap="square" anchor="ctr">
            <a:spAutoFit/>
          </a:bodyPr>
          <a:lstStyle/>
          <a:p>
            <a:pPr eaLnBrk="1" hangingPunct="1"/>
            <a:r>
              <a:rPr lang="zh-CN" altLang="en-US" b="1" dirty="0"/>
              <a:t>定义差模信号</a:t>
            </a:r>
          </a:p>
          <a:p>
            <a:pPr eaLnBrk="1" hangingPunct="1"/>
            <a:r>
              <a:rPr lang="en-US" altLang="zh-CN" b="1" i="1" dirty="0" err="1">
                <a:solidFill>
                  <a:schemeClr val="accent2"/>
                </a:solidFill>
              </a:rPr>
              <a:t>u</a:t>
            </a:r>
            <a:r>
              <a:rPr lang="en-US" altLang="zh-CN" sz="1400" b="1" dirty="0" err="1">
                <a:solidFill>
                  <a:schemeClr val="accent2"/>
                </a:solidFill>
              </a:rPr>
              <a:t>id</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i2</a:t>
            </a:r>
            <a:r>
              <a:rPr lang="en-US" altLang="zh-CN" b="1" dirty="0"/>
              <a:t> </a:t>
            </a:r>
          </a:p>
        </p:txBody>
      </p:sp>
      <p:sp>
        <p:nvSpPr>
          <p:cNvPr id="7" name="Text Box 76">
            <a:extLst>
              <a:ext uri="{FF2B5EF4-FFF2-40B4-BE49-F238E27FC236}">
                <a16:creationId xmlns:a16="http://schemas.microsoft.com/office/drawing/2014/main" id="{BD77E2F8-CF57-2443-9883-BCE74F90426C}"/>
              </a:ext>
            </a:extLst>
          </p:cNvPr>
          <p:cNvSpPr txBox="1">
            <a:spLocks noChangeArrowheads="1"/>
          </p:cNvSpPr>
          <p:nvPr/>
        </p:nvSpPr>
        <p:spPr bwMode="auto">
          <a:xfrm>
            <a:off x="284163" y="1253977"/>
            <a:ext cx="2432050" cy="793750"/>
          </a:xfrm>
          <a:prstGeom prst="rect">
            <a:avLst/>
          </a:prstGeom>
          <a:solidFill>
            <a:srgbClr val="FFFFCC"/>
          </a:solidFill>
          <a:ln w="19050">
            <a:solidFill>
              <a:srgbClr val="FF33CC"/>
            </a:solidFill>
            <a:miter lim="800000"/>
            <a:headEnd/>
            <a:tailEnd/>
          </a:ln>
        </p:spPr>
        <p:txBody>
          <a:bodyPr anchor="ctr">
            <a:spAutoFit/>
          </a:bodyPr>
          <a:lstStyle/>
          <a:p>
            <a:pPr eaLnBrk="1" hangingPunct="1"/>
            <a:r>
              <a:rPr lang="zh-CN" altLang="en-US" b="1" dirty="0"/>
              <a:t>定义共模信号</a:t>
            </a:r>
          </a:p>
          <a:p>
            <a:pPr eaLnBrk="1" hangingPunct="1">
              <a:lnSpc>
                <a:spcPct val="90000"/>
              </a:lnSpc>
            </a:pPr>
            <a:r>
              <a:rPr lang="en-US" altLang="zh-CN" b="1" i="1" dirty="0" err="1">
                <a:solidFill>
                  <a:schemeClr val="accent2"/>
                </a:solidFill>
              </a:rPr>
              <a:t>u</a:t>
            </a:r>
            <a:r>
              <a:rPr lang="en-US" altLang="zh-CN" sz="1600" b="1" dirty="0" err="1">
                <a:solidFill>
                  <a:schemeClr val="accent2"/>
                </a:solidFill>
              </a:rPr>
              <a:t>ic</a:t>
            </a:r>
            <a:r>
              <a:rPr lang="en-US" altLang="zh-CN" b="1" i="1" dirty="0">
                <a:solidFill>
                  <a:schemeClr val="accent2"/>
                </a:solidFill>
              </a:rPr>
              <a:t>=</a:t>
            </a:r>
            <a:r>
              <a:rPr lang="en-US" altLang="zh-CN" sz="1600"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sz="1400" b="1" i="1" dirty="0">
                <a:solidFill>
                  <a:schemeClr val="accent2"/>
                </a:solidFill>
              </a:rPr>
              <a:t> </a:t>
            </a:r>
            <a:r>
              <a:rPr lang="en-US" altLang="zh-CN" b="1" i="1" dirty="0">
                <a:solidFill>
                  <a:schemeClr val="accent2"/>
                </a:solidFill>
              </a:rPr>
              <a:t>+u</a:t>
            </a:r>
            <a:r>
              <a:rPr lang="en-US" altLang="zh-CN" sz="1400" b="1" dirty="0">
                <a:solidFill>
                  <a:schemeClr val="accent2"/>
                </a:solidFill>
              </a:rPr>
              <a:t>i2</a:t>
            </a:r>
            <a:r>
              <a:rPr lang="en-US" altLang="zh-CN" sz="1400" b="1" dirty="0"/>
              <a:t> </a:t>
            </a:r>
            <a:r>
              <a:rPr lang="en-US" altLang="zh-CN" b="1" dirty="0"/>
              <a:t>)/2</a:t>
            </a:r>
          </a:p>
        </p:txBody>
      </p:sp>
      <p:cxnSp>
        <p:nvCxnSpPr>
          <p:cNvPr id="8" name="直接箭头连接符 7">
            <a:extLst>
              <a:ext uri="{FF2B5EF4-FFF2-40B4-BE49-F238E27FC236}">
                <a16:creationId xmlns:a16="http://schemas.microsoft.com/office/drawing/2014/main" id="{9BC1BABA-AF7D-B617-C845-5F24F2336E82}"/>
              </a:ext>
            </a:extLst>
          </p:cNvPr>
          <p:cNvCxnSpPr/>
          <p:nvPr/>
        </p:nvCxnSpPr>
        <p:spPr bwMode="auto">
          <a:xfrm>
            <a:off x="4758431" y="2014241"/>
            <a:ext cx="642244" cy="3791755"/>
          </a:xfrm>
          <a:prstGeom prst="straightConnector1">
            <a:avLst/>
          </a:prstGeom>
          <a:solidFill>
            <a:schemeClr val="accent1"/>
          </a:solidFill>
          <a:ln w="38100"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 name="直接箭头连接符 9">
            <a:extLst>
              <a:ext uri="{FF2B5EF4-FFF2-40B4-BE49-F238E27FC236}">
                <a16:creationId xmlns:a16="http://schemas.microsoft.com/office/drawing/2014/main" id="{DA042A24-FE60-E68E-4C2B-EEE140BE8C07}"/>
              </a:ext>
            </a:extLst>
          </p:cNvPr>
          <p:cNvCxnSpPr/>
          <p:nvPr/>
        </p:nvCxnSpPr>
        <p:spPr bwMode="auto">
          <a:xfrm>
            <a:off x="445363" y="2014240"/>
            <a:ext cx="642244" cy="3791755"/>
          </a:xfrm>
          <a:prstGeom prst="straightConnector1">
            <a:avLst/>
          </a:prstGeom>
          <a:solidFill>
            <a:schemeClr val="accent1"/>
          </a:solidFill>
          <a:ln w="38100"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3065336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85AB1-B8FD-E615-4F05-CE9C51C8ECF8}"/>
            </a:ext>
          </a:extLst>
        </p:cNvPr>
        <p:cNvGrpSpPr/>
        <p:nvPr/>
      </p:nvGrpSpPr>
      <p:grpSpPr>
        <a:xfrm>
          <a:off x="0" y="0"/>
          <a:ext cx="0" cy="0"/>
          <a:chOff x="0" y="0"/>
          <a:chExt cx="0" cy="0"/>
        </a:xfrm>
      </p:grpSpPr>
      <p:pic>
        <p:nvPicPr>
          <p:cNvPr id="133122" name="Picture 2" descr="Dz030303">
            <a:extLst>
              <a:ext uri="{FF2B5EF4-FFF2-40B4-BE49-F238E27FC236}">
                <a16:creationId xmlns:a16="http://schemas.microsoft.com/office/drawing/2014/main" id="{2B23C501-B21A-C3CD-B1F7-1C336C7612B8}"/>
              </a:ext>
            </a:extLst>
          </p:cNvPr>
          <p:cNvPicPr>
            <a:picLocks noChangeAspect="1" noChangeArrowheads="1"/>
          </p:cNvPicPr>
          <p:nvPr/>
        </p:nvPicPr>
        <p:blipFill>
          <a:blip r:embed="rId3"/>
          <a:srcRect/>
          <a:stretch>
            <a:fillRect/>
          </a:stretch>
        </p:blipFill>
        <p:spPr bwMode="auto">
          <a:xfrm>
            <a:off x="611188" y="1557338"/>
            <a:ext cx="4191000" cy="2717800"/>
          </a:xfrm>
          <a:prstGeom prst="rect">
            <a:avLst/>
          </a:prstGeom>
          <a:noFill/>
          <a:ln w="9525">
            <a:noFill/>
            <a:miter lim="800000"/>
            <a:headEnd/>
            <a:tailEnd/>
          </a:ln>
        </p:spPr>
      </p:pic>
      <p:sp>
        <p:nvSpPr>
          <p:cNvPr id="133123" name="Text Box 3">
            <a:extLst>
              <a:ext uri="{FF2B5EF4-FFF2-40B4-BE49-F238E27FC236}">
                <a16:creationId xmlns:a16="http://schemas.microsoft.com/office/drawing/2014/main" id="{CA522387-FCC8-ED48-5618-A2B29D3F8B3B}"/>
              </a:ext>
            </a:extLst>
          </p:cNvPr>
          <p:cNvSpPr txBox="1">
            <a:spLocks noChangeArrowheads="1"/>
          </p:cNvSpPr>
          <p:nvPr/>
        </p:nvSpPr>
        <p:spPr bwMode="auto">
          <a:xfrm>
            <a:off x="4932363" y="1557338"/>
            <a:ext cx="3959225" cy="822325"/>
          </a:xfrm>
          <a:prstGeom prst="rect">
            <a:avLst/>
          </a:prstGeom>
          <a:noFill/>
          <a:ln w="9525">
            <a:noFill/>
            <a:miter lim="800000"/>
            <a:headEnd/>
            <a:tailEnd/>
          </a:ln>
        </p:spPr>
        <p:txBody>
          <a:bodyPr>
            <a:spAutoFit/>
          </a:bodyPr>
          <a:lstStyle/>
          <a:p>
            <a:pPr algn="ctr" eaLnBrk="1" hangingPunct="1">
              <a:spcBef>
                <a:spcPct val="50000"/>
              </a:spcBef>
            </a:pPr>
            <a:r>
              <a:rPr lang="zh-CN" altLang="en-US" b="1"/>
              <a:t>若</a:t>
            </a:r>
            <a:r>
              <a:rPr lang="en-US" altLang="zh-CN" b="1" i="1"/>
              <a:t>u</a:t>
            </a:r>
            <a:r>
              <a:rPr lang="en-US" altLang="zh-CN" b="1" baseline="-25000"/>
              <a:t>I1</a:t>
            </a:r>
            <a:r>
              <a:rPr lang="en-US" altLang="zh-CN" b="1"/>
              <a:t>=10mV</a:t>
            </a:r>
            <a:r>
              <a:rPr lang="zh-CN" altLang="en-US" b="1"/>
              <a:t>，</a:t>
            </a:r>
            <a:r>
              <a:rPr lang="en-US" altLang="zh-CN" b="1" i="1"/>
              <a:t>u</a:t>
            </a:r>
            <a:r>
              <a:rPr lang="en-US" altLang="zh-CN" b="1" baseline="-25000"/>
              <a:t>I2</a:t>
            </a:r>
            <a:r>
              <a:rPr lang="en-US" altLang="zh-CN" b="1"/>
              <a:t>=5mV</a:t>
            </a:r>
            <a:r>
              <a:rPr lang="zh-CN" altLang="en-US" b="1"/>
              <a:t>，则</a:t>
            </a:r>
            <a:r>
              <a:rPr lang="en-US" altLang="zh-CN" b="1" i="1"/>
              <a:t>u</a:t>
            </a:r>
            <a:r>
              <a:rPr lang="en-US" altLang="zh-CN" b="1" baseline="-25000"/>
              <a:t>Id</a:t>
            </a:r>
            <a:r>
              <a:rPr lang="en-US" altLang="zh-CN" b="1"/>
              <a:t>=</a:t>
            </a:r>
            <a:r>
              <a:rPr lang="zh-CN" altLang="en-US" b="1"/>
              <a:t>？ </a:t>
            </a:r>
            <a:r>
              <a:rPr lang="en-US" altLang="zh-CN" b="1" i="1"/>
              <a:t>u</a:t>
            </a:r>
            <a:r>
              <a:rPr lang="en-US" altLang="zh-CN" b="1" baseline="-25000"/>
              <a:t>Ic</a:t>
            </a:r>
            <a:r>
              <a:rPr lang="en-US" altLang="zh-CN" b="1"/>
              <a:t>=</a:t>
            </a:r>
            <a:r>
              <a:rPr lang="zh-CN" altLang="en-US" b="1"/>
              <a:t>？</a:t>
            </a:r>
          </a:p>
        </p:txBody>
      </p:sp>
      <p:sp>
        <p:nvSpPr>
          <p:cNvPr id="80900" name="Text Box 4">
            <a:extLst>
              <a:ext uri="{FF2B5EF4-FFF2-40B4-BE49-F238E27FC236}">
                <a16:creationId xmlns:a16="http://schemas.microsoft.com/office/drawing/2014/main" id="{090F3048-87A4-4A86-C772-71C3B2578BE8}"/>
              </a:ext>
            </a:extLst>
          </p:cNvPr>
          <p:cNvSpPr txBox="1">
            <a:spLocks noChangeArrowheads="1"/>
          </p:cNvSpPr>
          <p:nvPr/>
        </p:nvSpPr>
        <p:spPr bwMode="auto">
          <a:xfrm>
            <a:off x="5292725" y="2492375"/>
            <a:ext cx="3200400" cy="466725"/>
          </a:xfrm>
          <a:prstGeom prst="rect">
            <a:avLst/>
          </a:prstGeom>
          <a:solidFill>
            <a:srgbClr val="66FFFF"/>
          </a:solidFill>
          <a:ln w="9525">
            <a:solidFill>
              <a:srgbClr val="FF3300"/>
            </a:solidFill>
            <a:miter lim="800000"/>
            <a:headEnd/>
            <a:tailEnd/>
          </a:ln>
        </p:spPr>
        <p:txBody>
          <a:bodyPr>
            <a:spAutoFit/>
          </a:bodyPr>
          <a:lstStyle/>
          <a:p>
            <a:pPr algn="ctr" eaLnBrk="1" hangingPunct="1">
              <a:spcBef>
                <a:spcPct val="50000"/>
              </a:spcBef>
            </a:pPr>
            <a:r>
              <a:rPr lang="en-US" altLang="zh-CN" b="1" i="1"/>
              <a:t>u</a:t>
            </a:r>
            <a:r>
              <a:rPr lang="en-US" altLang="zh-CN" b="1" baseline="-25000"/>
              <a:t>Id</a:t>
            </a:r>
            <a:r>
              <a:rPr lang="en-US" altLang="zh-CN" b="1"/>
              <a:t>=5mV </a:t>
            </a:r>
            <a:r>
              <a:rPr lang="zh-CN" altLang="en-US" b="1"/>
              <a:t>，</a:t>
            </a:r>
            <a:r>
              <a:rPr lang="en-US" altLang="zh-CN" b="1" i="1"/>
              <a:t>u</a:t>
            </a:r>
            <a:r>
              <a:rPr lang="en-US" altLang="zh-CN" b="1" baseline="-25000"/>
              <a:t>Ic</a:t>
            </a:r>
            <a:r>
              <a:rPr lang="en-US" altLang="zh-CN" b="1"/>
              <a:t>=7.5mV</a:t>
            </a:r>
          </a:p>
        </p:txBody>
      </p:sp>
      <p:sp>
        <p:nvSpPr>
          <p:cNvPr id="133125" name="Rectangle 14">
            <a:extLst>
              <a:ext uri="{FF2B5EF4-FFF2-40B4-BE49-F238E27FC236}">
                <a16:creationId xmlns:a16="http://schemas.microsoft.com/office/drawing/2014/main" id="{5A20C1D2-680A-16B9-F9AD-F0F7E67071D4}"/>
              </a:ext>
            </a:extLst>
          </p:cNvPr>
          <p:cNvSpPr>
            <a:spLocks noGrp="1" noChangeArrowheads="1"/>
          </p:cNvSpPr>
          <p:nvPr>
            <p:ph type="title"/>
          </p:nvPr>
        </p:nvSpPr>
        <p:spPr>
          <a:xfrm>
            <a:off x="323850" y="908050"/>
            <a:ext cx="1944688" cy="647700"/>
          </a:xfrm>
        </p:spPr>
        <p:txBody>
          <a:bodyPr/>
          <a:lstStyle/>
          <a:p>
            <a:pPr algn="l"/>
            <a:r>
              <a:rPr lang="zh-CN" altLang="en-US" sz="3200" b="1">
                <a:solidFill>
                  <a:schemeClr val="tx1"/>
                </a:solidFill>
                <a:ea typeface="华文行楷" pitchFamily="2" charset="-122"/>
              </a:rPr>
              <a:t>讨论一</a:t>
            </a:r>
          </a:p>
        </p:txBody>
      </p:sp>
      <p:sp>
        <p:nvSpPr>
          <p:cNvPr id="2" name="Text Box 75">
            <a:extLst>
              <a:ext uri="{FF2B5EF4-FFF2-40B4-BE49-F238E27FC236}">
                <a16:creationId xmlns:a16="http://schemas.microsoft.com/office/drawing/2014/main" id="{91946094-3F66-021E-C32C-2BC8239E976C}"/>
              </a:ext>
            </a:extLst>
          </p:cNvPr>
          <p:cNvSpPr txBox="1">
            <a:spLocks noChangeArrowheads="1"/>
          </p:cNvSpPr>
          <p:nvPr/>
        </p:nvSpPr>
        <p:spPr bwMode="auto">
          <a:xfrm>
            <a:off x="4564665" y="0"/>
            <a:ext cx="2432050" cy="830262"/>
          </a:xfrm>
          <a:prstGeom prst="rect">
            <a:avLst/>
          </a:prstGeom>
          <a:solidFill>
            <a:srgbClr val="FFFFCC"/>
          </a:solidFill>
          <a:ln w="19050">
            <a:solidFill>
              <a:srgbClr val="FF33CC"/>
            </a:solidFill>
            <a:miter lim="800000"/>
            <a:headEnd/>
            <a:tailEnd/>
          </a:ln>
        </p:spPr>
        <p:txBody>
          <a:bodyPr wrap="square" anchor="ctr">
            <a:spAutoFit/>
          </a:bodyPr>
          <a:lstStyle/>
          <a:p>
            <a:pPr eaLnBrk="1" hangingPunct="1"/>
            <a:r>
              <a:rPr lang="zh-CN" altLang="en-US" b="1" dirty="0"/>
              <a:t>定义差模信号</a:t>
            </a:r>
          </a:p>
          <a:p>
            <a:pPr eaLnBrk="1" hangingPunct="1"/>
            <a:r>
              <a:rPr lang="en-US" altLang="zh-CN" b="1" i="1" dirty="0" err="1">
                <a:solidFill>
                  <a:schemeClr val="accent2"/>
                </a:solidFill>
              </a:rPr>
              <a:t>u</a:t>
            </a:r>
            <a:r>
              <a:rPr lang="en-US" altLang="zh-CN" sz="1400" b="1" dirty="0" err="1">
                <a:solidFill>
                  <a:schemeClr val="accent2"/>
                </a:solidFill>
              </a:rPr>
              <a:t>id</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i2</a:t>
            </a:r>
            <a:r>
              <a:rPr lang="en-US" altLang="zh-CN" b="1" dirty="0"/>
              <a:t> </a:t>
            </a:r>
          </a:p>
        </p:txBody>
      </p:sp>
      <p:sp>
        <p:nvSpPr>
          <p:cNvPr id="3" name="Text Box 76">
            <a:extLst>
              <a:ext uri="{FF2B5EF4-FFF2-40B4-BE49-F238E27FC236}">
                <a16:creationId xmlns:a16="http://schemas.microsoft.com/office/drawing/2014/main" id="{B95824F4-60B3-F648-50B6-D681D0D6111D}"/>
              </a:ext>
            </a:extLst>
          </p:cNvPr>
          <p:cNvSpPr txBox="1">
            <a:spLocks noChangeArrowheads="1"/>
          </p:cNvSpPr>
          <p:nvPr/>
        </p:nvSpPr>
        <p:spPr bwMode="auto">
          <a:xfrm>
            <a:off x="-4" y="0"/>
            <a:ext cx="2432050" cy="793750"/>
          </a:xfrm>
          <a:prstGeom prst="rect">
            <a:avLst/>
          </a:prstGeom>
          <a:solidFill>
            <a:srgbClr val="FFFFCC"/>
          </a:solidFill>
          <a:ln w="19050">
            <a:solidFill>
              <a:srgbClr val="FF33CC"/>
            </a:solidFill>
            <a:miter lim="800000"/>
            <a:headEnd/>
            <a:tailEnd/>
          </a:ln>
        </p:spPr>
        <p:txBody>
          <a:bodyPr anchor="ctr">
            <a:spAutoFit/>
          </a:bodyPr>
          <a:lstStyle/>
          <a:p>
            <a:pPr eaLnBrk="1" hangingPunct="1"/>
            <a:r>
              <a:rPr lang="zh-CN" altLang="en-US" b="1" dirty="0"/>
              <a:t>定义共模信号</a:t>
            </a:r>
          </a:p>
          <a:p>
            <a:pPr eaLnBrk="1" hangingPunct="1">
              <a:lnSpc>
                <a:spcPct val="90000"/>
              </a:lnSpc>
            </a:pPr>
            <a:r>
              <a:rPr lang="en-US" altLang="zh-CN" b="1" i="1" dirty="0" err="1">
                <a:solidFill>
                  <a:schemeClr val="accent2"/>
                </a:solidFill>
              </a:rPr>
              <a:t>u</a:t>
            </a:r>
            <a:r>
              <a:rPr lang="en-US" altLang="zh-CN" sz="1600" b="1" dirty="0" err="1">
                <a:solidFill>
                  <a:schemeClr val="accent2"/>
                </a:solidFill>
              </a:rPr>
              <a:t>ic</a:t>
            </a:r>
            <a:r>
              <a:rPr lang="en-US" altLang="zh-CN" b="1" i="1" dirty="0">
                <a:solidFill>
                  <a:schemeClr val="accent2"/>
                </a:solidFill>
              </a:rPr>
              <a:t>=</a:t>
            </a:r>
            <a:r>
              <a:rPr lang="en-US" altLang="zh-CN" sz="1600"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sz="1400" b="1" i="1" dirty="0">
                <a:solidFill>
                  <a:schemeClr val="accent2"/>
                </a:solidFill>
              </a:rPr>
              <a:t> </a:t>
            </a:r>
            <a:r>
              <a:rPr lang="en-US" altLang="zh-CN" b="1" i="1" dirty="0">
                <a:solidFill>
                  <a:schemeClr val="accent2"/>
                </a:solidFill>
              </a:rPr>
              <a:t>+u</a:t>
            </a:r>
            <a:r>
              <a:rPr lang="en-US" altLang="zh-CN" sz="1400" b="1" dirty="0">
                <a:solidFill>
                  <a:schemeClr val="accent2"/>
                </a:solidFill>
              </a:rPr>
              <a:t>i2</a:t>
            </a:r>
            <a:r>
              <a:rPr lang="en-US" altLang="zh-CN" sz="1400" b="1" dirty="0"/>
              <a:t> </a:t>
            </a:r>
            <a:r>
              <a:rPr lang="en-US" altLang="zh-CN" b="1" dirty="0"/>
              <a:t>)/2</a:t>
            </a:r>
          </a:p>
        </p:txBody>
      </p:sp>
    </p:spTree>
    <p:extLst>
      <p:ext uri="{BB962C8B-B14F-4D97-AF65-F5344CB8AC3E}">
        <p14:creationId xmlns:p14="http://schemas.microsoft.com/office/powerpoint/2010/main" val="1276837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Effect transition="in" filter="wipe(left)">
                                      <p:cBhvr>
                                        <p:cTn id="7" dur="500"/>
                                        <p:tgtEl>
                                          <p:spTgt spid="8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188913" y="1477963"/>
            <a:ext cx="7696200" cy="701675"/>
          </a:xfrm>
        </p:spPr>
        <p:txBody>
          <a:bodyPr/>
          <a:lstStyle/>
          <a:p>
            <a:pPr algn="l"/>
            <a:r>
              <a:rPr lang="zh-CN" altLang="en-US" sz="3200" b="1">
                <a:solidFill>
                  <a:schemeClr val="tx1"/>
                </a:solidFill>
                <a:ea typeface="华文行楷" pitchFamily="2" charset="-122"/>
              </a:rPr>
              <a:t>一、零点漂移现象及其产生的原因</a:t>
            </a:r>
          </a:p>
        </p:txBody>
      </p:sp>
      <p:sp>
        <p:nvSpPr>
          <p:cNvPr id="33795" name="Text Box 3"/>
          <p:cNvSpPr txBox="1">
            <a:spLocks noChangeArrowheads="1"/>
          </p:cNvSpPr>
          <p:nvPr/>
        </p:nvSpPr>
        <p:spPr bwMode="auto">
          <a:xfrm>
            <a:off x="395288" y="2017713"/>
            <a:ext cx="8137525" cy="519112"/>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1. </a:t>
            </a:r>
            <a:r>
              <a:rPr lang="zh-CN" altLang="en-US" sz="2800" b="1">
                <a:latin typeface="华文行楷" pitchFamily="2" charset="-122"/>
                <a:ea typeface="华文行楷" pitchFamily="2" charset="-122"/>
              </a:rPr>
              <a:t>什么是零点漂移现象</a:t>
            </a:r>
            <a:r>
              <a:rPr lang="zh-CN" altLang="en-US" sz="2800" b="1">
                <a:latin typeface="宋体" pitchFamily="2" charset="-122"/>
              </a:rPr>
              <a:t>：</a:t>
            </a:r>
            <a:r>
              <a:rPr lang="zh-CN" altLang="zh-CN" b="1"/>
              <a:t>Δ</a:t>
            </a:r>
            <a:r>
              <a:rPr lang="zh-CN" altLang="zh-CN" b="1" i="1"/>
              <a:t>u</a:t>
            </a:r>
            <a:r>
              <a:rPr lang="zh-CN" altLang="zh-CN" b="1" baseline="-25000"/>
              <a:t>I</a:t>
            </a:r>
            <a:r>
              <a:rPr lang="zh-CN" altLang="zh-CN" b="1"/>
              <a:t>＝0，Δ</a:t>
            </a:r>
            <a:r>
              <a:rPr lang="zh-CN" altLang="zh-CN" b="1" i="1"/>
              <a:t>u</a:t>
            </a:r>
            <a:r>
              <a:rPr lang="en-US" altLang="zh-CN" b="1" baseline="-25000"/>
              <a:t>O</a:t>
            </a:r>
            <a:r>
              <a:rPr lang="zh-CN" altLang="zh-CN" b="1"/>
              <a:t>≠0</a:t>
            </a:r>
            <a:r>
              <a:rPr lang="zh-CN" altLang="zh-CN" b="1">
                <a:latin typeface="宋体" pitchFamily="2" charset="-122"/>
              </a:rPr>
              <a:t>的现象。</a:t>
            </a:r>
            <a:endParaRPr lang="zh-CN" altLang="en-US" b="1" baseline="-25000">
              <a:latin typeface="宋体" pitchFamily="2" charset="-122"/>
            </a:endParaRPr>
          </a:p>
        </p:txBody>
      </p:sp>
      <p:pic>
        <p:nvPicPr>
          <p:cNvPr id="33796" name="Picture 4" descr="Dz030301"/>
          <p:cNvPicPr>
            <a:picLocks noChangeAspect="1" noChangeArrowheads="1"/>
          </p:cNvPicPr>
          <p:nvPr/>
        </p:nvPicPr>
        <p:blipFill>
          <a:blip r:embed="rId3"/>
          <a:srcRect b="9839"/>
          <a:stretch>
            <a:fillRect/>
          </a:stretch>
        </p:blipFill>
        <p:spPr bwMode="auto">
          <a:xfrm>
            <a:off x="755650" y="2593975"/>
            <a:ext cx="7620000" cy="2108200"/>
          </a:xfrm>
          <a:prstGeom prst="rect">
            <a:avLst/>
          </a:prstGeom>
          <a:noFill/>
          <a:ln w="9525">
            <a:noFill/>
            <a:miter lim="800000"/>
            <a:headEnd/>
            <a:tailEnd/>
          </a:ln>
        </p:spPr>
      </p:pic>
      <p:sp>
        <p:nvSpPr>
          <p:cNvPr id="33797" name="Text Box 5"/>
          <p:cNvSpPr txBox="1">
            <a:spLocks noChangeArrowheads="1"/>
          </p:cNvSpPr>
          <p:nvPr/>
        </p:nvSpPr>
        <p:spPr bwMode="auto">
          <a:xfrm>
            <a:off x="450850" y="4702175"/>
            <a:ext cx="8305800" cy="892175"/>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2.</a:t>
            </a:r>
            <a:r>
              <a:rPr lang="zh-CN" altLang="en-US" sz="2800" b="1">
                <a:latin typeface="华文行楷" pitchFamily="2" charset="-122"/>
                <a:ea typeface="华文行楷" pitchFamily="2" charset="-122"/>
              </a:rPr>
              <a:t>产生原因</a:t>
            </a:r>
            <a:r>
              <a:rPr lang="zh-CN" altLang="en-US" b="1"/>
              <a:t>：</a:t>
            </a:r>
            <a:r>
              <a:rPr lang="zh-CN" altLang="en-US" b="1">
                <a:solidFill>
                  <a:srgbClr val="0000FF"/>
                </a:solidFill>
              </a:rPr>
              <a:t>温度变化，直流电源波动，元器件老化</a:t>
            </a:r>
            <a:r>
              <a:rPr lang="zh-CN" altLang="en-US" b="1"/>
              <a:t>。其中晶体管的特性对温度敏感是主要原因，故也称零漂为温漂。</a:t>
            </a:r>
          </a:p>
        </p:txBody>
      </p:sp>
      <p:sp>
        <p:nvSpPr>
          <p:cNvPr id="33798" name="Text Box 6"/>
          <p:cNvSpPr txBox="1">
            <a:spLocks noChangeArrowheads="1"/>
          </p:cNvSpPr>
          <p:nvPr/>
        </p:nvSpPr>
        <p:spPr bwMode="auto">
          <a:xfrm>
            <a:off x="450850" y="5559425"/>
            <a:ext cx="8001000" cy="831850"/>
          </a:xfrm>
          <a:prstGeom prst="rect">
            <a:avLst/>
          </a:prstGeom>
          <a:noFill/>
          <a:ln w="9525">
            <a:noFill/>
            <a:miter lim="800000"/>
            <a:headEnd/>
            <a:tailEnd/>
          </a:ln>
        </p:spPr>
        <p:txBody>
          <a:bodyPr>
            <a:spAutoFit/>
          </a:bodyPr>
          <a:lstStyle/>
          <a:p>
            <a:pPr eaLnBrk="1" hangingPunct="1"/>
            <a:r>
              <a:rPr lang="zh-CN" altLang="en-US" b="1">
                <a:solidFill>
                  <a:srgbClr val="A50021"/>
                </a:solidFill>
              </a:rPr>
              <a:t>克服温漂的方法：引入</a:t>
            </a:r>
            <a:r>
              <a:rPr lang="zh-CN" altLang="en-US" b="1">
                <a:solidFill>
                  <a:srgbClr val="0000FF"/>
                </a:solidFill>
              </a:rPr>
              <a:t>直流负反馈</a:t>
            </a:r>
            <a:r>
              <a:rPr lang="zh-CN" altLang="en-US" b="1">
                <a:solidFill>
                  <a:srgbClr val="A50021"/>
                </a:solidFill>
              </a:rPr>
              <a:t>，</a:t>
            </a:r>
            <a:r>
              <a:rPr lang="zh-CN" altLang="en-US" b="1">
                <a:solidFill>
                  <a:srgbClr val="0000FF"/>
                </a:solidFill>
              </a:rPr>
              <a:t>温度补偿</a:t>
            </a:r>
            <a:r>
              <a:rPr lang="zh-CN" altLang="en-US" b="1">
                <a:solidFill>
                  <a:srgbClr val="A50021"/>
                </a:solidFill>
              </a:rPr>
              <a:t>。</a:t>
            </a:r>
            <a:endParaRPr lang="en-US" altLang="zh-CN" b="1">
              <a:solidFill>
                <a:srgbClr val="A50021"/>
              </a:solidFill>
            </a:endParaRPr>
          </a:p>
          <a:p>
            <a:pPr eaLnBrk="1" hangingPunct="1"/>
            <a:r>
              <a:rPr lang="zh-CN" altLang="en-US" b="1">
                <a:solidFill>
                  <a:srgbClr val="A50021"/>
                </a:solidFill>
              </a:rPr>
              <a:t>典型电路：</a:t>
            </a:r>
            <a:r>
              <a:rPr lang="zh-CN" altLang="en-US" b="1">
                <a:solidFill>
                  <a:srgbClr val="0000FF"/>
                </a:solidFill>
              </a:rPr>
              <a:t>差分放大电路</a:t>
            </a:r>
          </a:p>
        </p:txBody>
      </p:sp>
      <p:grpSp>
        <p:nvGrpSpPr>
          <p:cNvPr id="2" name="Group 11"/>
          <p:cNvGrpSpPr>
            <a:grpSpLocks/>
          </p:cNvGrpSpPr>
          <p:nvPr/>
        </p:nvGrpSpPr>
        <p:grpSpPr bwMode="auto">
          <a:xfrm>
            <a:off x="755650" y="5119688"/>
            <a:ext cx="7848600" cy="396875"/>
            <a:chOff x="385" y="2999"/>
            <a:chExt cx="4944" cy="250"/>
          </a:xfrm>
        </p:grpSpPr>
        <p:sp>
          <p:nvSpPr>
            <p:cNvPr id="119821" name="Line 12"/>
            <p:cNvSpPr>
              <a:spLocks noChangeShapeType="1"/>
            </p:cNvSpPr>
            <p:nvPr/>
          </p:nvSpPr>
          <p:spPr bwMode="auto">
            <a:xfrm>
              <a:off x="4830" y="2999"/>
              <a:ext cx="499" cy="0"/>
            </a:xfrm>
            <a:prstGeom prst="line">
              <a:avLst/>
            </a:prstGeom>
            <a:noFill/>
            <a:ln w="28575">
              <a:solidFill>
                <a:srgbClr val="FF0000"/>
              </a:solidFill>
              <a:round/>
              <a:headEnd/>
              <a:tailEnd/>
            </a:ln>
          </p:spPr>
          <p:txBody>
            <a:bodyPr/>
            <a:lstStyle/>
            <a:p>
              <a:endParaRPr lang="zh-CN" altLang="en-US"/>
            </a:p>
          </p:txBody>
        </p:sp>
        <p:sp>
          <p:nvSpPr>
            <p:cNvPr id="119822" name="Line 13"/>
            <p:cNvSpPr>
              <a:spLocks noChangeShapeType="1"/>
            </p:cNvSpPr>
            <p:nvPr/>
          </p:nvSpPr>
          <p:spPr bwMode="auto">
            <a:xfrm>
              <a:off x="385" y="3249"/>
              <a:ext cx="4582" cy="0"/>
            </a:xfrm>
            <a:prstGeom prst="line">
              <a:avLst/>
            </a:prstGeom>
            <a:noFill/>
            <a:ln w="28575">
              <a:solidFill>
                <a:srgbClr val="FF0000"/>
              </a:solidFill>
              <a:round/>
              <a:headEnd/>
              <a:tailEnd/>
            </a:ln>
          </p:spPr>
          <p:txBody>
            <a:bodyPr/>
            <a:lstStyle/>
            <a:p>
              <a:endParaRPr lang="zh-CN" altLang="en-US"/>
            </a:p>
          </p:txBody>
        </p:sp>
      </p:grpSp>
      <p:sp>
        <p:nvSpPr>
          <p:cNvPr id="119816" name="Text Box 24"/>
          <p:cNvSpPr txBox="1">
            <a:spLocks noChangeArrowheads="1"/>
          </p:cNvSpPr>
          <p:nvPr/>
        </p:nvSpPr>
        <p:spPr bwMode="auto">
          <a:xfrm>
            <a:off x="1752600" y="639763"/>
            <a:ext cx="4800600" cy="579437"/>
          </a:xfrm>
          <a:prstGeom prst="rect">
            <a:avLst/>
          </a:prstGeom>
          <a:noFill/>
          <a:ln w="9525">
            <a:noFill/>
            <a:miter lim="800000"/>
            <a:headEnd/>
            <a:tailEnd/>
          </a:ln>
        </p:spPr>
        <p:txBody>
          <a:bodyPr>
            <a:spAutoFit/>
          </a:bodyPr>
          <a:lstStyle/>
          <a:p>
            <a:pPr eaLnBrk="1" hangingPunct="1">
              <a:spcBef>
                <a:spcPct val="50000"/>
              </a:spcBef>
            </a:pPr>
            <a:r>
              <a:rPr lang="en-US" altLang="zh-CN" sz="3200" b="1">
                <a:solidFill>
                  <a:schemeClr val="hlink"/>
                </a:solidFill>
              </a:rPr>
              <a:t>3.3</a:t>
            </a:r>
            <a:r>
              <a:rPr lang="zh-CN" altLang="en-US" sz="3200" b="1">
                <a:solidFill>
                  <a:schemeClr val="hlink"/>
                </a:solidFill>
              </a:rPr>
              <a:t>　直接耦合放大电路</a:t>
            </a:r>
          </a:p>
        </p:txBody>
      </p:sp>
      <p:sp>
        <p:nvSpPr>
          <p:cNvPr id="119817" name="Text Box 25"/>
          <p:cNvSpPr txBox="1">
            <a:spLocks noChangeArrowheads="1"/>
          </p:cNvSpPr>
          <p:nvPr/>
        </p:nvSpPr>
        <p:spPr bwMode="auto">
          <a:xfrm>
            <a:off x="990600" y="1060450"/>
            <a:ext cx="6553200" cy="519113"/>
          </a:xfrm>
          <a:prstGeom prst="rect">
            <a:avLst/>
          </a:prstGeom>
          <a:noFill/>
          <a:ln w="9525">
            <a:noFill/>
            <a:miter lim="800000"/>
            <a:headEnd/>
            <a:tailEnd/>
          </a:ln>
        </p:spPr>
        <p:txBody>
          <a:bodyPr>
            <a:spAutoFit/>
          </a:bodyPr>
          <a:lstStyle/>
          <a:p>
            <a:pPr eaLnBrk="1" hangingPunct="1">
              <a:spcBef>
                <a:spcPct val="50000"/>
              </a:spcBef>
            </a:pPr>
            <a:r>
              <a:rPr lang="en-US" altLang="zh-CN" sz="2800" b="1">
                <a:solidFill>
                  <a:srgbClr val="FF3300"/>
                </a:solidFill>
              </a:rPr>
              <a:t>3.3.1</a:t>
            </a:r>
            <a:r>
              <a:rPr lang="zh-CN" altLang="en-US" sz="2800" b="1">
                <a:solidFill>
                  <a:srgbClr val="FF3300"/>
                </a:solidFill>
              </a:rPr>
              <a:t>直接耦合放大电路的零点漂移现象</a:t>
            </a:r>
          </a:p>
        </p:txBody>
      </p:sp>
      <p:grpSp>
        <p:nvGrpSpPr>
          <p:cNvPr id="3" name="Group 15"/>
          <p:cNvGrpSpPr>
            <a:grpSpLocks/>
          </p:cNvGrpSpPr>
          <p:nvPr/>
        </p:nvGrpSpPr>
        <p:grpSpPr bwMode="auto">
          <a:xfrm>
            <a:off x="304800" y="4073525"/>
            <a:ext cx="7696200" cy="838200"/>
            <a:chOff x="336" y="1392"/>
            <a:chExt cx="4848" cy="528"/>
          </a:xfrm>
        </p:grpSpPr>
        <p:sp>
          <p:nvSpPr>
            <p:cNvPr id="119819" name="AutoShape 13"/>
            <p:cNvSpPr>
              <a:spLocks noChangeArrowheads="1"/>
            </p:cNvSpPr>
            <p:nvPr/>
          </p:nvSpPr>
          <p:spPr bwMode="auto">
            <a:xfrm>
              <a:off x="336" y="1392"/>
              <a:ext cx="4848" cy="528"/>
            </a:xfrm>
            <a:prstGeom prst="horizontalScroll">
              <a:avLst>
                <a:gd name="adj" fmla="val 12500"/>
              </a:avLst>
            </a:prstGeom>
            <a:solidFill>
              <a:srgbClr val="FFFFCC"/>
            </a:solidFill>
            <a:ln w="38100">
              <a:solidFill>
                <a:srgbClr val="FF0000"/>
              </a:solidFill>
              <a:round/>
              <a:headEnd/>
              <a:tailEnd type="none" w="sm" len="lg"/>
            </a:ln>
          </p:spPr>
          <p:txBody>
            <a:bodyPr wrap="none" anchor="ctr"/>
            <a:lstStyle/>
            <a:p>
              <a:pPr algn="ctr" eaLnBrk="1" hangingPunct="1"/>
              <a:endParaRPr lang="zh-CN" altLang="en-US"/>
            </a:p>
          </p:txBody>
        </p:sp>
        <p:sp>
          <p:nvSpPr>
            <p:cNvPr id="119820" name="Text Box 14"/>
            <p:cNvSpPr txBox="1">
              <a:spLocks noChangeArrowheads="1"/>
            </p:cNvSpPr>
            <p:nvPr/>
          </p:nvSpPr>
          <p:spPr bwMode="auto">
            <a:xfrm>
              <a:off x="480" y="1488"/>
              <a:ext cx="4704" cy="327"/>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a:t>抑制放大电路</a:t>
              </a:r>
              <a:r>
                <a:rPr lang="zh-CN" altLang="en-US">
                  <a:solidFill>
                    <a:srgbClr val="FF0000"/>
                  </a:solidFill>
                </a:rPr>
                <a:t>第一级</a:t>
              </a:r>
              <a:r>
                <a:rPr lang="zh-CN" altLang="en-US"/>
                <a:t>的温漂是至关重要的问题</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wipe(left)">
                                      <p:cBhvr>
                                        <p:cTn id="12" dur="500"/>
                                        <p:tgtEl>
                                          <p:spTgt spid="33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797">
                                            <p:txEl>
                                              <p:pRg st="0" end="0"/>
                                            </p:txEl>
                                          </p:spTgt>
                                        </p:tgtEl>
                                        <p:attrNameLst>
                                          <p:attrName>style.visibility</p:attrName>
                                        </p:attrNameLst>
                                      </p:cBhvr>
                                      <p:to>
                                        <p:strVal val="visible"/>
                                      </p:to>
                                    </p:set>
                                    <p:animEffect transition="in" filter="wipe(left)">
                                      <p:cBhvr>
                                        <p:cTn id="17" dur="500"/>
                                        <p:tgtEl>
                                          <p:spTgt spid="3379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3798">
                                            <p:txEl>
                                              <p:pRg st="0" end="0"/>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33798">
                                            <p:txEl>
                                              <p:pRg st="1" end="1"/>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ppt_x</p:attrName>
                                        </p:attrNameLst>
                                      </p:cBhvr>
                                      <p:tavLst>
                                        <p:tav tm="0">
                                          <p:val>
                                            <p:strVal val="#ppt_x-#ppt_w/2"/>
                                          </p:val>
                                        </p:tav>
                                        <p:tav tm="100000">
                                          <p:val>
                                            <p:strVal val="#ppt_x"/>
                                          </p:val>
                                        </p:tav>
                                      </p:tavLst>
                                    </p:anim>
                                    <p:anim calcmode="lin" valueType="num">
                                      <p:cBhvr>
                                        <p:cTn id="37" dur="500" fill="hold"/>
                                        <p:tgtEl>
                                          <p:spTgt spid="3"/>
                                        </p:tgtEl>
                                        <p:attrNameLst>
                                          <p:attrName>ppt_y</p:attrName>
                                        </p:attrNameLst>
                                      </p:cBhvr>
                                      <p:tavLst>
                                        <p:tav tm="0">
                                          <p:val>
                                            <p:strVal val="#ppt_y"/>
                                          </p:val>
                                        </p:tav>
                                        <p:tav tm="100000">
                                          <p:val>
                                            <p:strVal val="#ppt_y"/>
                                          </p:val>
                                        </p:tav>
                                      </p:tavLst>
                                    </p:anim>
                                    <p:anim calcmode="lin" valueType="num">
                                      <p:cBhvr>
                                        <p:cTn id="38" dur="500" fill="hold"/>
                                        <p:tgtEl>
                                          <p:spTgt spid="3"/>
                                        </p:tgtEl>
                                        <p:attrNameLst>
                                          <p:attrName>ppt_w</p:attrName>
                                        </p:attrNameLst>
                                      </p:cBhvr>
                                      <p:tavLst>
                                        <p:tav tm="0">
                                          <p:val>
                                            <p:fltVal val="0"/>
                                          </p:val>
                                        </p:tav>
                                        <p:tav tm="100000">
                                          <p:val>
                                            <p:strVal val="#ppt_w"/>
                                          </p:val>
                                        </p:tav>
                                      </p:tavLst>
                                    </p:anim>
                                    <p:anim calcmode="lin" valueType="num">
                                      <p:cBhvr>
                                        <p:cTn id="39" dur="500" fill="hold"/>
                                        <p:tgtEl>
                                          <p:spTgt spid="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P spid="3379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1143000" y="730250"/>
            <a:ext cx="4114800" cy="488950"/>
          </a:xfrm>
          <a:prstGeom prst="rect">
            <a:avLst/>
          </a:prstGeom>
          <a:noFill/>
          <a:ln w="9525">
            <a:noFill/>
            <a:miter lim="800000"/>
            <a:headEnd/>
            <a:tailEnd/>
          </a:ln>
        </p:spPr>
        <p:txBody>
          <a:bodyPr>
            <a:spAutoFit/>
          </a:bodyPr>
          <a:lstStyle/>
          <a:p>
            <a:pPr eaLnBrk="1" hangingPunct="1">
              <a:spcBef>
                <a:spcPct val="50000"/>
              </a:spcBef>
            </a:pPr>
            <a:r>
              <a:rPr lang="zh-CN" altLang="en-US" sz="2600" b="1">
                <a:solidFill>
                  <a:srgbClr val="0000FF"/>
                </a:solidFill>
              </a:rPr>
              <a:t>二、抑制温度漂移的方法：</a:t>
            </a:r>
          </a:p>
        </p:txBody>
      </p:sp>
      <p:sp>
        <p:nvSpPr>
          <p:cNvPr id="120835" name="Text Box 3"/>
          <p:cNvSpPr txBox="1">
            <a:spLocks noChangeArrowheads="1"/>
          </p:cNvSpPr>
          <p:nvPr/>
        </p:nvSpPr>
        <p:spPr bwMode="auto">
          <a:xfrm>
            <a:off x="1066800" y="1233488"/>
            <a:ext cx="6705600" cy="488950"/>
          </a:xfrm>
          <a:prstGeom prst="rect">
            <a:avLst/>
          </a:prstGeom>
          <a:noFill/>
          <a:ln w="9525">
            <a:noFill/>
            <a:miter lim="800000"/>
            <a:headEnd/>
            <a:tailEnd/>
          </a:ln>
        </p:spPr>
        <p:txBody>
          <a:bodyPr>
            <a:spAutoFit/>
          </a:bodyPr>
          <a:lstStyle/>
          <a:p>
            <a:pPr eaLnBrk="1" hangingPunct="1">
              <a:spcBef>
                <a:spcPct val="50000"/>
              </a:spcBef>
            </a:pPr>
            <a:r>
              <a:rPr lang="en-US" altLang="zh-CN" sz="2600" b="1">
                <a:latin typeface="宋体" pitchFamily="2" charset="-122"/>
              </a:rPr>
              <a:t>(</a:t>
            </a:r>
            <a:r>
              <a:rPr lang="en-US" altLang="zh-CN" sz="2600" b="1"/>
              <a:t>1</a:t>
            </a:r>
            <a:r>
              <a:rPr lang="en-US" altLang="zh-CN" sz="2600" b="1">
                <a:latin typeface="宋体" pitchFamily="2" charset="-122"/>
              </a:rPr>
              <a:t>)</a:t>
            </a:r>
            <a:r>
              <a:rPr lang="en-US" altLang="zh-CN" sz="2600" b="1"/>
              <a:t> </a:t>
            </a:r>
            <a:r>
              <a:rPr lang="zh-CN" altLang="en-US" sz="2600" b="1">
                <a:solidFill>
                  <a:schemeClr val="accent2"/>
                </a:solidFill>
              </a:rPr>
              <a:t>引入</a:t>
            </a:r>
            <a:r>
              <a:rPr lang="zh-CN" altLang="en-US" sz="2600" b="1">
                <a:solidFill>
                  <a:srgbClr val="FF0000"/>
                </a:solidFill>
              </a:rPr>
              <a:t>直流负反馈以稳定 </a:t>
            </a:r>
            <a:r>
              <a:rPr lang="en-US" altLang="zh-CN" sz="2600" b="1" i="1">
                <a:solidFill>
                  <a:srgbClr val="FF0000"/>
                </a:solidFill>
              </a:rPr>
              <a:t>Q</a:t>
            </a:r>
            <a:r>
              <a:rPr lang="en-US" altLang="zh-CN" sz="2600" b="1">
                <a:solidFill>
                  <a:srgbClr val="FF0000"/>
                </a:solidFill>
              </a:rPr>
              <a:t> </a:t>
            </a:r>
            <a:r>
              <a:rPr lang="zh-CN" altLang="en-US" sz="2600" b="1">
                <a:solidFill>
                  <a:srgbClr val="FF0000"/>
                </a:solidFill>
              </a:rPr>
              <a:t>点</a:t>
            </a:r>
            <a:r>
              <a:rPr lang="zh-CN" altLang="en-US" sz="2600" b="1"/>
              <a:t>；</a:t>
            </a:r>
          </a:p>
        </p:txBody>
      </p:sp>
      <p:sp>
        <p:nvSpPr>
          <p:cNvPr id="120836" name="Text Box 4"/>
          <p:cNvSpPr txBox="1">
            <a:spLocks noChangeArrowheads="1"/>
          </p:cNvSpPr>
          <p:nvPr/>
        </p:nvSpPr>
        <p:spPr bwMode="auto">
          <a:xfrm>
            <a:off x="954088" y="2052638"/>
            <a:ext cx="7378700" cy="488950"/>
          </a:xfrm>
          <a:prstGeom prst="rect">
            <a:avLst/>
          </a:prstGeom>
          <a:noFill/>
          <a:ln w="9525">
            <a:noFill/>
            <a:miter lim="800000"/>
            <a:headEnd/>
            <a:tailEnd/>
          </a:ln>
        </p:spPr>
        <p:txBody>
          <a:bodyPr>
            <a:spAutoFit/>
          </a:bodyPr>
          <a:lstStyle/>
          <a:p>
            <a:pPr eaLnBrk="1" hangingPunct="1">
              <a:spcBef>
                <a:spcPct val="50000"/>
              </a:spcBef>
            </a:pPr>
            <a:r>
              <a:rPr lang="en-US" altLang="zh-CN" sz="2600" b="1">
                <a:latin typeface="宋体" pitchFamily="2" charset="-122"/>
              </a:rPr>
              <a:t>(</a:t>
            </a:r>
            <a:r>
              <a:rPr lang="en-US" altLang="zh-CN" sz="2600" b="1"/>
              <a:t>2</a:t>
            </a:r>
            <a:r>
              <a:rPr lang="en-US" altLang="zh-CN" sz="2600" b="1">
                <a:latin typeface="宋体" pitchFamily="2" charset="-122"/>
              </a:rPr>
              <a:t>)</a:t>
            </a:r>
            <a:r>
              <a:rPr lang="en-US" altLang="zh-CN" sz="2600" b="1"/>
              <a:t> </a:t>
            </a:r>
            <a:r>
              <a:rPr lang="zh-CN" altLang="en-US" sz="2600" b="1">
                <a:solidFill>
                  <a:schemeClr val="accent2"/>
                </a:solidFill>
              </a:rPr>
              <a:t>利用</a:t>
            </a:r>
            <a:r>
              <a:rPr lang="zh-CN" altLang="en-US" sz="2600" b="1">
                <a:solidFill>
                  <a:srgbClr val="FF0000"/>
                </a:solidFill>
              </a:rPr>
              <a:t>热敏元件补偿</a:t>
            </a:r>
            <a:r>
              <a:rPr lang="zh-CN" altLang="en-US" sz="2600" b="1">
                <a:solidFill>
                  <a:schemeClr val="accent2"/>
                </a:solidFill>
              </a:rPr>
              <a:t>放大器的零漂</a:t>
            </a:r>
            <a:r>
              <a:rPr lang="zh-CN" altLang="en-US" sz="2600" b="1"/>
              <a:t>；</a:t>
            </a:r>
            <a:endParaRPr lang="zh-CN" altLang="en-US" sz="2600" b="1">
              <a:latin typeface="宋体" pitchFamily="2" charset="-122"/>
            </a:endParaRPr>
          </a:p>
        </p:txBody>
      </p:sp>
      <p:sp>
        <p:nvSpPr>
          <p:cNvPr id="160827" name="Text Box 59"/>
          <p:cNvSpPr txBox="1">
            <a:spLocks noChangeArrowheads="1"/>
          </p:cNvSpPr>
          <p:nvPr/>
        </p:nvSpPr>
        <p:spPr bwMode="auto">
          <a:xfrm>
            <a:off x="584200" y="2898775"/>
            <a:ext cx="8120063" cy="522288"/>
          </a:xfrm>
          <a:prstGeom prst="rect">
            <a:avLst/>
          </a:prstGeom>
          <a:noFill/>
          <a:ln w="9525">
            <a:noFill/>
            <a:miter lim="800000"/>
            <a:headEnd/>
            <a:tailEnd/>
          </a:ln>
        </p:spPr>
        <p:txBody>
          <a:bodyPr>
            <a:spAutoFit/>
          </a:bodyPr>
          <a:lstStyle/>
          <a:p>
            <a:pPr eaLnBrk="1" hangingPunct="1">
              <a:spcBef>
                <a:spcPct val="50000"/>
              </a:spcBef>
            </a:pPr>
            <a:r>
              <a:rPr lang="en-US" altLang="zh-CN" sz="2600" b="1">
                <a:latin typeface="宋体" pitchFamily="2" charset="-122"/>
              </a:rPr>
              <a:t>(</a:t>
            </a:r>
            <a:r>
              <a:rPr lang="en-US" altLang="zh-CN" sz="2600" b="1"/>
              <a:t>3</a:t>
            </a:r>
            <a:r>
              <a:rPr lang="en-US" altLang="zh-CN" sz="2600" b="1">
                <a:latin typeface="宋体" pitchFamily="2" charset="-122"/>
              </a:rPr>
              <a:t>)</a:t>
            </a:r>
            <a:r>
              <a:rPr lang="en-US" altLang="zh-CN" sz="2600" b="1"/>
              <a:t> </a:t>
            </a:r>
            <a:r>
              <a:rPr lang="zh-CN" altLang="en-US" sz="2600" b="1">
                <a:solidFill>
                  <a:srgbClr val="FF0000"/>
                </a:solidFill>
              </a:rPr>
              <a:t>采用差分放大电路</a:t>
            </a:r>
            <a:r>
              <a:rPr lang="zh-CN" altLang="en-US" sz="2600" b="1"/>
              <a:t>。</a:t>
            </a:r>
            <a:r>
              <a:rPr lang="zh-CN" altLang="en-US" sz="2800"/>
              <a:t>利用</a:t>
            </a:r>
            <a:r>
              <a:rPr lang="zh-CN" altLang="en-US" sz="2800" b="1">
                <a:solidFill>
                  <a:srgbClr val="0000FF"/>
                </a:solidFill>
              </a:rPr>
              <a:t>晶体管对称性抑制温漂</a:t>
            </a:r>
            <a:endParaRPr lang="zh-CN" altLang="en-US" sz="2600" b="1">
              <a:solidFill>
                <a:srgbClr val="0000FF"/>
              </a:solidFill>
            </a:endParaRPr>
          </a:p>
        </p:txBody>
      </p:sp>
      <p:sp>
        <p:nvSpPr>
          <p:cNvPr id="120838" name="Text Box 60"/>
          <p:cNvSpPr txBox="1">
            <a:spLocks noChangeArrowheads="1"/>
          </p:cNvSpPr>
          <p:nvPr/>
        </p:nvSpPr>
        <p:spPr bwMode="auto">
          <a:xfrm>
            <a:off x="2514600" y="304800"/>
            <a:ext cx="685800" cy="457200"/>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sp>
        <p:nvSpPr>
          <p:cNvPr id="120839" name="Text Box 61"/>
          <p:cNvSpPr txBox="1">
            <a:spLocks noChangeArrowheads="1"/>
          </p:cNvSpPr>
          <p:nvPr/>
        </p:nvSpPr>
        <p:spPr bwMode="auto">
          <a:xfrm>
            <a:off x="6172200" y="304800"/>
            <a:ext cx="762000" cy="457200"/>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pic>
        <p:nvPicPr>
          <p:cNvPr id="120840" name="Picture 3" descr="Dz020402"/>
          <p:cNvPicPr>
            <a:picLocks noChangeAspect="1" noChangeArrowheads="1"/>
          </p:cNvPicPr>
          <p:nvPr/>
        </p:nvPicPr>
        <p:blipFill>
          <a:blip r:embed="rId4"/>
          <a:srcRect r="29347" b="13513"/>
          <a:stretch>
            <a:fillRect/>
          </a:stretch>
        </p:blipFill>
        <p:spPr bwMode="auto">
          <a:xfrm>
            <a:off x="134938" y="3741738"/>
            <a:ext cx="5400675" cy="2660650"/>
          </a:xfrm>
          <a:prstGeom prst="rect">
            <a:avLst/>
          </a:prstGeom>
          <a:noFill/>
          <a:ln w="9525">
            <a:noFill/>
            <a:miter lim="800000"/>
            <a:headEnd/>
            <a:tailEnd/>
          </a:ln>
        </p:spPr>
      </p:pic>
      <p:grpSp>
        <p:nvGrpSpPr>
          <p:cNvPr id="120841" name="Group 48"/>
          <p:cNvGrpSpPr>
            <a:grpSpLocks/>
          </p:cNvGrpSpPr>
          <p:nvPr/>
        </p:nvGrpSpPr>
        <p:grpSpPr bwMode="auto">
          <a:xfrm>
            <a:off x="5564188" y="3671888"/>
            <a:ext cx="3444875" cy="2800350"/>
            <a:chOff x="3024" y="912"/>
            <a:chExt cx="2592" cy="2160"/>
          </a:xfrm>
        </p:grpSpPr>
        <p:pic>
          <p:nvPicPr>
            <p:cNvPr id="120844" name="Picture 49" descr="~AUT0005"/>
            <p:cNvPicPr>
              <a:picLocks noChangeAspect="1" noChangeArrowheads="1"/>
            </p:cNvPicPr>
            <p:nvPr/>
          </p:nvPicPr>
          <p:blipFill>
            <a:blip r:embed="rId5"/>
            <a:srcRect/>
            <a:stretch>
              <a:fillRect/>
            </a:stretch>
          </p:blipFill>
          <p:spPr bwMode="auto">
            <a:xfrm>
              <a:off x="3024" y="912"/>
              <a:ext cx="2592" cy="2160"/>
            </a:xfrm>
            <a:prstGeom prst="rect">
              <a:avLst/>
            </a:prstGeom>
            <a:noFill/>
            <a:ln w="9525">
              <a:noFill/>
              <a:miter lim="800000"/>
              <a:headEnd/>
              <a:tailEnd/>
            </a:ln>
          </p:spPr>
        </p:pic>
        <p:sp>
          <p:nvSpPr>
            <p:cNvPr id="11" name="Text Box 50"/>
            <p:cNvSpPr txBox="1">
              <a:spLocks noChangeArrowheads="1"/>
            </p:cNvSpPr>
            <p:nvPr/>
          </p:nvSpPr>
          <p:spPr bwMode="auto">
            <a:xfrm>
              <a:off x="3504" y="2160"/>
              <a:ext cx="624" cy="279"/>
            </a:xfrm>
            <a:prstGeom prst="rect">
              <a:avLst/>
            </a:prstGeom>
            <a:solidFill>
              <a:schemeClr val="bg1"/>
            </a:solidFill>
            <a:ln w="9525">
              <a:noFill/>
              <a:miter lim="800000"/>
              <a:headEnd/>
              <a:tailEnd/>
            </a:ln>
            <a:effectLst/>
          </p:spPr>
          <p:txBody>
            <a:bodyPr>
              <a:spAutoFit/>
            </a:bodyPr>
            <a:lstStyle/>
            <a:p>
              <a:pPr algn="ctr" eaLnBrk="1" hangingPunct="1">
                <a:spcBef>
                  <a:spcPct val="50000"/>
                </a:spcBef>
                <a:defRPr/>
              </a:pPr>
              <a:r>
                <a:rPr lang="en-US" altLang="zh-CN" b="1" i="1">
                  <a:solidFill>
                    <a:schemeClr val="tx2"/>
                  </a:solidFill>
                  <a:effectLst>
                    <a:outerShdw blurRad="38100" dist="38100" dir="2700000" algn="tl">
                      <a:srgbClr val="000000">
                        <a:alpha val="43137"/>
                      </a:srgbClr>
                    </a:outerShdw>
                  </a:effectLst>
                </a:rPr>
                <a:t>R</a:t>
              </a:r>
              <a:r>
                <a:rPr lang="en-US" altLang="zh-CN" b="1" baseline="-25000">
                  <a:solidFill>
                    <a:schemeClr val="tx2"/>
                  </a:solidFill>
                  <a:effectLst>
                    <a:outerShdw blurRad="38100" dist="38100" dir="2700000" algn="tl">
                      <a:srgbClr val="000000">
                        <a:alpha val="43137"/>
                      </a:srgbClr>
                    </a:outerShdw>
                  </a:effectLst>
                </a:rPr>
                <a:t>b1</a:t>
              </a:r>
            </a:p>
          </p:txBody>
        </p:sp>
        <p:sp>
          <p:nvSpPr>
            <p:cNvPr id="12" name="Rectangle 51"/>
            <p:cNvSpPr>
              <a:spLocks noChangeArrowheads="1"/>
            </p:cNvSpPr>
            <p:nvPr/>
          </p:nvSpPr>
          <p:spPr bwMode="auto">
            <a:xfrm>
              <a:off x="3461" y="1344"/>
              <a:ext cx="379" cy="285"/>
            </a:xfrm>
            <a:prstGeom prst="rect">
              <a:avLst/>
            </a:prstGeom>
            <a:solidFill>
              <a:schemeClr val="bg1"/>
            </a:solidFill>
            <a:ln w="9525">
              <a:noFill/>
              <a:miter lim="800000"/>
              <a:headEnd/>
              <a:tailEnd/>
            </a:ln>
            <a:effectLst/>
          </p:spPr>
          <p:txBody>
            <a:bodyPr wrap="none">
              <a:spAutoFit/>
            </a:bodyPr>
            <a:lstStyle/>
            <a:p>
              <a:pPr algn="ctr" eaLnBrk="1" hangingPunct="1">
                <a:defRPr/>
              </a:pPr>
              <a:r>
                <a:rPr lang="en-US" altLang="zh-CN" b="1" i="1">
                  <a:solidFill>
                    <a:schemeClr val="tx2"/>
                  </a:solidFill>
                  <a:effectLst>
                    <a:outerShdw blurRad="38100" dist="38100" dir="2700000" algn="tl">
                      <a:srgbClr val="000000">
                        <a:alpha val="43137"/>
                      </a:srgbClr>
                    </a:outerShdw>
                  </a:effectLst>
                </a:rPr>
                <a:t>R</a:t>
              </a:r>
              <a:r>
                <a:rPr lang="en-US" altLang="zh-CN" b="1" baseline="-25000">
                  <a:solidFill>
                    <a:schemeClr val="tx2"/>
                  </a:solidFill>
                  <a:effectLst>
                    <a:outerShdw blurRad="38100" dist="38100" dir="2700000" algn="tl">
                      <a:srgbClr val="000000">
                        <a:alpha val="43137"/>
                      </a:srgbClr>
                    </a:outerShdw>
                  </a:effectLst>
                </a:rPr>
                <a:t>b2</a:t>
              </a:r>
            </a:p>
          </p:txBody>
        </p:sp>
        <p:grpSp>
          <p:nvGrpSpPr>
            <p:cNvPr id="120847" name="Group 52"/>
            <p:cNvGrpSpPr>
              <a:grpSpLocks/>
            </p:cNvGrpSpPr>
            <p:nvPr/>
          </p:nvGrpSpPr>
          <p:grpSpPr bwMode="auto">
            <a:xfrm>
              <a:off x="3840" y="1872"/>
              <a:ext cx="192" cy="912"/>
              <a:chOff x="4704" y="3120"/>
              <a:chExt cx="192" cy="912"/>
            </a:xfrm>
          </p:grpSpPr>
          <p:grpSp>
            <p:nvGrpSpPr>
              <p:cNvPr id="120848" name="Group 53"/>
              <p:cNvGrpSpPr>
                <a:grpSpLocks/>
              </p:cNvGrpSpPr>
              <p:nvPr/>
            </p:nvGrpSpPr>
            <p:grpSpPr bwMode="auto">
              <a:xfrm>
                <a:off x="4704" y="3120"/>
                <a:ext cx="192" cy="912"/>
                <a:chOff x="3503" y="3216"/>
                <a:chExt cx="192" cy="912"/>
              </a:xfrm>
            </p:grpSpPr>
            <p:sp>
              <p:nvSpPr>
                <p:cNvPr id="16" name="Line 54"/>
                <p:cNvSpPr>
                  <a:spLocks noChangeShapeType="1"/>
                </p:cNvSpPr>
                <p:nvPr/>
              </p:nvSpPr>
              <p:spPr bwMode="auto">
                <a:xfrm rot="10800000">
                  <a:off x="3600" y="3216"/>
                  <a:ext cx="0" cy="912"/>
                </a:xfrm>
                <a:prstGeom prst="line">
                  <a:avLst/>
                </a:prstGeom>
                <a:noFill/>
                <a:ln w="38100">
                  <a:solidFill>
                    <a:schemeClr val="tx1"/>
                  </a:solidFill>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17" name="Line 55"/>
                <p:cNvSpPr>
                  <a:spLocks noChangeShapeType="1"/>
                </p:cNvSpPr>
                <p:nvPr/>
              </p:nvSpPr>
              <p:spPr bwMode="auto">
                <a:xfrm rot="10800000">
                  <a:off x="3503" y="3591"/>
                  <a:ext cx="192" cy="0"/>
                </a:xfrm>
                <a:prstGeom prst="line">
                  <a:avLst/>
                </a:prstGeom>
                <a:noFill/>
                <a:ln w="38100">
                  <a:solidFill>
                    <a:schemeClr val="tx1"/>
                  </a:solidFill>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18" name="Line 56"/>
                <p:cNvSpPr>
                  <a:spLocks noChangeShapeType="1"/>
                </p:cNvSpPr>
                <p:nvPr/>
              </p:nvSpPr>
              <p:spPr bwMode="auto">
                <a:xfrm rot="10800000" flipH="1">
                  <a:off x="3600" y="3420"/>
                  <a:ext cx="99" cy="164"/>
                </a:xfrm>
                <a:prstGeom prst="line">
                  <a:avLst/>
                </a:prstGeom>
                <a:noFill/>
                <a:ln w="38100">
                  <a:solidFill>
                    <a:schemeClr val="tx1"/>
                  </a:solidFill>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19" name="Line 57"/>
                <p:cNvSpPr>
                  <a:spLocks noChangeShapeType="1"/>
                </p:cNvSpPr>
                <p:nvPr/>
              </p:nvSpPr>
              <p:spPr bwMode="auto">
                <a:xfrm rot="10800000">
                  <a:off x="3503" y="3420"/>
                  <a:ext cx="97" cy="164"/>
                </a:xfrm>
                <a:prstGeom prst="line">
                  <a:avLst/>
                </a:prstGeom>
                <a:noFill/>
                <a:ln w="38100">
                  <a:solidFill>
                    <a:schemeClr val="tx1"/>
                  </a:solidFill>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20" name="Line 58"/>
                <p:cNvSpPr>
                  <a:spLocks noChangeShapeType="1"/>
                </p:cNvSpPr>
                <p:nvPr/>
              </p:nvSpPr>
              <p:spPr bwMode="auto">
                <a:xfrm rot="10800000">
                  <a:off x="3503" y="3422"/>
                  <a:ext cx="192" cy="0"/>
                </a:xfrm>
                <a:prstGeom prst="line">
                  <a:avLst/>
                </a:prstGeom>
                <a:noFill/>
                <a:ln w="38100">
                  <a:solidFill>
                    <a:schemeClr val="tx1"/>
                  </a:solidFill>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grpSp>
          <p:sp>
            <p:nvSpPr>
              <p:cNvPr id="15" name="Rectangle 59"/>
              <p:cNvSpPr>
                <a:spLocks noChangeArrowheads="1"/>
              </p:cNvSpPr>
              <p:nvPr/>
            </p:nvSpPr>
            <p:spPr bwMode="auto">
              <a:xfrm>
                <a:off x="4752" y="3645"/>
                <a:ext cx="98" cy="240"/>
              </a:xfrm>
              <a:prstGeom prst="rect">
                <a:avLst/>
              </a:prstGeom>
              <a:solidFill>
                <a:schemeClr val="bg1"/>
              </a:solidFill>
              <a:ln w="38100">
                <a:solidFill>
                  <a:schemeClr val="tx1"/>
                </a:solidFill>
                <a:miter lim="800000"/>
                <a:headEnd/>
                <a:tailEnd/>
              </a:ln>
              <a:effectLst/>
            </p:spPr>
            <p:txBody>
              <a:bodyPr wrap="none" anchor="ctr"/>
              <a:lstStyle/>
              <a:p>
                <a:pPr algn="ctr" eaLnBrk="1" hangingPunct="1">
                  <a:defRPr/>
                </a:pPr>
                <a:endParaRPr lang="zh-CN" altLang="en-US">
                  <a:effectLst>
                    <a:outerShdw blurRad="38100" dist="38100" dir="2700000" algn="tl">
                      <a:srgbClr val="000000">
                        <a:alpha val="43137"/>
                      </a:srgbClr>
                    </a:outerShdw>
                  </a:effectLst>
                </a:endParaRPr>
              </a:p>
            </p:txBody>
          </p:sp>
        </p:grpSp>
      </p:grpSp>
      <p:sp>
        <p:nvSpPr>
          <p:cNvPr id="2" name="右大括号 1"/>
          <p:cNvSpPr>
            <a:spLocks/>
          </p:cNvSpPr>
          <p:nvPr/>
        </p:nvSpPr>
        <p:spPr bwMode="auto">
          <a:xfrm>
            <a:off x="6557963" y="1412875"/>
            <a:ext cx="376237" cy="942975"/>
          </a:xfrm>
          <a:prstGeom prst="rightBrace">
            <a:avLst>
              <a:gd name="adj1" fmla="val 8343"/>
              <a:gd name="adj2" fmla="val 50000"/>
            </a:avLst>
          </a:prstGeom>
          <a:noFill/>
          <a:ln w="9525" algn="ctr">
            <a:solidFill>
              <a:schemeClr val="tx1"/>
            </a:solidFill>
            <a:round/>
            <a:headEnd/>
            <a:tailEnd/>
          </a:ln>
        </p:spPr>
        <p:txBody>
          <a:bodyPr/>
          <a:lstStyle/>
          <a:p>
            <a:pPr algn="ctr" eaLnBrk="1" hangingPunct="1"/>
            <a:endParaRPr lang="zh-CN" altLang="en-US"/>
          </a:p>
        </p:txBody>
      </p:sp>
      <p:sp>
        <p:nvSpPr>
          <p:cNvPr id="3" name="文本框 2"/>
          <p:cNvSpPr txBox="1"/>
          <p:nvPr/>
        </p:nvSpPr>
        <p:spPr>
          <a:xfrm>
            <a:off x="7112000" y="1617663"/>
            <a:ext cx="839788" cy="461962"/>
          </a:xfrm>
          <a:prstGeom prst="rect">
            <a:avLst/>
          </a:prstGeom>
          <a:solidFill>
            <a:schemeClr val="accent5"/>
          </a:solidFill>
        </p:spPr>
        <p:txBody>
          <a:bodyPr>
            <a:spAutoFit/>
          </a:bodyPr>
          <a:lstStyle/>
          <a:p>
            <a:pPr>
              <a:defRPr/>
            </a:pPr>
            <a:r>
              <a:rPr lang="zh-CN" altLang="en-US" dirty="0"/>
              <a:t>减小</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0827"/>
                                        </p:tgtEl>
                                        <p:attrNameLst>
                                          <p:attrName>style.visibility</p:attrName>
                                        </p:attrNameLst>
                                      </p:cBhvr>
                                      <p:to>
                                        <p:strVal val="visible"/>
                                      </p:to>
                                    </p:set>
                                    <p:animEffect transition="in" filter="wipe(left)">
                                      <p:cBhvr>
                                        <p:cTn id="13" dur="500"/>
                                        <p:tgtEl>
                                          <p:spTgt spid="160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27" grpId="0" autoUpdateAnimBg="0"/>
      <p:bldP spid="2"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4"/>
          <p:cNvSpPr txBox="1">
            <a:spLocks noChangeArrowheads="1"/>
          </p:cNvSpPr>
          <p:nvPr/>
        </p:nvSpPr>
        <p:spPr bwMode="auto">
          <a:xfrm>
            <a:off x="1143000" y="762000"/>
            <a:ext cx="4038600" cy="579438"/>
          </a:xfrm>
          <a:prstGeom prst="rect">
            <a:avLst/>
          </a:prstGeom>
          <a:noFill/>
          <a:ln w="9525">
            <a:noFill/>
            <a:miter lim="800000"/>
            <a:headEnd/>
            <a:tailEnd/>
          </a:ln>
        </p:spPr>
        <p:txBody>
          <a:bodyPr>
            <a:spAutoFit/>
          </a:bodyPr>
          <a:lstStyle/>
          <a:p>
            <a:pPr eaLnBrk="1" hangingPunct="1">
              <a:spcBef>
                <a:spcPct val="50000"/>
              </a:spcBef>
            </a:pPr>
            <a:r>
              <a:rPr lang="en-US" altLang="zh-CN" sz="3200" b="1">
                <a:solidFill>
                  <a:srgbClr val="FF3300"/>
                </a:solidFill>
              </a:rPr>
              <a:t>3.3.2 </a:t>
            </a:r>
            <a:r>
              <a:rPr lang="zh-CN" altLang="en-US" sz="3200" b="1">
                <a:solidFill>
                  <a:srgbClr val="FF3300"/>
                </a:solidFill>
              </a:rPr>
              <a:t>　差分放大电路</a:t>
            </a:r>
          </a:p>
        </p:txBody>
      </p:sp>
      <p:sp>
        <p:nvSpPr>
          <p:cNvPr id="161797" name="Text Box 5"/>
          <p:cNvSpPr txBox="1">
            <a:spLocks noChangeArrowheads="1"/>
          </p:cNvSpPr>
          <p:nvPr/>
        </p:nvSpPr>
        <p:spPr bwMode="auto">
          <a:xfrm>
            <a:off x="609600" y="1371600"/>
            <a:ext cx="8305800" cy="457200"/>
          </a:xfrm>
          <a:prstGeom prst="rect">
            <a:avLst/>
          </a:prstGeom>
          <a:noFill/>
          <a:ln w="9525">
            <a:noFill/>
            <a:miter lim="800000"/>
            <a:headEnd/>
            <a:tailEnd/>
          </a:ln>
        </p:spPr>
        <p:txBody>
          <a:bodyPr>
            <a:spAutoFit/>
          </a:bodyPr>
          <a:lstStyle/>
          <a:p>
            <a:pPr eaLnBrk="1" hangingPunct="1">
              <a:spcBef>
                <a:spcPct val="50000"/>
              </a:spcBef>
            </a:pPr>
            <a:r>
              <a:rPr lang="zh-CN" altLang="en-US" b="1"/>
              <a:t>差分放大电路是构成</a:t>
            </a:r>
            <a:r>
              <a:rPr lang="zh-CN" altLang="en-US" b="1">
                <a:solidFill>
                  <a:srgbClr val="FF0000"/>
                </a:solidFill>
              </a:rPr>
              <a:t>多级直接耦合放大电路的基本单元电路</a:t>
            </a:r>
          </a:p>
        </p:txBody>
      </p:sp>
      <p:sp>
        <p:nvSpPr>
          <p:cNvPr id="161798" name="Text Box 6"/>
          <p:cNvSpPr txBox="1">
            <a:spLocks noChangeArrowheads="1"/>
          </p:cNvSpPr>
          <p:nvPr/>
        </p:nvSpPr>
        <p:spPr bwMode="auto">
          <a:xfrm>
            <a:off x="762000" y="1905000"/>
            <a:ext cx="2895600" cy="457200"/>
          </a:xfrm>
          <a:prstGeom prst="rect">
            <a:avLst/>
          </a:prstGeom>
          <a:noFill/>
          <a:ln w="9525">
            <a:noFill/>
            <a:miter lim="800000"/>
            <a:headEnd/>
            <a:tailEnd/>
          </a:ln>
        </p:spPr>
        <p:txBody>
          <a:bodyPr>
            <a:spAutoFit/>
          </a:bodyPr>
          <a:lstStyle/>
          <a:p>
            <a:pPr eaLnBrk="1" hangingPunct="1">
              <a:spcBef>
                <a:spcPct val="50000"/>
              </a:spcBef>
            </a:pPr>
            <a:r>
              <a:rPr lang="zh-CN" altLang="en-US" b="1">
                <a:solidFill>
                  <a:schemeClr val="hlink"/>
                </a:solidFill>
              </a:rPr>
              <a:t>一、电路的组成</a:t>
            </a:r>
          </a:p>
        </p:txBody>
      </p:sp>
      <p:grpSp>
        <p:nvGrpSpPr>
          <p:cNvPr id="2" name="Group 21"/>
          <p:cNvGrpSpPr>
            <a:grpSpLocks/>
          </p:cNvGrpSpPr>
          <p:nvPr/>
        </p:nvGrpSpPr>
        <p:grpSpPr bwMode="auto">
          <a:xfrm>
            <a:off x="533400" y="2438400"/>
            <a:ext cx="3810000" cy="2813050"/>
            <a:chOff x="2832" y="1920"/>
            <a:chExt cx="2736" cy="1772"/>
          </a:xfrm>
        </p:grpSpPr>
        <p:grpSp>
          <p:nvGrpSpPr>
            <p:cNvPr id="25634" name="Group 7"/>
            <p:cNvGrpSpPr>
              <a:grpSpLocks/>
            </p:cNvGrpSpPr>
            <p:nvPr/>
          </p:nvGrpSpPr>
          <p:grpSpPr bwMode="auto">
            <a:xfrm>
              <a:off x="2832" y="1920"/>
              <a:ext cx="2736" cy="1772"/>
              <a:chOff x="2784" y="1932"/>
              <a:chExt cx="2832" cy="1841"/>
            </a:xfrm>
          </p:grpSpPr>
          <p:grpSp>
            <p:nvGrpSpPr>
              <p:cNvPr id="25637" name="Group 8"/>
              <p:cNvGrpSpPr>
                <a:grpSpLocks/>
              </p:cNvGrpSpPr>
              <p:nvPr/>
            </p:nvGrpSpPr>
            <p:grpSpPr bwMode="auto">
              <a:xfrm>
                <a:off x="2784" y="1932"/>
                <a:ext cx="2832" cy="1841"/>
                <a:chOff x="2784" y="1932"/>
                <a:chExt cx="2832" cy="1841"/>
              </a:xfrm>
            </p:grpSpPr>
            <p:grpSp>
              <p:nvGrpSpPr>
                <p:cNvPr id="25639" name="Group 9"/>
                <p:cNvGrpSpPr>
                  <a:grpSpLocks/>
                </p:cNvGrpSpPr>
                <p:nvPr/>
              </p:nvGrpSpPr>
              <p:grpSpPr bwMode="auto">
                <a:xfrm>
                  <a:off x="2784" y="1932"/>
                  <a:ext cx="2832" cy="1680"/>
                  <a:chOff x="2784" y="1932"/>
                  <a:chExt cx="2832" cy="1680"/>
                </a:xfrm>
              </p:grpSpPr>
              <p:pic>
                <p:nvPicPr>
                  <p:cNvPr id="25641" name="Picture 10" descr="2"/>
                  <p:cNvPicPr>
                    <a:picLocks noChangeAspect="1" noChangeArrowheads="1"/>
                  </p:cNvPicPr>
                  <p:nvPr/>
                </p:nvPicPr>
                <p:blipFill>
                  <a:blip r:embed="rId5"/>
                  <a:srcRect l="14426" t="20592" r="14650" b="21556"/>
                  <a:stretch>
                    <a:fillRect/>
                  </a:stretch>
                </p:blipFill>
                <p:spPr bwMode="auto">
                  <a:xfrm>
                    <a:off x="2784" y="1932"/>
                    <a:ext cx="2832" cy="1680"/>
                  </a:xfrm>
                  <a:prstGeom prst="rect">
                    <a:avLst/>
                  </a:prstGeom>
                  <a:noFill/>
                  <a:ln w="9525">
                    <a:noFill/>
                    <a:miter lim="800000"/>
                    <a:headEnd/>
                    <a:tailEnd/>
                  </a:ln>
                </p:spPr>
              </p:pic>
              <p:pic>
                <p:nvPicPr>
                  <p:cNvPr id="25642" name="Picture 11" descr="vtvcvb"/>
                  <p:cNvPicPr>
                    <a:picLocks noChangeAspect="1" noChangeArrowheads="1"/>
                  </p:cNvPicPr>
                  <p:nvPr/>
                </p:nvPicPr>
                <p:blipFill>
                  <a:blip r:embed="rId6"/>
                  <a:srcRect l="66667" t="9448" r="5511" b="66592"/>
                  <a:stretch>
                    <a:fillRect/>
                  </a:stretch>
                </p:blipFill>
                <p:spPr bwMode="auto">
                  <a:xfrm>
                    <a:off x="2828" y="2934"/>
                    <a:ext cx="120" cy="121"/>
                  </a:xfrm>
                  <a:prstGeom prst="rect">
                    <a:avLst/>
                  </a:prstGeom>
                  <a:noFill/>
                  <a:ln w="9525">
                    <a:noFill/>
                    <a:miter lim="800000"/>
                    <a:headEnd/>
                    <a:tailEnd/>
                  </a:ln>
                </p:spPr>
              </p:pic>
              <p:pic>
                <p:nvPicPr>
                  <p:cNvPr id="25643" name="Picture 12" descr="vtvcvb"/>
                  <p:cNvPicPr>
                    <a:picLocks noChangeAspect="1" noChangeArrowheads="1"/>
                  </p:cNvPicPr>
                  <p:nvPr/>
                </p:nvPicPr>
                <p:blipFill>
                  <a:blip r:embed="rId6"/>
                  <a:srcRect l="66667" t="37961" r="-53" b="33525"/>
                  <a:stretch>
                    <a:fillRect/>
                  </a:stretch>
                </p:blipFill>
                <p:spPr bwMode="auto">
                  <a:xfrm>
                    <a:off x="4342" y="2976"/>
                    <a:ext cx="144" cy="144"/>
                  </a:xfrm>
                  <a:prstGeom prst="rect">
                    <a:avLst/>
                  </a:prstGeom>
                  <a:noFill/>
                  <a:ln w="9525">
                    <a:noFill/>
                    <a:miter lim="800000"/>
                    <a:headEnd/>
                    <a:tailEnd/>
                  </a:ln>
                </p:spPr>
              </p:pic>
              <p:pic>
                <p:nvPicPr>
                  <p:cNvPr id="25644" name="Picture 13" descr="vtvcvb"/>
                  <p:cNvPicPr>
                    <a:picLocks noChangeAspect="1" noChangeArrowheads="1"/>
                  </p:cNvPicPr>
                  <p:nvPr/>
                </p:nvPicPr>
                <p:blipFill>
                  <a:blip r:embed="rId6"/>
                  <a:srcRect l="-105" t="-58" r="44461" b="71544"/>
                  <a:stretch>
                    <a:fillRect/>
                  </a:stretch>
                </p:blipFill>
                <p:spPr bwMode="auto">
                  <a:xfrm>
                    <a:off x="4086" y="2726"/>
                    <a:ext cx="240" cy="144"/>
                  </a:xfrm>
                  <a:prstGeom prst="rect">
                    <a:avLst/>
                  </a:prstGeom>
                  <a:noFill/>
                  <a:ln w="9525">
                    <a:noFill/>
                    <a:miter lim="800000"/>
                    <a:headEnd/>
                    <a:tailEnd/>
                  </a:ln>
                </p:spPr>
              </p:pic>
              <p:pic>
                <p:nvPicPr>
                  <p:cNvPr id="25645" name="Picture 14" descr="vtvcvb"/>
                  <p:cNvPicPr>
                    <a:picLocks noChangeAspect="1" noChangeArrowheads="1"/>
                  </p:cNvPicPr>
                  <p:nvPr/>
                </p:nvPicPr>
                <p:blipFill>
                  <a:blip r:embed="rId6"/>
                  <a:srcRect l="11023" t="28456" r="44461" b="37286"/>
                  <a:stretch>
                    <a:fillRect/>
                  </a:stretch>
                </p:blipFill>
                <p:spPr bwMode="auto">
                  <a:xfrm>
                    <a:off x="5390" y="2459"/>
                    <a:ext cx="192" cy="173"/>
                  </a:xfrm>
                  <a:prstGeom prst="rect">
                    <a:avLst/>
                  </a:prstGeom>
                  <a:noFill/>
                  <a:ln w="9525">
                    <a:noFill/>
                    <a:miter lim="800000"/>
                    <a:headEnd/>
                    <a:tailEnd/>
                  </a:ln>
                </p:spPr>
              </p:pic>
              <p:pic>
                <p:nvPicPr>
                  <p:cNvPr id="25646" name="Picture 15" descr="vtvcvb"/>
                  <p:cNvPicPr>
                    <a:picLocks noChangeAspect="1" noChangeArrowheads="1"/>
                  </p:cNvPicPr>
                  <p:nvPr/>
                </p:nvPicPr>
                <p:blipFill>
                  <a:blip r:embed="rId6"/>
                  <a:srcRect l="11023" t="66475" r="44461" b="5009"/>
                  <a:stretch>
                    <a:fillRect/>
                  </a:stretch>
                </p:blipFill>
                <p:spPr bwMode="auto">
                  <a:xfrm>
                    <a:off x="2818" y="3168"/>
                    <a:ext cx="192" cy="144"/>
                  </a:xfrm>
                  <a:prstGeom prst="rect">
                    <a:avLst/>
                  </a:prstGeom>
                  <a:noFill/>
                  <a:ln w="9525">
                    <a:noFill/>
                    <a:miter lim="800000"/>
                    <a:headEnd/>
                    <a:tailEnd/>
                  </a:ln>
                </p:spPr>
              </p:pic>
            </p:grpSp>
            <p:sp>
              <p:nvSpPr>
                <p:cNvPr id="25640" name="Text Box 16"/>
                <p:cNvSpPr txBox="1">
                  <a:spLocks noChangeArrowheads="1"/>
                </p:cNvSpPr>
                <p:nvPr/>
              </p:nvSpPr>
              <p:spPr bwMode="auto">
                <a:xfrm>
                  <a:off x="2879" y="3515"/>
                  <a:ext cx="2498" cy="258"/>
                </a:xfrm>
                <a:prstGeom prst="rect">
                  <a:avLst/>
                </a:prstGeom>
                <a:noFill/>
                <a:ln w="9525">
                  <a:noFill/>
                  <a:miter lim="800000"/>
                  <a:headEnd/>
                  <a:tailEnd/>
                </a:ln>
              </p:spPr>
              <p:txBody>
                <a:bodyPr>
                  <a:spAutoFit/>
                </a:bodyPr>
                <a:lstStyle/>
                <a:p>
                  <a:pPr algn="ctr" eaLnBrk="1" hangingPunct="1">
                    <a:lnSpc>
                      <a:spcPct val="110000"/>
                    </a:lnSpc>
                  </a:pPr>
                  <a:r>
                    <a:rPr lang="zh-CN" altLang="en-US" sz="1800" b="1">
                      <a:solidFill>
                        <a:srgbClr val="FF00FF"/>
                      </a:solidFill>
                      <a:ea typeface="黑体" pitchFamily="49" charset="-122"/>
                    </a:rPr>
                    <a:t>图 </a:t>
                  </a:r>
                  <a:r>
                    <a:rPr lang="en-US" altLang="zh-CN" sz="1800" b="1">
                      <a:solidFill>
                        <a:srgbClr val="FF00FF"/>
                      </a:solidFill>
                      <a:ea typeface="黑体" pitchFamily="49" charset="-122"/>
                    </a:rPr>
                    <a:t>3.3.2</a:t>
                  </a:r>
                  <a:r>
                    <a:rPr lang="zh-CN" altLang="en-US" sz="1800" b="1">
                      <a:solidFill>
                        <a:srgbClr val="FF00FF"/>
                      </a:solidFill>
                      <a:ea typeface="黑体" pitchFamily="49" charset="-122"/>
                    </a:rPr>
                    <a:t>差分放大电路的组成</a:t>
                  </a:r>
                  <a:r>
                    <a:rPr lang="en-US" altLang="zh-CN" sz="1800" b="1">
                      <a:solidFill>
                        <a:srgbClr val="FF00FF"/>
                      </a:solidFill>
                      <a:ea typeface="黑体" pitchFamily="49" charset="-122"/>
                    </a:rPr>
                    <a:t>(a)</a:t>
                  </a:r>
                </a:p>
              </p:txBody>
            </p:sp>
          </p:grpSp>
          <p:sp>
            <p:nvSpPr>
              <p:cNvPr id="25638" name="Text Box 17"/>
              <p:cNvSpPr txBox="1">
                <a:spLocks noChangeArrowheads="1"/>
              </p:cNvSpPr>
              <p:nvPr/>
            </p:nvSpPr>
            <p:spPr bwMode="auto">
              <a:xfrm>
                <a:off x="4128" y="2688"/>
                <a:ext cx="240" cy="260"/>
              </a:xfrm>
              <a:prstGeom prst="rect">
                <a:avLst/>
              </a:prstGeom>
              <a:solidFill>
                <a:schemeClr val="bg1"/>
              </a:solidFill>
              <a:ln w="9525">
                <a:noFill/>
                <a:miter lim="800000"/>
                <a:headEnd/>
                <a:tailEnd/>
              </a:ln>
            </p:spPr>
            <p:txBody>
              <a:bodyPr>
                <a:spAutoFit/>
              </a:bodyPr>
              <a:lstStyle/>
              <a:p>
                <a:pPr eaLnBrk="1" hangingPunct="1">
                  <a:spcBef>
                    <a:spcPct val="50000"/>
                  </a:spcBef>
                </a:pPr>
                <a:r>
                  <a:rPr lang="en-US" altLang="zh-CN" sz="2000" b="1">
                    <a:solidFill>
                      <a:schemeClr val="hlink"/>
                    </a:solidFill>
                  </a:rPr>
                  <a:t>T</a:t>
                </a:r>
              </a:p>
            </p:txBody>
          </p:sp>
        </p:grpSp>
        <p:sp>
          <p:nvSpPr>
            <p:cNvPr id="25635" name="Rectangle 18"/>
            <p:cNvSpPr>
              <a:spLocks noChangeArrowheads="1"/>
            </p:cNvSpPr>
            <p:nvPr/>
          </p:nvSpPr>
          <p:spPr bwMode="auto">
            <a:xfrm>
              <a:off x="4080" y="3024"/>
              <a:ext cx="96" cy="192"/>
            </a:xfrm>
            <a:prstGeom prst="rect">
              <a:avLst/>
            </a:prstGeom>
            <a:solidFill>
              <a:schemeClr val="bg1"/>
            </a:solidFill>
            <a:ln w="9525">
              <a:solidFill>
                <a:schemeClr val="tx1"/>
              </a:solidFill>
              <a:miter lim="800000"/>
              <a:headEnd/>
              <a:tailEnd/>
            </a:ln>
          </p:spPr>
          <p:txBody>
            <a:bodyPr wrap="none" anchor="ctr"/>
            <a:lstStyle/>
            <a:p>
              <a:pPr algn="ctr" eaLnBrk="1" hangingPunct="1"/>
              <a:endParaRPr lang="zh-CN" altLang="en-US"/>
            </a:p>
          </p:txBody>
        </p:sp>
        <p:sp>
          <p:nvSpPr>
            <p:cNvPr id="25636" name="Rectangle 19"/>
            <p:cNvSpPr>
              <a:spLocks noChangeArrowheads="1"/>
            </p:cNvSpPr>
            <p:nvPr/>
          </p:nvSpPr>
          <p:spPr bwMode="auto">
            <a:xfrm>
              <a:off x="3792" y="3054"/>
              <a:ext cx="273" cy="212"/>
            </a:xfrm>
            <a:prstGeom prst="rect">
              <a:avLst/>
            </a:prstGeom>
            <a:noFill/>
            <a:ln w="9525">
              <a:noFill/>
              <a:miter lim="800000"/>
              <a:headEnd/>
              <a:tailEnd/>
            </a:ln>
          </p:spPr>
          <p:txBody>
            <a:bodyPr wrap="none">
              <a:spAutoFit/>
            </a:bodyPr>
            <a:lstStyle/>
            <a:p>
              <a:pPr eaLnBrk="1" hangingPunct="1"/>
              <a:r>
                <a:rPr lang="en-US" altLang="zh-CN" sz="1600" b="1" i="1">
                  <a:solidFill>
                    <a:srgbClr val="0000FF"/>
                  </a:solidFill>
                </a:rPr>
                <a:t>R</a:t>
              </a:r>
              <a:r>
                <a:rPr lang="en-US" altLang="zh-CN" sz="1600" b="1" baseline="-25000">
                  <a:solidFill>
                    <a:srgbClr val="0000FF"/>
                  </a:solidFill>
                </a:rPr>
                <a:t>e</a:t>
              </a:r>
            </a:p>
          </p:txBody>
        </p:sp>
      </p:grpSp>
      <p:sp>
        <p:nvSpPr>
          <p:cNvPr id="161814" name="Text Box 22"/>
          <p:cNvSpPr txBox="1">
            <a:spLocks noChangeArrowheads="1"/>
          </p:cNvSpPr>
          <p:nvPr/>
        </p:nvSpPr>
        <p:spPr bwMode="auto">
          <a:xfrm>
            <a:off x="685800" y="5334000"/>
            <a:ext cx="3352800" cy="1016000"/>
          </a:xfrm>
          <a:prstGeom prst="rect">
            <a:avLst/>
          </a:prstGeom>
          <a:noFill/>
          <a:ln w="9525">
            <a:noFill/>
            <a:miter lim="800000"/>
            <a:headEnd/>
            <a:tailEnd/>
          </a:ln>
        </p:spPr>
        <p:txBody>
          <a:bodyPr>
            <a:spAutoFit/>
          </a:bodyPr>
          <a:lstStyle/>
          <a:p>
            <a:pPr eaLnBrk="1" hangingPunct="1">
              <a:spcBef>
                <a:spcPct val="50000"/>
              </a:spcBef>
            </a:pPr>
            <a:r>
              <a:rPr lang="zh-CN" altLang="en-US" b="1"/>
              <a:t>利用</a:t>
            </a:r>
            <a:r>
              <a:rPr lang="zh-CN" altLang="en-US" b="1">
                <a:solidFill>
                  <a:srgbClr val="0000FF"/>
                </a:solidFill>
              </a:rPr>
              <a:t>射极电阻稳定</a:t>
            </a:r>
            <a:r>
              <a:rPr lang="en-US" altLang="zh-CN" b="1">
                <a:solidFill>
                  <a:srgbClr val="0000FF"/>
                </a:solidFill>
              </a:rPr>
              <a:t>Q</a:t>
            </a:r>
            <a:r>
              <a:rPr lang="zh-CN" altLang="en-US" b="1">
                <a:solidFill>
                  <a:srgbClr val="0000FF"/>
                </a:solidFill>
              </a:rPr>
              <a:t>点</a:t>
            </a:r>
          </a:p>
          <a:p>
            <a:pPr eaLnBrk="1" hangingPunct="1">
              <a:spcBef>
                <a:spcPct val="50000"/>
              </a:spcBef>
            </a:pPr>
            <a:r>
              <a:rPr lang="zh-CN" altLang="en-US" b="1"/>
              <a:t>但仍存在零点漂移问题</a:t>
            </a:r>
          </a:p>
        </p:txBody>
      </p:sp>
      <p:sp>
        <p:nvSpPr>
          <p:cNvPr id="161815" name="AutoShape 23"/>
          <p:cNvSpPr>
            <a:spLocks noChangeArrowheads="1"/>
          </p:cNvSpPr>
          <p:nvPr/>
        </p:nvSpPr>
        <p:spPr bwMode="auto">
          <a:xfrm>
            <a:off x="4419600" y="3733800"/>
            <a:ext cx="609600" cy="533400"/>
          </a:xfrm>
          <a:prstGeom prst="rightArrow">
            <a:avLst>
              <a:gd name="adj1" fmla="val 50000"/>
              <a:gd name="adj2" fmla="val 28571"/>
            </a:avLst>
          </a:prstGeom>
          <a:solidFill>
            <a:schemeClr val="hlink"/>
          </a:solidFill>
          <a:ln w="9525">
            <a:solidFill>
              <a:schemeClr val="tx1"/>
            </a:solidFill>
            <a:miter lim="800000"/>
            <a:headEnd/>
            <a:tailEnd/>
          </a:ln>
        </p:spPr>
        <p:txBody>
          <a:bodyPr wrap="none" anchor="ctr"/>
          <a:lstStyle/>
          <a:p>
            <a:pPr algn="ctr" eaLnBrk="1" hangingPunct="1"/>
            <a:endParaRPr lang="zh-CN" altLang="en-US"/>
          </a:p>
        </p:txBody>
      </p:sp>
      <p:grpSp>
        <p:nvGrpSpPr>
          <p:cNvPr id="6" name="Group 47"/>
          <p:cNvGrpSpPr>
            <a:grpSpLocks/>
          </p:cNvGrpSpPr>
          <p:nvPr/>
        </p:nvGrpSpPr>
        <p:grpSpPr bwMode="auto">
          <a:xfrm>
            <a:off x="5029200" y="2368550"/>
            <a:ext cx="3810000" cy="2813050"/>
            <a:chOff x="3168" y="1492"/>
            <a:chExt cx="2400" cy="1772"/>
          </a:xfrm>
        </p:grpSpPr>
        <p:grpSp>
          <p:nvGrpSpPr>
            <p:cNvPr id="25613" name="Group 44"/>
            <p:cNvGrpSpPr>
              <a:grpSpLocks/>
            </p:cNvGrpSpPr>
            <p:nvPr/>
          </p:nvGrpSpPr>
          <p:grpSpPr bwMode="auto">
            <a:xfrm>
              <a:off x="3168" y="1492"/>
              <a:ext cx="2400" cy="1772"/>
              <a:chOff x="3168" y="1632"/>
              <a:chExt cx="2400" cy="1772"/>
            </a:xfrm>
          </p:grpSpPr>
          <p:grpSp>
            <p:nvGrpSpPr>
              <p:cNvPr id="25616" name="Group 42"/>
              <p:cNvGrpSpPr>
                <a:grpSpLocks/>
              </p:cNvGrpSpPr>
              <p:nvPr/>
            </p:nvGrpSpPr>
            <p:grpSpPr bwMode="auto">
              <a:xfrm>
                <a:off x="3168" y="1632"/>
                <a:ext cx="2400" cy="1772"/>
                <a:chOff x="3168" y="1632"/>
                <a:chExt cx="2400" cy="1772"/>
              </a:xfrm>
            </p:grpSpPr>
            <p:grpSp>
              <p:nvGrpSpPr>
                <p:cNvPr id="25618" name="Group 25"/>
                <p:cNvGrpSpPr>
                  <a:grpSpLocks/>
                </p:cNvGrpSpPr>
                <p:nvPr/>
              </p:nvGrpSpPr>
              <p:grpSpPr bwMode="auto">
                <a:xfrm>
                  <a:off x="3168" y="1632"/>
                  <a:ext cx="2400" cy="1772"/>
                  <a:chOff x="2832" y="1920"/>
                  <a:chExt cx="2736" cy="1772"/>
                </a:xfrm>
              </p:grpSpPr>
              <p:grpSp>
                <p:nvGrpSpPr>
                  <p:cNvPr id="25621" name="Group 26"/>
                  <p:cNvGrpSpPr>
                    <a:grpSpLocks/>
                  </p:cNvGrpSpPr>
                  <p:nvPr/>
                </p:nvGrpSpPr>
                <p:grpSpPr bwMode="auto">
                  <a:xfrm>
                    <a:off x="2832" y="1920"/>
                    <a:ext cx="2736" cy="1772"/>
                    <a:chOff x="2784" y="1932"/>
                    <a:chExt cx="2832" cy="1841"/>
                  </a:xfrm>
                </p:grpSpPr>
                <p:grpSp>
                  <p:nvGrpSpPr>
                    <p:cNvPr id="25624" name="Group 27"/>
                    <p:cNvGrpSpPr>
                      <a:grpSpLocks/>
                    </p:cNvGrpSpPr>
                    <p:nvPr/>
                  </p:nvGrpSpPr>
                  <p:grpSpPr bwMode="auto">
                    <a:xfrm>
                      <a:off x="2784" y="1932"/>
                      <a:ext cx="2832" cy="1841"/>
                      <a:chOff x="2784" y="1932"/>
                      <a:chExt cx="2832" cy="1841"/>
                    </a:xfrm>
                  </p:grpSpPr>
                  <p:grpSp>
                    <p:nvGrpSpPr>
                      <p:cNvPr id="25626" name="Group 28"/>
                      <p:cNvGrpSpPr>
                        <a:grpSpLocks/>
                      </p:cNvGrpSpPr>
                      <p:nvPr/>
                    </p:nvGrpSpPr>
                    <p:grpSpPr bwMode="auto">
                      <a:xfrm>
                        <a:off x="2784" y="1932"/>
                        <a:ext cx="2832" cy="1680"/>
                        <a:chOff x="2784" y="1932"/>
                        <a:chExt cx="2832" cy="1680"/>
                      </a:xfrm>
                    </p:grpSpPr>
                    <p:pic>
                      <p:nvPicPr>
                        <p:cNvPr id="25628" name="Picture 29" descr="2"/>
                        <p:cNvPicPr>
                          <a:picLocks noChangeAspect="1" noChangeArrowheads="1"/>
                        </p:cNvPicPr>
                        <p:nvPr/>
                      </p:nvPicPr>
                      <p:blipFill>
                        <a:blip r:embed="rId5"/>
                        <a:srcRect l="14426" t="20592" r="14650" b="21556"/>
                        <a:stretch>
                          <a:fillRect/>
                        </a:stretch>
                      </p:blipFill>
                      <p:spPr bwMode="auto">
                        <a:xfrm>
                          <a:off x="2784" y="1932"/>
                          <a:ext cx="2832" cy="1680"/>
                        </a:xfrm>
                        <a:prstGeom prst="rect">
                          <a:avLst/>
                        </a:prstGeom>
                        <a:noFill/>
                        <a:ln w="9525">
                          <a:noFill/>
                          <a:miter lim="800000"/>
                          <a:headEnd/>
                          <a:tailEnd/>
                        </a:ln>
                      </p:spPr>
                    </p:pic>
                    <p:pic>
                      <p:nvPicPr>
                        <p:cNvPr id="25629" name="Picture 30" descr="vtvcvb"/>
                        <p:cNvPicPr>
                          <a:picLocks noChangeAspect="1" noChangeArrowheads="1"/>
                        </p:cNvPicPr>
                        <p:nvPr/>
                      </p:nvPicPr>
                      <p:blipFill>
                        <a:blip r:embed="rId6"/>
                        <a:srcRect l="66667" t="9448" r="5511" b="66592"/>
                        <a:stretch>
                          <a:fillRect/>
                        </a:stretch>
                      </p:blipFill>
                      <p:spPr bwMode="auto">
                        <a:xfrm>
                          <a:off x="2828" y="2934"/>
                          <a:ext cx="120" cy="121"/>
                        </a:xfrm>
                        <a:prstGeom prst="rect">
                          <a:avLst/>
                        </a:prstGeom>
                        <a:noFill/>
                        <a:ln w="9525">
                          <a:noFill/>
                          <a:miter lim="800000"/>
                          <a:headEnd/>
                          <a:tailEnd/>
                        </a:ln>
                      </p:spPr>
                    </p:pic>
                    <p:pic>
                      <p:nvPicPr>
                        <p:cNvPr id="25630" name="Picture 31" descr="vtvcvb"/>
                        <p:cNvPicPr>
                          <a:picLocks noChangeAspect="1" noChangeArrowheads="1"/>
                        </p:cNvPicPr>
                        <p:nvPr/>
                      </p:nvPicPr>
                      <p:blipFill>
                        <a:blip r:embed="rId6"/>
                        <a:srcRect l="66667" t="37961" r="-53" b="33525"/>
                        <a:stretch>
                          <a:fillRect/>
                        </a:stretch>
                      </p:blipFill>
                      <p:spPr bwMode="auto">
                        <a:xfrm>
                          <a:off x="4342" y="2976"/>
                          <a:ext cx="144" cy="144"/>
                        </a:xfrm>
                        <a:prstGeom prst="rect">
                          <a:avLst/>
                        </a:prstGeom>
                        <a:noFill/>
                        <a:ln w="9525">
                          <a:noFill/>
                          <a:miter lim="800000"/>
                          <a:headEnd/>
                          <a:tailEnd/>
                        </a:ln>
                      </p:spPr>
                    </p:pic>
                    <p:pic>
                      <p:nvPicPr>
                        <p:cNvPr id="25631" name="Picture 32" descr="vtvcvb"/>
                        <p:cNvPicPr>
                          <a:picLocks noChangeAspect="1" noChangeArrowheads="1"/>
                        </p:cNvPicPr>
                        <p:nvPr/>
                      </p:nvPicPr>
                      <p:blipFill>
                        <a:blip r:embed="rId6"/>
                        <a:srcRect l="-105" t="-58" r="44461" b="71544"/>
                        <a:stretch>
                          <a:fillRect/>
                        </a:stretch>
                      </p:blipFill>
                      <p:spPr bwMode="auto">
                        <a:xfrm>
                          <a:off x="4086" y="2726"/>
                          <a:ext cx="240" cy="144"/>
                        </a:xfrm>
                        <a:prstGeom prst="rect">
                          <a:avLst/>
                        </a:prstGeom>
                        <a:noFill/>
                        <a:ln w="9525">
                          <a:noFill/>
                          <a:miter lim="800000"/>
                          <a:headEnd/>
                          <a:tailEnd/>
                        </a:ln>
                      </p:spPr>
                    </p:pic>
                    <p:pic>
                      <p:nvPicPr>
                        <p:cNvPr id="25632" name="Picture 33" descr="vtvcvb"/>
                        <p:cNvPicPr>
                          <a:picLocks noChangeAspect="1" noChangeArrowheads="1"/>
                        </p:cNvPicPr>
                        <p:nvPr/>
                      </p:nvPicPr>
                      <p:blipFill>
                        <a:blip r:embed="rId6"/>
                        <a:srcRect l="11023" t="28456" r="44461" b="37286"/>
                        <a:stretch>
                          <a:fillRect/>
                        </a:stretch>
                      </p:blipFill>
                      <p:spPr bwMode="auto">
                        <a:xfrm>
                          <a:off x="5390" y="2459"/>
                          <a:ext cx="192" cy="173"/>
                        </a:xfrm>
                        <a:prstGeom prst="rect">
                          <a:avLst/>
                        </a:prstGeom>
                        <a:noFill/>
                        <a:ln w="9525">
                          <a:noFill/>
                          <a:miter lim="800000"/>
                          <a:headEnd/>
                          <a:tailEnd/>
                        </a:ln>
                      </p:spPr>
                    </p:pic>
                    <p:pic>
                      <p:nvPicPr>
                        <p:cNvPr id="25633" name="Picture 34" descr="vtvcvb"/>
                        <p:cNvPicPr>
                          <a:picLocks noChangeAspect="1" noChangeArrowheads="1"/>
                        </p:cNvPicPr>
                        <p:nvPr/>
                      </p:nvPicPr>
                      <p:blipFill>
                        <a:blip r:embed="rId6"/>
                        <a:srcRect l="11023" t="66475" r="44461" b="5009"/>
                        <a:stretch>
                          <a:fillRect/>
                        </a:stretch>
                      </p:blipFill>
                      <p:spPr bwMode="auto">
                        <a:xfrm>
                          <a:off x="2818" y="3168"/>
                          <a:ext cx="192" cy="144"/>
                        </a:xfrm>
                        <a:prstGeom prst="rect">
                          <a:avLst/>
                        </a:prstGeom>
                        <a:noFill/>
                        <a:ln w="9525">
                          <a:noFill/>
                          <a:miter lim="800000"/>
                          <a:headEnd/>
                          <a:tailEnd/>
                        </a:ln>
                      </p:spPr>
                    </p:pic>
                  </p:grpSp>
                  <p:sp>
                    <p:nvSpPr>
                      <p:cNvPr id="25627" name="Text Box 35"/>
                      <p:cNvSpPr txBox="1">
                        <a:spLocks noChangeArrowheads="1"/>
                      </p:cNvSpPr>
                      <p:nvPr/>
                    </p:nvSpPr>
                    <p:spPr bwMode="auto">
                      <a:xfrm>
                        <a:off x="2879" y="3515"/>
                        <a:ext cx="2498" cy="258"/>
                      </a:xfrm>
                      <a:prstGeom prst="rect">
                        <a:avLst/>
                      </a:prstGeom>
                      <a:noFill/>
                      <a:ln w="9525">
                        <a:noFill/>
                        <a:miter lim="800000"/>
                        <a:headEnd/>
                        <a:tailEnd/>
                      </a:ln>
                    </p:spPr>
                    <p:txBody>
                      <a:bodyPr>
                        <a:spAutoFit/>
                      </a:bodyPr>
                      <a:lstStyle/>
                      <a:p>
                        <a:pPr algn="ctr" eaLnBrk="1" hangingPunct="1">
                          <a:lnSpc>
                            <a:spcPct val="110000"/>
                          </a:lnSpc>
                        </a:pPr>
                        <a:r>
                          <a:rPr lang="zh-CN" altLang="en-US" sz="1800" b="1">
                            <a:solidFill>
                              <a:srgbClr val="FF00FF"/>
                            </a:solidFill>
                            <a:ea typeface="黑体" pitchFamily="49" charset="-122"/>
                          </a:rPr>
                          <a:t>图 </a:t>
                        </a:r>
                        <a:r>
                          <a:rPr lang="en-US" altLang="zh-CN" sz="1800" b="1">
                            <a:solidFill>
                              <a:srgbClr val="FF00FF"/>
                            </a:solidFill>
                            <a:ea typeface="黑体" pitchFamily="49" charset="-122"/>
                          </a:rPr>
                          <a:t>3.3.2</a:t>
                        </a:r>
                        <a:r>
                          <a:rPr lang="zh-CN" altLang="en-US" sz="1800" b="1">
                            <a:solidFill>
                              <a:srgbClr val="FF00FF"/>
                            </a:solidFill>
                            <a:ea typeface="黑体" pitchFamily="49" charset="-122"/>
                          </a:rPr>
                          <a:t>差分放大电路的组成</a:t>
                        </a:r>
                        <a:r>
                          <a:rPr lang="en-US" altLang="zh-CN" sz="1800" b="1">
                            <a:solidFill>
                              <a:srgbClr val="FF00FF"/>
                            </a:solidFill>
                            <a:ea typeface="黑体" pitchFamily="49" charset="-122"/>
                          </a:rPr>
                          <a:t>(b)</a:t>
                        </a:r>
                      </a:p>
                    </p:txBody>
                  </p:sp>
                </p:grpSp>
                <p:sp>
                  <p:nvSpPr>
                    <p:cNvPr id="25625" name="Text Box 36"/>
                    <p:cNvSpPr txBox="1">
                      <a:spLocks noChangeArrowheads="1"/>
                    </p:cNvSpPr>
                    <p:nvPr/>
                  </p:nvSpPr>
                  <p:spPr bwMode="auto">
                    <a:xfrm>
                      <a:off x="4128" y="2688"/>
                      <a:ext cx="240" cy="260"/>
                    </a:xfrm>
                    <a:prstGeom prst="rect">
                      <a:avLst/>
                    </a:prstGeom>
                    <a:solidFill>
                      <a:schemeClr val="bg1"/>
                    </a:solidFill>
                    <a:ln w="9525">
                      <a:noFill/>
                      <a:miter lim="800000"/>
                      <a:headEnd/>
                      <a:tailEnd/>
                    </a:ln>
                  </p:spPr>
                  <p:txBody>
                    <a:bodyPr>
                      <a:spAutoFit/>
                    </a:bodyPr>
                    <a:lstStyle/>
                    <a:p>
                      <a:pPr eaLnBrk="1" hangingPunct="1">
                        <a:spcBef>
                          <a:spcPct val="50000"/>
                        </a:spcBef>
                      </a:pPr>
                      <a:r>
                        <a:rPr lang="en-US" altLang="zh-CN" sz="2000" b="1">
                          <a:solidFill>
                            <a:schemeClr val="hlink"/>
                          </a:solidFill>
                        </a:rPr>
                        <a:t>T</a:t>
                      </a:r>
                    </a:p>
                  </p:txBody>
                </p:sp>
              </p:grpSp>
              <p:sp>
                <p:nvSpPr>
                  <p:cNvPr id="25622" name="Rectangle 37"/>
                  <p:cNvSpPr>
                    <a:spLocks noChangeArrowheads="1"/>
                  </p:cNvSpPr>
                  <p:nvPr/>
                </p:nvSpPr>
                <p:spPr bwMode="auto">
                  <a:xfrm>
                    <a:off x="4080" y="3024"/>
                    <a:ext cx="96" cy="192"/>
                  </a:xfrm>
                  <a:prstGeom prst="rect">
                    <a:avLst/>
                  </a:prstGeom>
                  <a:solidFill>
                    <a:schemeClr val="bg1"/>
                  </a:solidFill>
                  <a:ln w="9525">
                    <a:solidFill>
                      <a:schemeClr val="tx1"/>
                    </a:solidFill>
                    <a:miter lim="800000"/>
                    <a:headEnd/>
                    <a:tailEnd/>
                  </a:ln>
                </p:spPr>
                <p:txBody>
                  <a:bodyPr wrap="none" anchor="ctr"/>
                  <a:lstStyle/>
                  <a:p>
                    <a:pPr algn="ctr" eaLnBrk="1" hangingPunct="1"/>
                    <a:endParaRPr lang="zh-CN" altLang="en-US"/>
                  </a:p>
                </p:txBody>
              </p:sp>
              <p:sp>
                <p:nvSpPr>
                  <p:cNvPr id="25623" name="Rectangle 38"/>
                  <p:cNvSpPr>
                    <a:spLocks noChangeArrowheads="1"/>
                  </p:cNvSpPr>
                  <p:nvPr/>
                </p:nvSpPr>
                <p:spPr bwMode="auto">
                  <a:xfrm>
                    <a:off x="3792" y="3054"/>
                    <a:ext cx="273" cy="212"/>
                  </a:xfrm>
                  <a:prstGeom prst="rect">
                    <a:avLst/>
                  </a:prstGeom>
                  <a:noFill/>
                  <a:ln w="9525">
                    <a:noFill/>
                    <a:miter lim="800000"/>
                    <a:headEnd/>
                    <a:tailEnd/>
                  </a:ln>
                </p:spPr>
                <p:txBody>
                  <a:bodyPr wrap="none">
                    <a:spAutoFit/>
                  </a:bodyPr>
                  <a:lstStyle/>
                  <a:p>
                    <a:pPr eaLnBrk="1" hangingPunct="1"/>
                    <a:r>
                      <a:rPr lang="en-US" altLang="zh-CN" sz="1600" b="1" i="1">
                        <a:solidFill>
                          <a:srgbClr val="0000FF"/>
                        </a:solidFill>
                      </a:rPr>
                      <a:t>R</a:t>
                    </a:r>
                    <a:r>
                      <a:rPr lang="en-US" altLang="zh-CN" sz="1600" b="1" baseline="-25000">
                        <a:solidFill>
                          <a:srgbClr val="0000FF"/>
                        </a:solidFill>
                      </a:rPr>
                      <a:t>e</a:t>
                    </a:r>
                  </a:p>
                </p:txBody>
              </p:sp>
            </p:grpSp>
            <p:graphicFrame>
              <p:nvGraphicFramePr>
                <p:cNvPr id="25602" name="Object 39"/>
                <p:cNvGraphicFramePr>
                  <a:graphicFrameLocks noChangeAspect="1"/>
                </p:cNvGraphicFramePr>
                <p:nvPr/>
              </p:nvGraphicFramePr>
              <p:xfrm>
                <a:off x="4656" y="2064"/>
                <a:ext cx="432" cy="912"/>
              </p:xfrm>
              <a:graphic>
                <a:graphicData uri="http://schemas.openxmlformats.org/presentationml/2006/ole">
                  <mc:AlternateContent xmlns:mc="http://schemas.openxmlformats.org/markup-compatibility/2006">
                    <mc:Choice xmlns:v="urn:schemas-microsoft-com:vml" Requires="v">
                      <p:oleObj spid="_x0000_s10243" name="BMP 图象" r:id="rId7" imgW="380852" imgH="885949" progId="PBrush">
                        <p:embed/>
                      </p:oleObj>
                    </mc:Choice>
                    <mc:Fallback>
                      <p:oleObj name="BMP 图象" r:id="rId7" imgW="380852" imgH="885949" progId="PBrush">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6" y="2064"/>
                              <a:ext cx="432"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9" name="Text Box 40"/>
                <p:cNvSpPr txBox="1">
                  <a:spLocks noChangeArrowheads="1"/>
                </p:cNvSpPr>
                <p:nvPr/>
              </p:nvSpPr>
              <p:spPr bwMode="auto">
                <a:xfrm>
                  <a:off x="4464" y="2304"/>
                  <a:ext cx="240" cy="731"/>
                </a:xfrm>
                <a:prstGeom prst="rect">
                  <a:avLst/>
                </a:prstGeom>
                <a:solidFill>
                  <a:schemeClr val="bg1"/>
                </a:solidFill>
                <a:ln w="9525">
                  <a:noFill/>
                  <a:miter lim="800000"/>
                  <a:headEnd/>
                  <a:tailEnd/>
                </a:ln>
              </p:spPr>
              <p:txBody>
                <a:bodyPr>
                  <a:spAutoFit/>
                </a:bodyPr>
                <a:lstStyle/>
                <a:p>
                  <a:pPr eaLnBrk="1" hangingPunct="1">
                    <a:spcBef>
                      <a:spcPct val="50000"/>
                    </a:spcBef>
                  </a:pPr>
                  <a:endParaRPr lang="en-US" altLang="zh-CN" sz="2800"/>
                </a:p>
                <a:p>
                  <a:pPr eaLnBrk="1" hangingPunct="1">
                    <a:spcBef>
                      <a:spcPct val="50000"/>
                    </a:spcBef>
                  </a:pPr>
                  <a:endParaRPr lang="en-US" altLang="zh-CN" sz="2800"/>
                </a:p>
              </p:txBody>
            </p:sp>
            <p:sp>
              <p:nvSpPr>
                <p:cNvPr id="25620" name="Text Box 41"/>
                <p:cNvSpPr txBox="1">
                  <a:spLocks noChangeArrowheads="1"/>
                </p:cNvSpPr>
                <p:nvPr/>
              </p:nvSpPr>
              <p:spPr bwMode="auto">
                <a:xfrm>
                  <a:off x="4704" y="2640"/>
                  <a:ext cx="384" cy="288"/>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pSp>
          <p:sp>
            <p:nvSpPr>
              <p:cNvPr id="25617" name="Line 43"/>
              <p:cNvSpPr>
                <a:spLocks noChangeShapeType="1"/>
              </p:cNvSpPr>
              <p:nvPr/>
            </p:nvSpPr>
            <p:spPr bwMode="auto">
              <a:xfrm>
                <a:off x="4896" y="2592"/>
                <a:ext cx="0" cy="480"/>
              </a:xfrm>
              <a:prstGeom prst="line">
                <a:avLst/>
              </a:prstGeom>
              <a:noFill/>
              <a:ln w="9525">
                <a:solidFill>
                  <a:schemeClr val="tx1"/>
                </a:solidFill>
                <a:round/>
                <a:headEnd/>
                <a:tailEnd/>
              </a:ln>
            </p:spPr>
            <p:txBody>
              <a:bodyPr/>
              <a:lstStyle/>
              <a:p>
                <a:endParaRPr lang="zh-CN" altLang="en-US"/>
              </a:p>
            </p:txBody>
          </p:sp>
        </p:grpSp>
        <p:sp>
          <p:nvSpPr>
            <p:cNvPr id="25614" name="Rectangle 45"/>
            <p:cNvSpPr>
              <a:spLocks noChangeArrowheads="1"/>
            </p:cNvSpPr>
            <p:nvPr/>
          </p:nvSpPr>
          <p:spPr bwMode="auto">
            <a:xfrm>
              <a:off x="4560" y="1968"/>
              <a:ext cx="286" cy="250"/>
            </a:xfrm>
            <a:prstGeom prst="rect">
              <a:avLst/>
            </a:prstGeom>
            <a:noFill/>
            <a:ln w="9525">
              <a:noFill/>
              <a:miter lim="800000"/>
              <a:headEnd/>
              <a:tailEnd/>
            </a:ln>
          </p:spPr>
          <p:txBody>
            <a:bodyPr wrap="none">
              <a:spAutoFit/>
            </a:bodyPr>
            <a:lstStyle/>
            <a:p>
              <a:pPr eaLnBrk="1" hangingPunct="1">
                <a:spcBef>
                  <a:spcPct val="50000"/>
                </a:spcBef>
              </a:pPr>
              <a:r>
                <a:rPr lang="en-US" altLang="zh-CN" sz="2000" b="1" i="1">
                  <a:solidFill>
                    <a:srgbClr val="FF3300"/>
                  </a:solidFill>
                </a:rPr>
                <a:t>u</a:t>
              </a:r>
              <a:r>
                <a:rPr lang="en-US" altLang="zh-CN" sz="2000" b="1" baseline="-25000">
                  <a:solidFill>
                    <a:srgbClr val="FF3300"/>
                  </a:solidFill>
                </a:rPr>
                <a:t>O</a:t>
              </a:r>
            </a:p>
          </p:txBody>
        </p:sp>
        <p:sp>
          <p:nvSpPr>
            <p:cNvPr id="25615" name="Rectangle 46"/>
            <p:cNvSpPr>
              <a:spLocks noChangeArrowheads="1"/>
            </p:cNvSpPr>
            <p:nvPr/>
          </p:nvSpPr>
          <p:spPr bwMode="auto">
            <a:xfrm>
              <a:off x="4588" y="2256"/>
              <a:ext cx="212" cy="231"/>
            </a:xfrm>
            <a:prstGeom prst="rect">
              <a:avLst/>
            </a:prstGeom>
            <a:noFill/>
            <a:ln w="9525">
              <a:noFill/>
              <a:miter lim="800000"/>
              <a:headEnd/>
              <a:tailEnd/>
            </a:ln>
          </p:spPr>
          <p:txBody>
            <a:bodyPr wrap="none">
              <a:spAutoFit/>
            </a:bodyPr>
            <a:lstStyle/>
            <a:p>
              <a:pPr eaLnBrk="1" hangingPunct="1"/>
              <a:r>
                <a:rPr lang="en-US" altLang="zh-CN" sz="1800" b="1" i="1">
                  <a:solidFill>
                    <a:srgbClr val="FF0000"/>
                  </a:solidFill>
                </a:rPr>
                <a:t>V</a:t>
              </a:r>
              <a:endParaRPr lang="en-US" altLang="zh-CN" sz="1800" b="1" baseline="-25000">
                <a:solidFill>
                  <a:srgbClr val="FF0000"/>
                </a:solidFill>
              </a:endParaRPr>
            </a:p>
          </p:txBody>
        </p:sp>
      </p:grpSp>
      <p:sp>
        <p:nvSpPr>
          <p:cNvPr id="25610" name="Text Box 48"/>
          <p:cNvSpPr txBox="1">
            <a:spLocks noChangeArrowheads="1"/>
          </p:cNvSpPr>
          <p:nvPr/>
        </p:nvSpPr>
        <p:spPr bwMode="auto">
          <a:xfrm>
            <a:off x="5105400" y="5334000"/>
            <a:ext cx="3733800" cy="290513"/>
          </a:xfrm>
          <a:prstGeom prst="rect">
            <a:avLst/>
          </a:prstGeom>
          <a:noFill/>
          <a:ln w="9525">
            <a:noFill/>
            <a:miter lim="800000"/>
            <a:headEnd/>
            <a:tailEnd/>
          </a:ln>
        </p:spPr>
        <p:txBody>
          <a:bodyPr>
            <a:spAutoFit/>
          </a:bodyPr>
          <a:lstStyle/>
          <a:p>
            <a:pPr eaLnBrk="1" hangingPunct="1">
              <a:spcBef>
                <a:spcPct val="50000"/>
              </a:spcBef>
            </a:pPr>
            <a:endParaRPr lang="zh-CN" altLang="zh-CN" sz="2000" b="1" baseline="-25000">
              <a:solidFill>
                <a:srgbClr val="FF0000"/>
              </a:solidFill>
            </a:endParaRPr>
          </a:p>
        </p:txBody>
      </p:sp>
      <p:sp>
        <p:nvSpPr>
          <p:cNvPr id="25611" name="Text Box 49"/>
          <p:cNvSpPr txBox="1">
            <a:spLocks noChangeArrowheads="1"/>
          </p:cNvSpPr>
          <p:nvPr/>
        </p:nvSpPr>
        <p:spPr bwMode="auto">
          <a:xfrm>
            <a:off x="4953000" y="5334000"/>
            <a:ext cx="184150" cy="457200"/>
          </a:xfrm>
          <a:prstGeom prst="rect">
            <a:avLst/>
          </a:prstGeom>
          <a:noFill/>
          <a:ln w="9525">
            <a:noFill/>
            <a:miter lim="800000"/>
            <a:headEnd/>
            <a:tailEnd/>
          </a:ln>
        </p:spPr>
        <p:txBody>
          <a:bodyPr wrap="none">
            <a:spAutoFit/>
          </a:bodyPr>
          <a:lstStyle/>
          <a:p>
            <a:pPr eaLnBrk="1" hangingPunct="1"/>
            <a:endParaRPr lang="zh-CN" altLang="zh-CN"/>
          </a:p>
        </p:txBody>
      </p:sp>
      <p:sp>
        <p:nvSpPr>
          <p:cNvPr id="161842" name="Text Box 50"/>
          <p:cNvSpPr txBox="1">
            <a:spLocks noChangeArrowheads="1"/>
          </p:cNvSpPr>
          <p:nvPr/>
        </p:nvSpPr>
        <p:spPr bwMode="auto">
          <a:xfrm>
            <a:off x="5029200" y="5426075"/>
            <a:ext cx="3505200" cy="822325"/>
          </a:xfrm>
          <a:prstGeom prst="rect">
            <a:avLst/>
          </a:prstGeom>
          <a:noFill/>
          <a:ln>
            <a:noFill/>
          </a:ln>
          <a:effectLst/>
        </p:spPr>
        <p:txBody>
          <a:bodyPr>
            <a:spAutoFit/>
          </a:bodyPr>
          <a:lstStyle/>
          <a:p>
            <a:pPr eaLnBrk="1" hangingPunct="1">
              <a:spcBef>
                <a:spcPct val="50000"/>
              </a:spcBef>
              <a:defRPr/>
            </a:pPr>
            <a:r>
              <a:rPr lang="en-US" altLang="zh-CN" b="1"/>
              <a:t>T</a:t>
            </a:r>
            <a:r>
              <a:rPr lang="zh-CN" altLang="en-US" b="1"/>
              <a:t>的</a:t>
            </a:r>
            <a:r>
              <a:rPr lang="en-US" altLang="zh-CN" b="1" i="1">
                <a:effectLst>
                  <a:outerShdw blurRad="38100" dist="38100" dir="2700000" algn="tl">
                    <a:srgbClr val="C0C0C0"/>
                  </a:outerShdw>
                </a:effectLst>
              </a:rPr>
              <a:t>U</a:t>
            </a:r>
            <a:r>
              <a:rPr lang="en-US" altLang="zh-CN" b="1" baseline="-25000">
                <a:effectLst>
                  <a:outerShdw blurRad="38100" dist="38100" dir="2700000" algn="tl">
                    <a:srgbClr val="C0C0C0"/>
                  </a:outerShdw>
                </a:effectLst>
              </a:rPr>
              <a:t>CQ</a:t>
            </a:r>
            <a:r>
              <a:rPr lang="zh-CN" altLang="en-US" b="1"/>
              <a:t>变化时，直流电源</a:t>
            </a:r>
            <a:r>
              <a:rPr lang="en-US" altLang="zh-CN" b="1"/>
              <a:t>V</a:t>
            </a:r>
            <a:r>
              <a:rPr lang="zh-CN" altLang="en-US" b="1"/>
              <a:t>始终与之保持一致。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1797">
                                            <p:txEl>
                                              <p:pRg st="0" end="0"/>
                                            </p:txEl>
                                          </p:spTgt>
                                        </p:tgtEl>
                                        <p:attrNameLst>
                                          <p:attrName>style.visibility</p:attrName>
                                        </p:attrNameLst>
                                      </p:cBhvr>
                                      <p:to>
                                        <p:strVal val="visible"/>
                                      </p:to>
                                    </p:set>
                                    <p:animEffect transition="in" filter="box(out)">
                                      <p:cBhvr>
                                        <p:cTn id="7" dur="500"/>
                                        <p:tgtEl>
                                          <p:spTgt spid="16179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1798">
                                            <p:txEl>
                                              <p:pRg st="0" end="0"/>
                                            </p:txEl>
                                          </p:spTgt>
                                        </p:tgtEl>
                                        <p:attrNameLst>
                                          <p:attrName>style.visibility</p:attrName>
                                        </p:attrNameLst>
                                      </p:cBhvr>
                                      <p:to>
                                        <p:strVal val="visible"/>
                                      </p:to>
                                    </p:set>
                                    <p:animEffect transition="in" filter="box(out)">
                                      <p:cBhvr>
                                        <p:cTn id="12" dur="500"/>
                                        <p:tgtEl>
                                          <p:spTgt spid="161798">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1814">
                                            <p:txEl>
                                              <p:pRg st="0" end="0"/>
                                            </p:txEl>
                                          </p:spTgt>
                                        </p:tgtEl>
                                        <p:attrNameLst>
                                          <p:attrName>style.visibility</p:attrName>
                                        </p:attrNameLst>
                                      </p:cBhvr>
                                      <p:to>
                                        <p:strVal val="visible"/>
                                      </p:to>
                                    </p:set>
                                    <p:animEffect transition="in" filter="box(out)">
                                      <p:cBhvr>
                                        <p:cTn id="22" dur="500"/>
                                        <p:tgtEl>
                                          <p:spTgt spid="161814">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61814">
                                            <p:txEl>
                                              <p:pRg st="1" end="1"/>
                                            </p:txEl>
                                          </p:spTgt>
                                        </p:tgtEl>
                                        <p:attrNameLst>
                                          <p:attrName>style.visibility</p:attrName>
                                        </p:attrNameLst>
                                      </p:cBhvr>
                                      <p:to>
                                        <p:strVal val="visible"/>
                                      </p:to>
                                    </p:set>
                                    <p:animEffect transition="in" filter="box(out)">
                                      <p:cBhvr>
                                        <p:cTn id="27" dur="500"/>
                                        <p:tgtEl>
                                          <p:spTgt spid="161814">
                                            <p:txEl>
                                              <p:pRg st="1" end="1"/>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61815"/>
                                        </p:tgtEl>
                                        <p:attrNameLst>
                                          <p:attrName>style.visibility</p:attrName>
                                        </p:attrNameLst>
                                      </p:cBhvr>
                                      <p:to>
                                        <p:strVal val="visible"/>
                                      </p:to>
                                    </p:set>
                                    <p:animEffect transition="in" filter="box(out)">
                                      <p:cBhvr>
                                        <p:cTn id="32" dur="500"/>
                                        <p:tgtEl>
                                          <p:spTgt spid="161815"/>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ox(out)">
                                      <p:cBhvr>
                                        <p:cTn id="37" dur="500"/>
                                        <p:tgtEl>
                                          <p:spTgt spid="6"/>
                                        </p:tgtEl>
                                      </p:cBhvr>
                                    </p:animEffect>
                                  </p:childTnLst>
                                  <p:subTnLst>
                                    <p:audio>
                                      <p:cMediaNode>
                                        <p:cTn display="0" masterRel="sameClick">
                                          <p:stCondLst>
                                            <p:cond evt="begin" delay="0">
                                              <p:tn val="35"/>
                                            </p:cond>
                                          </p:stCondLst>
                                          <p:endCondLst>
                                            <p:cond evt="onStopAudio" delay="0">
                                              <p:tgtEl>
                                                <p:sldTgt/>
                                              </p:tgtEl>
                                            </p:cond>
                                          </p:endCondLst>
                                        </p:cTn>
                                        <p:tgtEl>
                                          <p:sndTgt r:embed="rId4"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61842">
                                            <p:txEl>
                                              <p:pRg st="0" end="0"/>
                                            </p:txEl>
                                          </p:spTgt>
                                        </p:tgtEl>
                                        <p:attrNameLst>
                                          <p:attrName>style.visibility</p:attrName>
                                        </p:attrNameLst>
                                      </p:cBhvr>
                                      <p:to>
                                        <p:strVal val="visible"/>
                                      </p:to>
                                    </p:set>
                                    <p:animEffect transition="in" filter="box(out)">
                                      <p:cBhvr>
                                        <p:cTn id="42" dur="500"/>
                                        <p:tgtEl>
                                          <p:spTgt spid="161842">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build="p" autoUpdateAnimBg="0"/>
      <p:bldP spid="161798" grpId="0" build="p" autoUpdateAnimBg="0"/>
      <p:bldP spid="161814" grpId="0" build="p" autoUpdateAnimBg="0"/>
      <p:bldP spid="161815" grpId="0" animBg="1"/>
      <p:bldP spid="161842"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9"/>
          <p:cNvGrpSpPr>
            <a:grpSpLocks/>
          </p:cNvGrpSpPr>
          <p:nvPr/>
        </p:nvGrpSpPr>
        <p:grpSpPr bwMode="auto">
          <a:xfrm>
            <a:off x="152400" y="1600200"/>
            <a:ext cx="4419600" cy="3505200"/>
            <a:chOff x="0" y="528"/>
            <a:chExt cx="2784" cy="2208"/>
          </a:xfrm>
        </p:grpSpPr>
        <p:grpSp>
          <p:nvGrpSpPr>
            <p:cNvPr id="26642" name="Group 58"/>
            <p:cNvGrpSpPr>
              <a:grpSpLocks/>
            </p:cNvGrpSpPr>
            <p:nvPr/>
          </p:nvGrpSpPr>
          <p:grpSpPr bwMode="auto">
            <a:xfrm>
              <a:off x="240" y="528"/>
              <a:ext cx="2304" cy="2208"/>
              <a:chOff x="240" y="528"/>
              <a:chExt cx="2304" cy="2208"/>
            </a:xfrm>
          </p:grpSpPr>
          <p:grpSp>
            <p:nvGrpSpPr>
              <p:cNvPr id="26666" name="Group 5"/>
              <p:cNvGrpSpPr>
                <a:grpSpLocks/>
              </p:cNvGrpSpPr>
              <p:nvPr/>
            </p:nvGrpSpPr>
            <p:grpSpPr bwMode="auto">
              <a:xfrm>
                <a:off x="240" y="528"/>
                <a:ext cx="2304" cy="2208"/>
                <a:chOff x="1680" y="1152"/>
                <a:chExt cx="2304" cy="2425"/>
              </a:xfrm>
            </p:grpSpPr>
            <p:grpSp>
              <p:nvGrpSpPr>
                <p:cNvPr id="26675" name="Group 6"/>
                <p:cNvGrpSpPr>
                  <a:grpSpLocks/>
                </p:cNvGrpSpPr>
                <p:nvPr/>
              </p:nvGrpSpPr>
              <p:grpSpPr bwMode="auto">
                <a:xfrm>
                  <a:off x="1680" y="1152"/>
                  <a:ext cx="2304" cy="2425"/>
                  <a:chOff x="1680" y="768"/>
                  <a:chExt cx="2564" cy="2809"/>
                </a:xfrm>
              </p:grpSpPr>
              <p:graphicFrame>
                <p:nvGraphicFramePr>
                  <p:cNvPr id="26627" name="Object 7"/>
                  <p:cNvGraphicFramePr>
                    <a:graphicFrameLocks noChangeAspect="1"/>
                  </p:cNvGraphicFramePr>
                  <p:nvPr/>
                </p:nvGraphicFramePr>
                <p:xfrm>
                  <a:off x="1680" y="768"/>
                  <a:ext cx="2564" cy="2809"/>
                </p:xfrm>
                <a:graphic>
                  <a:graphicData uri="http://schemas.openxmlformats.org/presentationml/2006/ole">
                    <mc:AlternateContent xmlns:mc="http://schemas.openxmlformats.org/markup-compatibility/2006">
                      <mc:Choice xmlns:v="urn:schemas-microsoft-com:vml" Requires="v">
                        <p:oleObj spid="_x0000_s11268" name="BMP 图象" r:id="rId5" imgW="1695687" imgH="1857143" progId="PBrush">
                          <p:embed/>
                        </p:oleObj>
                      </mc:Choice>
                      <mc:Fallback>
                        <p:oleObj name="BMP 图象" r:id="rId5" imgW="1695687" imgH="1857143" progId="PBrush">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0" y="768"/>
                                <a:ext cx="2564" cy="2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82" name="Text Box 8"/>
                  <p:cNvSpPr txBox="1">
                    <a:spLocks noChangeArrowheads="1"/>
                  </p:cNvSpPr>
                  <p:nvPr/>
                </p:nvSpPr>
                <p:spPr bwMode="auto">
                  <a:xfrm>
                    <a:off x="1728" y="2018"/>
                    <a:ext cx="432" cy="366"/>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sp>
                <p:nvSpPr>
                  <p:cNvPr id="26683" name="Text Box 9"/>
                  <p:cNvSpPr txBox="1">
                    <a:spLocks noChangeArrowheads="1"/>
                  </p:cNvSpPr>
                  <p:nvPr/>
                </p:nvSpPr>
                <p:spPr bwMode="auto">
                  <a:xfrm>
                    <a:off x="3792" y="2064"/>
                    <a:ext cx="384" cy="366"/>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sp>
                <p:nvSpPr>
                  <p:cNvPr id="26684" name="Text Box 10"/>
                  <p:cNvSpPr txBox="1">
                    <a:spLocks noChangeArrowheads="1"/>
                  </p:cNvSpPr>
                  <p:nvPr/>
                </p:nvSpPr>
                <p:spPr bwMode="auto">
                  <a:xfrm>
                    <a:off x="2256" y="3072"/>
                    <a:ext cx="1344" cy="366"/>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pSp>
            <p:sp>
              <p:nvSpPr>
                <p:cNvPr id="26676" name="Rectangle 11"/>
                <p:cNvSpPr>
                  <a:spLocks noChangeArrowheads="1"/>
                </p:cNvSpPr>
                <p:nvPr/>
              </p:nvSpPr>
              <p:spPr bwMode="auto">
                <a:xfrm>
                  <a:off x="3504" y="2352"/>
                  <a:ext cx="144" cy="96"/>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26677" name="Rectangle 12"/>
                <p:cNvSpPr>
                  <a:spLocks noChangeArrowheads="1"/>
                </p:cNvSpPr>
                <p:nvPr/>
              </p:nvSpPr>
              <p:spPr bwMode="auto">
                <a:xfrm>
                  <a:off x="2064" y="2352"/>
                  <a:ext cx="144" cy="96"/>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26678" name="Line 13"/>
                <p:cNvSpPr>
                  <a:spLocks noChangeShapeType="1"/>
                </p:cNvSpPr>
                <p:nvPr/>
              </p:nvSpPr>
              <p:spPr bwMode="auto">
                <a:xfrm>
                  <a:off x="1872" y="2400"/>
                  <a:ext cx="192" cy="0"/>
                </a:xfrm>
                <a:prstGeom prst="line">
                  <a:avLst/>
                </a:prstGeom>
                <a:noFill/>
                <a:ln w="9525">
                  <a:solidFill>
                    <a:schemeClr val="tx1"/>
                  </a:solidFill>
                  <a:round/>
                  <a:headEnd/>
                  <a:tailEnd/>
                </a:ln>
              </p:spPr>
              <p:txBody>
                <a:bodyPr/>
                <a:lstStyle/>
                <a:p>
                  <a:endParaRPr lang="zh-CN" altLang="en-US"/>
                </a:p>
              </p:txBody>
            </p:sp>
            <p:sp>
              <p:nvSpPr>
                <p:cNvPr id="26679" name="Line 14"/>
                <p:cNvSpPr>
                  <a:spLocks noChangeShapeType="1"/>
                </p:cNvSpPr>
                <p:nvPr/>
              </p:nvSpPr>
              <p:spPr bwMode="auto">
                <a:xfrm>
                  <a:off x="3648" y="2400"/>
                  <a:ext cx="144" cy="0"/>
                </a:xfrm>
                <a:prstGeom prst="line">
                  <a:avLst/>
                </a:prstGeom>
                <a:noFill/>
                <a:ln w="9525">
                  <a:solidFill>
                    <a:schemeClr val="tx1"/>
                  </a:solidFill>
                  <a:round/>
                  <a:headEnd/>
                  <a:tailEnd/>
                </a:ln>
              </p:spPr>
              <p:txBody>
                <a:bodyPr/>
                <a:lstStyle/>
                <a:p>
                  <a:endParaRPr lang="zh-CN" altLang="en-US"/>
                </a:p>
              </p:txBody>
            </p:sp>
            <p:sp>
              <p:nvSpPr>
                <p:cNvPr id="26680" name="Oval 15"/>
                <p:cNvSpPr>
                  <a:spLocks noChangeArrowheads="1"/>
                </p:cNvSpPr>
                <p:nvPr/>
              </p:nvSpPr>
              <p:spPr bwMode="auto">
                <a:xfrm>
                  <a:off x="1822" y="2352"/>
                  <a:ext cx="50" cy="46"/>
                </a:xfrm>
                <a:prstGeom prst="ellipse">
                  <a:avLst/>
                </a:prstGeom>
                <a:noFill/>
                <a:ln w="38100">
                  <a:solidFill>
                    <a:schemeClr val="tx1"/>
                  </a:solidFill>
                  <a:round/>
                  <a:headEnd/>
                  <a:tailEnd/>
                </a:ln>
              </p:spPr>
              <p:txBody>
                <a:bodyPr wrap="none" anchor="ctr"/>
                <a:lstStyle/>
                <a:p>
                  <a:pPr algn="ctr" eaLnBrk="1" hangingPunct="1"/>
                  <a:endParaRPr lang="zh-CN" altLang="en-US"/>
                </a:p>
              </p:txBody>
            </p:sp>
            <p:sp>
              <p:nvSpPr>
                <p:cNvPr id="26681" name="Oval 16"/>
                <p:cNvSpPr>
                  <a:spLocks noChangeArrowheads="1"/>
                </p:cNvSpPr>
                <p:nvPr/>
              </p:nvSpPr>
              <p:spPr bwMode="auto">
                <a:xfrm>
                  <a:off x="3742" y="2354"/>
                  <a:ext cx="50" cy="46"/>
                </a:xfrm>
                <a:prstGeom prst="ellipse">
                  <a:avLst/>
                </a:prstGeom>
                <a:noFill/>
                <a:ln w="38100">
                  <a:solidFill>
                    <a:schemeClr val="tx1"/>
                  </a:solidFill>
                  <a:round/>
                  <a:headEnd/>
                  <a:tailEnd/>
                </a:ln>
              </p:spPr>
              <p:txBody>
                <a:bodyPr wrap="none" anchor="ctr"/>
                <a:lstStyle/>
                <a:p>
                  <a:pPr algn="ctr" eaLnBrk="1" hangingPunct="1"/>
                  <a:endParaRPr lang="zh-CN" altLang="en-US"/>
                </a:p>
              </p:txBody>
            </p:sp>
          </p:grpSp>
          <p:sp>
            <p:nvSpPr>
              <p:cNvPr id="26667" name="Line 35"/>
              <p:cNvSpPr>
                <a:spLocks noChangeShapeType="1"/>
              </p:cNvSpPr>
              <p:nvPr/>
            </p:nvSpPr>
            <p:spPr bwMode="auto">
              <a:xfrm>
                <a:off x="384" y="2352"/>
                <a:ext cx="1968" cy="0"/>
              </a:xfrm>
              <a:prstGeom prst="line">
                <a:avLst/>
              </a:prstGeom>
              <a:noFill/>
              <a:ln w="38100">
                <a:solidFill>
                  <a:schemeClr val="tx1"/>
                </a:solidFill>
                <a:round/>
                <a:headEnd/>
                <a:tailEnd/>
              </a:ln>
            </p:spPr>
            <p:txBody>
              <a:bodyPr/>
              <a:lstStyle/>
              <a:p>
                <a:endParaRPr lang="zh-CN" altLang="en-US"/>
              </a:p>
            </p:txBody>
          </p:sp>
          <p:grpSp>
            <p:nvGrpSpPr>
              <p:cNvPr id="26668" name="Group 42"/>
              <p:cNvGrpSpPr>
                <a:grpSpLocks/>
              </p:cNvGrpSpPr>
              <p:nvPr/>
            </p:nvGrpSpPr>
            <p:grpSpPr bwMode="auto">
              <a:xfrm>
                <a:off x="1296" y="2326"/>
                <a:ext cx="192" cy="122"/>
                <a:chOff x="3416" y="3238"/>
                <a:chExt cx="192" cy="122"/>
              </a:xfrm>
            </p:grpSpPr>
            <p:grpSp>
              <p:nvGrpSpPr>
                <p:cNvPr id="26671" name="Group 43"/>
                <p:cNvGrpSpPr>
                  <a:grpSpLocks/>
                </p:cNvGrpSpPr>
                <p:nvPr/>
              </p:nvGrpSpPr>
              <p:grpSpPr bwMode="auto">
                <a:xfrm>
                  <a:off x="3416" y="3264"/>
                  <a:ext cx="192" cy="96"/>
                  <a:chOff x="4080" y="4128"/>
                  <a:chExt cx="192" cy="96"/>
                </a:xfrm>
              </p:grpSpPr>
              <p:sp>
                <p:nvSpPr>
                  <p:cNvPr id="26673" name="Line 44"/>
                  <p:cNvSpPr>
                    <a:spLocks noChangeShapeType="1"/>
                  </p:cNvSpPr>
                  <p:nvPr/>
                </p:nvSpPr>
                <p:spPr bwMode="auto">
                  <a:xfrm>
                    <a:off x="4176" y="4128"/>
                    <a:ext cx="0" cy="96"/>
                  </a:xfrm>
                  <a:prstGeom prst="line">
                    <a:avLst/>
                  </a:prstGeom>
                  <a:noFill/>
                  <a:ln w="28575">
                    <a:solidFill>
                      <a:srgbClr val="000000"/>
                    </a:solidFill>
                    <a:round/>
                    <a:headEnd/>
                    <a:tailEnd/>
                  </a:ln>
                </p:spPr>
                <p:txBody>
                  <a:bodyPr wrap="none" anchor="ctr"/>
                  <a:lstStyle/>
                  <a:p>
                    <a:endParaRPr lang="zh-CN" altLang="en-US"/>
                  </a:p>
                </p:txBody>
              </p:sp>
              <p:sp>
                <p:nvSpPr>
                  <p:cNvPr id="26674" name="Line 45"/>
                  <p:cNvSpPr>
                    <a:spLocks noChangeShapeType="1"/>
                  </p:cNvSpPr>
                  <p:nvPr/>
                </p:nvSpPr>
                <p:spPr bwMode="auto">
                  <a:xfrm>
                    <a:off x="4080" y="4224"/>
                    <a:ext cx="192" cy="0"/>
                  </a:xfrm>
                  <a:prstGeom prst="line">
                    <a:avLst/>
                  </a:prstGeom>
                  <a:noFill/>
                  <a:ln w="38100">
                    <a:solidFill>
                      <a:srgbClr val="000000"/>
                    </a:solidFill>
                    <a:round/>
                    <a:headEnd/>
                    <a:tailEnd/>
                  </a:ln>
                </p:spPr>
                <p:txBody>
                  <a:bodyPr wrap="none" anchor="ctr"/>
                  <a:lstStyle/>
                  <a:p>
                    <a:endParaRPr lang="zh-CN" altLang="en-US"/>
                  </a:p>
                </p:txBody>
              </p:sp>
            </p:grpSp>
            <p:sp>
              <p:nvSpPr>
                <p:cNvPr id="26672" name="Oval 46"/>
                <p:cNvSpPr>
                  <a:spLocks noChangeArrowheads="1"/>
                </p:cNvSpPr>
                <p:nvPr/>
              </p:nvSpPr>
              <p:spPr bwMode="auto">
                <a:xfrm>
                  <a:off x="3484" y="3238"/>
                  <a:ext cx="48" cy="48"/>
                </a:xfrm>
                <a:prstGeom prst="ellipse">
                  <a:avLst/>
                </a:prstGeom>
                <a:solidFill>
                  <a:schemeClr val="tx1"/>
                </a:solidFill>
                <a:ln w="28575">
                  <a:solidFill>
                    <a:schemeClr val="tx1"/>
                  </a:solidFill>
                  <a:round/>
                  <a:headEnd/>
                  <a:tailEnd/>
                </a:ln>
              </p:spPr>
              <p:txBody>
                <a:bodyPr wrap="none" anchor="ctr"/>
                <a:lstStyle/>
                <a:p>
                  <a:pPr algn="ctr" eaLnBrk="1" hangingPunct="1"/>
                  <a:endParaRPr lang="zh-CN" altLang="en-US"/>
                </a:p>
              </p:txBody>
            </p:sp>
          </p:grpSp>
          <p:sp>
            <p:nvSpPr>
              <p:cNvPr id="163887" name="Rectangle 47"/>
              <p:cNvSpPr>
                <a:spLocks noChangeArrowheads="1"/>
              </p:cNvSpPr>
              <p:nvPr/>
            </p:nvSpPr>
            <p:spPr bwMode="auto">
              <a:xfrm>
                <a:off x="1968" y="1359"/>
                <a:ext cx="294" cy="212"/>
              </a:xfrm>
              <a:prstGeom prst="rect">
                <a:avLst/>
              </a:prstGeom>
              <a:noFill/>
              <a:ln>
                <a:noFill/>
              </a:ln>
              <a:effectLst/>
            </p:spPr>
            <p:txBody>
              <a:bodyPr wrap="none">
                <a:spAutoFit/>
              </a:bodyPr>
              <a:lstStyle/>
              <a:p>
                <a:pPr eaLnBrk="1" hangingPunct="1">
                  <a:defRPr/>
                </a:pPr>
                <a:r>
                  <a:rPr lang="en-US" altLang="zh-CN" sz="1600" b="1" i="1">
                    <a:effectLst>
                      <a:outerShdw blurRad="38100" dist="38100" dir="2700000" algn="tl">
                        <a:srgbClr val="C0C0C0"/>
                      </a:outerShdw>
                    </a:effectLst>
                  </a:rPr>
                  <a:t>R</a:t>
                </a:r>
                <a:r>
                  <a:rPr lang="en-US" altLang="zh-CN" sz="1600" b="1" baseline="-25000">
                    <a:effectLst>
                      <a:outerShdw blurRad="38100" dist="38100" dir="2700000" algn="tl">
                        <a:srgbClr val="C0C0C0"/>
                      </a:outerShdw>
                    </a:effectLst>
                  </a:rPr>
                  <a:t>b2</a:t>
                </a:r>
              </a:p>
            </p:txBody>
          </p:sp>
          <p:sp>
            <p:nvSpPr>
              <p:cNvPr id="163888" name="Rectangle 48"/>
              <p:cNvSpPr>
                <a:spLocks noChangeArrowheads="1"/>
              </p:cNvSpPr>
              <p:nvPr/>
            </p:nvSpPr>
            <p:spPr bwMode="auto">
              <a:xfrm>
                <a:off x="551" y="1372"/>
                <a:ext cx="294" cy="212"/>
              </a:xfrm>
              <a:prstGeom prst="rect">
                <a:avLst/>
              </a:prstGeom>
              <a:noFill/>
              <a:ln>
                <a:noFill/>
              </a:ln>
              <a:effectLst/>
            </p:spPr>
            <p:txBody>
              <a:bodyPr wrap="none">
                <a:spAutoFit/>
              </a:bodyPr>
              <a:lstStyle/>
              <a:p>
                <a:pPr eaLnBrk="1" hangingPunct="1">
                  <a:defRPr/>
                </a:pPr>
                <a:r>
                  <a:rPr lang="en-US" altLang="zh-CN" sz="1600" b="1" i="1">
                    <a:effectLst>
                      <a:outerShdw blurRad="38100" dist="38100" dir="2700000" algn="tl">
                        <a:srgbClr val="C0C0C0"/>
                      </a:outerShdw>
                    </a:effectLst>
                  </a:rPr>
                  <a:t>R</a:t>
                </a:r>
                <a:r>
                  <a:rPr lang="en-US" altLang="zh-CN" sz="1600" b="1" baseline="-25000">
                    <a:effectLst>
                      <a:outerShdw blurRad="38100" dist="38100" dir="2700000" algn="tl">
                        <a:srgbClr val="C0C0C0"/>
                      </a:outerShdw>
                    </a:effectLst>
                  </a:rPr>
                  <a:t>b1</a:t>
                </a:r>
              </a:p>
            </p:txBody>
          </p:sp>
        </p:grpSp>
        <p:grpSp>
          <p:nvGrpSpPr>
            <p:cNvPr id="26643" name="Group 56"/>
            <p:cNvGrpSpPr>
              <a:grpSpLocks/>
            </p:cNvGrpSpPr>
            <p:nvPr/>
          </p:nvGrpSpPr>
          <p:grpSpPr bwMode="auto">
            <a:xfrm>
              <a:off x="0" y="1632"/>
              <a:ext cx="2784" cy="740"/>
              <a:chOff x="0" y="1632"/>
              <a:chExt cx="2784" cy="740"/>
            </a:xfrm>
          </p:grpSpPr>
          <p:grpSp>
            <p:nvGrpSpPr>
              <p:cNvPr id="26644" name="Group 17"/>
              <p:cNvGrpSpPr>
                <a:grpSpLocks/>
              </p:cNvGrpSpPr>
              <p:nvPr/>
            </p:nvGrpSpPr>
            <p:grpSpPr bwMode="auto">
              <a:xfrm>
                <a:off x="288" y="1680"/>
                <a:ext cx="192" cy="480"/>
                <a:chOff x="5280" y="2400"/>
                <a:chExt cx="192" cy="480"/>
              </a:xfrm>
            </p:grpSpPr>
            <p:sp>
              <p:nvSpPr>
                <p:cNvPr id="26664" name="Oval 18"/>
                <p:cNvSpPr>
                  <a:spLocks noChangeArrowheads="1"/>
                </p:cNvSpPr>
                <p:nvPr/>
              </p:nvSpPr>
              <p:spPr bwMode="auto">
                <a:xfrm>
                  <a:off x="5280" y="2544"/>
                  <a:ext cx="192" cy="192"/>
                </a:xfrm>
                <a:prstGeom prst="ellipse">
                  <a:avLst/>
                </a:prstGeom>
                <a:solidFill>
                  <a:schemeClr val="bg1"/>
                </a:solidFill>
                <a:ln w="38100">
                  <a:solidFill>
                    <a:schemeClr val="tx1"/>
                  </a:solidFill>
                  <a:round/>
                  <a:headEnd/>
                  <a:tailEnd/>
                </a:ln>
              </p:spPr>
              <p:txBody>
                <a:bodyPr wrap="none" anchor="ctr"/>
                <a:lstStyle/>
                <a:p>
                  <a:pPr algn="ctr" eaLnBrk="1" hangingPunct="1"/>
                  <a:endParaRPr lang="zh-CN" altLang="en-US"/>
                </a:p>
              </p:txBody>
            </p:sp>
            <p:sp>
              <p:nvSpPr>
                <p:cNvPr id="26665" name="Line 19"/>
                <p:cNvSpPr>
                  <a:spLocks noChangeShapeType="1"/>
                </p:cNvSpPr>
                <p:nvPr/>
              </p:nvSpPr>
              <p:spPr bwMode="auto">
                <a:xfrm>
                  <a:off x="5376" y="2400"/>
                  <a:ext cx="0" cy="480"/>
                </a:xfrm>
                <a:prstGeom prst="line">
                  <a:avLst/>
                </a:prstGeom>
                <a:noFill/>
                <a:ln w="38100">
                  <a:solidFill>
                    <a:schemeClr val="tx1"/>
                  </a:solidFill>
                  <a:round/>
                  <a:headEnd/>
                  <a:tailEnd/>
                </a:ln>
              </p:spPr>
              <p:txBody>
                <a:bodyPr/>
                <a:lstStyle/>
                <a:p>
                  <a:endParaRPr lang="zh-CN" altLang="en-US"/>
                </a:p>
              </p:txBody>
            </p:sp>
          </p:grpSp>
          <p:grpSp>
            <p:nvGrpSpPr>
              <p:cNvPr id="26645" name="Group 20"/>
              <p:cNvGrpSpPr>
                <a:grpSpLocks/>
              </p:cNvGrpSpPr>
              <p:nvPr/>
            </p:nvGrpSpPr>
            <p:grpSpPr bwMode="auto">
              <a:xfrm>
                <a:off x="2256" y="1680"/>
                <a:ext cx="192" cy="480"/>
                <a:chOff x="5280" y="2400"/>
                <a:chExt cx="192" cy="480"/>
              </a:xfrm>
            </p:grpSpPr>
            <p:sp>
              <p:nvSpPr>
                <p:cNvPr id="26662" name="Oval 21"/>
                <p:cNvSpPr>
                  <a:spLocks noChangeArrowheads="1"/>
                </p:cNvSpPr>
                <p:nvPr/>
              </p:nvSpPr>
              <p:spPr bwMode="auto">
                <a:xfrm>
                  <a:off x="5280" y="2544"/>
                  <a:ext cx="192" cy="192"/>
                </a:xfrm>
                <a:prstGeom prst="ellipse">
                  <a:avLst/>
                </a:prstGeom>
                <a:solidFill>
                  <a:schemeClr val="bg1"/>
                </a:solidFill>
                <a:ln w="38100">
                  <a:solidFill>
                    <a:schemeClr val="tx1"/>
                  </a:solidFill>
                  <a:round/>
                  <a:headEnd/>
                  <a:tailEnd/>
                </a:ln>
              </p:spPr>
              <p:txBody>
                <a:bodyPr wrap="none" anchor="ctr"/>
                <a:lstStyle/>
                <a:p>
                  <a:pPr algn="ctr" eaLnBrk="1" hangingPunct="1"/>
                  <a:endParaRPr lang="zh-CN" altLang="en-US"/>
                </a:p>
              </p:txBody>
            </p:sp>
            <p:sp>
              <p:nvSpPr>
                <p:cNvPr id="26663" name="Line 22"/>
                <p:cNvSpPr>
                  <a:spLocks noChangeShapeType="1"/>
                </p:cNvSpPr>
                <p:nvPr/>
              </p:nvSpPr>
              <p:spPr bwMode="auto">
                <a:xfrm>
                  <a:off x="5376" y="2400"/>
                  <a:ext cx="0" cy="480"/>
                </a:xfrm>
                <a:prstGeom prst="line">
                  <a:avLst/>
                </a:prstGeom>
                <a:noFill/>
                <a:ln w="38100">
                  <a:solidFill>
                    <a:schemeClr val="tx1"/>
                  </a:solidFill>
                  <a:round/>
                  <a:headEnd/>
                  <a:tailEnd/>
                </a:ln>
              </p:spPr>
              <p:txBody>
                <a:bodyPr/>
                <a:lstStyle/>
                <a:p>
                  <a:endParaRPr lang="zh-CN" altLang="en-US"/>
                </a:p>
              </p:txBody>
            </p:sp>
          </p:grpSp>
          <p:grpSp>
            <p:nvGrpSpPr>
              <p:cNvPr id="26646" name="Group 23"/>
              <p:cNvGrpSpPr>
                <a:grpSpLocks/>
              </p:cNvGrpSpPr>
              <p:nvPr/>
            </p:nvGrpSpPr>
            <p:grpSpPr bwMode="auto">
              <a:xfrm>
                <a:off x="288" y="2064"/>
                <a:ext cx="192" cy="288"/>
                <a:chOff x="4992" y="3168"/>
                <a:chExt cx="192" cy="288"/>
              </a:xfrm>
            </p:grpSpPr>
            <p:grpSp>
              <p:nvGrpSpPr>
                <p:cNvPr id="26657" name="Group 24"/>
                <p:cNvGrpSpPr>
                  <a:grpSpLocks/>
                </p:cNvGrpSpPr>
                <p:nvPr/>
              </p:nvGrpSpPr>
              <p:grpSpPr bwMode="auto">
                <a:xfrm>
                  <a:off x="4992" y="3312"/>
                  <a:ext cx="192" cy="48"/>
                  <a:chOff x="4992" y="3312"/>
                  <a:chExt cx="192" cy="48"/>
                </a:xfrm>
              </p:grpSpPr>
              <p:sp>
                <p:nvSpPr>
                  <p:cNvPr id="26660" name="Line 25"/>
                  <p:cNvSpPr>
                    <a:spLocks noChangeShapeType="1"/>
                  </p:cNvSpPr>
                  <p:nvPr/>
                </p:nvSpPr>
                <p:spPr bwMode="auto">
                  <a:xfrm>
                    <a:off x="4992" y="3312"/>
                    <a:ext cx="192" cy="0"/>
                  </a:xfrm>
                  <a:prstGeom prst="line">
                    <a:avLst/>
                  </a:prstGeom>
                  <a:noFill/>
                  <a:ln w="38100">
                    <a:solidFill>
                      <a:schemeClr val="tx1"/>
                    </a:solidFill>
                    <a:round/>
                    <a:headEnd/>
                    <a:tailEnd/>
                  </a:ln>
                </p:spPr>
                <p:txBody>
                  <a:bodyPr/>
                  <a:lstStyle/>
                  <a:p>
                    <a:endParaRPr lang="zh-CN" altLang="en-US"/>
                  </a:p>
                </p:txBody>
              </p:sp>
              <p:sp>
                <p:nvSpPr>
                  <p:cNvPr id="26661" name="Line 26"/>
                  <p:cNvSpPr>
                    <a:spLocks noChangeShapeType="1"/>
                  </p:cNvSpPr>
                  <p:nvPr/>
                </p:nvSpPr>
                <p:spPr bwMode="auto">
                  <a:xfrm>
                    <a:off x="5040" y="3360"/>
                    <a:ext cx="96" cy="0"/>
                  </a:xfrm>
                  <a:prstGeom prst="line">
                    <a:avLst/>
                  </a:prstGeom>
                  <a:noFill/>
                  <a:ln w="38100">
                    <a:solidFill>
                      <a:schemeClr val="tx1"/>
                    </a:solidFill>
                    <a:round/>
                    <a:headEnd/>
                    <a:tailEnd/>
                  </a:ln>
                </p:spPr>
                <p:txBody>
                  <a:bodyPr/>
                  <a:lstStyle/>
                  <a:p>
                    <a:endParaRPr lang="zh-CN" altLang="en-US"/>
                  </a:p>
                </p:txBody>
              </p:sp>
            </p:grpSp>
            <p:sp>
              <p:nvSpPr>
                <p:cNvPr id="26658" name="Line 27"/>
                <p:cNvSpPr>
                  <a:spLocks noChangeShapeType="1"/>
                </p:cNvSpPr>
                <p:nvPr/>
              </p:nvSpPr>
              <p:spPr bwMode="auto">
                <a:xfrm>
                  <a:off x="5088" y="3168"/>
                  <a:ext cx="0" cy="144"/>
                </a:xfrm>
                <a:prstGeom prst="line">
                  <a:avLst/>
                </a:prstGeom>
                <a:noFill/>
                <a:ln w="38100">
                  <a:solidFill>
                    <a:schemeClr val="tx1"/>
                  </a:solidFill>
                  <a:round/>
                  <a:headEnd/>
                  <a:tailEnd/>
                </a:ln>
              </p:spPr>
              <p:txBody>
                <a:bodyPr/>
                <a:lstStyle/>
                <a:p>
                  <a:endParaRPr lang="zh-CN" altLang="en-US"/>
                </a:p>
              </p:txBody>
            </p:sp>
            <p:sp>
              <p:nvSpPr>
                <p:cNvPr id="26659" name="Line 28"/>
                <p:cNvSpPr>
                  <a:spLocks noChangeShapeType="1"/>
                </p:cNvSpPr>
                <p:nvPr/>
              </p:nvSpPr>
              <p:spPr bwMode="auto">
                <a:xfrm>
                  <a:off x="5088" y="3360"/>
                  <a:ext cx="0" cy="96"/>
                </a:xfrm>
                <a:prstGeom prst="line">
                  <a:avLst/>
                </a:prstGeom>
                <a:noFill/>
                <a:ln w="38100">
                  <a:solidFill>
                    <a:schemeClr val="tx1"/>
                  </a:solidFill>
                  <a:round/>
                  <a:headEnd/>
                  <a:tailEnd/>
                </a:ln>
              </p:spPr>
              <p:txBody>
                <a:bodyPr/>
                <a:lstStyle/>
                <a:p>
                  <a:endParaRPr lang="zh-CN" altLang="en-US"/>
                </a:p>
              </p:txBody>
            </p:sp>
          </p:grpSp>
          <p:grpSp>
            <p:nvGrpSpPr>
              <p:cNvPr id="26647" name="Group 29"/>
              <p:cNvGrpSpPr>
                <a:grpSpLocks/>
              </p:cNvGrpSpPr>
              <p:nvPr/>
            </p:nvGrpSpPr>
            <p:grpSpPr bwMode="auto">
              <a:xfrm>
                <a:off x="2256" y="2064"/>
                <a:ext cx="192" cy="288"/>
                <a:chOff x="4992" y="3168"/>
                <a:chExt cx="192" cy="288"/>
              </a:xfrm>
            </p:grpSpPr>
            <p:grpSp>
              <p:nvGrpSpPr>
                <p:cNvPr id="26652" name="Group 30"/>
                <p:cNvGrpSpPr>
                  <a:grpSpLocks/>
                </p:cNvGrpSpPr>
                <p:nvPr/>
              </p:nvGrpSpPr>
              <p:grpSpPr bwMode="auto">
                <a:xfrm>
                  <a:off x="4992" y="3312"/>
                  <a:ext cx="192" cy="48"/>
                  <a:chOff x="4992" y="3312"/>
                  <a:chExt cx="192" cy="48"/>
                </a:xfrm>
              </p:grpSpPr>
              <p:sp>
                <p:nvSpPr>
                  <p:cNvPr id="26655" name="Line 31"/>
                  <p:cNvSpPr>
                    <a:spLocks noChangeShapeType="1"/>
                  </p:cNvSpPr>
                  <p:nvPr/>
                </p:nvSpPr>
                <p:spPr bwMode="auto">
                  <a:xfrm>
                    <a:off x="4992" y="3312"/>
                    <a:ext cx="192" cy="0"/>
                  </a:xfrm>
                  <a:prstGeom prst="line">
                    <a:avLst/>
                  </a:prstGeom>
                  <a:noFill/>
                  <a:ln w="38100">
                    <a:solidFill>
                      <a:schemeClr val="tx1"/>
                    </a:solidFill>
                    <a:round/>
                    <a:headEnd/>
                    <a:tailEnd/>
                  </a:ln>
                </p:spPr>
                <p:txBody>
                  <a:bodyPr/>
                  <a:lstStyle/>
                  <a:p>
                    <a:endParaRPr lang="zh-CN" altLang="en-US"/>
                  </a:p>
                </p:txBody>
              </p:sp>
              <p:sp>
                <p:nvSpPr>
                  <p:cNvPr id="26656" name="Line 32"/>
                  <p:cNvSpPr>
                    <a:spLocks noChangeShapeType="1"/>
                  </p:cNvSpPr>
                  <p:nvPr/>
                </p:nvSpPr>
                <p:spPr bwMode="auto">
                  <a:xfrm>
                    <a:off x="5040" y="3360"/>
                    <a:ext cx="96" cy="0"/>
                  </a:xfrm>
                  <a:prstGeom prst="line">
                    <a:avLst/>
                  </a:prstGeom>
                  <a:noFill/>
                  <a:ln w="38100">
                    <a:solidFill>
                      <a:schemeClr val="tx1"/>
                    </a:solidFill>
                    <a:round/>
                    <a:headEnd/>
                    <a:tailEnd/>
                  </a:ln>
                </p:spPr>
                <p:txBody>
                  <a:bodyPr/>
                  <a:lstStyle/>
                  <a:p>
                    <a:endParaRPr lang="zh-CN" altLang="en-US"/>
                  </a:p>
                </p:txBody>
              </p:sp>
            </p:grpSp>
            <p:sp>
              <p:nvSpPr>
                <p:cNvPr id="26653" name="Line 33"/>
                <p:cNvSpPr>
                  <a:spLocks noChangeShapeType="1"/>
                </p:cNvSpPr>
                <p:nvPr/>
              </p:nvSpPr>
              <p:spPr bwMode="auto">
                <a:xfrm>
                  <a:off x="5088" y="3168"/>
                  <a:ext cx="0" cy="144"/>
                </a:xfrm>
                <a:prstGeom prst="line">
                  <a:avLst/>
                </a:prstGeom>
                <a:noFill/>
                <a:ln w="38100">
                  <a:solidFill>
                    <a:schemeClr val="tx1"/>
                  </a:solidFill>
                  <a:round/>
                  <a:headEnd/>
                  <a:tailEnd/>
                </a:ln>
              </p:spPr>
              <p:txBody>
                <a:bodyPr/>
                <a:lstStyle/>
                <a:p>
                  <a:endParaRPr lang="zh-CN" altLang="en-US"/>
                </a:p>
              </p:txBody>
            </p:sp>
            <p:sp>
              <p:nvSpPr>
                <p:cNvPr id="26654" name="Line 34"/>
                <p:cNvSpPr>
                  <a:spLocks noChangeShapeType="1"/>
                </p:cNvSpPr>
                <p:nvPr/>
              </p:nvSpPr>
              <p:spPr bwMode="auto">
                <a:xfrm>
                  <a:off x="5088" y="3360"/>
                  <a:ext cx="0" cy="96"/>
                </a:xfrm>
                <a:prstGeom prst="line">
                  <a:avLst/>
                </a:prstGeom>
                <a:noFill/>
                <a:ln w="38100">
                  <a:solidFill>
                    <a:schemeClr val="tx1"/>
                  </a:solidFill>
                  <a:round/>
                  <a:headEnd/>
                  <a:tailEnd/>
                </a:ln>
              </p:spPr>
              <p:txBody>
                <a:bodyPr/>
                <a:lstStyle/>
                <a:p>
                  <a:endParaRPr lang="zh-CN" altLang="en-US"/>
                </a:p>
              </p:txBody>
            </p:sp>
          </p:grpSp>
          <p:sp>
            <p:nvSpPr>
              <p:cNvPr id="26648" name="Rectangle 49"/>
              <p:cNvSpPr>
                <a:spLocks noChangeArrowheads="1"/>
              </p:cNvSpPr>
              <p:nvPr/>
            </p:nvSpPr>
            <p:spPr bwMode="auto">
              <a:xfrm>
                <a:off x="2448" y="1632"/>
                <a:ext cx="336" cy="472"/>
              </a:xfrm>
              <a:prstGeom prst="rect">
                <a:avLst/>
              </a:prstGeom>
              <a:noFill/>
              <a:ln w="9525">
                <a:noFill/>
                <a:miter lim="800000"/>
                <a:headEnd/>
                <a:tailEnd/>
              </a:ln>
            </p:spPr>
            <p:txBody>
              <a:bodyPr>
                <a:spAutoFit/>
              </a:bodyPr>
              <a:lstStyle/>
              <a:p>
                <a:pPr eaLnBrk="1" hangingPunct="1"/>
                <a:r>
                  <a:rPr lang="en-US" altLang="zh-CN" sz="1600" b="1" i="1">
                    <a:solidFill>
                      <a:srgbClr val="FF3300"/>
                    </a:solidFill>
                  </a:rPr>
                  <a:t>+</a:t>
                </a:r>
              </a:p>
              <a:p>
                <a:pPr eaLnBrk="1" hangingPunct="1"/>
                <a:r>
                  <a:rPr lang="en-US" altLang="zh-CN" sz="1600" b="1" i="1">
                    <a:solidFill>
                      <a:srgbClr val="FF3300"/>
                    </a:solidFill>
                  </a:rPr>
                  <a:t>u</a:t>
                </a:r>
                <a:r>
                  <a:rPr lang="en-US" altLang="zh-CN" sz="1600" b="1" baseline="-25000">
                    <a:solidFill>
                      <a:srgbClr val="FF3300"/>
                    </a:solidFill>
                  </a:rPr>
                  <a:t>I2</a:t>
                </a:r>
              </a:p>
              <a:p>
                <a:pPr eaLnBrk="1" hangingPunct="1"/>
                <a:r>
                  <a:rPr lang="en-US" altLang="zh-CN" sz="1600" b="1" baseline="-25000">
                    <a:solidFill>
                      <a:srgbClr val="FF3300"/>
                    </a:solidFill>
                  </a:rPr>
                  <a:t>-</a:t>
                </a:r>
              </a:p>
            </p:txBody>
          </p:sp>
          <p:sp>
            <p:nvSpPr>
              <p:cNvPr id="26649" name="Rectangle 51"/>
              <p:cNvSpPr>
                <a:spLocks noChangeArrowheads="1"/>
              </p:cNvSpPr>
              <p:nvPr/>
            </p:nvSpPr>
            <p:spPr bwMode="auto">
              <a:xfrm>
                <a:off x="48" y="1680"/>
                <a:ext cx="336" cy="472"/>
              </a:xfrm>
              <a:prstGeom prst="rect">
                <a:avLst/>
              </a:prstGeom>
              <a:noFill/>
              <a:ln w="9525">
                <a:noFill/>
                <a:miter lim="800000"/>
                <a:headEnd/>
                <a:tailEnd/>
              </a:ln>
            </p:spPr>
            <p:txBody>
              <a:bodyPr>
                <a:spAutoFit/>
              </a:bodyPr>
              <a:lstStyle/>
              <a:p>
                <a:pPr eaLnBrk="1" hangingPunct="1"/>
                <a:r>
                  <a:rPr lang="en-US" altLang="zh-CN" sz="1600" b="1" i="1">
                    <a:solidFill>
                      <a:srgbClr val="FF3300"/>
                    </a:solidFill>
                  </a:rPr>
                  <a:t>+</a:t>
                </a:r>
              </a:p>
              <a:p>
                <a:pPr eaLnBrk="1" hangingPunct="1"/>
                <a:r>
                  <a:rPr lang="en-US" altLang="zh-CN" sz="1600" b="1" i="1">
                    <a:solidFill>
                      <a:srgbClr val="FF3300"/>
                    </a:solidFill>
                  </a:rPr>
                  <a:t>u</a:t>
                </a:r>
                <a:r>
                  <a:rPr lang="en-US" altLang="zh-CN" sz="1600" b="1" baseline="-25000">
                    <a:solidFill>
                      <a:srgbClr val="FF3300"/>
                    </a:solidFill>
                  </a:rPr>
                  <a:t>I1</a:t>
                </a:r>
              </a:p>
              <a:p>
                <a:pPr eaLnBrk="1" hangingPunct="1"/>
                <a:r>
                  <a:rPr lang="en-US" altLang="zh-CN" sz="1600" b="1" baseline="-25000">
                    <a:solidFill>
                      <a:srgbClr val="FF3300"/>
                    </a:solidFill>
                  </a:rPr>
                  <a:t>-</a:t>
                </a:r>
              </a:p>
            </p:txBody>
          </p:sp>
          <p:sp>
            <p:nvSpPr>
              <p:cNvPr id="163892" name="Rectangle 52"/>
              <p:cNvSpPr>
                <a:spLocks noChangeArrowheads="1"/>
              </p:cNvSpPr>
              <p:nvPr/>
            </p:nvSpPr>
            <p:spPr bwMode="auto">
              <a:xfrm>
                <a:off x="0" y="2160"/>
                <a:ext cx="319" cy="212"/>
              </a:xfrm>
              <a:prstGeom prst="rect">
                <a:avLst/>
              </a:prstGeom>
              <a:noFill/>
              <a:ln>
                <a:noFill/>
              </a:ln>
              <a:effectLst/>
            </p:spPr>
            <p:txBody>
              <a:bodyPr wrap="none">
                <a:spAutoFit/>
              </a:bodyPr>
              <a:lstStyle/>
              <a:p>
                <a:pPr eaLnBrk="1" hangingPunct="1">
                  <a:defRPr/>
                </a:pPr>
                <a:r>
                  <a:rPr lang="en-US" altLang="zh-CN" sz="1600" b="1" i="1">
                    <a:solidFill>
                      <a:srgbClr val="FF3300"/>
                    </a:solidFill>
                    <a:effectLst>
                      <a:outerShdw blurRad="38100" dist="38100" dir="2700000" algn="tl">
                        <a:srgbClr val="C0C0C0"/>
                      </a:outerShdw>
                    </a:effectLst>
                  </a:rPr>
                  <a:t>V</a:t>
                </a:r>
                <a:r>
                  <a:rPr lang="en-US" altLang="zh-CN" sz="1600" b="1" baseline="-25000">
                    <a:solidFill>
                      <a:srgbClr val="FF3300"/>
                    </a:solidFill>
                    <a:effectLst>
                      <a:outerShdw blurRad="38100" dist="38100" dir="2700000" algn="tl">
                        <a:srgbClr val="C0C0C0"/>
                      </a:outerShdw>
                    </a:effectLst>
                  </a:rPr>
                  <a:t>BB</a:t>
                </a:r>
              </a:p>
            </p:txBody>
          </p:sp>
          <p:sp>
            <p:nvSpPr>
              <p:cNvPr id="163893" name="Rectangle 53"/>
              <p:cNvSpPr>
                <a:spLocks noChangeArrowheads="1"/>
              </p:cNvSpPr>
              <p:nvPr/>
            </p:nvSpPr>
            <p:spPr bwMode="auto">
              <a:xfrm>
                <a:off x="2417" y="2160"/>
                <a:ext cx="319" cy="212"/>
              </a:xfrm>
              <a:prstGeom prst="rect">
                <a:avLst/>
              </a:prstGeom>
              <a:noFill/>
              <a:ln>
                <a:noFill/>
              </a:ln>
              <a:effectLst/>
            </p:spPr>
            <p:txBody>
              <a:bodyPr wrap="none">
                <a:spAutoFit/>
              </a:bodyPr>
              <a:lstStyle/>
              <a:p>
                <a:pPr eaLnBrk="1" hangingPunct="1">
                  <a:defRPr/>
                </a:pPr>
                <a:r>
                  <a:rPr lang="en-US" altLang="zh-CN" sz="1600" b="1" i="1">
                    <a:solidFill>
                      <a:srgbClr val="FF3300"/>
                    </a:solidFill>
                    <a:effectLst>
                      <a:outerShdw blurRad="38100" dist="38100" dir="2700000" algn="tl">
                        <a:srgbClr val="C0C0C0"/>
                      </a:outerShdw>
                    </a:effectLst>
                  </a:rPr>
                  <a:t>V</a:t>
                </a:r>
                <a:r>
                  <a:rPr lang="en-US" altLang="zh-CN" sz="1600" b="1" baseline="-25000">
                    <a:solidFill>
                      <a:srgbClr val="FF3300"/>
                    </a:solidFill>
                    <a:effectLst>
                      <a:outerShdw blurRad="38100" dist="38100" dir="2700000" algn="tl">
                        <a:srgbClr val="C0C0C0"/>
                      </a:outerShdw>
                    </a:effectLst>
                  </a:rPr>
                  <a:t>BB</a:t>
                </a:r>
              </a:p>
            </p:txBody>
          </p:sp>
        </p:grpSp>
      </p:grpSp>
      <p:sp>
        <p:nvSpPr>
          <p:cNvPr id="26629" name="Text Box 60"/>
          <p:cNvSpPr txBox="1">
            <a:spLocks noChangeArrowheads="1"/>
          </p:cNvSpPr>
          <p:nvPr/>
        </p:nvSpPr>
        <p:spPr bwMode="auto">
          <a:xfrm>
            <a:off x="457200" y="762000"/>
            <a:ext cx="4572000" cy="830263"/>
          </a:xfrm>
          <a:prstGeom prst="rect">
            <a:avLst/>
          </a:prstGeom>
          <a:noFill/>
          <a:ln w="9525">
            <a:noFill/>
            <a:miter lim="800000"/>
            <a:headEnd/>
            <a:tailEnd/>
          </a:ln>
        </p:spPr>
        <p:txBody>
          <a:bodyPr>
            <a:spAutoFit/>
          </a:bodyPr>
          <a:lstStyle/>
          <a:p>
            <a:pPr eaLnBrk="1" hangingPunct="1">
              <a:spcBef>
                <a:spcPct val="50000"/>
              </a:spcBef>
            </a:pPr>
            <a:r>
              <a:rPr lang="zh-CN" altLang="en-US" b="1">
                <a:solidFill>
                  <a:schemeClr val="hlink"/>
                </a:solidFill>
              </a:rPr>
              <a:t>采用与图（</a:t>
            </a:r>
            <a:r>
              <a:rPr lang="en-US" altLang="zh-CN" b="1">
                <a:solidFill>
                  <a:schemeClr val="hlink"/>
                </a:solidFill>
              </a:rPr>
              <a:t>a</a:t>
            </a:r>
            <a:r>
              <a:rPr lang="zh-CN" altLang="en-US" b="1">
                <a:solidFill>
                  <a:schemeClr val="hlink"/>
                </a:solidFill>
              </a:rPr>
              <a:t>）所示</a:t>
            </a:r>
            <a:r>
              <a:rPr lang="zh-CN" altLang="en-US" b="1">
                <a:solidFill>
                  <a:srgbClr val="FF0000"/>
                </a:solidFill>
              </a:rPr>
              <a:t>电路参数完全相同，管子特性也相同的电路</a:t>
            </a:r>
          </a:p>
        </p:txBody>
      </p:sp>
      <p:sp>
        <p:nvSpPr>
          <p:cNvPr id="163901" name="Rectangle 61"/>
          <p:cNvSpPr>
            <a:spLocks noChangeArrowheads="1"/>
          </p:cNvSpPr>
          <p:nvPr/>
        </p:nvSpPr>
        <p:spPr bwMode="auto">
          <a:xfrm>
            <a:off x="631825" y="4724400"/>
            <a:ext cx="3254375" cy="366713"/>
          </a:xfrm>
          <a:prstGeom prst="rect">
            <a:avLst/>
          </a:prstGeom>
          <a:noFill/>
          <a:ln w="9525">
            <a:noFill/>
            <a:miter lim="800000"/>
            <a:headEnd/>
            <a:tailEnd/>
          </a:ln>
        </p:spPr>
        <p:txBody>
          <a:bodyPr wrap="none">
            <a:spAutoFit/>
          </a:bodyPr>
          <a:lstStyle/>
          <a:p>
            <a:pPr eaLnBrk="1" hangingPunct="1"/>
            <a:r>
              <a:rPr lang="zh-CN" altLang="en-US" sz="1800" b="1">
                <a:solidFill>
                  <a:srgbClr val="FF00FF"/>
                </a:solidFill>
                <a:ea typeface="黑体" pitchFamily="49" charset="-122"/>
              </a:rPr>
              <a:t>图 </a:t>
            </a:r>
            <a:r>
              <a:rPr lang="en-US" altLang="zh-CN" sz="1800" b="1">
                <a:solidFill>
                  <a:srgbClr val="FF00FF"/>
                </a:solidFill>
                <a:ea typeface="黑体" pitchFamily="49" charset="-122"/>
              </a:rPr>
              <a:t>3.3.2</a:t>
            </a:r>
            <a:r>
              <a:rPr lang="zh-CN" altLang="en-US" sz="1800" b="1">
                <a:solidFill>
                  <a:srgbClr val="FF00FF"/>
                </a:solidFill>
                <a:ea typeface="黑体" pitchFamily="49" charset="-122"/>
              </a:rPr>
              <a:t>差分放大电路的组成</a:t>
            </a:r>
            <a:r>
              <a:rPr lang="en-US" altLang="zh-CN" sz="1800" b="1">
                <a:solidFill>
                  <a:srgbClr val="FF00FF"/>
                </a:solidFill>
                <a:ea typeface="黑体" pitchFamily="49" charset="-122"/>
              </a:rPr>
              <a:t>(c)</a:t>
            </a:r>
          </a:p>
        </p:txBody>
      </p:sp>
      <p:sp>
        <p:nvSpPr>
          <p:cNvPr id="163902" name="Text Box 62"/>
          <p:cNvSpPr txBox="1">
            <a:spLocks noChangeArrowheads="1"/>
          </p:cNvSpPr>
          <p:nvPr/>
        </p:nvSpPr>
        <p:spPr bwMode="auto">
          <a:xfrm>
            <a:off x="381000" y="5257800"/>
            <a:ext cx="3962400" cy="822325"/>
          </a:xfrm>
          <a:prstGeom prst="rect">
            <a:avLst/>
          </a:prstGeom>
          <a:noFill/>
          <a:ln w="9525">
            <a:noFill/>
            <a:miter lim="800000"/>
            <a:headEnd/>
            <a:tailEnd/>
          </a:ln>
        </p:spPr>
        <p:txBody>
          <a:bodyPr>
            <a:spAutoFit/>
          </a:bodyPr>
          <a:lstStyle/>
          <a:p>
            <a:pPr eaLnBrk="1" hangingPunct="1">
              <a:spcBef>
                <a:spcPct val="50000"/>
              </a:spcBef>
            </a:pPr>
            <a:r>
              <a:rPr lang="zh-CN" altLang="en-US" b="1"/>
              <a:t>电路以两只管子集电极电位差为输出，可克服温度漂移。</a:t>
            </a:r>
          </a:p>
        </p:txBody>
      </p:sp>
      <p:sp>
        <p:nvSpPr>
          <p:cNvPr id="163903" name="Text Box 63"/>
          <p:cNvSpPr txBox="1">
            <a:spLocks noChangeArrowheads="1"/>
          </p:cNvSpPr>
          <p:nvPr/>
        </p:nvSpPr>
        <p:spPr bwMode="auto">
          <a:xfrm>
            <a:off x="4800600" y="1676400"/>
            <a:ext cx="3886200" cy="1552575"/>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3300"/>
                </a:solidFill>
              </a:rPr>
              <a:t>共模信号</a:t>
            </a:r>
          </a:p>
          <a:p>
            <a:pPr eaLnBrk="1" hangingPunct="1">
              <a:spcBef>
                <a:spcPct val="50000"/>
              </a:spcBef>
            </a:pPr>
            <a:r>
              <a:rPr lang="zh-CN" altLang="en-US" b="1"/>
              <a:t>输入信号</a:t>
            </a:r>
            <a:r>
              <a:rPr lang="en-US" altLang="zh-CN" b="1" i="1">
                <a:solidFill>
                  <a:srgbClr val="FF3300"/>
                </a:solidFill>
              </a:rPr>
              <a:t>u</a:t>
            </a:r>
            <a:r>
              <a:rPr lang="en-US" altLang="zh-CN" b="1" baseline="-25000">
                <a:solidFill>
                  <a:srgbClr val="FF3300"/>
                </a:solidFill>
              </a:rPr>
              <a:t>I1</a:t>
            </a:r>
            <a:r>
              <a:rPr lang="zh-CN" altLang="en-US" b="1"/>
              <a:t>和</a:t>
            </a:r>
            <a:r>
              <a:rPr lang="en-US" altLang="zh-CN" b="1" i="1">
                <a:solidFill>
                  <a:srgbClr val="FF3300"/>
                </a:solidFill>
              </a:rPr>
              <a:t>u</a:t>
            </a:r>
            <a:r>
              <a:rPr lang="en-US" altLang="zh-CN" b="1" baseline="-25000">
                <a:solidFill>
                  <a:srgbClr val="FF3300"/>
                </a:solidFill>
              </a:rPr>
              <a:t>I2</a:t>
            </a:r>
            <a:r>
              <a:rPr lang="zh-CN" altLang="en-US" b="1"/>
              <a:t>大小相等，</a:t>
            </a:r>
          </a:p>
          <a:p>
            <a:pPr eaLnBrk="1" hangingPunct="1">
              <a:spcBef>
                <a:spcPct val="50000"/>
              </a:spcBef>
            </a:pPr>
            <a:r>
              <a:rPr lang="zh-CN" altLang="en-US" b="1"/>
              <a:t>极性相同。</a:t>
            </a:r>
          </a:p>
        </p:txBody>
      </p:sp>
      <p:sp>
        <p:nvSpPr>
          <p:cNvPr id="163904" name="Text Box 64"/>
          <p:cNvSpPr txBox="1">
            <a:spLocks noChangeArrowheads="1"/>
          </p:cNvSpPr>
          <p:nvPr/>
        </p:nvSpPr>
        <p:spPr bwMode="auto">
          <a:xfrm>
            <a:off x="4876800" y="3552825"/>
            <a:ext cx="3810000" cy="1552575"/>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3300"/>
                </a:solidFill>
              </a:rPr>
              <a:t>差模信号</a:t>
            </a:r>
          </a:p>
          <a:p>
            <a:pPr eaLnBrk="1" hangingPunct="1">
              <a:spcBef>
                <a:spcPct val="50000"/>
              </a:spcBef>
            </a:pPr>
            <a:r>
              <a:rPr lang="zh-CN" altLang="en-US" b="1"/>
              <a:t>输入信号</a:t>
            </a:r>
            <a:r>
              <a:rPr lang="en-US" altLang="zh-CN" b="1" i="1">
                <a:solidFill>
                  <a:srgbClr val="FF3300"/>
                </a:solidFill>
              </a:rPr>
              <a:t>u</a:t>
            </a:r>
            <a:r>
              <a:rPr lang="en-US" altLang="zh-CN" b="1" baseline="-25000">
                <a:solidFill>
                  <a:srgbClr val="FF3300"/>
                </a:solidFill>
              </a:rPr>
              <a:t>I1</a:t>
            </a:r>
            <a:r>
              <a:rPr lang="zh-CN" altLang="en-US" b="1"/>
              <a:t>和</a:t>
            </a:r>
            <a:r>
              <a:rPr lang="en-US" altLang="zh-CN" b="1" i="1">
                <a:solidFill>
                  <a:srgbClr val="FF3300"/>
                </a:solidFill>
              </a:rPr>
              <a:t>u</a:t>
            </a:r>
            <a:r>
              <a:rPr lang="en-US" altLang="zh-CN" b="1" baseline="-25000">
                <a:solidFill>
                  <a:srgbClr val="FF3300"/>
                </a:solidFill>
              </a:rPr>
              <a:t>I2</a:t>
            </a:r>
            <a:r>
              <a:rPr lang="zh-CN" altLang="en-US" b="1"/>
              <a:t>大小相等，</a:t>
            </a:r>
          </a:p>
          <a:p>
            <a:pPr eaLnBrk="1" hangingPunct="1">
              <a:spcBef>
                <a:spcPct val="50000"/>
              </a:spcBef>
            </a:pPr>
            <a:r>
              <a:rPr lang="zh-CN" altLang="en-US" b="1"/>
              <a:t>极性相反。</a:t>
            </a:r>
          </a:p>
        </p:txBody>
      </p:sp>
      <p:sp>
        <p:nvSpPr>
          <p:cNvPr id="163905" name="Text Box 65"/>
          <p:cNvSpPr txBox="1">
            <a:spLocks noChangeArrowheads="1"/>
          </p:cNvSpPr>
          <p:nvPr/>
        </p:nvSpPr>
        <p:spPr bwMode="auto">
          <a:xfrm>
            <a:off x="4953000" y="5334000"/>
            <a:ext cx="2971800" cy="822325"/>
          </a:xfrm>
          <a:prstGeom prst="rect">
            <a:avLst/>
          </a:prstGeom>
          <a:noFill/>
          <a:ln w="9525">
            <a:noFill/>
            <a:miter lim="800000"/>
            <a:headEnd/>
            <a:tailEnd/>
          </a:ln>
        </p:spPr>
        <p:txBody>
          <a:bodyPr>
            <a:spAutoFit/>
          </a:bodyPr>
          <a:lstStyle/>
          <a:p>
            <a:pPr eaLnBrk="1" hangingPunct="1">
              <a:spcBef>
                <a:spcPct val="50000"/>
              </a:spcBef>
            </a:pPr>
            <a:r>
              <a:rPr lang="zh-CN" altLang="en-US" dirty="0">
                <a:solidFill>
                  <a:schemeClr val="hlink"/>
                </a:solidFill>
              </a:rPr>
              <a:t>差</a:t>
            </a:r>
            <a:r>
              <a:rPr lang="zh-CN" altLang="en-US" b="1" dirty="0">
                <a:solidFill>
                  <a:schemeClr val="hlink"/>
                </a:solidFill>
                <a:ea typeface="黑体" pitchFamily="49" charset="-122"/>
              </a:rPr>
              <a:t>分放大电路也称为差动放大电路</a:t>
            </a:r>
          </a:p>
        </p:txBody>
      </p:sp>
      <p:sp>
        <p:nvSpPr>
          <p:cNvPr id="3" name="椭圆 2"/>
          <p:cNvSpPr>
            <a:spLocks noChangeArrowheads="1"/>
          </p:cNvSpPr>
          <p:nvPr/>
        </p:nvSpPr>
        <p:spPr bwMode="auto">
          <a:xfrm>
            <a:off x="1355725" y="3817938"/>
            <a:ext cx="795338" cy="525462"/>
          </a:xfrm>
          <a:prstGeom prst="ellipse">
            <a:avLst/>
          </a:prstGeom>
          <a:noFill/>
          <a:ln w="9525" algn="ctr">
            <a:solidFill>
              <a:srgbClr val="0000FF"/>
            </a:solidFill>
            <a:round/>
            <a:headEnd/>
            <a:tailEnd/>
          </a:ln>
        </p:spPr>
        <p:txBody>
          <a:bodyPr/>
          <a:lstStyle/>
          <a:p>
            <a:pPr algn="ctr" eaLnBrk="1" hangingPunct="1"/>
            <a:endParaRPr lang="zh-CN" altLang="en-US"/>
          </a:p>
        </p:txBody>
      </p:sp>
      <p:sp>
        <p:nvSpPr>
          <p:cNvPr id="54" name="椭圆 53"/>
          <p:cNvSpPr>
            <a:spLocks noChangeArrowheads="1"/>
          </p:cNvSpPr>
          <p:nvPr/>
        </p:nvSpPr>
        <p:spPr bwMode="auto">
          <a:xfrm>
            <a:off x="2706688" y="3871913"/>
            <a:ext cx="796925" cy="525462"/>
          </a:xfrm>
          <a:prstGeom prst="ellipse">
            <a:avLst/>
          </a:prstGeom>
          <a:noFill/>
          <a:ln w="9525" algn="ctr">
            <a:solidFill>
              <a:srgbClr val="0000FF"/>
            </a:solidFill>
            <a:round/>
            <a:headEnd/>
            <a:tailEnd/>
          </a:ln>
        </p:spPr>
        <p:txBody>
          <a:bodyPr/>
          <a:lstStyle/>
          <a:p>
            <a:pPr algn="ctr" eaLnBrk="1" hangingPunct="1"/>
            <a:endParaRPr lang="zh-CN" altLang="en-US"/>
          </a:p>
        </p:txBody>
      </p:sp>
      <p:sp>
        <p:nvSpPr>
          <p:cNvPr id="55" name="椭圆 54"/>
          <p:cNvSpPr>
            <a:spLocks noChangeArrowheads="1"/>
          </p:cNvSpPr>
          <p:nvPr/>
        </p:nvSpPr>
        <p:spPr bwMode="auto">
          <a:xfrm>
            <a:off x="249238" y="4067175"/>
            <a:ext cx="795337" cy="527050"/>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56" name="椭圆 55"/>
          <p:cNvSpPr>
            <a:spLocks noChangeArrowheads="1"/>
          </p:cNvSpPr>
          <p:nvPr/>
        </p:nvSpPr>
        <p:spPr bwMode="auto">
          <a:xfrm>
            <a:off x="3586163" y="4086225"/>
            <a:ext cx="795337" cy="525463"/>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4" name="文本框 3"/>
          <p:cNvSpPr txBox="1">
            <a:spLocks noChangeArrowheads="1"/>
          </p:cNvSpPr>
          <p:nvPr/>
        </p:nvSpPr>
        <p:spPr bwMode="auto">
          <a:xfrm>
            <a:off x="6667500" y="1447800"/>
            <a:ext cx="1774825" cy="708025"/>
          </a:xfrm>
          <a:prstGeom prst="rect">
            <a:avLst/>
          </a:prstGeom>
          <a:solidFill>
            <a:schemeClr val="accent1"/>
          </a:solidFill>
          <a:ln w="9525">
            <a:noFill/>
            <a:miter lim="800000"/>
            <a:headEnd/>
            <a:tailEnd/>
          </a:ln>
        </p:spPr>
        <p:txBody>
          <a:bodyPr>
            <a:spAutoFit/>
          </a:bodyPr>
          <a:lstStyle/>
          <a:p>
            <a:r>
              <a:rPr lang="zh-CN" altLang="en-US" sz="4000">
                <a:latin typeface="华文彩云" pitchFamily="2" charset="-122"/>
                <a:ea typeface="华文彩云" pitchFamily="2" charset="-122"/>
              </a:rPr>
              <a:t>放大？</a:t>
            </a:r>
          </a:p>
        </p:txBody>
      </p:sp>
      <p:sp>
        <p:nvSpPr>
          <p:cNvPr id="58" name="文本框 57"/>
          <p:cNvSpPr txBox="1">
            <a:spLocks noChangeArrowheads="1"/>
          </p:cNvSpPr>
          <p:nvPr/>
        </p:nvSpPr>
        <p:spPr bwMode="auto">
          <a:xfrm>
            <a:off x="6635750" y="3351213"/>
            <a:ext cx="1746250" cy="708025"/>
          </a:xfrm>
          <a:prstGeom prst="rect">
            <a:avLst/>
          </a:prstGeom>
          <a:solidFill>
            <a:schemeClr val="accent1"/>
          </a:solidFill>
          <a:ln w="9525">
            <a:noFill/>
            <a:miter lim="800000"/>
            <a:headEnd/>
            <a:tailEnd/>
          </a:ln>
        </p:spPr>
        <p:txBody>
          <a:bodyPr>
            <a:spAutoFit/>
          </a:bodyPr>
          <a:lstStyle/>
          <a:p>
            <a:r>
              <a:rPr lang="zh-CN" altLang="en-US" sz="4000">
                <a:latin typeface="华文彩云" pitchFamily="2" charset="-122"/>
                <a:ea typeface="华文彩云" pitchFamily="2" charset="-122"/>
              </a:rPr>
              <a:t>放大？</a:t>
            </a:r>
          </a:p>
        </p:txBody>
      </p:sp>
      <p:sp>
        <p:nvSpPr>
          <p:cNvPr id="60" name="文本框 59"/>
          <p:cNvSpPr txBox="1">
            <a:spLocks noChangeArrowheads="1"/>
          </p:cNvSpPr>
          <p:nvPr/>
        </p:nvSpPr>
        <p:spPr bwMode="auto">
          <a:xfrm>
            <a:off x="5029200" y="885825"/>
            <a:ext cx="3810000" cy="400050"/>
          </a:xfrm>
          <a:prstGeom prst="rect">
            <a:avLst/>
          </a:prstGeom>
          <a:solidFill>
            <a:schemeClr val="accent1"/>
          </a:solidFill>
          <a:ln w="9525">
            <a:noFill/>
            <a:miter lim="800000"/>
            <a:headEnd/>
            <a:tailEnd/>
          </a:ln>
        </p:spPr>
        <p:txBody>
          <a:bodyPr>
            <a:spAutoFit/>
          </a:bodyPr>
          <a:lstStyle/>
          <a:p>
            <a:r>
              <a:rPr lang="zh-CN" altLang="en-US" sz="2000" b="1">
                <a:solidFill>
                  <a:srgbClr val="000000"/>
                </a:solidFill>
                <a:ea typeface="楷体_GB2312" pitchFamily="49" charset="-122"/>
              </a:rPr>
              <a:t>当从</a:t>
            </a:r>
            <a:r>
              <a:rPr lang="en-US" altLang="zh-CN" sz="2000" b="1" i="1">
                <a:solidFill>
                  <a:srgbClr val="000000"/>
                </a:solidFill>
                <a:ea typeface="楷体_GB2312" pitchFamily="49" charset="-122"/>
              </a:rPr>
              <a:t>T</a:t>
            </a:r>
            <a:r>
              <a:rPr lang="en-US" altLang="zh-CN" sz="2000" b="1" baseline="-25000">
                <a:solidFill>
                  <a:srgbClr val="000000"/>
                </a:solidFill>
                <a:ea typeface="楷体_GB2312" pitchFamily="49" charset="-122"/>
              </a:rPr>
              <a:t>1</a:t>
            </a:r>
            <a:r>
              <a:rPr lang="zh-CN" altLang="en-US" sz="2000" b="1">
                <a:solidFill>
                  <a:srgbClr val="000000"/>
                </a:solidFill>
                <a:ea typeface="楷体_GB2312" pitchFamily="49" charset="-122"/>
              </a:rPr>
              <a:t>、 </a:t>
            </a:r>
            <a:r>
              <a:rPr lang="en-US" altLang="zh-CN" sz="2000" b="1" i="1">
                <a:solidFill>
                  <a:srgbClr val="000000"/>
                </a:solidFill>
                <a:ea typeface="楷体_GB2312" pitchFamily="49" charset="-122"/>
              </a:rPr>
              <a:t>T</a:t>
            </a:r>
            <a:r>
              <a:rPr lang="en-US" altLang="zh-CN" sz="2000" b="1" baseline="-25000">
                <a:solidFill>
                  <a:srgbClr val="000000"/>
                </a:solidFill>
                <a:ea typeface="楷体_GB2312" pitchFamily="49" charset="-122"/>
              </a:rPr>
              <a:t>2</a:t>
            </a:r>
            <a:r>
              <a:rPr lang="en-US" altLang="zh-CN" sz="2000" b="1">
                <a:solidFill>
                  <a:srgbClr val="000000"/>
                </a:solidFill>
                <a:ea typeface="楷体_GB2312" pitchFamily="49" charset="-122"/>
              </a:rPr>
              <a:t> </a:t>
            </a:r>
            <a:r>
              <a:rPr lang="zh-CN" altLang="en-US" sz="2000" b="1">
                <a:solidFill>
                  <a:srgbClr val="000000"/>
                </a:solidFill>
                <a:ea typeface="楷体_GB2312" pitchFamily="49" charset="-122"/>
              </a:rPr>
              <a:t>集电极输出信号时</a:t>
            </a:r>
            <a:endParaRPr lang="zh-CN" altLang="en-US" sz="2000"/>
          </a:p>
        </p:txBody>
      </p:sp>
      <p:graphicFrame>
        <p:nvGraphicFramePr>
          <p:cNvPr id="61" name="Object 4"/>
          <p:cNvGraphicFramePr>
            <a:graphicFrameLocks noChangeAspect="1"/>
          </p:cNvGraphicFramePr>
          <p:nvPr/>
        </p:nvGraphicFramePr>
        <p:xfrm>
          <a:off x="22225" y="-12700"/>
          <a:ext cx="1974850" cy="1876425"/>
        </p:xfrm>
        <a:graphic>
          <a:graphicData uri="http://schemas.openxmlformats.org/presentationml/2006/ole">
            <mc:AlternateContent xmlns:mc="http://schemas.openxmlformats.org/markup-compatibility/2006">
              <mc:Choice xmlns:v="urn:schemas-microsoft-com:vml" Requires="v">
                <p:oleObj spid="_x0000_s11269" name="Equation" r:id="rId7" imgW="31089600" imgH="29565600" progId="Equation.3">
                  <p:embed/>
                </p:oleObj>
              </mc:Choice>
              <mc:Fallback>
                <p:oleObj name="Equation" r:id="rId7" imgW="31089600" imgH="29565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25" y="-12700"/>
                        <a:ext cx="1974850" cy="1876425"/>
                      </a:xfrm>
                      <a:prstGeom prst="rect">
                        <a:avLst/>
                      </a:prstGeom>
                      <a:solidFill>
                        <a:srgbClr val="66FFFF"/>
                      </a:solidFill>
                      <a:ln w="9525">
                        <a:solidFill>
                          <a:srgbClr val="FF000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3901">
                                            <p:txEl>
                                              <p:pRg st="0" end="0"/>
                                            </p:txEl>
                                          </p:spTgt>
                                        </p:tgtEl>
                                        <p:attrNameLst>
                                          <p:attrName>style.visibility</p:attrName>
                                        </p:attrNameLst>
                                      </p:cBhvr>
                                      <p:to>
                                        <p:strVal val="visible"/>
                                      </p:to>
                                    </p:set>
                                    <p:animEffect transition="in" filter="box(out)">
                                      <p:cBhvr>
                                        <p:cTn id="12" dur="500"/>
                                        <p:tgtEl>
                                          <p:spTgt spid="163901">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3902">
                                            <p:txEl>
                                              <p:pRg st="0" end="0"/>
                                            </p:txEl>
                                          </p:spTgt>
                                        </p:tgtEl>
                                        <p:attrNameLst>
                                          <p:attrName>style.visibility</p:attrName>
                                        </p:attrNameLst>
                                      </p:cBhvr>
                                      <p:to>
                                        <p:strVal val="visible"/>
                                      </p:to>
                                    </p:set>
                                    <p:animEffect transition="in" filter="box(out)">
                                      <p:cBhvr>
                                        <p:cTn id="17" dur="500"/>
                                        <p:tgtEl>
                                          <p:spTgt spid="163902">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3903">
                                            <p:txEl>
                                              <p:pRg st="0" end="0"/>
                                            </p:txEl>
                                          </p:spTgt>
                                        </p:tgtEl>
                                        <p:attrNameLst>
                                          <p:attrName>style.visibility</p:attrName>
                                        </p:attrNameLst>
                                      </p:cBhvr>
                                      <p:to>
                                        <p:strVal val="visible"/>
                                      </p:to>
                                    </p:set>
                                    <p:animEffect transition="in" filter="box(out)">
                                      <p:cBhvr>
                                        <p:cTn id="22" dur="500"/>
                                        <p:tgtEl>
                                          <p:spTgt spid="163903">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63903">
                                            <p:txEl>
                                              <p:pRg st="1" end="1"/>
                                            </p:txEl>
                                          </p:spTgt>
                                        </p:tgtEl>
                                        <p:attrNameLst>
                                          <p:attrName>style.visibility</p:attrName>
                                        </p:attrNameLst>
                                      </p:cBhvr>
                                      <p:to>
                                        <p:strVal val="visible"/>
                                      </p:to>
                                    </p:set>
                                    <p:animEffect transition="in" filter="box(out)">
                                      <p:cBhvr>
                                        <p:cTn id="27" dur="500"/>
                                        <p:tgtEl>
                                          <p:spTgt spid="163903">
                                            <p:txEl>
                                              <p:pRg st="1" end="1"/>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63903">
                                            <p:txEl>
                                              <p:pRg st="2" end="2"/>
                                            </p:txEl>
                                          </p:spTgt>
                                        </p:tgtEl>
                                        <p:attrNameLst>
                                          <p:attrName>style.visibility</p:attrName>
                                        </p:attrNameLst>
                                      </p:cBhvr>
                                      <p:to>
                                        <p:strVal val="visible"/>
                                      </p:to>
                                    </p:set>
                                    <p:animEffect transition="in" filter="box(out)">
                                      <p:cBhvr>
                                        <p:cTn id="32" dur="500"/>
                                        <p:tgtEl>
                                          <p:spTgt spid="163903">
                                            <p:txEl>
                                              <p:pRg st="2" end="2"/>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63904">
                                            <p:txEl>
                                              <p:pRg st="0" end="0"/>
                                            </p:txEl>
                                          </p:spTgt>
                                        </p:tgtEl>
                                        <p:attrNameLst>
                                          <p:attrName>style.visibility</p:attrName>
                                        </p:attrNameLst>
                                      </p:cBhvr>
                                      <p:to>
                                        <p:strVal val="visible"/>
                                      </p:to>
                                    </p:set>
                                    <p:animEffect transition="in" filter="box(out)">
                                      <p:cBhvr>
                                        <p:cTn id="49" dur="500"/>
                                        <p:tgtEl>
                                          <p:spTgt spid="163904">
                                            <p:txEl>
                                              <p:pRg st="0" end="0"/>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4" name="camera.wav"/>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163904">
                                            <p:txEl>
                                              <p:pRg st="1" end="1"/>
                                            </p:txEl>
                                          </p:spTgt>
                                        </p:tgtEl>
                                        <p:attrNameLst>
                                          <p:attrName>style.visibility</p:attrName>
                                        </p:attrNameLst>
                                      </p:cBhvr>
                                      <p:to>
                                        <p:strVal val="visible"/>
                                      </p:to>
                                    </p:set>
                                    <p:animEffect transition="in" filter="box(out)">
                                      <p:cBhvr>
                                        <p:cTn id="54" dur="500"/>
                                        <p:tgtEl>
                                          <p:spTgt spid="163904">
                                            <p:txEl>
                                              <p:pRg st="1" end="1"/>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4" name="camera.wav"/>
                                        </p:tgtEl>
                                      </p:cMediaNode>
                                    </p:audio>
                                  </p:sub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163904">
                                            <p:txEl>
                                              <p:pRg st="2" end="2"/>
                                            </p:txEl>
                                          </p:spTgt>
                                        </p:tgtEl>
                                        <p:attrNameLst>
                                          <p:attrName>style.visibility</p:attrName>
                                        </p:attrNameLst>
                                      </p:cBhvr>
                                      <p:to>
                                        <p:strVal val="visible"/>
                                      </p:to>
                                    </p:set>
                                    <p:animEffect transition="in" filter="box(out)">
                                      <p:cBhvr>
                                        <p:cTn id="59" dur="500"/>
                                        <p:tgtEl>
                                          <p:spTgt spid="163904">
                                            <p:txEl>
                                              <p:pRg st="2" end="2"/>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4" name="camera.wav"/>
                                        </p:tgtEl>
                                      </p:cMediaNode>
                                    </p:audio>
                                  </p:sub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58"/>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63905">
                                            <p:txEl>
                                              <p:pRg st="0" end="0"/>
                                            </p:txEl>
                                          </p:spTgt>
                                        </p:tgtEl>
                                        <p:attrNameLst>
                                          <p:attrName>style.visibility</p:attrName>
                                        </p:attrNameLst>
                                      </p:cBhvr>
                                      <p:to>
                                        <p:strVal val="visible"/>
                                      </p:to>
                                    </p:set>
                                    <p:animEffect transition="in" filter="box(out)">
                                      <p:cBhvr>
                                        <p:cTn id="68" dur="500"/>
                                        <p:tgtEl>
                                          <p:spTgt spid="163905">
                                            <p:txEl>
                                              <p:pRg st="0" end="0"/>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4" name="camera.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1" grpId="0" build="p" autoUpdateAnimBg="0"/>
      <p:bldP spid="163902" grpId="0" build="p" autoUpdateAnimBg="0"/>
      <p:bldP spid="163903" grpId="0" build="p" autoUpdateAnimBg="0"/>
      <p:bldP spid="163904" grpId="0" build="p" autoUpdateAnimBg="0"/>
      <p:bldP spid="163905" grpId="0" build="p" autoUpdateAnimBg="0"/>
      <p:bldP spid="3" grpId="0" animBg="1"/>
      <p:bldP spid="54" grpId="0" animBg="1"/>
      <p:bldP spid="55" grpId="0" animBg="1"/>
      <p:bldP spid="56" grpId="0" animBg="1"/>
      <p:bldP spid="4" grpId="0" animBg="1"/>
      <p:bldP spid="58" grpId="0" animBg="1"/>
      <p:bldP spid="6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4"/>
          <p:cNvSpPr txBox="1">
            <a:spLocks noChangeArrowheads="1"/>
          </p:cNvSpPr>
          <p:nvPr/>
        </p:nvSpPr>
        <p:spPr bwMode="auto">
          <a:xfrm>
            <a:off x="381000" y="762000"/>
            <a:ext cx="4724400" cy="519113"/>
          </a:xfrm>
          <a:prstGeom prst="rect">
            <a:avLst/>
          </a:prstGeom>
          <a:noFill/>
          <a:ln w="9525">
            <a:noFill/>
            <a:miter lim="800000"/>
            <a:headEnd/>
            <a:tailEnd/>
          </a:ln>
        </p:spPr>
        <p:txBody>
          <a:bodyPr>
            <a:spAutoFit/>
          </a:bodyPr>
          <a:lstStyle/>
          <a:p>
            <a:pPr eaLnBrk="1" hangingPunct="1">
              <a:spcBef>
                <a:spcPct val="50000"/>
              </a:spcBef>
            </a:pPr>
            <a:r>
              <a:rPr lang="zh-CN" altLang="en-US" sz="2800" b="1">
                <a:solidFill>
                  <a:schemeClr val="hlink"/>
                </a:solidFill>
                <a:ea typeface="黑体" pitchFamily="49" charset="-122"/>
              </a:rPr>
              <a:t>差分放大电路的改进图</a:t>
            </a:r>
          </a:p>
        </p:txBody>
      </p:sp>
      <p:sp>
        <p:nvSpPr>
          <p:cNvPr id="164983" name="Text Box 119"/>
          <p:cNvSpPr txBox="1">
            <a:spLocks noChangeArrowheads="1"/>
          </p:cNvSpPr>
          <p:nvPr/>
        </p:nvSpPr>
        <p:spPr bwMode="auto">
          <a:xfrm>
            <a:off x="152400" y="5067300"/>
            <a:ext cx="4495800" cy="1384995"/>
          </a:xfrm>
          <a:prstGeom prst="rect">
            <a:avLst/>
          </a:prstGeom>
          <a:noFill/>
          <a:ln>
            <a:noFill/>
          </a:ln>
          <a:effectLst/>
        </p:spPr>
        <p:txBody>
          <a:bodyPr>
            <a:spAutoFit/>
          </a:bodyPr>
          <a:lstStyle/>
          <a:p>
            <a:pPr eaLnBrk="1" hangingPunct="1">
              <a:spcBef>
                <a:spcPct val="50000"/>
              </a:spcBef>
              <a:defRPr/>
            </a:pPr>
            <a:r>
              <a:rPr lang="zh-CN" altLang="en-US" b="1" dirty="0"/>
              <a:t>将发射极电阻合二为一、</a:t>
            </a:r>
          </a:p>
          <a:p>
            <a:pPr eaLnBrk="1" hangingPunct="1">
              <a:spcBef>
                <a:spcPct val="50000"/>
              </a:spcBef>
              <a:defRPr/>
            </a:pPr>
            <a:r>
              <a:rPr lang="zh-CN" altLang="en-US" b="1" dirty="0"/>
              <a:t>为了使信号源与电路共地处理电源</a:t>
            </a:r>
            <a:r>
              <a:rPr lang="en-US" altLang="zh-CN" b="1" dirty="0"/>
              <a:t>V</a:t>
            </a:r>
            <a:r>
              <a:rPr lang="en-US" altLang="zh-CN" sz="1600" b="1" dirty="0"/>
              <a:t>BB</a:t>
            </a:r>
            <a:r>
              <a:rPr lang="zh-CN" altLang="en-US" sz="1600" b="1" dirty="0"/>
              <a:t>，</a:t>
            </a:r>
            <a:r>
              <a:rPr lang="zh-CN" altLang="en-US" b="1" dirty="0"/>
              <a:t>保证有合适的</a:t>
            </a:r>
            <a:r>
              <a:rPr lang="en-US" altLang="zh-CN" b="1" dirty="0"/>
              <a:t>Q</a:t>
            </a:r>
            <a:r>
              <a:rPr lang="zh-CN" altLang="en-US" b="1" dirty="0"/>
              <a:t>。</a:t>
            </a:r>
          </a:p>
        </p:txBody>
      </p:sp>
      <p:grpSp>
        <p:nvGrpSpPr>
          <p:cNvPr id="2" name="Group 122"/>
          <p:cNvGrpSpPr>
            <a:grpSpLocks/>
          </p:cNvGrpSpPr>
          <p:nvPr/>
        </p:nvGrpSpPr>
        <p:grpSpPr bwMode="auto">
          <a:xfrm>
            <a:off x="76200" y="1295400"/>
            <a:ext cx="4724400" cy="3795713"/>
            <a:chOff x="144" y="768"/>
            <a:chExt cx="2976" cy="2391"/>
          </a:xfrm>
        </p:grpSpPr>
        <p:grpSp>
          <p:nvGrpSpPr>
            <p:cNvPr id="27659" name="Group 118"/>
            <p:cNvGrpSpPr>
              <a:grpSpLocks/>
            </p:cNvGrpSpPr>
            <p:nvPr/>
          </p:nvGrpSpPr>
          <p:grpSpPr bwMode="auto">
            <a:xfrm>
              <a:off x="144" y="768"/>
              <a:ext cx="2976" cy="2208"/>
              <a:chOff x="144" y="768"/>
              <a:chExt cx="2976" cy="2208"/>
            </a:xfrm>
          </p:grpSpPr>
          <p:grpSp>
            <p:nvGrpSpPr>
              <p:cNvPr id="27661" name="Group 77"/>
              <p:cNvGrpSpPr>
                <a:grpSpLocks/>
              </p:cNvGrpSpPr>
              <p:nvPr/>
            </p:nvGrpSpPr>
            <p:grpSpPr bwMode="auto">
              <a:xfrm>
                <a:off x="336" y="768"/>
                <a:ext cx="2404" cy="2208"/>
                <a:chOff x="2160" y="720"/>
                <a:chExt cx="2404" cy="2208"/>
              </a:xfrm>
            </p:grpSpPr>
            <p:grpSp>
              <p:nvGrpSpPr>
                <p:cNvPr id="27689" name="Group 60"/>
                <p:cNvGrpSpPr>
                  <a:grpSpLocks/>
                </p:cNvGrpSpPr>
                <p:nvPr/>
              </p:nvGrpSpPr>
              <p:grpSpPr bwMode="auto">
                <a:xfrm>
                  <a:off x="2160" y="720"/>
                  <a:ext cx="2404" cy="2208"/>
                  <a:chOff x="336" y="1008"/>
                  <a:chExt cx="2308" cy="2208"/>
                </a:xfrm>
              </p:grpSpPr>
              <p:grpSp>
                <p:nvGrpSpPr>
                  <p:cNvPr id="27702" name="Group 57"/>
                  <p:cNvGrpSpPr>
                    <a:grpSpLocks/>
                  </p:cNvGrpSpPr>
                  <p:nvPr/>
                </p:nvGrpSpPr>
                <p:grpSpPr bwMode="auto">
                  <a:xfrm>
                    <a:off x="336" y="1008"/>
                    <a:ext cx="2304" cy="2208"/>
                    <a:chOff x="336" y="1008"/>
                    <a:chExt cx="2304" cy="2208"/>
                  </a:xfrm>
                </p:grpSpPr>
                <p:graphicFrame>
                  <p:nvGraphicFramePr>
                    <p:cNvPr id="27650" name="Object 9"/>
                    <p:cNvGraphicFramePr>
                      <a:graphicFrameLocks noChangeAspect="1"/>
                    </p:cNvGraphicFramePr>
                    <p:nvPr/>
                  </p:nvGraphicFramePr>
                  <p:xfrm>
                    <a:off x="336" y="1008"/>
                    <a:ext cx="2304" cy="2208"/>
                  </p:xfrm>
                  <a:graphic>
                    <a:graphicData uri="http://schemas.openxmlformats.org/presentationml/2006/ole">
                      <mc:AlternateContent xmlns:mc="http://schemas.openxmlformats.org/markup-compatibility/2006">
                        <mc:Choice xmlns:v="urn:schemas-microsoft-com:vml" Requires="v">
                          <p:oleObj spid="_x0000_s12291" name="BMP 图象" r:id="rId5" imgW="1695687" imgH="1857143" progId="PBrush">
                            <p:embed/>
                          </p:oleObj>
                        </mc:Choice>
                        <mc:Fallback>
                          <p:oleObj name="BMP 图象" r:id="rId5" imgW="1695687" imgH="1857143" progId="PBrush">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1008"/>
                                  <a:ext cx="2304" cy="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704" name="Text Box 51"/>
                    <p:cNvSpPr txBox="1">
                      <a:spLocks noChangeArrowheads="1"/>
                    </p:cNvSpPr>
                    <p:nvPr/>
                  </p:nvSpPr>
                  <p:spPr bwMode="auto">
                    <a:xfrm>
                      <a:off x="816" y="2391"/>
                      <a:ext cx="1440" cy="633"/>
                    </a:xfrm>
                    <a:prstGeom prst="rect">
                      <a:avLst/>
                    </a:prstGeom>
                    <a:solidFill>
                      <a:schemeClr val="bg1"/>
                    </a:solidFill>
                    <a:ln w="9525">
                      <a:noFill/>
                      <a:miter lim="800000"/>
                      <a:headEnd/>
                      <a:tailEnd/>
                    </a:ln>
                  </p:spPr>
                  <p:txBody>
                    <a:bodyPr>
                      <a:spAutoFit/>
                    </a:bodyPr>
                    <a:lstStyle/>
                    <a:p>
                      <a:pPr eaLnBrk="1" hangingPunct="1">
                        <a:spcBef>
                          <a:spcPct val="50000"/>
                        </a:spcBef>
                      </a:pPr>
                      <a:endParaRPr lang="en-US" altLang="zh-CN"/>
                    </a:p>
                    <a:p>
                      <a:pPr eaLnBrk="1" hangingPunct="1">
                        <a:spcBef>
                          <a:spcPct val="50000"/>
                        </a:spcBef>
                      </a:pPr>
                      <a:endParaRPr lang="en-US" altLang="zh-CN"/>
                    </a:p>
                  </p:txBody>
                </p:sp>
                <p:sp>
                  <p:nvSpPr>
                    <p:cNvPr id="27705" name="Text Box 55"/>
                    <p:cNvSpPr txBox="1">
                      <a:spLocks noChangeArrowheads="1"/>
                    </p:cNvSpPr>
                    <p:nvPr/>
                  </p:nvSpPr>
                  <p:spPr bwMode="auto">
                    <a:xfrm>
                      <a:off x="432" y="1920"/>
                      <a:ext cx="336" cy="288"/>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pSp>
              <p:sp>
                <p:nvSpPr>
                  <p:cNvPr id="27703" name="Text Box 59"/>
                  <p:cNvSpPr txBox="1">
                    <a:spLocks noChangeArrowheads="1"/>
                  </p:cNvSpPr>
                  <p:nvPr/>
                </p:nvSpPr>
                <p:spPr bwMode="auto">
                  <a:xfrm>
                    <a:off x="2256" y="2016"/>
                    <a:ext cx="388" cy="287"/>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pSp>
            <p:sp>
              <p:nvSpPr>
                <p:cNvPr id="27690" name="Rectangle 61"/>
                <p:cNvSpPr>
                  <a:spLocks noChangeArrowheads="1"/>
                </p:cNvSpPr>
                <p:nvPr/>
              </p:nvSpPr>
              <p:spPr bwMode="auto">
                <a:xfrm>
                  <a:off x="4160" y="1824"/>
                  <a:ext cx="150" cy="87"/>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27691" name="Rectangle 62"/>
                <p:cNvSpPr>
                  <a:spLocks noChangeArrowheads="1"/>
                </p:cNvSpPr>
                <p:nvPr/>
              </p:nvSpPr>
              <p:spPr bwMode="auto">
                <a:xfrm>
                  <a:off x="2560" y="1824"/>
                  <a:ext cx="150" cy="87"/>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27692" name="Oval 63"/>
                <p:cNvSpPr>
                  <a:spLocks noChangeArrowheads="1"/>
                </p:cNvSpPr>
                <p:nvPr/>
              </p:nvSpPr>
              <p:spPr bwMode="auto">
                <a:xfrm>
                  <a:off x="2308" y="1872"/>
                  <a:ext cx="52" cy="42"/>
                </a:xfrm>
                <a:prstGeom prst="ellipse">
                  <a:avLst/>
                </a:prstGeom>
                <a:noFill/>
                <a:ln w="38100">
                  <a:solidFill>
                    <a:schemeClr val="tx1"/>
                  </a:solidFill>
                  <a:round/>
                  <a:headEnd/>
                  <a:tailEnd/>
                </a:ln>
              </p:spPr>
              <p:txBody>
                <a:bodyPr wrap="none" anchor="ctr"/>
                <a:lstStyle/>
                <a:p>
                  <a:pPr algn="ctr" eaLnBrk="1" hangingPunct="1"/>
                  <a:endParaRPr lang="zh-CN" altLang="en-US"/>
                </a:p>
              </p:txBody>
            </p:sp>
            <p:sp>
              <p:nvSpPr>
                <p:cNvPr id="27693" name="Oval 64"/>
                <p:cNvSpPr>
                  <a:spLocks noChangeArrowheads="1"/>
                </p:cNvSpPr>
                <p:nvPr/>
              </p:nvSpPr>
              <p:spPr bwMode="auto">
                <a:xfrm>
                  <a:off x="4460" y="1872"/>
                  <a:ext cx="52" cy="42"/>
                </a:xfrm>
                <a:prstGeom prst="ellipse">
                  <a:avLst/>
                </a:prstGeom>
                <a:noFill/>
                <a:ln w="38100">
                  <a:solidFill>
                    <a:schemeClr val="tx1"/>
                  </a:solidFill>
                  <a:round/>
                  <a:headEnd/>
                  <a:tailEnd/>
                </a:ln>
              </p:spPr>
              <p:txBody>
                <a:bodyPr wrap="none" anchor="ctr"/>
                <a:lstStyle/>
                <a:p>
                  <a:pPr algn="ctr" eaLnBrk="1" hangingPunct="1"/>
                  <a:endParaRPr lang="zh-CN" altLang="en-US"/>
                </a:p>
              </p:txBody>
            </p:sp>
            <p:sp>
              <p:nvSpPr>
                <p:cNvPr id="27694" name="Line 65"/>
                <p:cNvSpPr>
                  <a:spLocks noChangeShapeType="1"/>
                </p:cNvSpPr>
                <p:nvPr/>
              </p:nvSpPr>
              <p:spPr bwMode="auto">
                <a:xfrm>
                  <a:off x="2360" y="1872"/>
                  <a:ext cx="200" cy="0"/>
                </a:xfrm>
                <a:prstGeom prst="line">
                  <a:avLst/>
                </a:prstGeom>
                <a:noFill/>
                <a:ln w="9525">
                  <a:solidFill>
                    <a:schemeClr val="tx1"/>
                  </a:solidFill>
                  <a:round/>
                  <a:headEnd/>
                  <a:tailEnd/>
                </a:ln>
              </p:spPr>
              <p:txBody>
                <a:bodyPr/>
                <a:lstStyle/>
                <a:p>
                  <a:endParaRPr lang="zh-CN" altLang="en-US"/>
                </a:p>
              </p:txBody>
            </p:sp>
            <p:sp>
              <p:nvSpPr>
                <p:cNvPr id="27695" name="Line 66"/>
                <p:cNvSpPr>
                  <a:spLocks noChangeShapeType="1"/>
                </p:cNvSpPr>
                <p:nvPr/>
              </p:nvSpPr>
              <p:spPr bwMode="auto">
                <a:xfrm>
                  <a:off x="4310" y="1872"/>
                  <a:ext cx="150" cy="0"/>
                </a:xfrm>
                <a:prstGeom prst="line">
                  <a:avLst/>
                </a:prstGeom>
                <a:noFill/>
                <a:ln w="9525">
                  <a:solidFill>
                    <a:schemeClr val="tx1"/>
                  </a:solidFill>
                  <a:round/>
                  <a:headEnd/>
                  <a:tailEnd/>
                </a:ln>
              </p:spPr>
              <p:txBody>
                <a:bodyPr/>
                <a:lstStyle/>
                <a:p>
                  <a:endParaRPr lang="zh-CN" altLang="en-US"/>
                </a:p>
              </p:txBody>
            </p:sp>
            <p:sp>
              <p:nvSpPr>
                <p:cNvPr id="27696" name="Line 68"/>
                <p:cNvSpPr>
                  <a:spLocks noChangeShapeType="1"/>
                </p:cNvSpPr>
                <p:nvPr/>
              </p:nvSpPr>
              <p:spPr bwMode="auto">
                <a:xfrm>
                  <a:off x="3360" y="2112"/>
                  <a:ext cx="0" cy="432"/>
                </a:xfrm>
                <a:prstGeom prst="line">
                  <a:avLst/>
                </a:prstGeom>
                <a:noFill/>
                <a:ln w="9525">
                  <a:solidFill>
                    <a:schemeClr val="tx1"/>
                  </a:solidFill>
                  <a:round/>
                  <a:headEnd type="oval" w="med" len="med"/>
                  <a:tailEnd type="oval" w="med" len="med"/>
                </a:ln>
              </p:spPr>
              <p:txBody>
                <a:bodyPr/>
                <a:lstStyle/>
                <a:p>
                  <a:endParaRPr lang="zh-CN" altLang="en-US"/>
                </a:p>
              </p:txBody>
            </p:sp>
            <p:sp>
              <p:nvSpPr>
                <p:cNvPr id="27697" name="Rectangle 69"/>
                <p:cNvSpPr>
                  <a:spLocks noChangeArrowheads="1"/>
                </p:cNvSpPr>
                <p:nvPr/>
              </p:nvSpPr>
              <p:spPr bwMode="auto">
                <a:xfrm>
                  <a:off x="3310" y="2256"/>
                  <a:ext cx="100" cy="144"/>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164936" name="Rectangle 72"/>
                <p:cNvSpPr>
                  <a:spLocks noChangeArrowheads="1"/>
                </p:cNvSpPr>
                <p:nvPr/>
              </p:nvSpPr>
              <p:spPr bwMode="auto">
                <a:xfrm>
                  <a:off x="3010" y="2256"/>
                  <a:ext cx="240" cy="212"/>
                </a:xfrm>
                <a:prstGeom prst="rect">
                  <a:avLst/>
                </a:prstGeom>
                <a:noFill/>
                <a:ln>
                  <a:noFill/>
                </a:ln>
                <a:effectLst/>
              </p:spPr>
              <p:txBody>
                <a:bodyPr wrap="none">
                  <a:spAutoFit/>
                </a:bodyPr>
                <a:lstStyle/>
                <a:p>
                  <a:pPr eaLnBrk="1" hangingPunct="1">
                    <a:defRPr/>
                  </a:pPr>
                  <a:r>
                    <a:rPr lang="en-US" altLang="zh-CN" sz="1600" b="1" i="1">
                      <a:effectLst>
                        <a:outerShdw blurRad="38100" dist="38100" dir="2700000" algn="tl">
                          <a:srgbClr val="C0C0C0"/>
                        </a:outerShdw>
                      </a:effectLst>
                    </a:rPr>
                    <a:t>R</a:t>
                  </a:r>
                  <a:r>
                    <a:rPr lang="en-US" altLang="zh-CN" sz="1600" b="1" baseline="-25000">
                      <a:effectLst>
                        <a:outerShdw blurRad="38100" dist="38100" dir="2700000" algn="tl">
                          <a:srgbClr val="C0C0C0"/>
                        </a:outerShdw>
                      </a:effectLst>
                    </a:rPr>
                    <a:t>e</a:t>
                  </a:r>
                </a:p>
              </p:txBody>
            </p:sp>
            <p:sp>
              <p:nvSpPr>
                <p:cNvPr id="164938" name="Rectangle 74"/>
                <p:cNvSpPr>
                  <a:spLocks noChangeArrowheads="1"/>
                </p:cNvSpPr>
                <p:nvPr/>
              </p:nvSpPr>
              <p:spPr bwMode="auto">
                <a:xfrm>
                  <a:off x="2544" y="1536"/>
                  <a:ext cx="294" cy="212"/>
                </a:xfrm>
                <a:prstGeom prst="rect">
                  <a:avLst/>
                </a:prstGeom>
                <a:noFill/>
                <a:ln>
                  <a:noFill/>
                </a:ln>
                <a:effectLst/>
              </p:spPr>
              <p:txBody>
                <a:bodyPr wrap="none">
                  <a:spAutoFit/>
                </a:bodyPr>
                <a:lstStyle/>
                <a:p>
                  <a:pPr eaLnBrk="1" hangingPunct="1">
                    <a:defRPr/>
                  </a:pPr>
                  <a:r>
                    <a:rPr lang="en-US" altLang="zh-CN" sz="1600" b="1" i="1">
                      <a:effectLst>
                        <a:outerShdw blurRad="38100" dist="38100" dir="2700000" algn="tl">
                          <a:srgbClr val="C0C0C0"/>
                        </a:outerShdw>
                      </a:effectLst>
                    </a:rPr>
                    <a:t>R</a:t>
                  </a:r>
                  <a:r>
                    <a:rPr lang="en-US" altLang="zh-CN" sz="1600" b="1" baseline="-25000">
                      <a:effectLst>
                        <a:outerShdw blurRad="38100" dist="38100" dir="2700000" algn="tl">
                          <a:srgbClr val="C0C0C0"/>
                        </a:outerShdw>
                      </a:effectLst>
                    </a:rPr>
                    <a:t>b1</a:t>
                  </a:r>
                </a:p>
              </p:txBody>
            </p:sp>
            <p:sp>
              <p:nvSpPr>
                <p:cNvPr id="164939" name="Rectangle 75"/>
                <p:cNvSpPr>
                  <a:spLocks noChangeArrowheads="1"/>
                </p:cNvSpPr>
                <p:nvPr/>
              </p:nvSpPr>
              <p:spPr bwMode="auto">
                <a:xfrm>
                  <a:off x="4080" y="1536"/>
                  <a:ext cx="294" cy="212"/>
                </a:xfrm>
                <a:prstGeom prst="rect">
                  <a:avLst/>
                </a:prstGeom>
                <a:noFill/>
                <a:ln>
                  <a:noFill/>
                </a:ln>
                <a:effectLst/>
              </p:spPr>
              <p:txBody>
                <a:bodyPr wrap="none">
                  <a:spAutoFit/>
                </a:bodyPr>
                <a:lstStyle/>
                <a:p>
                  <a:pPr eaLnBrk="1" hangingPunct="1">
                    <a:defRPr/>
                  </a:pPr>
                  <a:r>
                    <a:rPr lang="en-US" altLang="zh-CN" sz="1600" b="1" i="1">
                      <a:effectLst>
                        <a:outerShdw blurRad="38100" dist="38100" dir="2700000" algn="tl">
                          <a:srgbClr val="C0C0C0"/>
                        </a:outerShdw>
                      </a:effectLst>
                    </a:rPr>
                    <a:t>R</a:t>
                  </a:r>
                  <a:r>
                    <a:rPr lang="en-US" altLang="zh-CN" sz="1600" b="1" baseline="-25000">
                      <a:effectLst>
                        <a:outerShdw blurRad="38100" dist="38100" dir="2700000" algn="tl">
                          <a:srgbClr val="C0C0C0"/>
                        </a:outerShdw>
                      </a:effectLst>
                    </a:rPr>
                    <a:t>b2</a:t>
                  </a:r>
                </a:p>
              </p:txBody>
            </p:sp>
            <p:sp>
              <p:nvSpPr>
                <p:cNvPr id="27701" name="Line 76"/>
                <p:cNvSpPr>
                  <a:spLocks noChangeShapeType="1"/>
                </p:cNvSpPr>
                <p:nvPr/>
              </p:nvSpPr>
              <p:spPr bwMode="auto">
                <a:xfrm>
                  <a:off x="3024" y="2112"/>
                  <a:ext cx="768" cy="0"/>
                </a:xfrm>
                <a:prstGeom prst="line">
                  <a:avLst/>
                </a:prstGeom>
                <a:noFill/>
                <a:ln w="38100">
                  <a:solidFill>
                    <a:schemeClr val="tx1"/>
                  </a:solidFill>
                  <a:round/>
                  <a:headEnd/>
                  <a:tailEnd/>
                </a:ln>
              </p:spPr>
              <p:txBody>
                <a:bodyPr/>
                <a:lstStyle/>
                <a:p>
                  <a:endParaRPr lang="zh-CN" altLang="en-US"/>
                </a:p>
              </p:txBody>
            </p:sp>
          </p:grpSp>
          <p:grpSp>
            <p:nvGrpSpPr>
              <p:cNvPr id="27662" name="Group 117"/>
              <p:cNvGrpSpPr>
                <a:grpSpLocks/>
              </p:cNvGrpSpPr>
              <p:nvPr/>
            </p:nvGrpSpPr>
            <p:grpSpPr bwMode="auto">
              <a:xfrm>
                <a:off x="144" y="1920"/>
                <a:ext cx="2976" cy="938"/>
                <a:chOff x="144" y="1920"/>
                <a:chExt cx="2976" cy="938"/>
              </a:xfrm>
            </p:grpSpPr>
            <p:grpSp>
              <p:nvGrpSpPr>
                <p:cNvPr id="27663" name="Group 81"/>
                <p:cNvGrpSpPr>
                  <a:grpSpLocks/>
                </p:cNvGrpSpPr>
                <p:nvPr/>
              </p:nvGrpSpPr>
              <p:grpSpPr bwMode="auto">
                <a:xfrm>
                  <a:off x="144" y="1968"/>
                  <a:ext cx="480" cy="792"/>
                  <a:chOff x="864" y="3264"/>
                  <a:chExt cx="480" cy="672"/>
                </a:xfrm>
              </p:grpSpPr>
              <p:grpSp>
                <p:nvGrpSpPr>
                  <p:cNvPr id="27677" name="Group 82"/>
                  <p:cNvGrpSpPr>
                    <a:grpSpLocks/>
                  </p:cNvGrpSpPr>
                  <p:nvPr/>
                </p:nvGrpSpPr>
                <p:grpSpPr bwMode="auto">
                  <a:xfrm>
                    <a:off x="1152" y="3648"/>
                    <a:ext cx="192" cy="288"/>
                    <a:chOff x="4992" y="3168"/>
                    <a:chExt cx="192" cy="288"/>
                  </a:xfrm>
                </p:grpSpPr>
                <p:grpSp>
                  <p:nvGrpSpPr>
                    <p:cNvPr id="27684" name="Group 83"/>
                    <p:cNvGrpSpPr>
                      <a:grpSpLocks/>
                    </p:cNvGrpSpPr>
                    <p:nvPr/>
                  </p:nvGrpSpPr>
                  <p:grpSpPr bwMode="auto">
                    <a:xfrm>
                      <a:off x="4992" y="3312"/>
                      <a:ext cx="192" cy="48"/>
                      <a:chOff x="4992" y="3312"/>
                      <a:chExt cx="192" cy="48"/>
                    </a:xfrm>
                  </p:grpSpPr>
                  <p:sp>
                    <p:nvSpPr>
                      <p:cNvPr id="27687" name="Line 84"/>
                      <p:cNvSpPr>
                        <a:spLocks noChangeShapeType="1"/>
                      </p:cNvSpPr>
                      <p:nvPr/>
                    </p:nvSpPr>
                    <p:spPr bwMode="auto">
                      <a:xfrm>
                        <a:off x="4992" y="3312"/>
                        <a:ext cx="192" cy="0"/>
                      </a:xfrm>
                      <a:prstGeom prst="line">
                        <a:avLst/>
                      </a:prstGeom>
                      <a:noFill/>
                      <a:ln w="38100">
                        <a:solidFill>
                          <a:schemeClr val="tx1"/>
                        </a:solidFill>
                        <a:round/>
                        <a:headEnd/>
                        <a:tailEnd/>
                      </a:ln>
                    </p:spPr>
                    <p:txBody>
                      <a:bodyPr/>
                      <a:lstStyle/>
                      <a:p>
                        <a:endParaRPr lang="zh-CN" altLang="en-US"/>
                      </a:p>
                    </p:txBody>
                  </p:sp>
                  <p:sp>
                    <p:nvSpPr>
                      <p:cNvPr id="27688" name="Line 85"/>
                      <p:cNvSpPr>
                        <a:spLocks noChangeShapeType="1"/>
                      </p:cNvSpPr>
                      <p:nvPr/>
                    </p:nvSpPr>
                    <p:spPr bwMode="auto">
                      <a:xfrm>
                        <a:off x="5040" y="3360"/>
                        <a:ext cx="96" cy="0"/>
                      </a:xfrm>
                      <a:prstGeom prst="line">
                        <a:avLst/>
                      </a:prstGeom>
                      <a:noFill/>
                      <a:ln w="38100">
                        <a:solidFill>
                          <a:schemeClr val="tx1"/>
                        </a:solidFill>
                        <a:round/>
                        <a:headEnd/>
                        <a:tailEnd/>
                      </a:ln>
                    </p:spPr>
                    <p:txBody>
                      <a:bodyPr/>
                      <a:lstStyle/>
                      <a:p>
                        <a:endParaRPr lang="zh-CN" altLang="en-US"/>
                      </a:p>
                    </p:txBody>
                  </p:sp>
                </p:grpSp>
                <p:sp>
                  <p:nvSpPr>
                    <p:cNvPr id="27685" name="Line 86"/>
                    <p:cNvSpPr>
                      <a:spLocks noChangeShapeType="1"/>
                    </p:cNvSpPr>
                    <p:nvPr/>
                  </p:nvSpPr>
                  <p:spPr bwMode="auto">
                    <a:xfrm>
                      <a:off x="5088" y="3168"/>
                      <a:ext cx="0" cy="144"/>
                    </a:xfrm>
                    <a:prstGeom prst="line">
                      <a:avLst/>
                    </a:prstGeom>
                    <a:noFill/>
                    <a:ln w="38100">
                      <a:solidFill>
                        <a:schemeClr val="tx1"/>
                      </a:solidFill>
                      <a:round/>
                      <a:headEnd/>
                      <a:tailEnd/>
                    </a:ln>
                  </p:spPr>
                  <p:txBody>
                    <a:bodyPr/>
                    <a:lstStyle/>
                    <a:p>
                      <a:endParaRPr lang="zh-CN" altLang="en-US"/>
                    </a:p>
                  </p:txBody>
                </p:sp>
                <p:sp>
                  <p:nvSpPr>
                    <p:cNvPr id="27686" name="Line 87"/>
                    <p:cNvSpPr>
                      <a:spLocks noChangeShapeType="1"/>
                    </p:cNvSpPr>
                    <p:nvPr/>
                  </p:nvSpPr>
                  <p:spPr bwMode="auto">
                    <a:xfrm>
                      <a:off x="5088" y="3360"/>
                      <a:ext cx="0" cy="96"/>
                    </a:xfrm>
                    <a:prstGeom prst="line">
                      <a:avLst/>
                    </a:prstGeom>
                    <a:noFill/>
                    <a:ln w="38100">
                      <a:solidFill>
                        <a:schemeClr val="tx1"/>
                      </a:solidFill>
                      <a:round/>
                      <a:headEnd/>
                      <a:tailEnd/>
                    </a:ln>
                  </p:spPr>
                  <p:txBody>
                    <a:bodyPr/>
                    <a:lstStyle/>
                    <a:p>
                      <a:endParaRPr lang="zh-CN" altLang="en-US"/>
                    </a:p>
                  </p:txBody>
                </p:sp>
              </p:grpSp>
              <p:grpSp>
                <p:nvGrpSpPr>
                  <p:cNvPr id="27678" name="Group 88"/>
                  <p:cNvGrpSpPr>
                    <a:grpSpLocks/>
                  </p:cNvGrpSpPr>
                  <p:nvPr/>
                </p:nvGrpSpPr>
                <p:grpSpPr bwMode="auto">
                  <a:xfrm>
                    <a:off x="912" y="3264"/>
                    <a:ext cx="432" cy="480"/>
                    <a:chOff x="912" y="3264"/>
                    <a:chExt cx="432" cy="480"/>
                  </a:xfrm>
                </p:grpSpPr>
                <p:grpSp>
                  <p:nvGrpSpPr>
                    <p:cNvPr id="27680" name="Group 89"/>
                    <p:cNvGrpSpPr>
                      <a:grpSpLocks/>
                    </p:cNvGrpSpPr>
                    <p:nvPr/>
                  </p:nvGrpSpPr>
                  <p:grpSpPr bwMode="auto">
                    <a:xfrm>
                      <a:off x="1152" y="3264"/>
                      <a:ext cx="192" cy="480"/>
                      <a:chOff x="5280" y="2400"/>
                      <a:chExt cx="192" cy="480"/>
                    </a:xfrm>
                  </p:grpSpPr>
                  <p:sp>
                    <p:nvSpPr>
                      <p:cNvPr id="27682" name="Oval 90"/>
                      <p:cNvSpPr>
                        <a:spLocks noChangeArrowheads="1"/>
                      </p:cNvSpPr>
                      <p:nvPr/>
                    </p:nvSpPr>
                    <p:spPr bwMode="auto">
                      <a:xfrm>
                        <a:off x="5280" y="2544"/>
                        <a:ext cx="192" cy="192"/>
                      </a:xfrm>
                      <a:prstGeom prst="ellipse">
                        <a:avLst/>
                      </a:prstGeom>
                      <a:solidFill>
                        <a:schemeClr val="bg1"/>
                      </a:solidFill>
                      <a:ln w="38100">
                        <a:solidFill>
                          <a:schemeClr val="tx1"/>
                        </a:solidFill>
                        <a:round/>
                        <a:headEnd/>
                        <a:tailEnd/>
                      </a:ln>
                    </p:spPr>
                    <p:txBody>
                      <a:bodyPr wrap="none" anchor="ctr"/>
                      <a:lstStyle/>
                      <a:p>
                        <a:pPr algn="ctr" eaLnBrk="1" hangingPunct="1"/>
                        <a:endParaRPr lang="zh-CN" altLang="en-US"/>
                      </a:p>
                    </p:txBody>
                  </p:sp>
                  <p:sp>
                    <p:nvSpPr>
                      <p:cNvPr id="27683" name="Line 91"/>
                      <p:cNvSpPr>
                        <a:spLocks noChangeShapeType="1"/>
                      </p:cNvSpPr>
                      <p:nvPr/>
                    </p:nvSpPr>
                    <p:spPr bwMode="auto">
                      <a:xfrm>
                        <a:off x="5376" y="2400"/>
                        <a:ext cx="0" cy="480"/>
                      </a:xfrm>
                      <a:prstGeom prst="line">
                        <a:avLst/>
                      </a:prstGeom>
                      <a:noFill/>
                      <a:ln w="38100">
                        <a:solidFill>
                          <a:schemeClr val="tx1"/>
                        </a:solidFill>
                        <a:round/>
                        <a:headEnd/>
                        <a:tailEnd/>
                      </a:ln>
                    </p:spPr>
                    <p:txBody>
                      <a:bodyPr/>
                      <a:lstStyle/>
                      <a:p>
                        <a:endParaRPr lang="zh-CN" altLang="en-US"/>
                      </a:p>
                    </p:txBody>
                  </p:sp>
                </p:grpSp>
                <p:sp>
                  <p:nvSpPr>
                    <p:cNvPr id="27681" name="Rectangle 92"/>
                    <p:cNvSpPr>
                      <a:spLocks noChangeArrowheads="1"/>
                    </p:cNvSpPr>
                    <p:nvPr/>
                  </p:nvSpPr>
                  <p:spPr bwMode="auto">
                    <a:xfrm>
                      <a:off x="912" y="3264"/>
                      <a:ext cx="336" cy="400"/>
                    </a:xfrm>
                    <a:prstGeom prst="rect">
                      <a:avLst/>
                    </a:prstGeom>
                    <a:noFill/>
                    <a:ln w="9525">
                      <a:noFill/>
                      <a:miter lim="800000"/>
                      <a:headEnd/>
                      <a:tailEnd/>
                    </a:ln>
                  </p:spPr>
                  <p:txBody>
                    <a:bodyPr>
                      <a:spAutoFit/>
                    </a:bodyPr>
                    <a:lstStyle/>
                    <a:p>
                      <a:pPr eaLnBrk="1" hangingPunct="1"/>
                      <a:r>
                        <a:rPr lang="en-US" altLang="zh-CN" sz="1600" b="1" i="1">
                          <a:solidFill>
                            <a:srgbClr val="FF3300"/>
                          </a:solidFill>
                        </a:rPr>
                        <a:t>+</a:t>
                      </a:r>
                    </a:p>
                    <a:p>
                      <a:pPr eaLnBrk="1" hangingPunct="1"/>
                      <a:r>
                        <a:rPr lang="en-US" altLang="zh-CN" sz="1600" b="1" i="1">
                          <a:solidFill>
                            <a:srgbClr val="FF3300"/>
                          </a:solidFill>
                        </a:rPr>
                        <a:t>u</a:t>
                      </a:r>
                      <a:r>
                        <a:rPr lang="en-US" altLang="zh-CN" sz="1600" b="1" baseline="-25000">
                          <a:solidFill>
                            <a:srgbClr val="FF3300"/>
                          </a:solidFill>
                        </a:rPr>
                        <a:t>I1</a:t>
                      </a:r>
                    </a:p>
                    <a:p>
                      <a:pPr eaLnBrk="1" hangingPunct="1"/>
                      <a:r>
                        <a:rPr lang="en-US" altLang="zh-CN" sz="1600" b="1" baseline="-25000">
                          <a:solidFill>
                            <a:srgbClr val="FF3300"/>
                          </a:solidFill>
                        </a:rPr>
                        <a:t>-</a:t>
                      </a:r>
                    </a:p>
                  </p:txBody>
                </p:sp>
              </p:grpSp>
              <p:sp>
                <p:nvSpPr>
                  <p:cNvPr id="164957" name="Rectangle 93"/>
                  <p:cNvSpPr>
                    <a:spLocks noChangeArrowheads="1"/>
                  </p:cNvSpPr>
                  <p:nvPr/>
                </p:nvSpPr>
                <p:spPr bwMode="auto">
                  <a:xfrm>
                    <a:off x="864" y="3744"/>
                    <a:ext cx="319" cy="180"/>
                  </a:xfrm>
                  <a:prstGeom prst="rect">
                    <a:avLst/>
                  </a:prstGeom>
                  <a:noFill/>
                  <a:ln>
                    <a:noFill/>
                  </a:ln>
                  <a:effectLst/>
                </p:spPr>
                <p:txBody>
                  <a:bodyPr wrap="none">
                    <a:spAutoFit/>
                  </a:bodyPr>
                  <a:lstStyle/>
                  <a:p>
                    <a:pPr eaLnBrk="1" hangingPunct="1">
                      <a:defRPr/>
                    </a:pPr>
                    <a:r>
                      <a:rPr lang="en-US" altLang="zh-CN" sz="1600" b="1" i="1">
                        <a:solidFill>
                          <a:srgbClr val="FF3300"/>
                        </a:solidFill>
                        <a:effectLst>
                          <a:outerShdw blurRad="38100" dist="38100" dir="2700000" algn="tl">
                            <a:srgbClr val="C0C0C0"/>
                          </a:outerShdw>
                        </a:effectLst>
                      </a:rPr>
                      <a:t>V</a:t>
                    </a:r>
                    <a:r>
                      <a:rPr lang="en-US" altLang="zh-CN" sz="1600" b="1" baseline="-25000">
                        <a:solidFill>
                          <a:srgbClr val="FF3300"/>
                        </a:solidFill>
                        <a:effectLst>
                          <a:outerShdw blurRad="38100" dist="38100" dir="2700000" algn="tl">
                            <a:srgbClr val="C0C0C0"/>
                          </a:outerShdw>
                        </a:effectLst>
                      </a:rPr>
                      <a:t>BB</a:t>
                    </a:r>
                  </a:p>
                </p:txBody>
              </p:sp>
            </p:grpSp>
            <p:grpSp>
              <p:nvGrpSpPr>
                <p:cNvPr id="27664" name="Group 95"/>
                <p:cNvGrpSpPr>
                  <a:grpSpLocks/>
                </p:cNvGrpSpPr>
                <p:nvPr/>
              </p:nvGrpSpPr>
              <p:grpSpPr bwMode="auto">
                <a:xfrm>
                  <a:off x="2592" y="1920"/>
                  <a:ext cx="528" cy="576"/>
                  <a:chOff x="3120" y="3216"/>
                  <a:chExt cx="528" cy="528"/>
                </a:xfrm>
              </p:grpSpPr>
              <p:grpSp>
                <p:nvGrpSpPr>
                  <p:cNvPr id="27673" name="Group 96"/>
                  <p:cNvGrpSpPr>
                    <a:grpSpLocks/>
                  </p:cNvGrpSpPr>
                  <p:nvPr/>
                </p:nvGrpSpPr>
                <p:grpSpPr bwMode="auto">
                  <a:xfrm>
                    <a:off x="3120" y="3264"/>
                    <a:ext cx="192" cy="480"/>
                    <a:chOff x="5280" y="2400"/>
                    <a:chExt cx="192" cy="480"/>
                  </a:xfrm>
                </p:grpSpPr>
                <p:sp>
                  <p:nvSpPr>
                    <p:cNvPr id="27675" name="Oval 97"/>
                    <p:cNvSpPr>
                      <a:spLocks noChangeArrowheads="1"/>
                    </p:cNvSpPr>
                    <p:nvPr/>
                  </p:nvSpPr>
                  <p:spPr bwMode="auto">
                    <a:xfrm>
                      <a:off x="5280" y="2544"/>
                      <a:ext cx="192" cy="192"/>
                    </a:xfrm>
                    <a:prstGeom prst="ellipse">
                      <a:avLst/>
                    </a:prstGeom>
                    <a:solidFill>
                      <a:schemeClr val="bg1"/>
                    </a:solidFill>
                    <a:ln w="38100">
                      <a:solidFill>
                        <a:schemeClr val="tx1"/>
                      </a:solidFill>
                      <a:round/>
                      <a:headEnd/>
                      <a:tailEnd/>
                    </a:ln>
                  </p:spPr>
                  <p:txBody>
                    <a:bodyPr wrap="none" anchor="ctr"/>
                    <a:lstStyle/>
                    <a:p>
                      <a:pPr algn="ctr" eaLnBrk="1" hangingPunct="1"/>
                      <a:endParaRPr lang="zh-CN" altLang="en-US"/>
                    </a:p>
                  </p:txBody>
                </p:sp>
                <p:sp>
                  <p:nvSpPr>
                    <p:cNvPr id="27676" name="Line 98"/>
                    <p:cNvSpPr>
                      <a:spLocks noChangeShapeType="1"/>
                    </p:cNvSpPr>
                    <p:nvPr/>
                  </p:nvSpPr>
                  <p:spPr bwMode="auto">
                    <a:xfrm>
                      <a:off x="5376" y="2400"/>
                      <a:ext cx="0" cy="480"/>
                    </a:xfrm>
                    <a:prstGeom prst="line">
                      <a:avLst/>
                    </a:prstGeom>
                    <a:noFill/>
                    <a:ln w="38100">
                      <a:solidFill>
                        <a:schemeClr val="tx1"/>
                      </a:solidFill>
                      <a:round/>
                      <a:headEnd/>
                      <a:tailEnd/>
                    </a:ln>
                  </p:spPr>
                  <p:txBody>
                    <a:bodyPr/>
                    <a:lstStyle/>
                    <a:p>
                      <a:endParaRPr lang="zh-CN" altLang="en-US"/>
                    </a:p>
                  </p:txBody>
                </p:sp>
              </p:grpSp>
              <p:sp>
                <p:nvSpPr>
                  <p:cNvPr id="27674" name="Rectangle 99"/>
                  <p:cNvSpPr>
                    <a:spLocks noChangeArrowheads="1"/>
                  </p:cNvSpPr>
                  <p:nvPr/>
                </p:nvSpPr>
                <p:spPr bwMode="auto">
                  <a:xfrm>
                    <a:off x="3312" y="3216"/>
                    <a:ext cx="336" cy="433"/>
                  </a:xfrm>
                  <a:prstGeom prst="rect">
                    <a:avLst/>
                  </a:prstGeom>
                  <a:noFill/>
                  <a:ln w="9525">
                    <a:noFill/>
                    <a:miter lim="800000"/>
                    <a:headEnd/>
                    <a:tailEnd/>
                  </a:ln>
                </p:spPr>
                <p:txBody>
                  <a:bodyPr>
                    <a:spAutoFit/>
                  </a:bodyPr>
                  <a:lstStyle/>
                  <a:p>
                    <a:pPr eaLnBrk="1" hangingPunct="1"/>
                    <a:r>
                      <a:rPr lang="en-US" altLang="zh-CN" sz="1600" b="1" i="1">
                        <a:solidFill>
                          <a:srgbClr val="FF3300"/>
                        </a:solidFill>
                      </a:rPr>
                      <a:t>-</a:t>
                    </a:r>
                  </a:p>
                  <a:p>
                    <a:pPr eaLnBrk="1" hangingPunct="1"/>
                    <a:r>
                      <a:rPr lang="en-US" altLang="zh-CN" sz="1600" b="1" i="1">
                        <a:solidFill>
                          <a:srgbClr val="FF3300"/>
                        </a:solidFill>
                      </a:rPr>
                      <a:t>u</a:t>
                    </a:r>
                    <a:r>
                      <a:rPr lang="en-US" altLang="zh-CN" sz="1600" b="1" baseline="-25000">
                        <a:solidFill>
                          <a:srgbClr val="FF3300"/>
                        </a:solidFill>
                      </a:rPr>
                      <a:t>I2</a:t>
                    </a:r>
                  </a:p>
                  <a:p>
                    <a:pPr eaLnBrk="1" hangingPunct="1"/>
                    <a:r>
                      <a:rPr lang="en-US" altLang="zh-CN" sz="1600" b="1" baseline="-25000">
                        <a:solidFill>
                          <a:srgbClr val="FF3300"/>
                        </a:solidFill>
                      </a:rPr>
                      <a:t>+</a:t>
                    </a:r>
                  </a:p>
                </p:txBody>
              </p:sp>
            </p:grpSp>
            <p:sp>
              <p:nvSpPr>
                <p:cNvPr id="27665" name="Line 100"/>
                <p:cNvSpPr>
                  <a:spLocks noChangeShapeType="1"/>
                </p:cNvSpPr>
                <p:nvPr/>
              </p:nvSpPr>
              <p:spPr bwMode="auto">
                <a:xfrm>
                  <a:off x="528" y="2496"/>
                  <a:ext cx="2160" cy="0"/>
                </a:xfrm>
                <a:prstGeom prst="line">
                  <a:avLst/>
                </a:prstGeom>
                <a:noFill/>
                <a:ln w="38100">
                  <a:solidFill>
                    <a:srgbClr val="0000FF"/>
                  </a:solidFill>
                  <a:round/>
                  <a:headEnd type="oval" w="med" len="med"/>
                  <a:tailEnd type="oval" w="med" len="med"/>
                </a:ln>
              </p:spPr>
              <p:txBody>
                <a:bodyPr/>
                <a:lstStyle/>
                <a:p>
                  <a:endParaRPr lang="zh-CN" altLang="en-US"/>
                </a:p>
              </p:txBody>
            </p:sp>
            <p:sp>
              <p:nvSpPr>
                <p:cNvPr id="27666" name="Line 110"/>
                <p:cNvSpPr>
                  <a:spLocks noChangeShapeType="1"/>
                </p:cNvSpPr>
                <p:nvPr/>
              </p:nvSpPr>
              <p:spPr bwMode="auto">
                <a:xfrm>
                  <a:off x="1536" y="2592"/>
                  <a:ext cx="0" cy="144"/>
                </a:xfrm>
                <a:prstGeom prst="line">
                  <a:avLst/>
                </a:prstGeom>
                <a:noFill/>
                <a:ln w="9525">
                  <a:solidFill>
                    <a:schemeClr val="tx1"/>
                  </a:solidFill>
                  <a:round/>
                  <a:headEnd/>
                  <a:tailEnd/>
                </a:ln>
              </p:spPr>
              <p:txBody>
                <a:bodyPr/>
                <a:lstStyle/>
                <a:p>
                  <a:endParaRPr lang="zh-CN" altLang="en-US"/>
                </a:p>
              </p:txBody>
            </p:sp>
            <p:sp>
              <p:nvSpPr>
                <p:cNvPr id="27667" name="Line 111"/>
                <p:cNvSpPr>
                  <a:spLocks noChangeShapeType="1"/>
                </p:cNvSpPr>
                <p:nvPr/>
              </p:nvSpPr>
              <p:spPr bwMode="auto">
                <a:xfrm>
                  <a:off x="528" y="2736"/>
                  <a:ext cx="1008" cy="0"/>
                </a:xfrm>
                <a:prstGeom prst="line">
                  <a:avLst/>
                </a:prstGeom>
                <a:noFill/>
                <a:ln w="9525">
                  <a:solidFill>
                    <a:schemeClr val="tx1"/>
                  </a:solidFill>
                  <a:round/>
                  <a:headEnd/>
                  <a:tailEnd/>
                </a:ln>
              </p:spPr>
              <p:txBody>
                <a:bodyPr/>
                <a:lstStyle/>
                <a:p>
                  <a:endParaRPr lang="zh-CN" altLang="en-US"/>
                </a:p>
              </p:txBody>
            </p:sp>
            <p:grpSp>
              <p:nvGrpSpPr>
                <p:cNvPr id="27668" name="Group 112"/>
                <p:cNvGrpSpPr>
                  <a:grpSpLocks/>
                </p:cNvGrpSpPr>
                <p:nvPr/>
              </p:nvGrpSpPr>
              <p:grpSpPr bwMode="auto">
                <a:xfrm>
                  <a:off x="1440" y="2736"/>
                  <a:ext cx="192" cy="122"/>
                  <a:chOff x="3416" y="3238"/>
                  <a:chExt cx="192" cy="122"/>
                </a:xfrm>
              </p:grpSpPr>
              <p:grpSp>
                <p:nvGrpSpPr>
                  <p:cNvPr id="27669" name="Group 113"/>
                  <p:cNvGrpSpPr>
                    <a:grpSpLocks/>
                  </p:cNvGrpSpPr>
                  <p:nvPr/>
                </p:nvGrpSpPr>
                <p:grpSpPr bwMode="auto">
                  <a:xfrm>
                    <a:off x="3416" y="3264"/>
                    <a:ext cx="192" cy="96"/>
                    <a:chOff x="4080" y="4128"/>
                    <a:chExt cx="192" cy="96"/>
                  </a:xfrm>
                </p:grpSpPr>
                <p:sp>
                  <p:nvSpPr>
                    <p:cNvPr id="27671" name="Line 114"/>
                    <p:cNvSpPr>
                      <a:spLocks noChangeShapeType="1"/>
                    </p:cNvSpPr>
                    <p:nvPr/>
                  </p:nvSpPr>
                  <p:spPr bwMode="auto">
                    <a:xfrm>
                      <a:off x="4176" y="4128"/>
                      <a:ext cx="0" cy="96"/>
                    </a:xfrm>
                    <a:prstGeom prst="line">
                      <a:avLst/>
                    </a:prstGeom>
                    <a:noFill/>
                    <a:ln w="28575">
                      <a:solidFill>
                        <a:srgbClr val="000000"/>
                      </a:solidFill>
                      <a:round/>
                      <a:headEnd/>
                      <a:tailEnd/>
                    </a:ln>
                  </p:spPr>
                  <p:txBody>
                    <a:bodyPr wrap="none" anchor="ctr"/>
                    <a:lstStyle/>
                    <a:p>
                      <a:endParaRPr lang="zh-CN" altLang="en-US"/>
                    </a:p>
                  </p:txBody>
                </p:sp>
                <p:sp>
                  <p:nvSpPr>
                    <p:cNvPr id="27672" name="Line 115"/>
                    <p:cNvSpPr>
                      <a:spLocks noChangeShapeType="1"/>
                    </p:cNvSpPr>
                    <p:nvPr/>
                  </p:nvSpPr>
                  <p:spPr bwMode="auto">
                    <a:xfrm>
                      <a:off x="4080" y="4224"/>
                      <a:ext cx="192" cy="0"/>
                    </a:xfrm>
                    <a:prstGeom prst="line">
                      <a:avLst/>
                    </a:prstGeom>
                    <a:noFill/>
                    <a:ln w="38100">
                      <a:solidFill>
                        <a:srgbClr val="000000"/>
                      </a:solidFill>
                      <a:round/>
                      <a:headEnd/>
                      <a:tailEnd/>
                    </a:ln>
                  </p:spPr>
                  <p:txBody>
                    <a:bodyPr wrap="none" anchor="ctr"/>
                    <a:lstStyle/>
                    <a:p>
                      <a:endParaRPr lang="zh-CN" altLang="en-US"/>
                    </a:p>
                  </p:txBody>
                </p:sp>
              </p:grpSp>
              <p:sp>
                <p:nvSpPr>
                  <p:cNvPr id="27670" name="Oval 116"/>
                  <p:cNvSpPr>
                    <a:spLocks noChangeArrowheads="1"/>
                  </p:cNvSpPr>
                  <p:nvPr/>
                </p:nvSpPr>
                <p:spPr bwMode="auto">
                  <a:xfrm>
                    <a:off x="3484" y="3238"/>
                    <a:ext cx="48" cy="48"/>
                  </a:xfrm>
                  <a:prstGeom prst="ellipse">
                    <a:avLst/>
                  </a:prstGeom>
                  <a:solidFill>
                    <a:schemeClr val="tx1"/>
                  </a:solidFill>
                  <a:ln w="28575">
                    <a:solidFill>
                      <a:schemeClr val="tx1"/>
                    </a:solidFill>
                    <a:round/>
                    <a:headEnd/>
                    <a:tailEnd/>
                  </a:ln>
                </p:spPr>
                <p:txBody>
                  <a:bodyPr wrap="none" anchor="ctr"/>
                  <a:lstStyle/>
                  <a:p>
                    <a:pPr algn="ctr" eaLnBrk="1" hangingPunct="1"/>
                    <a:endParaRPr lang="zh-CN" altLang="en-US"/>
                  </a:p>
                </p:txBody>
              </p:sp>
            </p:grpSp>
          </p:grpSp>
        </p:grpSp>
        <p:sp>
          <p:nvSpPr>
            <p:cNvPr id="27660" name="Rectangle 120"/>
            <p:cNvSpPr>
              <a:spLocks noChangeArrowheads="1"/>
            </p:cNvSpPr>
            <p:nvPr/>
          </p:nvSpPr>
          <p:spPr bwMode="auto">
            <a:xfrm>
              <a:off x="384" y="2928"/>
              <a:ext cx="2066" cy="231"/>
            </a:xfrm>
            <a:prstGeom prst="rect">
              <a:avLst/>
            </a:prstGeom>
            <a:noFill/>
            <a:ln w="9525">
              <a:noFill/>
              <a:miter lim="800000"/>
              <a:headEnd/>
              <a:tailEnd/>
            </a:ln>
          </p:spPr>
          <p:txBody>
            <a:bodyPr wrap="none">
              <a:spAutoFit/>
            </a:bodyPr>
            <a:lstStyle/>
            <a:p>
              <a:pPr eaLnBrk="1" hangingPunct="1"/>
              <a:r>
                <a:rPr lang="zh-CN" altLang="en-US" sz="1800" b="1">
                  <a:solidFill>
                    <a:srgbClr val="FF00FF"/>
                  </a:solidFill>
                  <a:ea typeface="黑体" pitchFamily="49" charset="-122"/>
                </a:rPr>
                <a:t>图 </a:t>
              </a:r>
              <a:r>
                <a:rPr lang="en-US" altLang="zh-CN" sz="1800" b="1">
                  <a:solidFill>
                    <a:srgbClr val="FF00FF"/>
                  </a:solidFill>
                  <a:ea typeface="黑体" pitchFamily="49" charset="-122"/>
                </a:rPr>
                <a:t>3.3.2</a:t>
              </a:r>
              <a:r>
                <a:rPr lang="zh-CN" altLang="en-US" sz="1800" b="1">
                  <a:solidFill>
                    <a:srgbClr val="FF00FF"/>
                  </a:solidFill>
                  <a:ea typeface="黑体" pitchFamily="49" charset="-122"/>
                </a:rPr>
                <a:t>差分放大电路的组成</a:t>
              </a:r>
              <a:r>
                <a:rPr lang="en-US" altLang="zh-CN" sz="1800" b="1">
                  <a:solidFill>
                    <a:srgbClr val="FF00FF"/>
                  </a:solidFill>
                  <a:ea typeface="黑体" pitchFamily="49" charset="-122"/>
                </a:rPr>
                <a:t>(d)</a:t>
              </a:r>
            </a:p>
          </p:txBody>
        </p:sp>
      </p:grpSp>
      <p:sp>
        <p:nvSpPr>
          <p:cNvPr id="164988" name="Text Box 124"/>
          <p:cNvSpPr txBox="1">
            <a:spLocks noChangeArrowheads="1"/>
          </p:cNvSpPr>
          <p:nvPr/>
        </p:nvSpPr>
        <p:spPr bwMode="auto">
          <a:xfrm>
            <a:off x="5410200" y="762000"/>
            <a:ext cx="3124200" cy="519113"/>
          </a:xfrm>
          <a:prstGeom prst="rect">
            <a:avLst/>
          </a:prstGeom>
          <a:noFill/>
          <a:ln w="9525">
            <a:noFill/>
            <a:miter lim="800000"/>
            <a:headEnd/>
            <a:tailEnd/>
          </a:ln>
        </p:spPr>
        <p:txBody>
          <a:bodyPr>
            <a:spAutoFit/>
          </a:bodyPr>
          <a:lstStyle/>
          <a:p>
            <a:pPr eaLnBrk="1" hangingPunct="1">
              <a:spcBef>
                <a:spcPct val="50000"/>
              </a:spcBef>
            </a:pPr>
            <a:r>
              <a:rPr lang="zh-CN" altLang="en-US" sz="2800" b="1">
                <a:solidFill>
                  <a:schemeClr val="hlink"/>
                </a:solidFill>
                <a:ea typeface="黑体" pitchFamily="49" charset="-122"/>
              </a:rPr>
              <a:t>典型差分放大电路</a:t>
            </a:r>
          </a:p>
        </p:txBody>
      </p:sp>
      <p:sp>
        <p:nvSpPr>
          <p:cNvPr id="165047" name="Rectangle 183"/>
          <p:cNvSpPr>
            <a:spLocks noChangeArrowheads="1"/>
          </p:cNvSpPr>
          <p:nvPr/>
        </p:nvSpPr>
        <p:spPr bwMode="auto">
          <a:xfrm>
            <a:off x="5181600" y="5105400"/>
            <a:ext cx="2941638" cy="457200"/>
          </a:xfrm>
          <a:prstGeom prst="rect">
            <a:avLst/>
          </a:prstGeom>
          <a:noFill/>
          <a:ln w="9525">
            <a:noFill/>
            <a:miter lim="800000"/>
            <a:headEnd/>
            <a:tailEnd/>
          </a:ln>
        </p:spPr>
        <p:txBody>
          <a:bodyPr wrap="none">
            <a:spAutoFit/>
          </a:bodyPr>
          <a:lstStyle/>
          <a:p>
            <a:pPr algn="ctr" eaLnBrk="1" hangingPunct="1"/>
            <a:r>
              <a:rPr lang="zh-CN" altLang="en-US" b="1"/>
              <a:t>长尾式差分放大电路</a:t>
            </a:r>
          </a:p>
        </p:txBody>
      </p:sp>
      <p:sp>
        <p:nvSpPr>
          <p:cNvPr id="165048" name="Text Box 184"/>
          <p:cNvSpPr txBox="1">
            <a:spLocks noChangeArrowheads="1"/>
          </p:cNvSpPr>
          <p:nvPr/>
        </p:nvSpPr>
        <p:spPr bwMode="auto">
          <a:xfrm>
            <a:off x="5181600" y="5638800"/>
            <a:ext cx="3200400" cy="830263"/>
          </a:xfrm>
          <a:prstGeom prst="rect">
            <a:avLst/>
          </a:prstGeom>
          <a:noFill/>
          <a:ln w="9525">
            <a:noFill/>
            <a:miter lim="800000"/>
            <a:headEnd/>
            <a:tailEnd/>
          </a:ln>
        </p:spPr>
        <p:txBody>
          <a:bodyPr>
            <a:spAutoFit/>
          </a:bodyPr>
          <a:lstStyle/>
          <a:p>
            <a:pPr eaLnBrk="1" hangingPunct="1">
              <a:spcBef>
                <a:spcPct val="50000"/>
              </a:spcBef>
            </a:pPr>
            <a:r>
              <a:rPr lang="zh-CN" altLang="en-US" b="1"/>
              <a:t>便于</a:t>
            </a:r>
            <a:r>
              <a:rPr lang="zh-CN" altLang="en-US" b="1">
                <a:solidFill>
                  <a:srgbClr val="FF0000"/>
                </a:solidFill>
              </a:rPr>
              <a:t>调节静态工作点</a:t>
            </a:r>
            <a:r>
              <a:rPr lang="zh-CN" altLang="en-US" b="1"/>
              <a:t>，</a:t>
            </a:r>
            <a:r>
              <a:rPr lang="zh-CN" altLang="en-US" b="1">
                <a:solidFill>
                  <a:srgbClr val="0000FF"/>
                </a:solidFill>
              </a:rPr>
              <a:t>电源和信号源能共地</a:t>
            </a:r>
          </a:p>
        </p:txBody>
      </p:sp>
      <p:pic>
        <p:nvPicPr>
          <p:cNvPr id="99" name="Picture 3" descr="Dz030303"/>
          <p:cNvPicPr>
            <a:picLocks noGrp="1" noChangeAspect="1" noChangeArrowheads="1"/>
          </p:cNvPicPr>
          <p:nvPr>
            <p:ph sz="half" idx="1"/>
          </p:nvPr>
        </p:nvPicPr>
        <p:blipFill>
          <a:blip r:embed="rId7"/>
          <a:srcRect/>
          <a:stretch>
            <a:fillRect/>
          </a:stretch>
        </p:blipFill>
        <p:spPr>
          <a:xfrm>
            <a:off x="4886325" y="1808163"/>
            <a:ext cx="3743325" cy="2770187"/>
          </a:xfr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4983">
                                            <p:txEl>
                                              <p:pRg st="0" end="0"/>
                                            </p:txEl>
                                          </p:spTgt>
                                        </p:tgtEl>
                                        <p:attrNameLst>
                                          <p:attrName>style.visibility</p:attrName>
                                        </p:attrNameLst>
                                      </p:cBhvr>
                                      <p:to>
                                        <p:strVal val="visible"/>
                                      </p:to>
                                    </p:set>
                                    <p:animEffect transition="in" filter="box(out)">
                                      <p:cBhvr>
                                        <p:cTn id="12" dur="500"/>
                                        <p:tgtEl>
                                          <p:spTgt spid="164983">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4983">
                                            <p:txEl>
                                              <p:pRg st="1" end="1"/>
                                            </p:txEl>
                                          </p:spTgt>
                                        </p:tgtEl>
                                        <p:attrNameLst>
                                          <p:attrName>style.visibility</p:attrName>
                                        </p:attrNameLst>
                                      </p:cBhvr>
                                      <p:to>
                                        <p:strVal val="visible"/>
                                      </p:to>
                                    </p:set>
                                    <p:animEffect transition="in" filter="box(out)">
                                      <p:cBhvr>
                                        <p:cTn id="17" dur="500"/>
                                        <p:tgtEl>
                                          <p:spTgt spid="164983">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4988">
                                            <p:txEl>
                                              <p:pRg st="0" end="0"/>
                                            </p:txEl>
                                          </p:spTgt>
                                        </p:tgtEl>
                                        <p:attrNameLst>
                                          <p:attrName>style.visibility</p:attrName>
                                        </p:attrNameLst>
                                      </p:cBhvr>
                                      <p:to>
                                        <p:strVal val="visible"/>
                                      </p:to>
                                    </p:set>
                                    <p:animEffect transition="in" filter="box(out)">
                                      <p:cBhvr>
                                        <p:cTn id="22" dur="500"/>
                                        <p:tgtEl>
                                          <p:spTgt spid="164988">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65047">
                                            <p:txEl>
                                              <p:pRg st="0" end="0"/>
                                            </p:txEl>
                                          </p:spTgt>
                                        </p:tgtEl>
                                        <p:attrNameLst>
                                          <p:attrName>style.visibility</p:attrName>
                                        </p:attrNameLst>
                                      </p:cBhvr>
                                      <p:to>
                                        <p:strVal val="visible"/>
                                      </p:to>
                                    </p:set>
                                    <p:animEffect transition="in" filter="box(out)">
                                      <p:cBhvr>
                                        <p:cTn id="27" dur="500"/>
                                        <p:tgtEl>
                                          <p:spTgt spid="165047">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65048">
                                            <p:txEl>
                                              <p:pRg st="0" end="0"/>
                                            </p:txEl>
                                          </p:spTgt>
                                        </p:tgtEl>
                                        <p:attrNameLst>
                                          <p:attrName>style.visibility</p:attrName>
                                        </p:attrNameLst>
                                      </p:cBhvr>
                                      <p:to>
                                        <p:strVal val="visible"/>
                                      </p:to>
                                    </p:set>
                                    <p:animEffect transition="in" filter="box(out)">
                                      <p:cBhvr>
                                        <p:cTn id="32" dur="500"/>
                                        <p:tgtEl>
                                          <p:spTgt spid="16504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99"/>
                                        </p:tgtEl>
                                        <p:attrNameLst>
                                          <p:attrName>style.visibility</p:attrName>
                                        </p:attrNameLst>
                                      </p:cBhvr>
                                      <p:to>
                                        <p:strVal val="visible"/>
                                      </p:to>
                                    </p:set>
                                    <p:animEffect transition="in" filter="blinds(horizontal)">
                                      <p:cBhvr>
                                        <p:cTn id="3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83" grpId="0" build="p" autoUpdateAnimBg="0"/>
      <p:bldP spid="164988" grpId="0" build="p" autoUpdateAnimBg="0"/>
      <p:bldP spid="165047" grpId="0" build="p" autoUpdateAnimBg="0"/>
      <p:bldP spid="165048"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119"/>
          <p:cNvSpPr txBox="1">
            <a:spLocks noChangeArrowheads="1"/>
          </p:cNvSpPr>
          <p:nvPr/>
        </p:nvSpPr>
        <p:spPr bwMode="auto">
          <a:xfrm>
            <a:off x="0" y="3200400"/>
            <a:ext cx="3641725" cy="1016000"/>
          </a:xfrm>
          <a:prstGeom prst="rect">
            <a:avLst/>
          </a:prstGeom>
          <a:solidFill>
            <a:schemeClr val="accent1">
              <a:lumMod val="60000"/>
              <a:lumOff val="40000"/>
            </a:schemeClr>
          </a:solidFill>
          <a:ln>
            <a:noFill/>
          </a:ln>
          <a:effectLst/>
        </p:spPr>
        <p:txBody>
          <a:bodyPr>
            <a:spAutoFit/>
          </a:bodyPr>
          <a:lstStyle/>
          <a:p>
            <a:pPr eaLnBrk="1" hangingPunct="1">
              <a:spcBef>
                <a:spcPct val="50000"/>
              </a:spcBef>
              <a:defRPr/>
            </a:pPr>
            <a:r>
              <a:rPr lang="zh-CN" altLang="en-US" b="1" dirty="0"/>
              <a:t>将发射极电阻合二为一、</a:t>
            </a:r>
          </a:p>
          <a:p>
            <a:pPr eaLnBrk="1" hangingPunct="1">
              <a:spcBef>
                <a:spcPct val="50000"/>
              </a:spcBef>
              <a:defRPr/>
            </a:pPr>
            <a:r>
              <a:rPr lang="zh-CN" altLang="en-US" b="1" dirty="0"/>
              <a:t>对</a:t>
            </a:r>
            <a:r>
              <a:rPr lang="zh-CN" altLang="en-US" b="1" dirty="0">
                <a:solidFill>
                  <a:srgbClr val="FF0000"/>
                </a:solidFill>
              </a:rPr>
              <a:t>差模信号</a:t>
            </a:r>
            <a:r>
              <a:rPr lang="en-US" altLang="zh-CN" b="1" i="1" dirty="0">
                <a:solidFill>
                  <a:srgbClr val="FF0000"/>
                </a:solidFill>
                <a:effectLst>
                  <a:outerShdw blurRad="38100" dist="38100" dir="2700000" algn="tl">
                    <a:srgbClr val="C0C0C0"/>
                  </a:outerShdw>
                </a:effectLst>
              </a:rPr>
              <a:t>R</a:t>
            </a:r>
            <a:r>
              <a:rPr lang="en-US" altLang="zh-CN" b="1" baseline="-25000" dirty="0">
                <a:solidFill>
                  <a:srgbClr val="FF0000"/>
                </a:solidFill>
                <a:effectLst>
                  <a:outerShdw blurRad="38100" dist="38100" dir="2700000" algn="tl">
                    <a:srgbClr val="C0C0C0"/>
                  </a:outerShdw>
                </a:effectLst>
              </a:rPr>
              <a:t>e</a:t>
            </a:r>
            <a:r>
              <a:rPr lang="zh-CN" altLang="en-US" b="1" dirty="0">
                <a:solidFill>
                  <a:srgbClr val="FF0000"/>
                </a:solidFill>
              </a:rPr>
              <a:t>相当于短路</a:t>
            </a:r>
            <a:r>
              <a:rPr lang="zh-CN" altLang="en-US" b="1" dirty="0"/>
              <a:t>。</a:t>
            </a:r>
          </a:p>
        </p:txBody>
      </p:sp>
      <p:pic>
        <p:nvPicPr>
          <p:cNvPr id="121859" name="Picture 2" descr="Dz030302"/>
          <p:cNvPicPr>
            <a:picLocks noChangeAspect="1" noChangeArrowheads="1"/>
          </p:cNvPicPr>
          <p:nvPr/>
        </p:nvPicPr>
        <p:blipFill>
          <a:blip r:embed="rId3"/>
          <a:srcRect l="6886" r="56958" b="69925"/>
          <a:stretch>
            <a:fillRect/>
          </a:stretch>
        </p:blipFill>
        <p:spPr bwMode="auto">
          <a:xfrm>
            <a:off x="0" y="708025"/>
            <a:ext cx="2667000" cy="2540000"/>
          </a:xfrm>
          <a:prstGeom prst="rect">
            <a:avLst/>
          </a:prstGeom>
          <a:noFill/>
          <a:ln w="9525">
            <a:noFill/>
            <a:miter lim="800000"/>
            <a:headEnd/>
            <a:tailEnd/>
          </a:ln>
        </p:spPr>
      </p:pic>
      <p:pic>
        <p:nvPicPr>
          <p:cNvPr id="34819" name="Picture 3" descr="Dz030302"/>
          <p:cNvPicPr>
            <a:picLocks noChangeAspect="1" noChangeArrowheads="1"/>
          </p:cNvPicPr>
          <p:nvPr/>
        </p:nvPicPr>
        <p:blipFill>
          <a:blip r:embed="rId3"/>
          <a:srcRect l="51317" r="7030" b="69925"/>
          <a:stretch>
            <a:fillRect/>
          </a:stretch>
        </p:blipFill>
        <p:spPr bwMode="auto">
          <a:xfrm>
            <a:off x="2627313" y="815975"/>
            <a:ext cx="2998787" cy="2478088"/>
          </a:xfrm>
          <a:prstGeom prst="rect">
            <a:avLst/>
          </a:prstGeom>
          <a:noFill/>
          <a:ln w="9525">
            <a:noFill/>
            <a:miter lim="800000"/>
            <a:headEnd/>
            <a:tailEnd/>
          </a:ln>
        </p:spPr>
      </p:pic>
      <p:pic>
        <p:nvPicPr>
          <p:cNvPr id="34820" name="Picture 4" descr="Dz030302"/>
          <p:cNvPicPr>
            <a:picLocks noChangeAspect="1" noChangeArrowheads="1"/>
          </p:cNvPicPr>
          <p:nvPr/>
        </p:nvPicPr>
        <p:blipFill>
          <a:blip r:embed="rId3"/>
          <a:srcRect l="24103" t="33083" r="22525" b="36842"/>
          <a:stretch>
            <a:fillRect/>
          </a:stretch>
        </p:blipFill>
        <p:spPr bwMode="auto">
          <a:xfrm>
            <a:off x="5486400" y="889000"/>
            <a:ext cx="3657600" cy="2360613"/>
          </a:xfrm>
          <a:prstGeom prst="rect">
            <a:avLst/>
          </a:prstGeom>
          <a:noFill/>
          <a:ln w="9525">
            <a:noFill/>
            <a:miter lim="800000"/>
            <a:headEnd/>
            <a:tailEnd/>
          </a:ln>
        </p:spPr>
      </p:pic>
      <p:pic>
        <p:nvPicPr>
          <p:cNvPr id="34821" name="Picture 5" descr="Dz030302"/>
          <p:cNvPicPr>
            <a:picLocks noChangeAspect="1" noChangeArrowheads="1"/>
          </p:cNvPicPr>
          <p:nvPr/>
        </p:nvPicPr>
        <p:blipFill>
          <a:blip r:embed="rId3"/>
          <a:srcRect t="66165" r="50072" b="2255"/>
          <a:stretch>
            <a:fillRect/>
          </a:stretch>
        </p:blipFill>
        <p:spPr bwMode="auto">
          <a:xfrm>
            <a:off x="242888" y="4175125"/>
            <a:ext cx="3330575" cy="2413000"/>
          </a:xfrm>
          <a:prstGeom prst="rect">
            <a:avLst/>
          </a:prstGeom>
          <a:noFill/>
          <a:ln w="9525">
            <a:noFill/>
            <a:miter lim="800000"/>
            <a:headEnd/>
            <a:tailEnd/>
          </a:ln>
        </p:spPr>
      </p:pic>
      <p:sp>
        <p:nvSpPr>
          <p:cNvPr id="34822" name="AutoShape 6"/>
          <p:cNvSpPr>
            <a:spLocks/>
          </p:cNvSpPr>
          <p:nvPr/>
        </p:nvSpPr>
        <p:spPr bwMode="auto">
          <a:xfrm>
            <a:off x="0" y="744538"/>
            <a:ext cx="1422400" cy="381000"/>
          </a:xfrm>
          <a:prstGeom prst="borderCallout2">
            <a:avLst>
              <a:gd name="adj1" fmla="val 30000"/>
              <a:gd name="adj2" fmla="val 105356"/>
              <a:gd name="adj3" fmla="val 30000"/>
              <a:gd name="adj4" fmla="val 132144"/>
              <a:gd name="adj5" fmla="val 346667"/>
              <a:gd name="adj6" fmla="val 159819"/>
            </a:avLst>
          </a:prstGeom>
          <a:solidFill>
            <a:srgbClr val="FFFFCC"/>
          </a:solidFill>
          <a:ln w="19050">
            <a:solidFill>
              <a:srgbClr val="FF3300"/>
            </a:solidFill>
            <a:miter lim="800000"/>
            <a:headEnd/>
            <a:tailEnd/>
          </a:ln>
        </p:spPr>
        <p:txBody>
          <a:bodyPr/>
          <a:lstStyle/>
          <a:p>
            <a:pPr algn="ctr" eaLnBrk="1" hangingPunct="1"/>
            <a:r>
              <a:rPr lang="zh-CN" altLang="en-US" sz="2000" b="1"/>
              <a:t>零点漂移</a:t>
            </a:r>
          </a:p>
        </p:txBody>
      </p:sp>
      <p:sp>
        <p:nvSpPr>
          <p:cNvPr id="34823" name="AutoShape 7"/>
          <p:cNvSpPr>
            <a:spLocks/>
          </p:cNvSpPr>
          <p:nvPr/>
        </p:nvSpPr>
        <p:spPr bwMode="auto">
          <a:xfrm>
            <a:off x="2771775" y="673100"/>
            <a:ext cx="1154113" cy="685800"/>
          </a:xfrm>
          <a:prstGeom prst="borderCallout2">
            <a:avLst>
              <a:gd name="adj1" fmla="val 16667"/>
              <a:gd name="adj2" fmla="val 106602"/>
              <a:gd name="adj3" fmla="val 16667"/>
              <a:gd name="adj4" fmla="val 140301"/>
              <a:gd name="adj5" fmla="val 118287"/>
              <a:gd name="adj6" fmla="val 175792"/>
            </a:avLst>
          </a:prstGeom>
          <a:solidFill>
            <a:srgbClr val="FFFFCC"/>
          </a:solidFill>
          <a:ln w="19050">
            <a:solidFill>
              <a:srgbClr val="FF3300"/>
            </a:solidFill>
            <a:miter lim="800000"/>
            <a:headEnd/>
            <a:tailEnd/>
          </a:ln>
        </p:spPr>
        <p:txBody>
          <a:bodyPr/>
          <a:lstStyle/>
          <a:p>
            <a:pPr algn="ctr" eaLnBrk="1" hangingPunct="1"/>
            <a:r>
              <a:rPr lang="zh-CN" altLang="en-US" sz="2000" b="1"/>
              <a:t>零输入零输出</a:t>
            </a:r>
          </a:p>
        </p:txBody>
      </p:sp>
      <p:sp>
        <p:nvSpPr>
          <p:cNvPr id="34824" name="AutoShape 8"/>
          <p:cNvSpPr>
            <a:spLocks/>
          </p:cNvSpPr>
          <p:nvPr/>
        </p:nvSpPr>
        <p:spPr bwMode="auto">
          <a:xfrm>
            <a:off x="5364163" y="673100"/>
            <a:ext cx="1252537" cy="381000"/>
          </a:xfrm>
          <a:prstGeom prst="borderCallout2">
            <a:avLst>
              <a:gd name="adj1" fmla="val 30000"/>
              <a:gd name="adj2" fmla="val 106083"/>
              <a:gd name="adj3" fmla="val 30000"/>
              <a:gd name="adj4" fmla="val 134347"/>
              <a:gd name="adj5" fmla="val 57917"/>
              <a:gd name="adj6" fmla="val 163880"/>
            </a:avLst>
          </a:prstGeom>
          <a:solidFill>
            <a:srgbClr val="FFFFCC"/>
          </a:solidFill>
          <a:ln w="19050">
            <a:solidFill>
              <a:srgbClr val="FF3300"/>
            </a:solidFill>
            <a:miter lim="800000"/>
            <a:headEnd/>
            <a:tailEnd/>
          </a:ln>
        </p:spPr>
        <p:txBody>
          <a:bodyPr/>
          <a:lstStyle/>
          <a:p>
            <a:pPr algn="ctr" eaLnBrk="1" hangingPunct="1"/>
            <a:r>
              <a:rPr lang="zh-CN" altLang="en-US" sz="2000" b="1"/>
              <a:t>理想对称</a:t>
            </a:r>
          </a:p>
        </p:txBody>
      </p:sp>
      <p:grpSp>
        <p:nvGrpSpPr>
          <p:cNvPr id="2" name="Group 15"/>
          <p:cNvGrpSpPr>
            <a:grpSpLocks/>
          </p:cNvGrpSpPr>
          <p:nvPr/>
        </p:nvGrpSpPr>
        <p:grpSpPr bwMode="auto">
          <a:xfrm>
            <a:off x="725488" y="3670300"/>
            <a:ext cx="4710112" cy="1641475"/>
            <a:chOff x="457" y="2523"/>
            <a:chExt cx="2967" cy="1034"/>
          </a:xfrm>
        </p:grpSpPr>
        <p:sp>
          <p:nvSpPr>
            <p:cNvPr id="121873" name="AutoShape 16"/>
            <p:cNvSpPr>
              <a:spLocks/>
            </p:cNvSpPr>
            <p:nvPr/>
          </p:nvSpPr>
          <p:spPr bwMode="auto">
            <a:xfrm>
              <a:off x="2426" y="2523"/>
              <a:ext cx="998" cy="453"/>
            </a:xfrm>
            <a:prstGeom prst="borderCallout2">
              <a:avLst>
                <a:gd name="adj1" fmla="val 15894"/>
                <a:gd name="adj2" fmla="val -4810"/>
                <a:gd name="adj3" fmla="val 15894"/>
                <a:gd name="adj4" fmla="val -15731"/>
                <a:gd name="adj5" fmla="val 240162"/>
                <a:gd name="adj6" fmla="val -23968"/>
              </a:avLst>
            </a:prstGeom>
            <a:solidFill>
              <a:srgbClr val="FFFFCC"/>
            </a:solidFill>
            <a:ln w="19050">
              <a:solidFill>
                <a:srgbClr val="FF0000"/>
              </a:solidFill>
              <a:miter lim="800000"/>
              <a:headEnd/>
              <a:tailEnd/>
            </a:ln>
          </p:spPr>
          <p:txBody>
            <a:bodyPr/>
            <a:lstStyle/>
            <a:p>
              <a:pPr algn="ctr" eaLnBrk="1" hangingPunct="1"/>
              <a:r>
                <a:rPr lang="zh-CN" altLang="en-US" sz="2000" b="1"/>
                <a:t>信号特点？能否放大？</a:t>
              </a:r>
            </a:p>
          </p:txBody>
        </p:sp>
        <p:sp>
          <p:nvSpPr>
            <p:cNvPr id="121874" name="Line 17"/>
            <p:cNvSpPr>
              <a:spLocks noChangeShapeType="1"/>
            </p:cNvSpPr>
            <p:nvPr/>
          </p:nvSpPr>
          <p:spPr bwMode="auto">
            <a:xfrm flipV="1">
              <a:off x="457" y="2614"/>
              <a:ext cx="1788" cy="943"/>
            </a:xfrm>
            <a:prstGeom prst="line">
              <a:avLst/>
            </a:prstGeom>
            <a:noFill/>
            <a:ln w="19050">
              <a:solidFill>
                <a:srgbClr val="FF0000"/>
              </a:solidFill>
              <a:round/>
              <a:headEnd/>
              <a:tailEnd/>
            </a:ln>
          </p:spPr>
          <p:txBody>
            <a:bodyPr/>
            <a:lstStyle/>
            <a:p>
              <a:endParaRPr lang="zh-CN" altLang="en-US"/>
            </a:p>
          </p:txBody>
        </p:sp>
      </p:grpSp>
      <p:grpSp>
        <p:nvGrpSpPr>
          <p:cNvPr id="3" name="Group 20"/>
          <p:cNvGrpSpPr>
            <a:grpSpLocks/>
          </p:cNvGrpSpPr>
          <p:nvPr/>
        </p:nvGrpSpPr>
        <p:grpSpPr bwMode="auto">
          <a:xfrm>
            <a:off x="5580063" y="2400300"/>
            <a:ext cx="2773362" cy="1528763"/>
            <a:chOff x="3515" y="1842"/>
            <a:chExt cx="1747" cy="963"/>
          </a:xfrm>
        </p:grpSpPr>
        <p:sp>
          <p:nvSpPr>
            <p:cNvPr id="121871" name="AutoShape 21"/>
            <p:cNvSpPr>
              <a:spLocks/>
            </p:cNvSpPr>
            <p:nvPr/>
          </p:nvSpPr>
          <p:spPr bwMode="auto">
            <a:xfrm>
              <a:off x="3515" y="2523"/>
              <a:ext cx="1747" cy="282"/>
            </a:xfrm>
            <a:prstGeom prst="borderCallout2">
              <a:avLst>
                <a:gd name="adj1" fmla="val 25532"/>
                <a:gd name="adj2" fmla="val 102745"/>
                <a:gd name="adj3" fmla="val 25532"/>
                <a:gd name="adj4" fmla="val 105782"/>
                <a:gd name="adj5" fmla="val -225532"/>
                <a:gd name="adj6" fmla="val 109046"/>
              </a:avLst>
            </a:prstGeom>
            <a:solidFill>
              <a:srgbClr val="FFFFCC"/>
            </a:solidFill>
            <a:ln w="19050">
              <a:solidFill>
                <a:srgbClr val="FF3300"/>
              </a:solidFill>
              <a:miter lim="800000"/>
              <a:headEnd/>
              <a:tailEnd/>
            </a:ln>
          </p:spPr>
          <p:txBody>
            <a:bodyPr/>
            <a:lstStyle/>
            <a:p>
              <a:pPr algn="ctr" eaLnBrk="1" hangingPunct="1"/>
              <a:r>
                <a:rPr lang="zh-CN" altLang="en-US" sz="2000" b="1"/>
                <a:t>信号特点？能否放大？</a:t>
              </a:r>
            </a:p>
          </p:txBody>
        </p:sp>
        <p:sp>
          <p:nvSpPr>
            <p:cNvPr id="121872" name="Line 22"/>
            <p:cNvSpPr>
              <a:spLocks noChangeShapeType="1"/>
            </p:cNvSpPr>
            <p:nvPr/>
          </p:nvSpPr>
          <p:spPr bwMode="auto">
            <a:xfrm>
              <a:off x="3878" y="1842"/>
              <a:ext cx="408" cy="636"/>
            </a:xfrm>
            <a:prstGeom prst="line">
              <a:avLst/>
            </a:prstGeom>
            <a:noFill/>
            <a:ln w="19050">
              <a:solidFill>
                <a:srgbClr val="FF0000"/>
              </a:solidFill>
              <a:round/>
              <a:headEnd/>
              <a:tailEnd/>
            </a:ln>
          </p:spPr>
          <p:txBody>
            <a:bodyPr/>
            <a:lstStyle/>
            <a:p>
              <a:endParaRPr lang="zh-CN" altLang="en-US"/>
            </a:p>
          </p:txBody>
        </p:sp>
      </p:grpSp>
      <p:pic>
        <p:nvPicPr>
          <p:cNvPr id="18" name="Picture 3" descr="Dz030303"/>
          <p:cNvPicPr>
            <a:picLocks noGrp="1" noChangeAspect="1" noChangeArrowheads="1"/>
          </p:cNvPicPr>
          <p:nvPr>
            <p:ph sz="half" idx="1"/>
          </p:nvPr>
        </p:nvPicPr>
        <p:blipFill>
          <a:blip r:embed="rId4"/>
          <a:srcRect/>
          <a:stretch>
            <a:fillRect/>
          </a:stretch>
        </p:blipFill>
        <p:spPr>
          <a:xfrm>
            <a:off x="4508500" y="3486150"/>
            <a:ext cx="3743325" cy="2770188"/>
          </a:xfr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8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8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48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box(out)">
                                      <p:cBhvr>
                                        <p:cTn id="32" dur="500"/>
                                        <p:tgtEl>
                                          <p:spTgt spid="19">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animEffect transition="in" filter="box(out)">
                                      <p:cBhvr>
                                        <p:cTn id="37" dur="500"/>
                                        <p:tgtEl>
                                          <p:spTgt spid="19">
                                            <p:txEl>
                                              <p:pRg st="1" end="1"/>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3482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5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blinds(horizontal)">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autoUpdateAnimBg="0"/>
      <p:bldP spid="34822" grpId="0" animBg="1" autoUpdateAnimBg="0"/>
      <p:bldP spid="34823" grpId="0" animBg="1" autoUpdateAnimBg="0"/>
      <p:bldP spid="34824"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8">
            <a:extLst>
              <a:ext uri="{FF2B5EF4-FFF2-40B4-BE49-F238E27FC236}">
                <a16:creationId xmlns:a16="http://schemas.microsoft.com/office/drawing/2014/main" id="{42A5C675-3528-4CC6-A16B-D568BA97438C}"/>
              </a:ext>
            </a:extLst>
          </p:cNvPr>
          <p:cNvSpPr txBox="1">
            <a:spLocks noChangeArrowheads="1"/>
          </p:cNvSpPr>
          <p:nvPr/>
        </p:nvSpPr>
        <p:spPr bwMode="auto">
          <a:xfrm>
            <a:off x="1194567" y="4764859"/>
            <a:ext cx="4897438" cy="539750"/>
          </a:xfrm>
          <a:prstGeom prst="rect">
            <a:avLst/>
          </a:prstGeom>
          <a:solidFill>
            <a:srgbClr val="66FFFF"/>
          </a:solidFill>
          <a:ln w="9525">
            <a:solidFill>
              <a:srgbClr val="FF0000"/>
            </a:solidFill>
            <a:miter lim="800000"/>
            <a:headEnd/>
            <a:tailEnd/>
          </a:ln>
        </p:spPr>
        <p:txBody>
          <a:bodyPr>
            <a:spAutoFit/>
          </a:bodyPr>
          <a:lstStyle/>
          <a:p>
            <a:pPr algn="ctr" eaLnBrk="1" hangingPunct="1">
              <a:lnSpc>
                <a:spcPct val="120000"/>
              </a:lnSpc>
              <a:spcAft>
                <a:spcPct val="10000"/>
              </a:spcAft>
            </a:pPr>
            <a:r>
              <a:rPr lang="zh-CN" altLang="en-US" b="1"/>
              <a:t>共模信号：大小相等，极性相同。</a:t>
            </a:r>
          </a:p>
        </p:txBody>
      </p:sp>
      <p:sp>
        <p:nvSpPr>
          <p:cNvPr id="5" name="Text Box 19">
            <a:extLst>
              <a:ext uri="{FF2B5EF4-FFF2-40B4-BE49-F238E27FC236}">
                <a16:creationId xmlns:a16="http://schemas.microsoft.com/office/drawing/2014/main" id="{5D555CAB-A118-4551-B46A-3DA61BD052B1}"/>
              </a:ext>
            </a:extLst>
          </p:cNvPr>
          <p:cNvSpPr txBox="1">
            <a:spLocks noChangeArrowheads="1"/>
          </p:cNvSpPr>
          <p:nvPr/>
        </p:nvSpPr>
        <p:spPr bwMode="auto">
          <a:xfrm>
            <a:off x="1194567" y="5536826"/>
            <a:ext cx="4897438" cy="539750"/>
          </a:xfrm>
          <a:prstGeom prst="rect">
            <a:avLst/>
          </a:prstGeom>
          <a:solidFill>
            <a:srgbClr val="66FFFF"/>
          </a:solidFill>
          <a:ln w="9525">
            <a:solidFill>
              <a:srgbClr val="FF0000"/>
            </a:solidFill>
            <a:miter lim="800000"/>
            <a:headEnd/>
            <a:tailEnd/>
          </a:ln>
        </p:spPr>
        <p:txBody>
          <a:bodyPr>
            <a:spAutoFit/>
          </a:bodyPr>
          <a:lstStyle/>
          <a:p>
            <a:pPr algn="ctr" eaLnBrk="1" hangingPunct="1">
              <a:lnSpc>
                <a:spcPct val="120000"/>
              </a:lnSpc>
            </a:pPr>
            <a:r>
              <a:rPr lang="zh-CN" altLang="en-US" b="1"/>
              <a:t>差模信号：大小相等，极性相反</a:t>
            </a:r>
            <a:r>
              <a:rPr lang="en-US" altLang="zh-CN" b="1"/>
              <a:t>.</a:t>
            </a:r>
          </a:p>
        </p:txBody>
      </p:sp>
      <p:pic>
        <p:nvPicPr>
          <p:cNvPr id="6" name="Picture 3" descr="Dz030303">
            <a:extLst>
              <a:ext uri="{FF2B5EF4-FFF2-40B4-BE49-F238E27FC236}">
                <a16:creationId xmlns:a16="http://schemas.microsoft.com/office/drawing/2014/main" id="{D2908506-F6AF-4BB1-94C6-4CD997130C76}"/>
              </a:ext>
            </a:extLst>
          </p:cNvPr>
          <p:cNvPicPr>
            <a:picLocks noGrp="1" noChangeAspect="1" noChangeArrowheads="1"/>
          </p:cNvPicPr>
          <p:nvPr>
            <p:ph sz="half" idx="1"/>
          </p:nvPr>
        </p:nvPicPr>
        <p:blipFill>
          <a:blip r:embed="rId2"/>
          <a:srcRect/>
          <a:stretch>
            <a:fillRect/>
          </a:stretch>
        </p:blipFill>
        <p:spPr>
          <a:xfrm>
            <a:off x="1194567" y="607937"/>
            <a:ext cx="5107812" cy="3779955"/>
          </a:xfrm>
        </p:spPr>
      </p:pic>
      <p:sp>
        <p:nvSpPr>
          <p:cNvPr id="2" name="文本框 1">
            <a:extLst>
              <a:ext uri="{FF2B5EF4-FFF2-40B4-BE49-F238E27FC236}">
                <a16:creationId xmlns:a16="http://schemas.microsoft.com/office/drawing/2014/main" id="{F6A78540-C7AD-4913-8AEE-D3690758DBFA}"/>
              </a:ext>
            </a:extLst>
          </p:cNvPr>
          <p:cNvSpPr txBox="1"/>
          <p:nvPr/>
        </p:nvSpPr>
        <p:spPr>
          <a:xfrm>
            <a:off x="6379348" y="1713084"/>
            <a:ext cx="2344300" cy="1569660"/>
          </a:xfrm>
          <a:prstGeom prst="rect">
            <a:avLst/>
          </a:prstGeom>
          <a:solidFill>
            <a:schemeClr val="accent5">
              <a:lumMod val="20000"/>
              <a:lumOff val="80000"/>
            </a:schemeClr>
          </a:solidFill>
        </p:spPr>
        <p:txBody>
          <a:bodyPr wrap="square" rtlCol="0">
            <a:spAutoFit/>
          </a:bodyPr>
          <a:lstStyle/>
          <a:p>
            <a:r>
              <a:rPr lang="zh-CN" altLang="en-US" b="1" dirty="0">
                <a:solidFill>
                  <a:srgbClr val="0000FF"/>
                </a:solidFill>
                <a:latin typeface="黑体" panose="02010609060101010101" pitchFamily="49" charset="-122"/>
                <a:ea typeface="黑体" panose="02010609060101010101" pitchFamily="49" charset="-122"/>
              </a:rPr>
              <a:t>共模信号与差模信号在</a:t>
            </a:r>
            <a:r>
              <a:rPr lang="zh-CN" altLang="en-US" b="1" dirty="0">
                <a:solidFill>
                  <a:srgbClr val="FF0000"/>
                </a:solidFill>
                <a:latin typeface="黑体" panose="02010609060101010101" pitchFamily="49" charset="-122"/>
                <a:ea typeface="黑体" panose="02010609060101010101" pitchFamily="49" charset="-122"/>
              </a:rPr>
              <a:t>交流通路中表现不同</a:t>
            </a:r>
            <a:r>
              <a:rPr lang="zh-CN" altLang="en-US" b="1" dirty="0">
                <a:solidFill>
                  <a:srgbClr val="0000FF"/>
                </a:solidFill>
                <a:latin typeface="黑体" panose="02010609060101010101" pitchFamily="49" charset="-122"/>
                <a:ea typeface="黑体" panose="02010609060101010101" pitchFamily="49" charset="-122"/>
              </a:rPr>
              <a:t>，要分开分析！</a:t>
            </a:r>
          </a:p>
        </p:txBody>
      </p:sp>
      <p:sp>
        <p:nvSpPr>
          <p:cNvPr id="7" name="文本框 6">
            <a:extLst>
              <a:ext uri="{FF2B5EF4-FFF2-40B4-BE49-F238E27FC236}">
                <a16:creationId xmlns:a16="http://schemas.microsoft.com/office/drawing/2014/main" id="{E3467811-1DA7-44C8-89BA-E1D1F15E7110}"/>
              </a:ext>
            </a:extLst>
          </p:cNvPr>
          <p:cNvSpPr txBox="1">
            <a:spLocks noChangeArrowheads="1"/>
          </p:cNvSpPr>
          <p:nvPr/>
        </p:nvSpPr>
        <p:spPr bwMode="auto">
          <a:xfrm>
            <a:off x="7118700" y="861959"/>
            <a:ext cx="1192213" cy="708025"/>
          </a:xfrm>
          <a:prstGeom prst="rect">
            <a:avLst/>
          </a:prstGeom>
          <a:solidFill>
            <a:schemeClr val="accent1"/>
          </a:solidFill>
          <a:ln w="9525">
            <a:noFill/>
            <a:miter lim="800000"/>
            <a:headEnd/>
            <a:tailEnd/>
          </a:ln>
        </p:spPr>
        <p:txBody>
          <a:bodyPr>
            <a:spAutoFit/>
          </a:bodyPr>
          <a:lstStyle/>
          <a:p>
            <a:r>
              <a:rPr lang="en-US" altLang="zh-CN" sz="4000" dirty="0">
                <a:latin typeface="黑体" pitchFamily="49" charset="-122"/>
                <a:ea typeface="黑体" pitchFamily="49" charset="-122"/>
              </a:rPr>
              <a:t>R</a:t>
            </a:r>
            <a:r>
              <a:rPr lang="en-US" altLang="zh-CN" sz="4000" baseline="-25000" dirty="0">
                <a:latin typeface="黑体" pitchFamily="49" charset="-122"/>
                <a:ea typeface="黑体" pitchFamily="49" charset="-122"/>
              </a:rPr>
              <a:t>e</a:t>
            </a:r>
            <a:r>
              <a:rPr lang="zh-CN" altLang="en-US" sz="4000" dirty="0">
                <a:latin typeface="黑体" pitchFamily="49" charset="-122"/>
                <a:ea typeface="黑体" pitchFamily="49" charset="-122"/>
              </a:rPr>
              <a:t>？</a:t>
            </a:r>
          </a:p>
        </p:txBody>
      </p:sp>
      <p:sp>
        <p:nvSpPr>
          <p:cNvPr id="3" name="矩形 2">
            <a:extLst>
              <a:ext uri="{FF2B5EF4-FFF2-40B4-BE49-F238E27FC236}">
                <a16:creationId xmlns:a16="http://schemas.microsoft.com/office/drawing/2014/main" id="{5D2EB05F-A1F3-4629-8293-631F2E27C601}"/>
              </a:ext>
            </a:extLst>
          </p:cNvPr>
          <p:cNvSpPr/>
          <p:nvPr/>
        </p:nvSpPr>
        <p:spPr>
          <a:xfrm>
            <a:off x="378246" y="3745378"/>
            <a:ext cx="2670918" cy="830997"/>
          </a:xfrm>
          <a:prstGeom prst="rect">
            <a:avLst/>
          </a:prstGeom>
        </p:spPr>
        <p:txBody>
          <a:bodyPr wrap="square">
            <a:spAutoFit/>
          </a:bodyPr>
          <a:lstStyle/>
          <a:p>
            <a:r>
              <a:rPr lang="zh-CN" altLang="en-US" b="1" dirty="0">
                <a:solidFill>
                  <a:schemeClr val="hlink"/>
                </a:solidFill>
                <a:ea typeface="黑体" pitchFamily="49" charset="-122"/>
              </a:rPr>
              <a:t>差分放大电路主要是放大</a:t>
            </a:r>
            <a:r>
              <a:rPr lang="zh-CN" altLang="en-US" b="1" dirty="0">
                <a:solidFill>
                  <a:srgbClr val="FF0000"/>
                </a:solidFill>
                <a:ea typeface="黑体" pitchFamily="49" charset="-122"/>
              </a:rPr>
              <a:t>差模信号</a:t>
            </a:r>
            <a:r>
              <a:rPr lang="zh-CN" altLang="en-US" b="1" dirty="0">
                <a:solidFill>
                  <a:schemeClr val="hlink"/>
                </a:solidFill>
                <a:ea typeface="黑体" pitchFamily="49" charset="-122"/>
              </a:rPr>
              <a:t>的</a:t>
            </a:r>
            <a:endParaRPr lang="zh-CN" altLang="en-US" dirty="0"/>
          </a:p>
        </p:txBody>
      </p:sp>
      <p:sp>
        <p:nvSpPr>
          <p:cNvPr id="8" name="矩形 7">
            <a:extLst>
              <a:ext uri="{FF2B5EF4-FFF2-40B4-BE49-F238E27FC236}">
                <a16:creationId xmlns:a16="http://schemas.microsoft.com/office/drawing/2014/main" id="{B4EE8577-FAB2-4723-B33A-9FF97EB144E8}"/>
              </a:ext>
            </a:extLst>
          </p:cNvPr>
          <p:cNvSpPr/>
          <p:nvPr/>
        </p:nvSpPr>
        <p:spPr>
          <a:xfrm>
            <a:off x="5783241" y="3584490"/>
            <a:ext cx="2982513" cy="830997"/>
          </a:xfrm>
          <a:prstGeom prst="rect">
            <a:avLst/>
          </a:prstGeom>
        </p:spPr>
        <p:txBody>
          <a:bodyPr wrap="square">
            <a:spAutoFit/>
          </a:bodyPr>
          <a:lstStyle/>
          <a:p>
            <a:r>
              <a:rPr lang="zh-CN" altLang="en-US" b="1" dirty="0">
                <a:solidFill>
                  <a:srgbClr val="FF0000"/>
                </a:solidFill>
                <a:ea typeface="黑体" pitchFamily="49" charset="-122"/>
              </a:rPr>
              <a:t>输入信号源要分解成共模信号和差模信号</a:t>
            </a:r>
            <a:endParaRPr lang="zh-CN" altLang="en-US" dirty="0">
              <a:solidFill>
                <a:srgbClr val="FF0000"/>
              </a:solidFill>
            </a:endParaRPr>
          </a:p>
        </p:txBody>
      </p:sp>
    </p:spTree>
    <p:extLst>
      <p:ext uri="{BB962C8B-B14F-4D97-AF65-F5344CB8AC3E}">
        <p14:creationId xmlns:p14="http://schemas.microsoft.com/office/powerpoint/2010/main" val="12346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P spid="7" grpId="0" animBg="1"/>
      <p:bldP spid="3"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0" name="Rectangle 26"/>
          <p:cNvSpPr>
            <a:spLocks noChangeArrowheads="1"/>
          </p:cNvSpPr>
          <p:nvPr/>
        </p:nvSpPr>
        <p:spPr bwMode="auto">
          <a:xfrm>
            <a:off x="509588" y="772310"/>
            <a:ext cx="7543800" cy="457200"/>
          </a:xfrm>
          <a:prstGeom prst="rect">
            <a:avLst/>
          </a:prstGeom>
          <a:noFill/>
          <a:ln w="12700" cap="sq">
            <a:noFill/>
            <a:miter lim="800000"/>
            <a:headEnd type="none" w="sm" len="sm"/>
            <a:tailEnd type="none" w="sm" len="sm"/>
          </a:ln>
        </p:spPr>
        <p:txBody>
          <a:bodyPr>
            <a:spAutoFit/>
          </a:bodyPr>
          <a:lstStyle/>
          <a:p>
            <a:pPr eaLnBrk="1" hangingPunct="1">
              <a:spcBef>
                <a:spcPct val="20000"/>
              </a:spcBef>
              <a:buClr>
                <a:srgbClr val="0000FF"/>
              </a:buClr>
              <a:buSzPct val="85000"/>
              <a:buFont typeface="Monotype Sorts"/>
              <a:buNone/>
            </a:pPr>
            <a:r>
              <a:rPr lang="zh-CN" altLang="en-US" b="1">
                <a:solidFill>
                  <a:srgbClr val="0000FF"/>
                </a:solidFill>
              </a:rPr>
              <a:t>电路特点</a:t>
            </a:r>
            <a:r>
              <a:rPr lang="zh-CN" altLang="en-US" b="1">
                <a:solidFill>
                  <a:srgbClr val="000000"/>
                </a:solidFill>
              </a:rPr>
              <a:t>：</a:t>
            </a:r>
            <a:r>
              <a:rPr lang="en-US" altLang="zh-CN" b="1" i="1">
                <a:solidFill>
                  <a:srgbClr val="000000"/>
                </a:solidFill>
              </a:rPr>
              <a:t>T</a:t>
            </a:r>
            <a:r>
              <a:rPr lang="en-US" altLang="zh-CN" b="1" baseline="-25000">
                <a:solidFill>
                  <a:srgbClr val="000000"/>
                </a:solidFill>
              </a:rPr>
              <a:t>1</a:t>
            </a:r>
            <a:r>
              <a:rPr lang="zh-CN" altLang="en-US" b="1">
                <a:solidFill>
                  <a:srgbClr val="000000"/>
                </a:solidFill>
              </a:rPr>
              <a:t>、</a:t>
            </a:r>
            <a:r>
              <a:rPr lang="en-US" altLang="zh-CN" b="1" i="1">
                <a:solidFill>
                  <a:srgbClr val="000000"/>
                </a:solidFill>
              </a:rPr>
              <a:t>T</a:t>
            </a:r>
            <a:r>
              <a:rPr lang="en-US" altLang="zh-CN" b="1" baseline="-25000">
                <a:solidFill>
                  <a:srgbClr val="000000"/>
                </a:solidFill>
              </a:rPr>
              <a:t>2</a:t>
            </a:r>
            <a:r>
              <a:rPr lang="en-US" altLang="zh-CN" b="1">
                <a:solidFill>
                  <a:srgbClr val="000000"/>
                </a:solidFill>
              </a:rPr>
              <a:t> </a:t>
            </a:r>
            <a:r>
              <a:rPr lang="zh-CN" altLang="en-US" b="1">
                <a:solidFill>
                  <a:srgbClr val="000000"/>
                </a:solidFill>
              </a:rPr>
              <a:t>所在的两边电路参数完全对称。</a:t>
            </a:r>
          </a:p>
        </p:txBody>
      </p:sp>
      <p:sp>
        <p:nvSpPr>
          <p:cNvPr id="16419" name="Rectangle 35"/>
          <p:cNvSpPr>
            <a:spLocks noChangeArrowheads="1"/>
          </p:cNvSpPr>
          <p:nvPr/>
        </p:nvSpPr>
        <p:spPr bwMode="auto">
          <a:xfrm>
            <a:off x="4776788" y="1305710"/>
            <a:ext cx="3657600" cy="3427412"/>
          </a:xfrm>
          <a:prstGeom prst="rect">
            <a:avLst/>
          </a:prstGeom>
          <a:solidFill>
            <a:srgbClr val="FFFF00"/>
          </a:solidFill>
          <a:ln w="12700" cap="sq">
            <a:solidFill>
              <a:srgbClr val="FF00FF"/>
            </a:solidFill>
            <a:miter lim="800000"/>
            <a:headEnd type="none" w="sm" len="sm"/>
            <a:tailEnd type="none" w="sm" len="sm"/>
          </a:ln>
        </p:spPr>
        <p:txBody>
          <a:bodyPr>
            <a:spAutoFit/>
          </a:bodyPr>
          <a:lstStyle/>
          <a:p>
            <a:pPr eaLnBrk="1" hangingPunct="1">
              <a:lnSpc>
                <a:spcPct val="130000"/>
              </a:lnSpc>
              <a:spcBef>
                <a:spcPct val="20000"/>
              </a:spcBef>
            </a:pPr>
            <a:r>
              <a:rPr lang="en-US" altLang="zh-CN" b="1">
                <a:solidFill>
                  <a:srgbClr val="000000"/>
                </a:solidFill>
                <a:ea typeface="楷体_GB2312" pitchFamily="49" charset="-122"/>
              </a:rPr>
              <a:t>   </a:t>
            </a:r>
            <a:r>
              <a:rPr lang="zh-CN" altLang="en-US" b="1">
                <a:solidFill>
                  <a:srgbClr val="000000"/>
                </a:solidFill>
                <a:ea typeface="楷体_GB2312" pitchFamily="49" charset="-122"/>
              </a:rPr>
              <a:t>温度变化和电源电压波动，都将使</a:t>
            </a:r>
            <a:r>
              <a:rPr lang="en-US" altLang="zh-CN" b="1" i="1">
                <a:solidFill>
                  <a:srgbClr val="000000"/>
                </a:solidFill>
                <a:ea typeface="楷体_GB2312" pitchFamily="49" charset="-122"/>
              </a:rPr>
              <a:t>T</a:t>
            </a:r>
            <a:r>
              <a:rPr lang="en-US" altLang="zh-CN" b="1" baseline="-25000">
                <a:solidFill>
                  <a:srgbClr val="000000"/>
                </a:solidFill>
                <a:ea typeface="楷体_GB2312" pitchFamily="49" charset="-122"/>
              </a:rPr>
              <a:t>1</a:t>
            </a:r>
            <a:r>
              <a:rPr lang="zh-CN" altLang="en-US" b="1">
                <a:solidFill>
                  <a:srgbClr val="000000"/>
                </a:solidFill>
                <a:ea typeface="楷体_GB2312" pitchFamily="49" charset="-122"/>
              </a:rPr>
              <a:t>、</a:t>
            </a:r>
            <a:r>
              <a:rPr lang="en-US" altLang="zh-CN" b="1" i="1">
                <a:solidFill>
                  <a:srgbClr val="000000"/>
                </a:solidFill>
                <a:ea typeface="楷体_GB2312" pitchFamily="49" charset="-122"/>
              </a:rPr>
              <a:t>T</a:t>
            </a:r>
            <a:r>
              <a:rPr lang="en-US" altLang="zh-CN" b="1" baseline="-25000">
                <a:solidFill>
                  <a:srgbClr val="000000"/>
                </a:solidFill>
                <a:ea typeface="楷体_GB2312" pitchFamily="49" charset="-122"/>
              </a:rPr>
              <a:t>2</a:t>
            </a:r>
            <a:r>
              <a:rPr lang="zh-CN" altLang="en-US" b="1">
                <a:solidFill>
                  <a:srgbClr val="000000"/>
                </a:solidFill>
                <a:ea typeface="楷体_GB2312" pitchFamily="49" charset="-122"/>
              </a:rPr>
              <a:t>集电极电流产生变化，且变化趋势是相同的，因此当从</a:t>
            </a:r>
            <a:r>
              <a:rPr lang="en-US" altLang="zh-CN" b="1" i="1">
                <a:solidFill>
                  <a:srgbClr val="000000"/>
                </a:solidFill>
                <a:ea typeface="楷体_GB2312" pitchFamily="49" charset="-122"/>
              </a:rPr>
              <a:t>T</a:t>
            </a:r>
            <a:r>
              <a:rPr lang="en-US" altLang="zh-CN" b="1" baseline="-25000">
                <a:solidFill>
                  <a:srgbClr val="000000"/>
                </a:solidFill>
                <a:ea typeface="楷体_GB2312" pitchFamily="49" charset="-122"/>
              </a:rPr>
              <a:t>1</a:t>
            </a:r>
            <a:r>
              <a:rPr lang="zh-CN" altLang="en-US" b="1">
                <a:solidFill>
                  <a:srgbClr val="000000"/>
                </a:solidFill>
                <a:ea typeface="楷体_GB2312" pitchFamily="49" charset="-122"/>
              </a:rPr>
              <a:t>、 </a:t>
            </a:r>
            <a:r>
              <a:rPr lang="en-US" altLang="zh-CN" b="1" i="1">
                <a:solidFill>
                  <a:srgbClr val="000000"/>
                </a:solidFill>
                <a:ea typeface="楷体_GB2312" pitchFamily="49" charset="-122"/>
              </a:rPr>
              <a:t>T</a:t>
            </a:r>
            <a:r>
              <a:rPr lang="en-US" altLang="zh-CN" b="1" baseline="-25000">
                <a:solidFill>
                  <a:srgbClr val="000000"/>
                </a:solidFill>
                <a:ea typeface="楷体_GB2312" pitchFamily="49" charset="-122"/>
              </a:rPr>
              <a:t>2</a:t>
            </a:r>
            <a:r>
              <a:rPr lang="en-US" altLang="zh-CN" b="1">
                <a:solidFill>
                  <a:srgbClr val="000000"/>
                </a:solidFill>
                <a:ea typeface="楷体_GB2312" pitchFamily="49" charset="-122"/>
              </a:rPr>
              <a:t> </a:t>
            </a:r>
            <a:r>
              <a:rPr lang="zh-CN" altLang="en-US" b="1">
                <a:solidFill>
                  <a:srgbClr val="000000"/>
                </a:solidFill>
                <a:ea typeface="楷体_GB2312" pitchFamily="49" charset="-122"/>
              </a:rPr>
              <a:t>集电极输出信号时，其变化量相互抵消，理想情况下，没有温漂。</a:t>
            </a:r>
          </a:p>
        </p:txBody>
      </p:sp>
      <p:pic>
        <p:nvPicPr>
          <p:cNvPr id="125956" name="Picture 3" descr="Dz030303"/>
          <p:cNvPicPr>
            <a:picLocks noGrp="1" noChangeAspect="1" noChangeArrowheads="1"/>
          </p:cNvPicPr>
          <p:nvPr>
            <p:ph sz="half" idx="1"/>
          </p:nvPr>
        </p:nvPicPr>
        <p:blipFill>
          <a:blip r:embed="rId2"/>
          <a:srcRect/>
          <a:stretch>
            <a:fillRect/>
          </a:stretch>
        </p:blipFill>
        <p:spPr>
          <a:xfrm>
            <a:off x="684213" y="1689885"/>
            <a:ext cx="3743325" cy="2770187"/>
          </a:xfrm>
        </p:spPr>
      </p:pic>
      <p:sp>
        <p:nvSpPr>
          <p:cNvPr id="5" name="Text Box 5">
            <a:extLst>
              <a:ext uri="{FF2B5EF4-FFF2-40B4-BE49-F238E27FC236}">
                <a16:creationId xmlns:a16="http://schemas.microsoft.com/office/drawing/2014/main" id="{048E4730-E486-4CC1-8C80-02BBB2702F1C}"/>
              </a:ext>
            </a:extLst>
          </p:cNvPr>
          <p:cNvSpPr txBox="1">
            <a:spLocks noChangeArrowheads="1"/>
          </p:cNvSpPr>
          <p:nvPr/>
        </p:nvSpPr>
        <p:spPr bwMode="auto">
          <a:xfrm>
            <a:off x="1146175" y="4570228"/>
            <a:ext cx="3455988" cy="1917700"/>
          </a:xfrm>
          <a:prstGeom prst="rect">
            <a:avLst/>
          </a:prstGeom>
          <a:noFill/>
          <a:ln w="9525">
            <a:noFill/>
            <a:miter lim="800000"/>
            <a:headEnd/>
            <a:tailEnd/>
          </a:ln>
        </p:spPr>
        <p:txBody>
          <a:bodyPr>
            <a:spAutoFit/>
          </a:bodyPr>
          <a:lstStyle/>
          <a:p>
            <a:pPr algn="ctr" eaLnBrk="1" hangingPunct="1"/>
            <a:r>
              <a:rPr lang="zh-CN" altLang="en-US" b="1" dirty="0">
                <a:solidFill>
                  <a:srgbClr val="A50021"/>
                </a:solidFill>
              </a:rPr>
              <a:t>在理想对称的情况下：</a:t>
            </a:r>
          </a:p>
          <a:p>
            <a:pPr algn="ctr" eaLnBrk="1" hangingPunct="1"/>
            <a:r>
              <a:rPr lang="en-US" altLang="zh-CN" b="1" dirty="0">
                <a:solidFill>
                  <a:srgbClr val="A50021"/>
                </a:solidFill>
              </a:rPr>
              <a:t>1. </a:t>
            </a:r>
            <a:r>
              <a:rPr lang="zh-CN" altLang="en-US" b="1" dirty="0">
                <a:solidFill>
                  <a:srgbClr val="A50021"/>
                </a:solidFill>
              </a:rPr>
              <a:t>克服零点漂移；</a:t>
            </a:r>
          </a:p>
          <a:p>
            <a:pPr algn="ctr" eaLnBrk="1" hangingPunct="1"/>
            <a:r>
              <a:rPr lang="en-US" altLang="zh-CN" b="1" dirty="0">
                <a:solidFill>
                  <a:srgbClr val="A50021"/>
                </a:solidFill>
              </a:rPr>
              <a:t>2. </a:t>
            </a:r>
            <a:r>
              <a:rPr lang="zh-CN" altLang="en-US" b="1" dirty="0">
                <a:solidFill>
                  <a:srgbClr val="A50021"/>
                </a:solidFill>
              </a:rPr>
              <a:t>零输入零输出；</a:t>
            </a:r>
          </a:p>
          <a:p>
            <a:pPr algn="ctr" eaLnBrk="1" hangingPunct="1"/>
            <a:r>
              <a:rPr lang="en-US" altLang="zh-CN" b="1" dirty="0">
                <a:solidFill>
                  <a:srgbClr val="A50021"/>
                </a:solidFill>
              </a:rPr>
              <a:t>3. </a:t>
            </a:r>
            <a:r>
              <a:rPr lang="zh-CN" altLang="en-US" b="1" dirty="0">
                <a:solidFill>
                  <a:srgbClr val="A50021"/>
                </a:solidFill>
              </a:rPr>
              <a:t>抑制共模信号；</a:t>
            </a:r>
          </a:p>
          <a:p>
            <a:pPr algn="ctr" eaLnBrk="1" hangingPunct="1"/>
            <a:r>
              <a:rPr lang="en-US" altLang="zh-CN" b="1" dirty="0">
                <a:solidFill>
                  <a:srgbClr val="A50021"/>
                </a:solidFill>
              </a:rPr>
              <a:t>4. </a:t>
            </a:r>
            <a:r>
              <a:rPr lang="zh-CN" altLang="en-US" b="1" dirty="0">
                <a:solidFill>
                  <a:srgbClr val="A50021"/>
                </a:solidFill>
              </a:rPr>
              <a:t>放大差模信号。</a:t>
            </a:r>
          </a:p>
        </p:txBody>
      </p:sp>
      <p:sp>
        <p:nvSpPr>
          <p:cNvPr id="2" name="矩形 1">
            <a:extLst>
              <a:ext uri="{FF2B5EF4-FFF2-40B4-BE49-F238E27FC236}">
                <a16:creationId xmlns:a16="http://schemas.microsoft.com/office/drawing/2014/main" id="{95C1BBEC-7198-7CAE-3825-3A9738991458}"/>
              </a:ext>
            </a:extLst>
          </p:cNvPr>
          <p:cNvSpPr/>
          <p:nvPr/>
        </p:nvSpPr>
        <p:spPr bwMode="auto">
          <a:xfrm>
            <a:off x="1460585" y="5762561"/>
            <a:ext cx="2632736" cy="668924"/>
          </a:xfrm>
          <a:prstGeom prst="rect">
            <a:avLst/>
          </a:prstGeom>
          <a:noFill/>
          <a:ln w="28575" cap="flat" cmpd="sng" algn="ctr">
            <a:solidFill>
              <a:srgbClr val="0000FF"/>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C43797DA-4B28-6AFC-0515-AB2AD62AD52B}"/>
              </a:ext>
            </a:extLst>
          </p:cNvPr>
          <p:cNvSpPr txBox="1"/>
          <p:nvPr/>
        </p:nvSpPr>
        <p:spPr>
          <a:xfrm>
            <a:off x="4519862" y="5198851"/>
            <a:ext cx="4206827" cy="830997"/>
          </a:xfrm>
          <a:prstGeom prst="rect">
            <a:avLst/>
          </a:prstGeom>
          <a:solidFill>
            <a:schemeClr val="accent5">
              <a:lumMod val="20000"/>
              <a:lumOff val="80000"/>
            </a:schemeClr>
          </a:solidFill>
        </p:spPr>
        <p:txBody>
          <a:bodyPr wrap="square" rtlCol="0">
            <a:spAutoFit/>
          </a:bodyPr>
          <a:lstStyle/>
          <a:p>
            <a:r>
              <a:rPr lang="zh-CN" altLang="en-US" b="1" dirty="0">
                <a:solidFill>
                  <a:srgbClr val="0000FF"/>
                </a:solidFill>
                <a:latin typeface="黑体" panose="02010609060101010101" pitchFamily="49" charset="-122"/>
                <a:ea typeface="黑体" panose="02010609060101010101" pitchFamily="49" charset="-122"/>
              </a:rPr>
              <a:t>共模信号与差模信号在</a:t>
            </a:r>
            <a:r>
              <a:rPr lang="zh-CN" altLang="en-US" b="1" dirty="0">
                <a:solidFill>
                  <a:srgbClr val="FF0000"/>
                </a:solidFill>
                <a:latin typeface="黑体" panose="02010609060101010101" pitchFamily="49" charset="-122"/>
                <a:ea typeface="黑体" panose="02010609060101010101" pitchFamily="49" charset="-122"/>
              </a:rPr>
              <a:t>交流通路中表现不同</a:t>
            </a:r>
            <a:r>
              <a:rPr lang="zh-CN" altLang="en-US" b="1" dirty="0">
                <a:solidFill>
                  <a:srgbClr val="0000FF"/>
                </a:solidFill>
                <a:latin typeface="黑体" panose="02010609060101010101" pitchFamily="49" charset="-122"/>
                <a:ea typeface="黑体" panose="02010609060101010101" pitchFamily="49" charset="-122"/>
              </a:rPr>
              <a:t>，要分开分析！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10"/>
                                        </p:tgtEl>
                                        <p:attrNameLst>
                                          <p:attrName>style.visibility</p:attrName>
                                        </p:attrNameLst>
                                      </p:cBhvr>
                                      <p:to>
                                        <p:strVal val="visible"/>
                                      </p:to>
                                    </p:set>
                                    <p:animEffect transition="in" filter="wipe(left)">
                                      <p:cBhvr>
                                        <p:cTn id="7" dur="500"/>
                                        <p:tgtEl>
                                          <p:spTgt spid="16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6419"/>
                                        </p:tgtEl>
                                        <p:attrNameLst>
                                          <p:attrName>style.visibility</p:attrName>
                                        </p:attrNameLst>
                                      </p:cBhvr>
                                      <p:to>
                                        <p:strVal val="visible"/>
                                      </p:to>
                                    </p:set>
                                    <p:animEffect transition="in" filter="slide(fromLeft)">
                                      <p:cBhvr>
                                        <p:cTn id="12" dur="500"/>
                                        <p:tgtEl>
                                          <p:spTgt spid="164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0" grpId="0" autoUpdateAnimBg="0"/>
      <p:bldP spid="16419" grpId="0" animBg="1" autoUpdateAnimBg="0"/>
      <p:bldP spid="5" grpId="0"/>
      <p:bldP spid="2" grpId="0" animBg="1"/>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827088" y="1484313"/>
          <a:ext cx="3730625" cy="2767012"/>
        </p:xfrm>
        <a:graphic>
          <a:graphicData uri="http://schemas.openxmlformats.org/presentationml/2006/ole">
            <mc:AlternateContent xmlns:mc="http://schemas.openxmlformats.org/markup-compatibility/2006">
              <mc:Choice xmlns:v="urn:schemas-microsoft-com:vml" Requires="v">
                <p:oleObj spid="_x0000_s13320" name="Photo Editor 照片" r:id="rId4" imgW="12317544" imgH="9135750" progId="">
                  <p:embed/>
                </p:oleObj>
              </mc:Choice>
              <mc:Fallback>
                <p:oleObj name="Photo Editor 照片" r:id="rId4" imgW="12317544" imgH="913575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484313"/>
                        <a:ext cx="3730625" cy="276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0" name="Object 3"/>
          <p:cNvGraphicFramePr>
            <a:graphicFrameLocks noGrp="1" noChangeAspect="1"/>
          </p:cNvGraphicFramePr>
          <p:nvPr>
            <p:ph sz="half" idx="1"/>
          </p:nvPr>
        </p:nvGraphicFramePr>
        <p:xfrm>
          <a:off x="4716463" y="5013325"/>
          <a:ext cx="2087562" cy="869950"/>
        </p:xfrm>
        <a:graphic>
          <a:graphicData uri="http://schemas.openxmlformats.org/presentationml/2006/ole">
            <mc:AlternateContent xmlns:mc="http://schemas.openxmlformats.org/markup-compatibility/2006">
              <mc:Choice xmlns:v="urn:schemas-microsoft-com:vml" Requires="v">
                <p:oleObj spid="_x0000_s13321" name="公式" r:id="rId6" imgW="25603200" imgH="10668000" progId="Equation.3">
                  <p:embed/>
                </p:oleObj>
              </mc:Choice>
              <mc:Fallback>
                <p:oleObj name="公式" r:id="rId6" imgW="25603200" imgH="10668000" progId="Equation.3">
                  <p:embed/>
                  <p:pic>
                    <p:nvPicPr>
                      <p:cNvPr id="0" name="Object 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463" y="5013325"/>
                        <a:ext cx="2087562" cy="86995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45061" name="Object 4"/>
          <p:cNvGraphicFramePr>
            <a:graphicFrameLocks noGrp="1" noChangeAspect="1"/>
          </p:cNvGraphicFramePr>
          <p:nvPr>
            <p:ph sz="quarter" idx="2"/>
          </p:nvPr>
        </p:nvGraphicFramePr>
        <p:xfrm>
          <a:off x="6948488" y="5013325"/>
          <a:ext cx="1439862" cy="858838"/>
        </p:xfrm>
        <a:graphic>
          <a:graphicData uri="http://schemas.openxmlformats.org/presentationml/2006/ole">
            <mc:AlternateContent xmlns:mc="http://schemas.openxmlformats.org/markup-compatibility/2006">
              <mc:Choice xmlns:v="urn:schemas-microsoft-com:vml" Requires="v">
                <p:oleObj spid="_x0000_s13322" name="公式" r:id="rId8" imgW="17373600" imgH="10363200" progId="Equation.3">
                  <p:embed/>
                </p:oleObj>
              </mc:Choice>
              <mc:Fallback>
                <p:oleObj name="公式" r:id="rId8" imgW="17373600" imgH="10363200" progId="Equation.3">
                  <p:embed/>
                  <p:pic>
                    <p:nvPicPr>
                      <p:cNvPr id="0" name="Object 4"/>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8488" y="5013325"/>
                        <a:ext cx="1439862" cy="858838"/>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45062" name="Object 5"/>
          <p:cNvGraphicFramePr>
            <a:graphicFrameLocks noChangeAspect="1"/>
          </p:cNvGraphicFramePr>
          <p:nvPr/>
        </p:nvGraphicFramePr>
        <p:xfrm>
          <a:off x="4859338" y="1341438"/>
          <a:ext cx="2787650" cy="2649537"/>
        </p:xfrm>
        <a:graphic>
          <a:graphicData uri="http://schemas.openxmlformats.org/presentationml/2006/ole">
            <mc:AlternateContent xmlns:mc="http://schemas.openxmlformats.org/markup-compatibility/2006">
              <mc:Choice xmlns:v="urn:schemas-microsoft-com:vml" Requires="v">
                <p:oleObj spid="_x0000_s13323" name="Equation" r:id="rId10" imgW="31089600" imgH="29565600" progId="Equation.3">
                  <p:embed/>
                </p:oleObj>
              </mc:Choice>
              <mc:Fallback>
                <p:oleObj name="Equation" r:id="rId10" imgW="31089600" imgH="295656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338" y="1341438"/>
                        <a:ext cx="2787650" cy="2649537"/>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sp>
        <p:nvSpPr>
          <p:cNvPr id="45063" name="AutoShape 7"/>
          <p:cNvSpPr>
            <a:spLocks/>
          </p:cNvSpPr>
          <p:nvPr/>
        </p:nvSpPr>
        <p:spPr bwMode="auto">
          <a:xfrm>
            <a:off x="4941888" y="4005263"/>
            <a:ext cx="2089150" cy="431800"/>
          </a:xfrm>
          <a:prstGeom prst="borderCallout2">
            <a:avLst>
              <a:gd name="adj1" fmla="val 26472"/>
              <a:gd name="adj2" fmla="val -3648"/>
              <a:gd name="adj3" fmla="val 26472"/>
              <a:gd name="adj4" fmla="val -21958"/>
              <a:gd name="adj5" fmla="val -237866"/>
              <a:gd name="adj6" fmla="val -41185"/>
            </a:avLst>
          </a:prstGeom>
          <a:solidFill>
            <a:srgbClr val="FFFFCC"/>
          </a:solidFill>
          <a:ln w="19050">
            <a:solidFill>
              <a:srgbClr val="FF3300"/>
            </a:solidFill>
            <a:miter lim="800000"/>
            <a:headEnd/>
            <a:tailEnd/>
          </a:ln>
        </p:spPr>
        <p:txBody>
          <a:bodyPr/>
          <a:lstStyle/>
          <a:p>
            <a:pPr algn="ctr" eaLnBrk="1" hangingPunct="1"/>
            <a:r>
              <a:rPr lang="en-US" altLang="zh-CN" sz="2000" b="1" i="1"/>
              <a:t>R</a:t>
            </a:r>
            <a:r>
              <a:rPr lang="en-US" altLang="zh-CN" sz="2000" b="1" baseline="-25000"/>
              <a:t>b</a:t>
            </a:r>
            <a:r>
              <a:rPr lang="zh-CN" altLang="en-US" sz="2000" b="1"/>
              <a:t>是必要的吗？</a:t>
            </a:r>
          </a:p>
        </p:txBody>
      </p:sp>
      <p:grpSp>
        <p:nvGrpSpPr>
          <p:cNvPr id="2" name="Group 8"/>
          <p:cNvGrpSpPr>
            <a:grpSpLocks/>
          </p:cNvGrpSpPr>
          <p:nvPr/>
        </p:nvGrpSpPr>
        <p:grpSpPr bwMode="auto">
          <a:xfrm>
            <a:off x="773113" y="2932113"/>
            <a:ext cx="3844925" cy="381000"/>
            <a:chOff x="494" y="2256"/>
            <a:chExt cx="2422" cy="240"/>
          </a:xfrm>
        </p:grpSpPr>
        <p:grpSp>
          <p:nvGrpSpPr>
            <p:cNvPr id="29713" name="Group 9"/>
            <p:cNvGrpSpPr>
              <a:grpSpLocks/>
            </p:cNvGrpSpPr>
            <p:nvPr/>
          </p:nvGrpSpPr>
          <p:grpSpPr bwMode="auto">
            <a:xfrm>
              <a:off x="494" y="2256"/>
              <a:ext cx="192" cy="240"/>
              <a:chOff x="480" y="2064"/>
              <a:chExt cx="192" cy="240"/>
            </a:xfrm>
          </p:grpSpPr>
          <p:sp>
            <p:nvSpPr>
              <p:cNvPr id="29717" name="Line 10"/>
              <p:cNvSpPr>
                <a:spLocks noChangeShapeType="1"/>
              </p:cNvSpPr>
              <p:nvPr/>
            </p:nvSpPr>
            <p:spPr bwMode="auto">
              <a:xfrm>
                <a:off x="576" y="2064"/>
                <a:ext cx="0" cy="240"/>
              </a:xfrm>
              <a:prstGeom prst="line">
                <a:avLst/>
              </a:prstGeom>
              <a:noFill/>
              <a:ln w="19050">
                <a:solidFill>
                  <a:srgbClr val="FF3300"/>
                </a:solidFill>
                <a:round/>
                <a:headEnd/>
                <a:tailEnd/>
              </a:ln>
            </p:spPr>
            <p:txBody>
              <a:bodyPr/>
              <a:lstStyle/>
              <a:p>
                <a:endParaRPr lang="zh-CN" altLang="en-US"/>
              </a:p>
            </p:txBody>
          </p:sp>
          <p:sp>
            <p:nvSpPr>
              <p:cNvPr id="29718" name="Line 11"/>
              <p:cNvSpPr>
                <a:spLocks noChangeShapeType="1"/>
              </p:cNvSpPr>
              <p:nvPr/>
            </p:nvSpPr>
            <p:spPr bwMode="auto">
              <a:xfrm>
                <a:off x="480" y="2304"/>
                <a:ext cx="192" cy="0"/>
              </a:xfrm>
              <a:prstGeom prst="line">
                <a:avLst/>
              </a:prstGeom>
              <a:noFill/>
              <a:ln w="28575">
                <a:solidFill>
                  <a:srgbClr val="FF3300"/>
                </a:solidFill>
                <a:round/>
                <a:headEnd/>
                <a:tailEnd/>
              </a:ln>
            </p:spPr>
            <p:txBody>
              <a:bodyPr/>
              <a:lstStyle/>
              <a:p>
                <a:endParaRPr lang="zh-CN" altLang="en-US"/>
              </a:p>
            </p:txBody>
          </p:sp>
        </p:grpSp>
        <p:grpSp>
          <p:nvGrpSpPr>
            <p:cNvPr id="29714" name="Group 12"/>
            <p:cNvGrpSpPr>
              <a:grpSpLocks/>
            </p:cNvGrpSpPr>
            <p:nvPr/>
          </p:nvGrpSpPr>
          <p:grpSpPr bwMode="auto">
            <a:xfrm>
              <a:off x="2724" y="2256"/>
              <a:ext cx="192" cy="240"/>
              <a:chOff x="480" y="2064"/>
              <a:chExt cx="192" cy="240"/>
            </a:xfrm>
          </p:grpSpPr>
          <p:sp>
            <p:nvSpPr>
              <p:cNvPr id="29715" name="Line 13"/>
              <p:cNvSpPr>
                <a:spLocks noChangeShapeType="1"/>
              </p:cNvSpPr>
              <p:nvPr/>
            </p:nvSpPr>
            <p:spPr bwMode="auto">
              <a:xfrm>
                <a:off x="576" y="2064"/>
                <a:ext cx="0" cy="240"/>
              </a:xfrm>
              <a:prstGeom prst="line">
                <a:avLst/>
              </a:prstGeom>
              <a:noFill/>
              <a:ln w="19050">
                <a:solidFill>
                  <a:srgbClr val="FF3300"/>
                </a:solidFill>
                <a:round/>
                <a:headEnd/>
                <a:tailEnd/>
              </a:ln>
            </p:spPr>
            <p:txBody>
              <a:bodyPr/>
              <a:lstStyle/>
              <a:p>
                <a:endParaRPr lang="zh-CN" altLang="en-US"/>
              </a:p>
            </p:txBody>
          </p:sp>
          <p:sp>
            <p:nvSpPr>
              <p:cNvPr id="29716" name="Line 14"/>
              <p:cNvSpPr>
                <a:spLocks noChangeShapeType="1"/>
              </p:cNvSpPr>
              <p:nvPr/>
            </p:nvSpPr>
            <p:spPr bwMode="auto">
              <a:xfrm>
                <a:off x="480" y="2304"/>
                <a:ext cx="192" cy="0"/>
              </a:xfrm>
              <a:prstGeom prst="line">
                <a:avLst/>
              </a:prstGeom>
              <a:noFill/>
              <a:ln w="28575">
                <a:solidFill>
                  <a:srgbClr val="FF3300"/>
                </a:solidFill>
                <a:round/>
                <a:headEnd/>
                <a:tailEnd/>
              </a:ln>
            </p:spPr>
            <p:txBody>
              <a:bodyPr/>
              <a:lstStyle/>
              <a:p>
                <a:endParaRPr lang="zh-CN" altLang="en-US"/>
              </a:p>
            </p:txBody>
          </p:sp>
        </p:grpSp>
      </p:grpSp>
      <p:sp>
        <p:nvSpPr>
          <p:cNvPr id="29706" name="Text Box 19"/>
          <p:cNvSpPr txBox="1">
            <a:spLocks noChangeArrowheads="1"/>
          </p:cNvSpPr>
          <p:nvPr/>
        </p:nvSpPr>
        <p:spPr bwMode="auto">
          <a:xfrm>
            <a:off x="3995738" y="754910"/>
            <a:ext cx="2127990" cy="519113"/>
          </a:xfrm>
          <a:prstGeom prst="rect">
            <a:avLst/>
          </a:prstGeom>
          <a:noFill/>
          <a:ln w="9525">
            <a:noFill/>
            <a:miter lim="800000"/>
            <a:headEnd/>
            <a:tailEnd/>
          </a:ln>
        </p:spPr>
        <p:txBody>
          <a:bodyPr wrap="square">
            <a:spAutoFit/>
          </a:bodyPr>
          <a:lstStyle/>
          <a:p>
            <a:pPr algn="ctr" eaLnBrk="1" hangingPunct="1">
              <a:spcBef>
                <a:spcPct val="50000"/>
              </a:spcBef>
            </a:pPr>
            <a:r>
              <a:rPr lang="en-US" altLang="zh-CN" sz="2800" dirty="0">
                <a:latin typeface="华文行楷" pitchFamily="2" charset="-122"/>
                <a:ea typeface="华文行楷" pitchFamily="2" charset="-122"/>
              </a:rPr>
              <a:t>1.</a:t>
            </a:r>
            <a:r>
              <a:rPr lang="en-US" altLang="zh-CN" sz="2800" b="1" dirty="0">
                <a:latin typeface="华文行楷" pitchFamily="2" charset="-122"/>
                <a:ea typeface="华文行楷" pitchFamily="2" charset="-122"/>
              </a:rPr>
              <a:t> </a:t>
            </a:r>
            <a:r>
              <a:rPr lang="en-US" altLang="zh-CN" sz="2800" b="1" i="1" dirty="0">
                <a:ea typeface="华文行楷" pitchFamily="2" charset="-122"/>
              </a:rPr>
              <a:t>Q</a:t>
            </a:r>
            <a:r>
              <a:rPr lang="zh-CN" altLang="zh-CN" sz="2800" dirty="0">
                <a:latin typeface="华文行楷" pitchFamily="2" charset="-122"/>
                <a:ea typeface="华文行楷" pitchFamily="2" charset="-122"/>
              </a:rPr>
              <a:t>点</a:t>
            </a:r>
            <a:r>
              <a:rPr lang="zh-CN" altLang="zh-CN" b="1" dirty="0"/>
              <a:t>：</a:t>
            </a:r>
            <a:endParaRPr lang="zh-CN" altLang="en-US" b="1" dirty="0"/>
          </a:p>
        </p:txBody>
      </p:sp>
      <p:grpSp>
        <p:nvGrpSpPr>
          <p:cNvPr id="5" name="Group 20"/>
          <p:cNvGrpSpPr>
            <a:grpSpLocks/>
          </p:cNvGrpSpPr>
          <p:nvPr/>
        </p:nvGrpSpPr>
        <p:grpSpPr bwMode="auto">
          <a:xfrm>
            <a:off x="539750" y="4508500"/>
            <a:ext cx="6988175" cy="466725"/>
            <a:chOff x="295" y="2795"/>
            <a:chExt cx="3983" cy="294"/>
          </a:xfrm>
        </p:grpSpPr>
        <p:graphicFrame>
          <p:nvGraphicFramePr>
            <p:cNvPr id="29703" name="Object 7"/>
            <p:cNvGraphicFramePr>
              <a:graphicFrameLocks noChangeAspect="1"/>
            </p:cNvGraphicFramePr>
            <p:nvPr/>
          </p:nvGraphicFramePr>
          <p:xfrm>
            <a:off x="2160" y="2795"/>
            <a:ext cx="2118" cy="294"/>
          </p:xfrm>
          <a:graphic>
            <a:graphicData uri="http://schemas.openxmlformats.org/presentationml/2006/ole">
              <mc:AlternateContent xmlns:mc="http://schemas.openxmlformats.org/markup-compatibility/2006">
                <mc:Choice xmlns:v="urn:schemas-microsoft-com:vml" Requires="v">
                  <p:oleObj spid="_x0000_s13324" name="公式" r:id="rId12" imgW="41757600" imgH="5791200" progId="Equation.3">
                    <p:embed/>
                  </p:oleObj>
                </mc:Choice>
                <mc:Fallback>
                  <p:oleObj name="公式" r:id="rId12" imgW="41757600" imgH="57912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60" y="2795"/>
                          <a:ext cx="2118" cy="294"/>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29712" name="Text Box 22"/>
            <p:cNvSpPr txBox="1">
              <a:spLocks noChangeArrowheads="1"/>
            </p:cNvSpPr>
            <p:nvPr/>
          </p:nvSpPr>
          <p:spPr bwMode="auto">
            <a:xfrm>
              <a:off x="295" y="2795"/>
              <a:ext cx="2208" cy="288"/>
            </a:xfrm>
            <a:prstGeom prst="rect">
              <a:avLst/>
            </a:prstGeom>
            <a:noFill/>
            <a:ln w="9525">
              <a:noFill/>
              <a:miter lim="800000"/>
              <a:headEnd/>
              <a:tailEnd/>
            </a:ln>
          </p:spPr>
          <p:txBody>
            <a:bodyPr>
              <a:spAutoFit/>
            </a:bodyPr>
            <a:lstStyle/>
            <a:p>
              <a:pPr eaLnBrk="1" hangingPunct="1">
                <a:spcBef>
                  <a:spcPct val="50000"/>
                </a:spcBef>
              </a:pPr>
              <a:r>
                <a:rPr lang="zh-CN" altLang="en-US" b="1"/>
                <a:t>晶体管输入回路方程：</a:t>
              </a:r>
            </a:p>
          </p:txBody>
        </p:sp>
      </p:grpSp>
      <p:sp>
        <p:nvSpPr>
          <p:cNvPr id="45079" name="Text Box 23"/>
          <p:cNvSpPr txBox="1">
            <a:spLocks noChangeArrowheads="1"/>
          </p:cNvSpPr>
          <p:nvPr/>
        </p:nvSpPr>
        <p:spPr bwMode="auto">
          <a:xfrm>
            <a:off x="468313" y="5157788"/>
            <a:ext cx="4419600" cy="457200"/>
          </a:xfrm>
          <a:prstGeom prst="rect">
            <a:avLst/>
          </a:prstGeom>
          <a:noFill/>
          <a:ln w="9525">
            <a:noFill/>
            <a:miter lim="800000"/>
            <a:headEnd/>
            <a:tailEnd/>
          </a:ln>
        </p:spPr>
        <p:txBody>
          <a:bodyPr>
            <a:spAutoFit/>
          </a:bodyPr>
          <a:lstStyle/>
          <a:p>
            <a:pPr algn="ctr" eaLnBrk="1" hangingPunct="1">
              <a:spcBef>
                <a:spcPct val="50000"/>
              </a:spcBef>
            </a:pPr>
            <a:r>
              <a:rPr lang="zh-CN" altLang="en-US" b="1"/>
              <a:t>通常，</a:t>
            </a:r>
            <a:r>
              <a:rPr lang="en-US" altLang="zh-CN" b="1" i="1"/>
              <a:t>R</a:t>
            </a:r>
            <a:r>
              <a:rPr lang="en-US" altLang="zh-CN" b="1" baseline="-25000"/>
              <a:t>b</a:t>
            </a:r>
            <a:r>
              <a:rPr lang="zh-CN" altLang="en-US" b="1"/>
              <a:t>较小，且</a:t>
            </a:r>
            <a:r>
              <a:rPr lang="en-US" altLang="zh-CN" b="1" i="1"/>
              <a:t>I</a:t>
            </a:r>
            <a:r>
              <a:rPr lang="en-US" altLang="zh-CN" b="1" baseline="-25000"/>
              <a:t>BQ</a:t>
            </a:r>
            <a:r>
              <a:rPr lang="zh-CN" altLang="en-US" b="1"/>
              <a:t>很小，故</a:t>
            </a:r>
          </a:p>
        </p:txBody>
      </p:sp>
      <p:graphicFrame>
        <p:nvGraphicFramePr>
          <p:cNvPr id="45080" name="Object 6"/>
          <p:cNvGraphicFramePr>
            <a:graphicFrameLocks noGrp="1" noChangeAspect="1"/>
          </p:cNvGraphicFramePr>
          <p:nvPr>
            <p:ph sz="quarter" idx="3"/>
          </p:nvPr>
        </p:nvGraphicFramePr>
        <p:xfrm>
          <a:off x="539750" y="5805488"/>
          <a:ext cx="3455988" cy="511175"/>
        </p:xfrm>
        <a:graphic>
          <a:graphicData uri="http://schemas.openxmlformats.org/presentationml/2006/ole">
            <mc:AlternateContent xmlns:mc="http://schemas.openxmlformats.org/markup-compatibility/2006">
              <mc:Choice xmlns:v="urn:schemas-microsoft-com:vml" Requires="v">
                <p:oleObj spid="_x0000_s13325" name="公式" r:id="rId14" imgW="39014400" imgH="5791200" progId="Equation.3">
                  <p:embed/>
                </p:oleObj>
              </mc:Choice>
              <mc:Fallback>
                <p:oleObj name="公式" r:id="rId14" imgW="39014400" imgH="5791200" progId="Equation.3">
                  <p:embed/>
                  <p:pic>
                    <p:nvPicPr>
                      <p:cNvPr id="0" name="Object 6"/>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9750" y="5805488"/>
                        <a:ext cx="3455988" cy="511175"/>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45081" name="AutoShape 25"/>
          <p:cNvSpPr>
            <a:spLocks/>
          </p:cNvSpPr>
          <p:nvPr/>
        </p:nvSpPr>
        <p:spPr bwMode="auto">
          <a:xfrm>
            <a:off x="5543550" y="5949950"/>
            <a:ext cx="3600450" cy="719138"/>
          </a:xfrm>
          <a:prstGeom prst="borderCallout1">
            <a:avLst>
              <a:gd name="adj1" fmla="val 15894"/>
              <a:gd name="adj2" fmla="val -3213"/>
              <a:gd name="adj3" fmla="val -45699"/>
              <a:gd name="adj4" fmla="val -6875"/>
            </a:avLst>
          </a:prstGeom>
          <a:solidFill>
            <a:srgbClr val="FFFFCC"/>
          </a:solidFill>
          <a:ln w="19050">
            <a:solidFill>
              <a:srgbClr val="CC0000"/>
            </a:solidFill>
            <a:miter lim="800000"/>
            <a:headEnd/>
            <a:tailEnd/>
          </a:ln>
        </p:spPr>
        <p:txBody>
          <a:bodyPr/>
          <a:lstStyle/>
          <a:p>
            <a:pPr algn="ctr" eaLnBrk="1" hangingPunct="1"/>
            <a:r>
              <a:rPr lang="zh-CN" altLang="en-US" sz="2000" b="1">
                <a:solidFill>
                  <a:srgbClr val="FF0000"/>
                </a:solidFill>
              </a:rPr>
              <a:t>选合适的</a:t>
            </a:r>
            <a:r>
              <a:rPr lang="en-US" altLang="zh-CN" sz="2000" b="1" i="1">
                <a:solidFill>
                  <a:srgbClr val="FF0000"/>
                </a:solidFill>
              </a:rPr>
              <a:t>V</a:t>
            </a:r>
            <a:r>
              <a:rPr lang="en-US" altLang="zh-CN" sz="2000" b="1" baseline="-25000">
                <a:solidFill>
                  <a:srgbClr val="FF0000"/>
                </a:solidFill>
              </a:rPr>
              <a:t>EE</a:t>
            </a:r>
            <a:r>
              <a:rPr lang="zh-CN" altLang="en-US" sz="2000" b="1">
                <a:solidFill>
                  <a:srgbClr val="FF0000"/>
                </a:solidFill>
              </a:rPr>
              <a:t>和</a:t>
            </a:r>
            <a:r>
              <a:rPr lang="en-US" altLang="zh-CN" sz="2000" b="1" i="1">
                <a:solidFill>
                  <a:srgbClr val="FF0000"/>
                </a:solidFill>
              </a:rPr>
              <a:t>R</a:t>
            </a:r>
            <a:r>
              <a:rPr lang="en-US" altLang="zh-CN" sz="2000" b="1" baseline="-25000">
                <a:solidFill>
                  <a:srgbClr val="FF0000"/>
                </a:solidFill>
              </a:rPr>
              <a:t>e</a:t>
            </a:r>
            <a:r>
              <a:rPr lang="zh-CN" altLang="en-US" sz="2000" b="1">
                <a:solidFill>
                  <a:srgbClr val="FF0000"/>
                </a:solidFill>
              </a:rPr>
              <a:t>就可得合适的</a:t>
            </a:r>
            <a:r>
              <a:rPr lang="en-US" altLang="zh-CN" sz="2000" b="1" i="1">
                <a:solidFill>
                  <a:srgbClr val="FF0000"/>
                </a:solidFill>
              </a:rPr>
              <a:t>Q,</a:t>
            </a:r>
            <a:r>
              <a:rPr lang="zh-CN" altLang="en-US" sz="2000" b="1" i="1">
                <a:solidFill>
                  <a:srgbClr val="FF0000"/>
                </a:solidFill>
              </a:rPr>
              <a:t>集成运放广泛用，</a:t>
            </a:r>
            <a:r>
              <a:rPr lang="en-US" altLang="zh-CN" sz="2000" b="1" i="1">
                <a:solidFill>
                  <a:srgbClr val="FF0000"/>
                </a:solidFill>
              </a:rPr>
              <a:t>Q</a:t>
            </a:r>
            <a:r>
              <a:rPr lang="zh-CN" altLang="en-US" sz="2000" b="1" i="1">
                <a:solidFill>
                  <a:srgbClr val="FF0000"/>
                </a:solidFill>
              </a:rPr>
              <a:t>稳定</a:t>
            </a:r>
            <a:endParaRPr lang="en-US" altLang="zh-CN" sz="2000" b="1" i="1">
              <a:solidFill>
                <a:srgbClr val="FF0000"/>
              </a:solidFill>
            </a:endParaRPr>
          </a:p>
        </p:txBody>
      </p:sp>
      <p:sp>
        <p:nvSpPr>
          <p:cNvPr id="21" name="TextBox 20"/>
          <p:cNvSpPr txBox="1"/>
          <p:nvPr/>
        </p:nvSpPr>
        <p:spPr>
          <a:xfrm>
            <a:off x="7331075" y="3798888"/>
            <a:ext cx="1812925" cy="831850"/>
          </a:xfrm>
          <a:prstGeom prst="rect">
            <a:avLst/>
          </a:prstGeom>
          <a:solidFill>
            <a:schemeClr val="accent1">
              <a:lumMod val="20000"/>
              <a:lumOff val="80000"/>
            </a:schemeClr>
          </a:solidFill>
          <a:ln>
            <a:solidFill>
              <a:schemeClr val="accent1"/>
            </a:solidFill>
          </a:ln>
        </p:spPr>
        <p:txBody>
          <a:bodyPr>
            <a:spAutoFit/>
          </a:bodyPr>
          <a:lstStyle/>
          <a:p>
            <a:pPr algn="ctr" eaLnBrk="1" hangingPunct="1">
              <a:defRPr/>
            </a:pPr>
            <a:r>
              <a:rPr lang="zh-CN" altLang="en-US" dirty="0"/>
              <a:t>可以不要，信号源内阻</a:t>
            </a:r>
          </a:p>
        </p:txBody>
      </p:sp>
      <p:sp>
        <p:nvSpPr>
          <p:cNvPr id="22" name="文本框 21"/>
          <p:cNvSpPr txBox="1">
            <a:spLocks noChangeArrowheads="1"/>
          </p:cNvSpPr>
          <p:nvPr/>
        </p:nvSpPr>
        <p:spPr bwMode="auto">
          <a:xfrm>
            <a:off x="6673850" y="555625"/>
            <a:ext cx="2309813" cy="708025"/>
          </a:xfrm>
          <a:prstGeom prst="rect">
            <a:avLst/>
          </a:prstGeom>
          <a:solidFill>
            <a:schemeClr val="accent1"/>
          </a:solidFill>
          <a:ln w="9525">
            <a:noFill/>
            <a:miter lim="800000"/>
            <a:headEnd/>
            <a:tailEnd/>
          </a:ln>
        </p:spPr>
        <p:txBody>
          <a:bodyPr>
            <a:spAutoFit/>
          </a:bodyPr>
          <a:lstStyle/>
          <a:p>
            <a:r>
              <a:rPr lang="en-US" altLang="zh-CN" sz="4000">
                <a:latin typeface="黑体" pitchFamily="49" charset="-122"/>
                <a:ea typeface="黑体" pitchFamily="49" charset="-122"/>
              </a:rPr>
              <a:t>R</a:t>
            </a:r>
            <a:r>
              <a:rPr lang="en-US" altLang="zh-CN" sz="4000" baseline="-25000">
                <a:latin typeface="黑体" pitchFamily="49" charset="-122"/>
                <a:ea typeface="黑体" pitchFamily="49" charset="-122"/>
              </a:rPr>
              <a:t>e</a:t>
            </a:r>
            <a:r>
              <a:rPr lang="zh-CN" altLang="en-US" sz="4000">
                <a:latin typeface="黑体" pitchFamily="49" charset="-122"/>
                <a:ea typeface="黑体" pitchFamily="49" charset="-122"/>
              </a:rPr>
              <a:t>作用？</a:t>
            </a:r>
          </a:p>
        </p:txBody>
      </p:sp>
      <p:sp>
        <p:nvSpPr>
          <p:cNvPr id="23" name="Text Box 4">
            <a:extLst>
              <a:ext uri="{FF2B5EF4-FFF2-40B4-BE49-F238E27FC236}">
                <a16:creationId xmlns:a16="http://schemas.microsoft.com/office/drawing/2014/main" id="{B8B13DDD-5B58-4D5B-945D-C461B0B71BE8}"/>
              </a:ext>
            </a:extLst>
          </p:cNvPr>
          <p:cNvSpPr txBox="1">
            <a:spLocks noChangeArrowheads="1"/>
          </p:cNvSpPr>
          <p:nvPr/>
        </p:nvSpPr>
        <p:spPr bwMode="auto">
          <a:xfrm>
            <a:off x="76200" y="723899"/>
            <a:ext cx="4495800" cy="519113"/>
          </a:xfrm>
          <a:prstGeom prst="rect">
            <a:avLst/>
          </a:prstGeom>
          <a:noFill/>
          <a:ln w="9525">
            <a:noFill/>
            <a:miter lim="800000"/>
            <a:headEnd/>
            <a:tailEnd/>
          </a:ln>
        </p:spPr>
        <p:txBody>
          <a:bodyPr>
            <a:spAutoFit/>
          </a:bodyPr>
          <a:lstStyle/>
          <a:p>
            <a:pPr eaLnBrk="1" hangingPunct="1">
              <a:spcBef>
                <a:spcPct val="50000"/>
              </a:spcBef>
            </a:pPr>
            <a:r>
              <a:rPr lang="zh-CN" altLang="en-US" sz="2800" b="1" dirty="0">
                <a:solidFill>
                  <a:schemeClr val="hlink"/>
                </a:solidFill>
              </a:rPr>
              <a:t>二、长尾式差分放大电路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062"/>
                                        </p:tgtEl>
                                        <p:attrNameLst>
                                          <p:attrName>style.visibility</p:attrName>
                                        </p:attrNameLst>
                                      </p:cBhvr>
                                      <p:to>
                                        <p:strVal val="visible"/>
                                      </p:to>
                                    </p:set>
                                    <p:animEffect transition="in" filter="wipe(left)">
                                      <p:cBhvr>
                                        <p:cTn id="12" dur="500"/>
                                        <p:tgtEl>
                                          <p:spTgt spid="450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5079">
                                            <p:txEl>
                                              <p:pRg st="0" end="0"/>
                                            </p:txEl>
                                          </p:spTgt>
                                        </p:tgtEl>
                                        <p:attrNameLst>
                                          <p:attrName>style.visibility</p:attrName>
                                        </p:attrNameLst>
                                      </p:cBhvr>
                                      <p:to>
                                        <p:strVal val="visible"/>
                                      </p:to>
                                    </p:set>
                                    <p:animEffect transition="in" filter="wipe(left)">
                                      <p:cBhvr>
                                        <p:cTn id="26" dur="500"/>
                                        <p:tgtEl>
                                          <p:spTgt spid="45079">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5060"/>
                                        </p:tgtEl>
                                        <p:attrNameLst>
                                          <p:attrName>style.visibility</p:attrName>
                                        </p:attrNameLst>
                                      </p:cBhvr>
                                      <p:to>
                                        <p:strVal val="visible"/>
                                      </p:to>
                                    </p:set>
                                    <p:animEffect transition="in" filter="wipe(left)">
                                      <p:cBhvr>
                                        <p:cTn id="31" dur="500"/>
                                        <p:tgtEl>
                                          <p:spTgt spid="450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5061"/>
                                        </p:tgtEl>
                                        <p:attrNameLst>
                                          <p:attrName>style.visibility</p:attrName>
                                        </p:attrNameLst>
                                      </p:cBhvr>
                                      <p:to>
                                        <p:strVal val="visible"/>
                                      </p:to>
                                    </p:set>
                                    <p:animEffect transition="in" filter="wipe(left)">
                                      <p:cBhvr>
                                        <p:cTn id="36" dur="500"/>
                                        <p:tgtEl>
                                          <p:spTgt spid="4506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5080"/>
                                        </p:tgtEl>
                                        <p:attrNameLst>
                                          <p:attrName>style.visibility</p:attrName>
                                        </p:attrNameLst>
                                      </p:cBhvr>
                                      <p:to>
                                        <p:strVal val="visible"/>
                                      </p:to>
                                    </p:set>
                                    <p:animEffect transition="in" filter="wipe(left)">
                                      <p:cBhvr>
                                        <p:cTn id="41" dur="500"/>
                                        <p:tgtEl>
                                          <p:spTgt spid="4508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5081"/>
                                        </p:tgtEl>
                                        <p:attrNameLst>
                                          <p:attrName>style.visibility</p:attrName>
                                        </p:attrNameLst>
                                      </p:cBhvr>
                                      <p:to>
                                        <p:strVal val="visible"/>
                                      </p:to>
                                    </p:set>
                                    <p:animEffect transition="in" filter="wipe(left)">
                                      <p:cBhvr>
                                        <p:cTn id="46" dur="500"/>
                                        <p:tgtEl>
                                          <p:spTgt spid="4508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506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linds(horizontal)">
                                      <p:cBhvr>
                                        <p:cTn id="55" dur="500"/>
                                        <p:tgtEl>
                                          <p:spTgt spid="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6" presetClass="emph" presetSubtype="0" fill="hold" nodeType="clickEffect">
                                  <p:stCondLst>
                                    <p:cond delay="0"/>
                                  </p:stCondLst>
                                  <p:childTnLst>
                                    <p:animScale>
                                      <p:cBhvr>
                                        <p:cTn id="59" dur="2000" fill="hold"/>
                                        <p:tgtEl>
                                          <p:spTgt spid="4508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nimBg="1" autoUpdateAnimBg="0"/>
      <p:bldP spid="45079" grpId="0" build="p" autoUpdateAnimBg="0"/>
      <p:bldP spid="45081" grpId="0" animBg="1"/>
      <p:bldP spid="21" grpId="0" animBg="1"/>
      <p:bldP spid="2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4"/>
          <p:cNvSpPr txBox="1">
            <a:spLocks noChangeArrowheads="1"/>
          </p:cNvSpPr>
          <p:nvPr/>
        </p:nvSpPr>
        <p:spPr bwMode="auto">
          <a:xfrm>
            <a:off x="457200" y="685800"/>
            <a:ext cx="4267200" cy="519113"/>
          </a:xfrm>
          <a:prstGeom prst="rect">
            <a:avLst/>
          </a:prstGeom>
          <a:noFill/>
          <a:ln w="9525">
            <a:noFill/>
            <a:miter lim="800000"/>
            <a:headEnd/>
            <a:tailEnd/>
          </a:ln>
        </p:spPr>
        <p:txBody>
          <a:bodyPr>
            <a:spAutoFit/>
          </a:bodyPr>
          <a:lstStyle/>
          <a:p>
            <a:pPr eaLnBrk="1" hangingPunct="1">
              <a:spcBef>
                <a:spcPct val="50000"/>
              </a:spcBef>
            </a:pPr>
            <a:r>
              <a:rPr lang="en-US" altLang="zh-CN" sz="2800" b="1">
                <a:solidFill>
                  <a:schemeClr val="hlink"/>
                </a:solidFill>
              </a:rPr>
              <a:t>2.</a:t>
            </a:r>
            <a:r>
              <a:rPr lang="zh-CN" altLang="en-US" sz="2800" b="1">
                <a:solidFill>
                  <a:schemeClr val="hlink"/>
                </a:solidFill>
              </a:rPr>
              <a:t>对共模信号的抑制作用</a:t>
            </a:r>
          </a:p>
        </p:txBody>
      </p:sp>
      <p:sp>
        <p:nvSpPr>
          <p:cNvPr id="168001" name="Text Box 65"/>
          <p:cNvSpPr txBox="1">
            <a:spLocks noChangeArrowheads="1"/>
          </p:cNvSpPr>
          <p:nvPr/>
        </p:nvSpPr>
        <p:spPr bwMode="auto">
          <a:xfrm>
            <a:off x="4519613" y="1444625"/>
            <a:ext cx="4419600" cy="1939925"/>
          </a:xfrm>
          <a:prstGeom prst="rect">
            <a:avLst/>
          </a:prstGeom>
          <a:noFill/>
          <a:ln w="9525">
            <a:noFill/>
            <a:miter lim="800000"/>
            <a:headEnd/>
            <a:tailEnd/>
          </a:ln>
        </p:spPr>
        <p:txBody>
          <a:bodyPr>
            <a:spAutoFit/>
          </a:bodyPr>
          <a:lstStyle/>
          <a:p>
            <a:pPr eaLnBrk="1" hangingPunct="1">
              <a:spcBef>
                <a:spcPct val="50000"/>
              </a:spcBef>
            </a:pPr>
            <a:r>
              <a:rPr lang="en-US" altLang="zh-CN" b="1"/>
              <a:t>1</a:t>
            </a:r>
            <a:r>
              <a:rPr lang="zh-CN" altLang="en-US" b="1"/>
              <a:t>）电路参数的</a:t>
            </a:r>
            <a:r>
              <a:rPr lang="zh-CN" altLang="en-US" b="1" u="sng">
                <a:solidFill>
                  <a:srgbClr val="FF0000"/>
                </a:solidFill>
              </a:rPr>
              <a:t>理想对称性</a:t>
            </a:r>
            <a:r>
              <a:rPr lang="zh-CN" altLang="en-US" b="1"/>
              <a:t>，温度变化时管子的电流变化完全相同，故可以</a:t>
            </a:r>
            <a:r>
              <a:rPr lang="zh-CN" altLang="en-US" b="1">
                <a:solidFill>
                  <a:srgbClr val="FF0000"/>
                </a:solidFill>
              </a:rPr>
              <a:t>将温度漂移等效成共模信号</a:t>
            </a:r>
            <a:r>
              <a:rPr lang="zh-CN" altLang="en-US" b="1"/>
              <a:t>，差分放大电路对共模信号有很强的抑制作用。</a:t>
            </a:r>
          </a:p>
        </p:txBody>
      </p:sp>
      <p:sp>
        <p:nvSpPr>
          <p:cNvPr id="168003" name="Text Box 67"/>
          <p:cNvSpPr txBox="1">
            <a:spLocks noChangeArrowheads="1"/>
          </p:cNvSpPr>
          <p:nvPr/>
        </p:nvSpPr>
        <p:spPr bwMode="auto">
          <a:xfrm>
            <a:off x="704850" y="5086350"/>
            <a:ext cx="7696200" cy="831850"/>
          </a:xfrm>
          <a:prstGeom prst="rect">
            <a:avLst/>
          </a:prstGeom>
          <a:noFill/>
          <a:ln>
            <a:noFill/>
          </a:ln>
          <a:effectLst/>
        </p:spPr>
        <p:txBody>
          <a:bodyPr>
            <a:spAutoFit/>
          </a:bodyPr>
          <a:lstStyle/>
          <a:p>
            <a:pPr eaLnBrk="1" hangingPunct="1">
              <a:spcBef>
                <a:spcPct val="50000"/>
              </a:spcBef>
              <a:defRPr/>
            </a:pPr>
            <a:r>
              <a:rPr lang="en-US" altLang="zh-CN" b="1" u="sng" dirty="0">
                <a:solidFill>
                  <a:srgbClr val="FF0000"/>
                </a:solidFill>
              </a:rPr>
              <a:t>2</a:t>
            </a:r>
            <a:r>
              <a:rPr lang="zh-CN" altLang="en-US" b="1" u="sng" dirty="0">
                <a:solidFill>
                  <a:srgbClr val="FF0000"/>
                </a:solidFill>
              </a:rPr>
              <a:t>）射极电阻</a:t>
            </a:r>
            <a:r>
              <a:rPr lang="en-US" altLang="zh-CN" b="1" i="1" u="sng" dirty="0">
                <a:solidFill>
                  <a:srgbClr val="FF0000"/>
                </a:solidFill>
                <a:effectLst>
                  <a:outerShdw blurRad="38100" dist="38100" dir="2700000" algn="tl">
                    <a:srgbClr val="C0C0C0"/>
                  </a:outerShdw>
                </a:effectLst>
              </a:rPr>
              <a:t>R</a:t>
            </a:r>
            <a:r>
              <a:rPr lang="en-US" altLang="zh-CN" b="1" u="sng" baseline="-25000" dirty="0">
                <a:solidFill>
                  <a:srgbClr val="FF0000"/>
                </a:solidFill>
                <a:effectLst>
                  <a:outerShdw blurRad="38100" dist="38100" dir="2700000" algn="tl">
                    <a:srgbClr val="C0C0C0"/>
                  </a:outerShdw>
                </a:effectLst>
              </a:rPr>
              <a:t>e</a:t>
            </a:r>
            <a:r>
              <a:rPr lang="zh-CN" altLang="en-US" b="1" dirty="0"/>
              <a:t>对共模信号的负反馈作用，抑制了每只晶体管集电极电流的变化，从而抑制集电极的电位的变化。</a:t>
            </a:r>
          </a:p>
        </p:txBody>
      </p:sp>
      <p:graphicFrame>
        <p:nvGraphicFramePr>
          <p:cNvPr id="47106" name="Object 2"/>
          <p:cNvGraphicFramePr>
            <a:graphicFrameLocks noChangeAspect="1"/>
          </p:cNvGraphicFramePr>
          <p:nvPr/>
        </p:nvGraphicFramePr>
        <p:xfrm>
          <a:off x="0" y="1730375"/>
          <a:ext cx="4191000" cy="2871788"/>
        </p:xfrm>
        <a:graphic>
          <a:graphicData uri="http://schemas.openxmlformats.org/presentationml/2006/ole">
            <mc:AlternateContent xmlns:mc="http://schemas.openxmlformats.org/markup-compatibility/2006">
              <mc:Choice xmlns:v="urn:schemas-microsoft-com:vml" Requires="v">
                <p:oleObj spid="_x0000_s14339" name="Photo Editor 照片" r:id="rId5" imgW="14028571" imgH="9609524" progId="">
                  <p:embed/>
                </p:oleObj>
              </mc:Choice>
              <mc:Fallback>
                <p:oleObj name="Photo Editor 照片" r:id="rId5" imgW="14028571" imgH="9609524" progId="">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730375"/>
                        <a:ext cx="4191000"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800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68003">
                                            <p:txEl>
                                              <p:pRg st="0" end="0"/>
                                            </p:txEl>
                                          </p:spTgt>
                                        </p:tgtEl>
                                        <p:attrNameLst>
                                          <p:attrName>style.visibility</p:attrName>
                                        </p:attrNameLst>
                                      </p:cBhvr>
                                      <p:to>
                                        <p:strVal val="visible"/>
                                      </p:to>
                                    </p:set>
                                    <p:animEffect transition="in" filter="box(out)">
                                      <p:cBhvr>
                                        <p:cTn id="16" dur="500"/>
                                        <p:tgtEl>
                                          <p:spTgt spid="168003">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001" grpId="0"/>
      <p:bldP spid="16800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4211638" y="1557338"/>
          <a:ext cx="4191000" cy="2871787"/>
        </p:xfrm>
        <a:graphic>
          <a:graphicData uri="http://schemas.openxmlformats.org/presentationml/2006/ole">
            <mc:AlternateContent xmlns:mc="http://schemas.openxmlformats.org/markup-compatibility/2006">
              <mc:Choice xmlns:v="urn:schemas-microsoft-com:vml" Requires="v">
                <p:oleObj spid="_x0000_s15367" name="Photo Editor 照片" r:id="rId3" imgW="14028571" imgH="9609524" progId="">
                  <p:embed/>
                </p:oleObj>
              </mc:Choice>
              <mc:Fallback>
                <p:oleObj name="Photo Editor 照片" r:id="rId3" imgW="14028571" imgH="9609524"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1557338"/>
                        <a:ext cx="4191000" cy="287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1" name="Rectangle 3"/>
          <p:cNvSpPr>
            <a:spLocks noGrp="1" noChangeArrowheads="1"/>
          </p:cNvSpPr>
          <p:nvPr>
            <p:ph type="title"/>
          </p:nvPr>
        </p:nvSpPr>
        <p:spPr>
          <a:xfrm>
            <a:off x="203200" y="663575"/>
            <a:ext cx="5014913" cy="792163"/>
          </a:xfrm>
        </p:spPr>
        <p:txBody>
          <a:bodyPr/>
          <a:lstStyle/>
          <a:p>
            <a:pPr algn="l"/>
            <a:r>
              <a:rPr lang="en-US" altLang="zh-CN" sz="3200" b="1">
                <a:solidFill>
                  <a:schemeClr val="tx1"/>
                </a:solidFill>
                <a:latin typeface="华文行楷" pitchFamily="2" charset="-122"/>
                <a:ea typeface="华文行楷" pitchFamily="2" charset="-122"/>
              </a:rPr>
              <a:t>2.  </a:t>
            </a:r>
            <a:r>
              <a:rPr lang="zh-CN" altLang="en-US" sz="3200" b="1">
                <a:solidFill>
                  <a:schemeClr val="tx1"/>
                </a:solidFill>
                <a:latin typeface="华文行楷" pitchFamily="2" charset="-122"/>
                <a:ea typeface="华文行楷" pitchFamily="2" charset="-122"/>
              </a:rPr>
              <a:t>抑制共模信号</a:t>
            </a:r>
            <a:r>
              <a:rPr lang="en-US" altLang="zh-CN" sz="3200" b="1">
                <a:solidFill>
                  <a:schemeClr val="tx1"/>
                </a:solidFill>
                <a:latin typeface="华文行楷" pitchFamily="2" charset="-122"/>
                <a:ea typeface="华文行楷" pitchFamily="2" charset="-122"/>
              </a:rPr>
              <a:t>-</a:t>
            </a:r>
            <a:r>
              <a:rPr lang="zh-CN" altLang="en-US" sz="3200" b="1">
                <a:solidFill>
                  <a:schemeClr val="tx1"/>
                </a:solidFill>
                <a:latin typeface="华文行楷" pitchFamily="2" charset="-122"/>
                <a:ea typeface="华文行楷" pitchFamily="2" charset="-122"/>
              </a:rPr>
              <a:t>对称性</a:t>
            </a:r>
            <a:r>
              <a:rPr lang="zh-CN" altLang="en-US" sz="2400">
                <a:solidFill>
                  <a:schemeClr val="tx1"/>
                </a:solidFill>
              </a:rPr>
              <a:t> </a:t>
            </a:r>
          </a:p>
        </p:txBody>
      </p:sp>
      <p:graphicFrame>
        <p:nvGraphicFramePr>
          <p:cNvPr id="47108" name="Object 4"/>
          <p:cNvGraphicFramePr>
            <a:graphicFrameLocks noChangeAspect="1"/>
          </p:cNvGraphicFramePr>
          <p:nvPr/>
        </p:nvGraphicFramePr>
        <p:xfrm>
          <a:off x="971550" y="4652963"/>
          <a:ext cx="6192838" cy="504825"/>
        </p:xfrm>
        <a:graphic>
          <a:graphicData uri="http://schemas.openxmlformats.org/presentationml/2006/ole">
            <mc:AlternateContent xmlns:mc="http://schemas.openxmlformats.org/markup-compatibility/2006">
              <mc:Choice xmlns:v="urn:schemas-microsoft-com:vml" Requires="v">
                <p:oleObj spid="_x0000_s15368" name="Equation" r:id="rId5" imgW="70713600" imgH="5791200" progId="Equation.3">
                  <p:embed/>
                </p:oleObj>
              </mc:Choice>
              <mc:Fallback>
                <p:oleObj name="Equation" r:id="rId5" imgW="70713600" imgH="579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652963"/>
                        <a:ext cx="6192838" cy="504825"/>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graphicFrame>
        <p:nvGraphicFramePr>
          <p:cNvPr id="47109" name="Object 5"/>
          <p:cNvGraphicFramePr>
            <a:graphicFrameLocks noChangeAspect="1"/>
          </p:cNvGraphicFramePr>
          <p:nvPr/>
        </p:nvGraphicFramePr>
        <p:xfrm>
          <a:off x="1422400" y="5397500"/>
          <a:ext cx="6488113" cy="858838"/>
        </p:xfrm>
        <a:graphic>
          <a:graphicData uri="http://schemas.openxmlformats.org/presentationml/2006/ole">
            <mc:AlternateContent xmlns:mc="http://schemas.openxmlformats.org/markup-compatibility/2006">
              <mc:Choice xmlns:v="urn:schemas-microsoft-com:vml" Requires="v">
                <p:oleObj spid="_x0000_s15369" name="公式" r:id="rId7" imgW="78333600" imgH="10363200" progId="Equation.3">
                  <p:embed/>
                </p:oleObj>
              </mc:Choice>
              <mc:Fallback>
                <p:oleObj name="公式" r:id="rId7" imgW="78333600" imgH="10363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2400" y="5397500"/>
                        <a:ext cx="6488113" cy="858838"/>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47110" name="Object 6"/>
          <p:cNvGraphicFramePr>
            <a:graphicFrameLocks noChangeAspect="1"/>
          </p:cNvGraphicFramePr>
          <p:nvPr/>
        </p:nvGraphicFramePr>
        <p:xfrm>
          <a:off x="971550" y="3140075"/>
          <a:ext cx="1976438" cy="1423988"/>
        </p:xfrm>
        <a:graphic>
          <a:graphicData uri="http://schemas.openxmlformats.org/presentationml/2006/ole">
            <mc:AlternateContent xmlns:mc="http://schemas.openxmlformats.org/markup-compatibility/2006">
              <mc:Choice xmlns:v="urn:schemas-microsoft-com:vml" Requires="v">
                <p:oleObj spid="_x0000_s15370" name="Equation" r:id="rId9" imgW="18288000" imgH="16459200" progId="Equation.3">
                  <p:embed/>
                </p:oleObj>
              </mc:Choice>
              <mc:Fallback>
                <p:oleObj name="Equation" r:id="rId9" imgW="18288000" imgH="16459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r="-24834"/>
                      <a:stretch>
                        <a:fillRect/>
                      </a:stretch>
                    </p:blipFill>
                    <p:spPr bwMode="auto">
                      <a:xfrm>
                        <a:off x="971550" y="3140075"/>
                        <a:ext cx="1976438" cy="1423988"/>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grpSp>
        <p:nvGrpSpPr>
          <p:cNvPr id="2" name="Group 7"/>
          <p:cNvGrpSpPr>
            <a:grpSpLocks/>
          </p:cNvGrpSpPr>
          <p:nvPr/>
        </p:nvGrpSpPr>
        <p:grpSpPr bwMode="auto">
          <a:xfrm>
            <a:off x="468313" y="1412875"/>
            <a:ext cx="4800600" cy="1527175"/>
            <a:chOff x="288" y="864"/>
            <a:chExt cx="3024" cy="962"/>
          </a:xfrm>
        </p:grpSpPr>
        <p:sp>
          <p:nvSpPr>
            <p:cNvPr id="31753" name="Text Box 8"/>
            <p:cNvSpPr txBox="1">
              <a:spLocks noChangeArrowheads="1"/>
            </p:cNvSpPr>
            <p:nvPr/>
          </p:nvSpPr>
          <p:spPr bwMode="auto">
            <a:xfrm>
              <a:off x="288" y="864"/>
              <a:ext cx="3024" cy="610"/>
            </a:xfrm>
            <a:prstGeom prst="rect">
              <a:avLst/>
            </a:prstGeom>
            <a:noFill/>
            <a:ln w="9525">
              <a:noFill/>
              <a:miter lim="800000"/>
              <a:headEnd/>
              <a:tailEnd/>
            </a:ln>
          </p:spPr>
          <p:txBody>
            <a:bodyPr>
              <a:spAutoFit/>
            </a:bodyPr>
            <a:lstStyle/>
            <a:p>
              <a:pPr algn="ctr" eaLnBrk="1" hangingPunct="1">
                <a:lnSpc>
                  <a:spcPct val="120000"/>
                </a:lnSpc>
              </a:pPr>
              <a:r>
                <a:rPr lang="zh-CN" altLang="en-US" b="1"/>
                <a:t>共模信号：数值相等、极性相同的输入信号，即</a:t>
              </a:r>
              <a:endParaRPr lang="zh-CN" altLang="en-US" b="1" baseline="-25000"/>
            </a:p>
          </p:txBody>
        </p:sp>
        <p:graphicFrame>
          <p:nvGraphicFramePr>
            <p:cNvPr id="31750" name="Object 9"/>
            <p:cNvGraphicFramePr>
              <a:graphicFrameLocks noChangeAspect="1"/>
            </p:cNvGraphicFramePr>
            <p:nvPr/>
          </p:nvGraphicFramePr>
          <p:xfrm>
            <a:off x="1191" y="1488"/>
            <a:ext cx="1219" cy="338"/>
          </p:xfrm>
          <a:graphic>
            <a:graphicData uri="http://schemas.openxmlformats.org/presentationml/2006/ole">
              <mc:AlternateContent xmlns:mc="http://schemas.openxmlformats.org/markup-compatibility/2006">
                <mc:Choice xmlns:v="urn:schemas-microsoft-com:vml" Requires="v">
                  <p:oleObj spid="_x0000_s15371" name="Equation" r:id="rId11" imgW="19812000" imgH="5486400" progId="Equation.3">
                    <p:embed/>
                  </p:oleObj>
                </mc:Choice>
                <mc:Fallback>
                  <p:oleObj name="Equation" r:id="rId11" imgW="19812000" imgH="54864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1" y="1488"/>
                          <a:ext cx="1219" cy="338"/>
                        </a:xfrm>
                        <a:prstGeom prst="rect">
                          <a:avLst/>
                        </a:prstGeom>
                        <a:solidFill>
                          <a:srgbClr val="66FFFF"/>
                        </a:solidFill>
                        <a:ln w="9525">
                          <a:solidFill>
                            <a:srgbClr val="FF3300"/>
                          </a:solidFill>
                          <a:miter lim="800000"/>
                          <a:headEnd/>
                          <a:tailEnd/>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106"/>
                                        </p:tgtEl>
                                        <p:attrNameLst>
                                          <p:attrName>style.visibility</p:attrName>
                                        </p:attrNameLst>
                                      </p:cBhvr>
                                      <p:to>
                                        <p:strVal val="visible"/>
                                      </p:to>
                                    </p:set>
                                    <p:animEffect transition="in" filter="wipe(left)">
                                      <p:cBhvr>
                                        <p:cTn id="12" dur="500"/>
                                        <p:tgtEl>
                                          <p:spTgt spid="471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110"/>
                                        </p:tgtEl>
                                        <p:attrNameLst>
                                          <p:attrName>style.visibility</p:attrName>
                                        </p:attrNameLst>
                                      </p:cBhvr>
                                      <p:to>
                                        <p:strVal val="visible"/>
                                      </p:to>
                                    </p:set>
                                    <p:animEffect transition="in" filter="wipe(left)">
                                      <p:cBhvr>
                                        <p:cTn id="17" dur="500"/>
                                        <p:tgtEl>
                                          <p:spTgt spid="471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108"/>
                                        </p:tgtEl>
                                        <p:attrNameLst>
                                          <p:attrName>style.visibility</p:attrName>
                                        </p:attrNameLst>
                                      </p:cBhvr>
                                      <p:to>
                                        <p:strVal val="visible"/>
                                      </p:to>
                                    </p:set>
                                    <p:animEffect transition="in" filter="wipe(left)">
                                      <p:cBhvr>
                                        <p:cTn id="22" dur="500"/>
                                        <p:tgtEl>
                                          <p:spTgt spid="471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109"/>
                                        </p:tgtEl>
                                        <p:attrNameLst>
                                          <p:attrName>style.visibility</p:attrName>
                                        </p:attrNameLst>
                                      </p:cBhvr>
                                      <p:to>
                                        <p:strVal val="visible"/>
                                      </p:to>
                                    </p:set>
                                    <p:animEffect transition="in" filter="wipe(left)">
                                      <p:cBhvr>
                                        <p:cTn id="2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Object 2"/>
          <p:cNvGraphicFramePr>
            <a:graphicFrameLocks noChangeAspect="1"/>
          </p:cNvGraphicFramePr>
          <p:nvPr/>
        </p:nvGraphicFramePr>
        <p:xfrm>
          <a:off x="838200" y="1685925"/>
          <a:ext cx="4343400" cy="2976563"/>
        </p:xfrm>
        <a:graphic>
          <a:graphicData uri="http://schemas.openxmlformats.org/presentationml/2006/ole">
            <mc:AlternateContent xmlns:mc="http://schemas.openxmlformats.org/markup-compatibility/2006">
              <mc:Choice xmlns:v="urn:schemas-microsoft-com:vml" Requires="v">
                <p:oleObj spid="_x0000_s16388" name="Photo Editor 照片" r:id="rId3" imgW="14028571" imgH="9609524" progId="">
                  <p:embed/>
                </p:oleObj>
              </mc:Choice>
              <mc:Fallback>
                <p:oleObj name="Photo Editor 照片" r:id="rId3" imgW="14028571" imgH="9609524"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85925"/>
                        <a:ext cx="4343400" cy="297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3" name="Rectangle 3"/>
          <p:cNvSpPr>
            <a:spLocks noGrp="1" noChangeArrowheads="1"/>
          </p:cNvSpPr>
          <p:nvPr>
            <p:ph type="title"/>
          </p:nvPr>
        </p:nvSpPr>
        <p:spPr>
          <a:xfrm>
            <a:off x="250825" y="908050"/>
            <a:ext cx="6842125" cy="685800"/>
          </a:xfrm>
        </p:spPr>
        <p:txBody>
          <a:bodyPr/>
          <a:lstStyle/>
          <a:p>
            <a:pPr algn="l"/>
            <a:r>
              <a:rPr lang="en-US" altLang="zh-CN" sz="3200" b="1">
                <a:solidFill>
                  <a:schemeClr val="tx1"/>
                </a:solidFill>
                <a:latin typeface="华文行楷" pitchFamily="2" charset="-122"/>
                <a:ea typeface="华文行楷" pitchFamily="2" charset="-122"/>
              </a:rPr>
              <a:t>2.  </a:t>
            </a:r>
            <a:r>
              <a:rPr lang="zh-CN" altLang="en-US" sz="3200" b="1">
                <a:solidFill>
                  <a:schemeClr val="tx1"/>
                </a:solidFill>
                <a:latin typeface="华文行楷" pitchFamily="2" charset="-122"/>
                <a:ea typeface="华文行楷" pitchFamily="2" charset="-122"/>
              </a:rPr>
              <a:t>抑制共模信号</a:t>
            </a:r>
            <a:r>
              <a:rPr lang="zh-CN" altLang="en-US" sz="2400" b="1">
                <a:solidFill>
                  <a:schemeClr val="tx1"/>
                </a:solidFill>
              </a:rPr>
              <a:t> ：</a:t>
            </a:r>
            <a:r>
              <a:rPr lang="en-US" altLang="zh-CN" sz="2400" b="1" i="1">
                <a:solidFill>
                  <a:srgbClr val="FF0000"/>
                </a:solidFill>
              </a:rPr>
              <a:t>R</a:t>
            </a:r>
            <a:r>
              <a:rPr lang="en-US" altLang="zh-CN" sz="2400" b="1" baseline="-25000">
                <a:solidFill>
                  <a:srgbClr val="FF0000"/>
                </a:solidFill>
              </a:rPr>
              <a:t>e</a:t>
            </a:r>
            <a:r>
              <a:rPr lang="zh-CN" altLang="en-US" sz="2400" b="1">
                <a:solidFill>
                  <a:srgbClr val="FF0000"/>
                </a:solidFill>
              </a:rPr>
              <a:t>的共模负反馈作用</a:t>
            </a:r>
          </a:p>
        </p:txBody>
      </p:sp>
      <p:graphicFrame>
        <p:nvGraphicFramePr>
          <p:cNvPr id="32771" name="Object 4"/>
          <p:cNvGraphicFramePr>
            <a:graphicFrameLocks noChangeAspect="1"/>
          </p:cNvGraphicFramePr>
          <p:nvPr/>
        </p:nvGraphicFramePr>
        <p:xfrm>
          <a:off x="5245100" y="1989138"/>
          <a:ext cx="3214688" cy="1274762"/>
        </p:xfrm>
        <a:graphic>
          <a:graphicData uri="http://schemas.openxmlformats.org/presentationml/2006/ole">
            <mc:AlternateContent xmlns:mc="http://schemas.openxmlformats.org/markup-compatibility/2006">
              <mc:Choice xmlns:v="urn:schemas-microsoft-com:vml" Requires="v">
                <p:oleObj spid="_x0000_s16389" name="公式" r:id="rId5" imgW="39928800" imgH="15849600" progId="Equation.3">
                  <p:embed/>
                </p:oleObj>
              </mc:Choice>
              <mc:Fallback>
                <p:oleObj name="公式" r:id="rId5" imgW="39928800" imgH="15849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5100" y="1989138"/>
                        <a:ext cx="3214688" cy="1274762"/>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48133" name="Text Box 5"/>
          <p:cNvSpPr txBox="1">
            <a:spLocks noChangeArrowheads="1"/>
          </p:cNvSpPr>
          <p:nvPr/>
        </p:nvSpPr>
        <p:spPr bwMode="auto">
          <a:xfrm>
            <a:off x="381000" y="4733925"/>
            <a:ext cx="8763000" cy="465138"/>
          </a:xfrm>
          <a:prstGeom prst="rect">
            <a:avLst/>
          </a:prstGeom>
          <a:noFill/>
          <a:ln w="9525">
            <a:noFill/>
            <a:miter lim="800000"/>
            <a:headEnd/>
            <a:tailEnd/>
          </a:ln>
        </p:spPr>
        <p:txBody>
          <a:bodyPr>
            <a:spAutoFit/>
          </a:bodyPr>
          <a:lstStyle/>
          <a:p>
            <a:pPr algn="ctr" eaLnBrk="1" hangingPunct="1">
              <a:lnSpc>
                <a:spcPct val="110000"/>
              </a:lnSpc>
            </a:pPr>
            <a:r>
              <a:rPr lang="en-US" altLang="zh-CN" b="1" i="1"/>
              <a:t>R</a:t>
            </a:r>
            <a:r>
              <a:rPr lang="en-US" altLang="zh-CN" b="1" baseline="-25000"/>
              <a:t>e</a:t>
            </a:r>
            <a:r>
              <a:rPr lang="zh-CN" altLang="en-US" b="1"/>
              <a:t>的共模</a:t>
            </a:r>
            <a:r>
              <a:rPr lang="zh-CN" altLang="en-US" b="1">
                <a:solidFill>
                  <a:srgbClr val="FF0000"/>
                </a:solidFill>
              </a:rPr>
              <a:t>负反馈</a:t>
            </a:r>
            <a:r>
              <a:rPr lang="zh-CN" altLang="en-US" b="1"/>
              <a:t>作用：温度变化所引起的变化等效为共模信号</a:t>
            </a:r>
          </a:p>
        </p:txBody>
      </p:sp>
      <p:sp>
        <p:nvSpPr>
          <p:cNvPr id="48134" name="AutoShape 6"/>
          <p:cNvSpPr>
            <a:spLocks/>
          </p:cNvSpPr>
          <p:nvPr/>
        </p:nvSpPr>
        <p:spPr bwMode="auto">
          <a:xfrm>
            <a:off x="5410200" y="3743325"/>
            <a:ext cx="1754188" cy="685800"/>
          </a:xfrm>
          <a:prstGeom prst="borderCallout1">
            <a:avLst>
              <a:gd name="adj1" fmla="val 16667"/>
              <a:gd name="adj2" fmla="val -4343"/>
              <a:gd name="adj3" fmla="val 56481"/>
              <a:gd name="adj4" fmla="val -116292"/>
            </a:avLst>
          </a:prstGeom>
          <a:solidFill>
            <a:srgbClr val="FFFFCC"/>
          </a:solidFill>
          <a:ln w="19050">
            <a:solidFill>
              <a:srgbClr val="FF3300"/>
            </a:solidFill>
            <a:miter lim="800000"/>
            <a:headEnd/>
            <a:tailEnd/>
          </a:ln>
        </p:spPr>
        <p:txBody>
          <a:bodyPr/>
          <a:lstStyle/>
          <a:p>
            <a:pPr algn="ctr"/>
            <a:r>
              <a:rPr lang="zh-CN" altLang="en-US" sz="2000" b="1">
                <a:solidFill>
                  <a:srgbClr val="000000"/>
                </a:solidFill>
              </a:rPr>
              <a:t>对于每一边电路，</a:t>
            </a:r>
            <a:r>
              <a:rPr lang="en-US" altLang="zh-CN" sz="2000" b="1" i="1">
                <a:solidFill>
                  <a:srgbClr val="000000"/>
                </a:solidFill>
              </a:rPr>
              <a:t>R</a:t>
            </a:r>
            <a:r>
              <a:rPr lang="en-US" altLang="zh-CN" sz="2000" b="1" baseline="-25000">
                <a:solidFill>
                  <a:srgbClr val="000000"/>
                </a:solidFill>
              </a:rPr>
              <a:t>e</a:t>
            </a:r>
            <a:r>
              <a:rPr lang="en-US" altLang="zh-CN" sz="2000" b="1">
                <a:solidFill>
                  <a:srgbClr val="000000"/>
                </a:solidFill>
              </a:rPr>
              <a:t>=?</a:t>
            </a:r>
            <a:endParaRPr lang="en-US" altLang="zh-CN"/>
          </a:p>
        </p:txBody>
      </p:sp>
      <p:sp>
        <p:nvSpPr>
          <p:cNvPr id="48135" name="Text Box 7"/>
          <p:cNvSpPr txBox="1">
            <a:spLocks noChangeArrowheads="1"/>
          </p:cNvSpPr>
          <p:nvPr/>
        </p:nvSpPr>
        <p:spPr bwMode="auto">
          <a:xfrm>
            <a:off x="381000" y="5267325"/>
            <a:ext cx="8534400" cy="466725"/>
          </a:xfrm>
          <a:prstGeom prst="rect">
            <a:avLst/>
          </a:prstGeom>
          <a:solidFill>
            <a:srgbClr val="66FFFF"/>
          </a:solidFill>
          <a:ln w="9525">
            <a:solidFill>
              <a:srgbClr val="FF3300"/>
            </a:solidFill>
            <a:miter lim="800000"/>
            <a:headEnd/>
            <a:tailEnd/>
          </a:ln>
        </p:spPr>
        <p:txBody>
          <a:bodyPr>
            <a:spAutoFit/>
          </a:bodyPr>
          <a:lstStyle/>
          <a:p>
            <a:pPr algn="ctr" eaLnBrk="1" hangingPunct="1">
              <a:spcBef>
                <a:spcPct val="50000"/>
              </a:spcBef>
            </a:pPr>
            <a:r>
              <a:rPr lang="zh-CN" altLang="en-US" b="1"/>
              <a:t>如</a:t>
            </a:r>
            <a:r>
              <a:rPr lang="zh-CN" altLang="en-US" b="1" i="1"/>
              <a:t> </a:t>
            </a:r>
            <a:r>
              <a:rPr lang="en-US" altLang="zh-CN" b="1" i="1"/>
              <a:t>T</a:t>
            </a:r>
            <a:r>
              <a:rPr lang="en-US" altLang="zh-CN" b="1"/>
              <a:t>(℃)↑→</a:t>
            </a:r>
            <a:r>
              <a:rPr lang="en-US" altLang="zh-CN" b="1" i="1"/>
              <a:t>I</a:t>
            </a:r>
            <a:r>
              <a:rPr lang="en-US" altLang="zh-CN" b="1" baseline="-25000"/>
              <a:t>C1</a:t>
            </a:r>
            <a:r>
              <a:rPr lang="en-US" altLang="zh-CN" b="1"/>
              <a:t>↑ </a:t>
            </a:r>
            <a:r>
              <a:rPr lang="en-US" altLang="zh-CN" b="1" i="1"/>
              <a:t>I</a:t>
            </a:r>
            <a:r>
              <a:rPr lang="en-US" altLang="zh-CN" b="1" baseline="-25000"/>
              <a:t>C2</a:t>
            </a:r>
            <a:r>
              <a:rPr lang="en-US" altLang="zh-CN" b="1"/>
              <a:t> ↑→</a:t>
            </a:r>
            <a:r>
              <a:rPr lang="en-US" altLang="zh-CN" b="1" i="1"/>
              <a:t>U</a:t>
            </a:r>
            <a:r>
              <a:rPr lang="en-US" altLang="zh-CN" b="1" baseline="-25000"/>
              <a:t>E</a:t>
            </a:r>
            <a:r>
              <a:rPr lang="en-US" altLang="zh-CN" b="1"/>
              <a:t>↑→ </a:t>
            </a:r>
            <a:r>
              <a:rPr lang="en-US" altLang="zh-CN" b="1" i="1"/>
              <a:t>I</a:t>
            </a:r>
            <a:r>
              <a:rPr lang="en-US" altLang="zh-CN" b="1" baseline="-25000"/>
              <a:t>B1</a:t>
            </a:r>
            <a:r>
              <a:rPr lang="en-US" altLang="zh-CN" b="1"/>
              <a:t> ↓</a:t>
            </a:r>
            <a:r>
              <a:rPr lang="en-US" altLang="zh-CN" b="1" i="1"/>
              <a:t>I</a:t>
            </a:r>
            <a:r>
              <a:rPr lang="en-US" altLang="zh-CN" b="1" baseline="-25000"/>
              <a:t>B2</a:t>
            </a:r>
            <a:r>
              <a:rPr lang="en-US" altLang="zh-CN" b="1"/>
              <a:t> ↓→ </a:t>
            </a:r>
            <a:r>
              <a:rPr lang="en-US" altLang="zh-CN" b="1" i="1"/>
              <a:t>I</a:t>
            </a:r>
            <a:r>
              <a:rPr lang="en-US" altLang="zh-CN" b="1" baseline="-25000"/>
              <a:t>C1</a:t>
            </a:r>
            <a:r>
              <a:rPr lang="en-US" altLang="zh-CN" b="1"/>
              <a:t> ↓ </a:t>
            </a:r>
            <a:r>
              <a:rPr lang="en-US" altLang="zh-CN" b="1" i="1"/>
              <a:t>I</a:t>
            </a:r>
            <a:r>
              <a:rPr lang="en-US" altLang="zh-CN" b="1" baseline="-25000"/>
              <a:t>C2</a:t>
            </a:r>
            <a:r>
              <a:rPr lang="en-US" altLang="zh-CN" b="1"/>
              <a:t> ↓</a:t>
            </a:r>
          </a:p>
        </p:txBody>
      </p:sp>
      <p:sp>
        <p:nvSpPr>
          <p:cNvPr id="48136" name="Text Box 8"/>
          <p:cNvSpPr txBox="1">
            <a:spLocks noChangeArrowheads="1"/>
          </p:cNvSpPr>
          <p:nvPr/>
        </p:nvSpPr>
        <p:spPr bwMode="auto">
          <a:xfrm>
            <a:off x="304800" y="5800725"/>
            <a:ext cx="7086600" cy="493713"/>
          </a:xfrm>
          <a:prstGeom prst="rect">
            <a:avLst/>
          </a:prstGeom>
          <a:noFill/>
          <a:ln w="9525">
            <a:noFill/>
            <a:miter lim="800000"/>
            <a:headEnd/>
            <a:tailEnd/>
          </a:ln>
        </p:spPr>
        <p:txBody>
          <a:bodyPr>
            <a:spAutoFit/>
          </a:bodyPr>
          <a:lstStyle/>
          <a:p>
            <a:pPr algn="ctr" eaLnBrk="1" hangingPunct="1">
              <a:lnSpc>
                <a:spcPct val="110000"/>
              </a:lnSpc>
              <a:spcAft>
                <a:spcPct val="20000"/>
              </a:spcAft>
            </a:pPr>
            <a:r>
              <a:rPr lang="zh-CN" altLang="en-US" b="1"/>
              <a:t>抑制了每只差分管集电极电流、电位的变化。</a:t>
            </a:r>
            <a:endParaRPr lang="zh-CN" altLang="en-US"/>
          </a:p>
        </p:txBody>
      </p:sp>
      <p:sp>
        <p:nvSpPr>
          <p:cNvPr id="9" name="TextBox 8"/>
          <p:cNvSpPr txBox="1"/>
          <p:nvPr/>
        </p:nvSpPr>
        <p:spPr>
          <a:xfrm>
            <a:off x="7394575" y="4019550"/>
            <a:ext cx="1481138" cy="461963"/>
          </a:xfrm>
          <a:prstGeom prst="rect">
            <a:avLst/>
          </a:prstGeom>
          <a:solidFill>
            <a:schemeClr val="accent1">
              <a:lumMod val="20000"/>
              <a:lumOff val="80000"/>
            </a:schemeClr>
          </a:solidFill>
          <a:ln>
            <a:solidFill>
              <a:schemeClr val="accent1"/>
            </a:solidFill>
          </a:ln>
        </p:spPr>
        <p:txBody>
          <a:bodyPr>
            <a:spAutoFit/>
          </a:bodyPr>
          <a:lstStyle/>
          <a:p>
            <a:pPr algn="ctr" eaLnBrk="1" hangingPunct="1">
              <a:defRPr/>
            </a:pPr>
            <a:r>
              <a:rPr lang="zh-CN" altLang="en-US" dirty="0"/>
              <a:t>为</a:t>
            </a:r>
            <a:r>
              <a:rPr lang="en-US" altLang="zh-CN" dirty="0"/>
              <a:t>2</a:t>
            </a:r>
            <a:r>
              <a:rPr lang="zh-CN" altLang="en-US" dirty="0"/>
              <a:t>倍</a:t>
            </a:r>
            <a:r>
              <a:rPr lang="en-US" altLang="zh-CN" dirty="0"/>
              <a:t>Re</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Effect transition="in" filter="wipe(left)">
                                      <p:cBhvr>
                                        <p:cTn id="7" dur="500"/>
                                        <p:tgtEl>
                                          <p:spTgt spid="481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133">
                                            <p:txEl>
                                              <p:pRg st="0" end="0"/>
                                            </p:txEl>
                                          </p:spTgt>
                                        </p:tgtEl>
                                        <p:attrNameLst>
                                          <p:attrName>style.visibility</p:attrName>
                                        </p:attrNameLst>
                                      </p:cBhvr>
                                      <p:to>
                                        <p:strVal val="visible"/>
                                      </p:to>
                                    </p:set>
                                    <p:animEffect transition="in" filter="wipe(left)">
                                      <p:cBhvr>
                                        <p:cTn id="17" dur="500"/>
                                        <p:tgtEl>
                                          <p:spTgt spid="4813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135"/>
                                        </p:tgtEl>
                                        <p:attrNameLst>
                                          <p:attrName>style.visibility</p:attrName>
                                        </p:attrNameLst>
                                      </p:cBhvr>
                                      <p:to>
                                        <p:strVal val="visible"/>
                                      </p:to>
                                    </p:set>
                                    <p:animEffect transition="in" filter="wipe(left)">
                                      <p:cBhvr>
                                        <p:cTn id="22" dur="500"/>
                                        <p:tgtEl>
                                          <p:spTgt spid="481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8136"/>
                                        </p:tgtEl>
                                        <p:attrNameLst>
                                          <p:attrName>style.visibility</p:attrName>
                                        </p:attrNameLst>
                                      </p:cBhvr>
                                      <p:to>
                                        <p:strVal val="visible"/>
                                      </p:to>
                                    </p:set>
                                    <p:animEffect transition="in" filter="wipe(left)">
                                      <p:cBhvr>
                                        <p:cTn id="27" dur="500"/>
                                        <p:tgtEl>
                                          <p:spTgt spid="48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build="p" autoUpdateAnimBg="0"/>
      <p:bldP spid="48134" grpId="0" animBg="1" autoUpdateAnimBg="0"/>
      <p:bldP spid="48135" grpId="0" animBg="1" autoUpdateAnimBg="0"/>
      <p:bldP spid="48136" grpId="0" autoUpdateAnimBg="0"/>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noChangeArrowheads="1"/>
          </p:cNvPicPr>
          <p:nvPr/>
        </p:nvPicPr>
        <p:blipFill>
          <a:blip r:embed="rId3"/>
          <a:srcRect/>
          <a:stretch>
            <a:fillRect/>
          </a:stretch>
        </p:blipFill>
        <p:spPr bwMode="auto">
          <a:xfrm>
            <a:off x="5016500" y="1792288"/>
            <a:ext cx="3457575" cy="2038350"/>
          </a:xfrm>
          <a:prstGeom prst="rect">
            <a:avLst/>
          </a:prstGeom>
          <a:noFill/>
          <a:ln w="9525">
            <a:noFill/>
            <a:miter lim="800000"/>
            <a:headEnd/>
            <a:tailEnd/>
          </a:ln>
        </p:spPr>
      </p:pic>
      <p:graphicFrame>
        <p:nvGraphicFramePr>
          <p:cNvPr id="33794" name="Object 2"/>
          <p:cNvGraphicFramePr>
            <a:graphicFrameLocks noChangeAspect="1"/>
          </p:cNvGraphicFramePr>
          <p:nvPr>
            <p:extLst>
              <p:ext uri="{D42A27DB-BD31-4B8C-83A1-F6EECF244321}">
                <p14:modId xmlns:p14="http://schemas.microsoft.com/office/powerpoint/2010/main" val="2130474079"/>
              </p:ext>
            </p:extLst>
          </p:nvPr>
        </p:nvGraphicFramePr>
        <p:xfrm>
          <a:off x="406400" y="1556919"/>
          <a:ext cx="4029075" cy="2760663"/>
        </p:xfrm>
        <a:graphic>
          <a:graphicData uri="http://schemas.openxmlformats.org/presentationml/2006/ole">
            <mc:AlternateContent xmlns:mc="http://schemas.openxmlformats.org/markup-compatibility/2006">
              <mc:Choice xmlns:v="urn:schemas-microsoft-com:vml" Requires="v">
                <p:oleObj spid="_x0000_s17414" name="Photo Editor 照片" r:id="rId4" imgW="14028571" imgH="9609524" progId="">
                  <p:embed/>
                </p:oleObj>
              </mc:Choice>
              <mc:Fallback>
                <p:oleObj name="Photo Editor 照片" r:id="rId4" imgW="14028571" imgH="9609524"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1556919"/>
                        <a:ext cx="4029075" cy="2760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797" name="Rectangle 2"/>
          <p:cNvSpPr>
            <a:spLocks noGrp="1" noChangeArrowheads="1"/>
          </p:cNvSpPr>
          <p:nvPr>
            <p:ph type="title"/>
          </p:nvPr>
        </p:nvSpPr>
        <p:spPr>
          <a:xfrm>
            <a:off x="2948960" y="320592"/>
            <a:ext cx="5133975" cy="701675"/>
          </a:xfrm>
          <a:solidFill>
            <a:schemeClr val="bg1"/>
          </a:solidFill>
        </p:spPr>
        <p:txBody>
          <a:bodyPr anchor="t"/>
          <a:lstStyle/>
          <a:p>
            <a:pPr algn="l"/>
            <a:r>
              <a:rPr lang="zh-CN" altLang="en-US" sz="2800" b="1" u="sng" dirty="0">
                <a:solidFill>
                  <a:srgbClr val="FF0000"/>
                </a:solidFill>
              </a:rPr>
              <a:t>共模信号</a:t>
            </a:r>
            <a:r>
              <a:rPr lang="zh-CN" altLang="en-US" sz="2800" b="1" dirty="0"/>
              <a:t>作用下的</a:t>
            </a:r>
            <a:r>
              <a:rPr lang="zh-CN" altLang="en-US" sz="2800" b="1" dirty="0">
                <a:solidFill>
                  <a:srgbClr val="FF0000"/>
                </a:solidFill>
              </a:rPr>
              <a:t>动态分析</a:t>
            </a:r>
            <a:endParaRPr lang="zh-CN" altLang="zh-CN" sz="2800" b="1" dirty="0">
              <a:solidFill>
                <a:srgbClr val="FF0000"/>
              </a:solidFill>
            </a:endParaRPr>
          </a:p>
        </p:txBody>
      </p:sp>
      <p:sp>
        <p:nvSpPr>
          <p:cNvPr id="8" name="椭圆 7"/>
          <p:cNvSpPr>
            <a:spLocks noChangeArrowheads="1"/>
          </p:cNvSpPr>
          <p:nvPr/>
        </p:nvSpPr>
        <p:spPr bwMode="auto">
          <a:xfrm flipH="1" flipV="1">
            <a:off x="6030913" y="2982913"/>
            <a:ext cx="676275" cy="528637"/>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9" name="椭圆 8"/>
          <p:cNvSpPr>
            <a:spLocks noChangeArrowheads="1"/>
          </p:cNvSpPr>
          <p:nvPr/>
        </p:nvSpPr>
        <p:spPr bwMode="auto">
          <a:xfrm flipH="1" flipV="1">
            <a:off x="2482850" y="3020594"/>
            <a:ext cx="304800" cy="228600"/>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10" name="直接箭头连接符 9"/>
          <p:cNvCxnSpPr>
            <a:cxnSpLocks noChangeShapeType="1"/>
            <a:stCxn id="9" idx="1"/>
          </p:cNvCxnSpPr>
          <p:nvPr/>
        </p:nvCxnSpPr>
        <p:spPr bwMode="auto">
          <a:xfrm flipV="1">
            <a:off x="2743013" y="3065838"/>
            <a:ext cx="3626037" cy="149878"/>
          </a:xfrm>
          <a:prstGeom prst="straightConnector1">
            <a:avLst/>
          </a:prstGeom>
          <a:noFill/>
          <a:ln w="9525" algn="ctr">
            <a:solidFill>
              <a:srgbClr val="FF0000"/>
            </a:solidFill>
            <a:round/>
            <a:headEnd/>
            <a:tailEnd type="triangle" w="med" len="med"/>
          </a:ln>
        </p:spPr>
      </p:cxnSp>
      <p:sp>
        <p:nvSpPr>
          <p:cNvPr id="4" name="箭头: 下 3"/>
          <p:cNvSpPr/>
          <p:nvPr/>
        </p:nvSpPr>
        <p:spPr>
          <a:xfrm rot="16903882">
            <a:off x="4720049" y="-324644"/>
            <a:ext cx="144463" cy="2817813"/>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文本框 4"/>
          <p:cNvSpPr txBox="1">
            <a:spLocks noChangeArrowheads="1"/>
          </p:cNvSpPr>
          <p:nvPr/>
        </p:nvSpPr>
        <p:spPr bwMode="auto">
          <a:xfrm>
            <a:off x="5992813" y="1403350"/>
            <a:ext cx="669925" cy="368300"/>
          </a:xfrm>
          <a:prstGeom prst="rect">
            <a:avLst/>
          </a:prstGeom>
          <a:solidFill>
            <a:srgbClr val="8DD78D"/>
          </a:solidFill>
          <a:ln w="9525">
            <a:noFill/>
            <a:miter lim="800000"/>
            <a:headEnd/>
            <a:tailEnd/>
          </a:ln>
        </p:spPr>
        <p:txBody>
          <a:bodyPr>
            <a:spAutoFit/>
          </a:bodyPr>
          <a:lstStyle/>
          <a:p>
            <a:pPr algn="ctr"/>
            <a:r>
              <a:rPr lang="en-US" altLang="zh-CN" sz="1800"/>
              <a:t>Re</a:t>
            </a:r>
            <a:r>
              <a:rPr lang="zh-CN" altLang="en-US" sz="1800"/>
              <a:t>？</a:t>
            </a:r>
          </a:p>
        </p:txBody>
      </p:sp>
      <p:cxnSp>
        <p:nvCxnSpPr>
          <p:cNvPr id="3" name="直接连接符 2"/>
          <p:cNvCxnSpPr>
            <a:cxnSpLocks noChangeShapeType="1"/>
          </p:cNvCxnSpPr>
          <p:nvPr/>
        </p:nvCxnSpPr>
        <p:spPr bwMode="auto">
          <a:xfrm>
            <a:off x="2635250" y="1118769"/>
            <a:ext cx="0" cy="3636963"/>
          </a:xfrm>
          <a:prstGeom prst="line">
            <a:avLst/>
          </a:prstGeom>
          <a:noFill/>
          <a:ln w="38100" algn="ctr">
            <a:solidFill>
              <a:schemeClr val="accent1"/>
            </a:solidFill>
            <a:prstDash val="sysDot"/>
            <a:round/>
            <a:headEnd/>
            <a:tailEnd/>
          </a:ln>
        </p:spPr>
      </p:cxnSp>
      <p:sp>
        <p:nvSpPr>
          <p:cNvPr id="18" name="手杖形箭头 21"/>
          <p:cNvSpPr/>
          <p:nvPr/>
        </p:nvSpPr>
        <p:spPr bwMode="auto">
          <a:xfrm rot="6058721">
            <a:off x="5042694" y="2674144"/>
            <a:ext cx="833438" cy="40005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sp>
        <p:nvSpPr>
          <p:cNvPr id="21" name="右弧形箭头 12"/>
          <p:cNvSpPr>
            <a:spLocks noChangeArrowheads="1"/>
          </p:cNvSpPr>
          <p:nvPr/>
        </p:nvSpPr>
        <p:spPr bwMode="auto">
          <a:xfrm>
            <a:off x="1658938" y="3325394"/>
            <a:ext cx="471487" cy="614363"/>
          </a:xfrm>
          <a:prstGeom prst="curvedLeftArrow">
            <a:avLst>
              <a:gd name="adj1" fmla="val 24999"/>
              <a:gd name="adj2" fmla="val 49998"/>
              <a:gd name="adj3" fmla="val 25000"/>
            </a:avLst>
          </a:prstGeom>
          <a:solidFill>
            <a:schemeClr val="accent1"/>
          </a:solidFill>
          <a:ln w="9525" algn="ctr">
            <a:solidFill>
              <a:schemeClr val="tx1"/>
            </a:solidFill>
            <a:round/>
            <a:headEnd/>
            <a:tailEnd/>
          </a:ln>
        </p:spPr>
        <p:txBody>
          <a:bodyPr/>
          <a:lstStyle/>
          <a:p>
            <a:pPr algn="ctr" eaLnBrk="1" hangingPunct="1"/>
            <a:endParaRPr lang="zh-CN" altLang="en-US"/>
          </a:p>
        </p:txBody>
      </p:sp>
      <p:sp>
        <p:nvSpPr>
          <p:cNvPr id="2" name="文本框 1">
            <a:extLst>
              <a:ext uri="{FF2B5EF4-FFF2-40B4-BE49-F238E27FC236}">
                <a16:creationId xmlns:a16="http://schemas.microsoft.com/office/drawing/2014/main" id="{16C96DE3-13DC-4839-B5C7-62167112DBAB}"/>
              </a:ext>
            </a:extLst>
          </p:cNvPr>
          <p:cNvSpPr txBox="1"/>
          <p:nvPr/>
        </p:nvSpPr>
        <p:spPr>
          <a:xfrm>
            <a:off x="116417" y="733185"/>
            <a:ext cx="2381122" cy="461665"/>
          </a:xfrm>
          <a:prstGeom prst="rect">
            <a:avLst/>
          </a:prstGeom>
          <a:solidFill>
            <a:schemeClr val="accent5"/>
          </a:solidFill>
        </p:spPr>
        <p:txBody>
          <a:bodyPr wrap="square" rtlCol="0">
            <a:spAutoFit/>
          </a:bodyPr>
          <a:lstStyle/>
          <a:p>
            <a:r>
              <a:rPr lang="zh-CN" altLang="en-US" dirty="0"/>
              <a:t>单端</a:t>
            </a:r>
            <a:r>
              <a:rPr lang="en-US" altLang="zh-CN" dirty="0"/>
              <a:t>U01</a:t>
            </a:r>
            <a:r>
              <a:rPr lang="zh-CN" altLang="en-US" dirty="0"/>
              <a:t>输出？</a:t>
            </a:r>
          </a:p>
        </p:txBody>
      </p:sp>
      <p:grpSp>
        <p:nvGrpSpPr>
          <p:cNvPr id="14" name="组合 13">
            <a:extLst>
              <a:ext uri="{FF2B5EF4-FFF2-40B4-BE49-F238E27FC236}">
                <a16:creationId xmlns:a16="http://schemas.microsoft.com/office/drawing/2014/main" id="{C3437D6F-A056-4240-A684-88299DA60DEB}"/>
              </a:ext>
            </a:extLst>
          </p:cNvPr>
          <p:cNvGrpSpPr/>
          <p:nvPr/>
        </p:nvGrpSpPr>
        <p:grpSpPr>
          <a:xfrm>
            <a:off x="2948960" y="4679651"/>
            <a:ext cx="2837702" cy="2038349"/>
            <a:chOff x="2948960" y="4679651"/>
            <a:chExt cx="2837702" cy="2038349"/>
          </a:xfrm>
        </p:grpSpPr>
        <p:pic>
          <p:nvPicPr>
            <p:cNvPr id="19" name="Picture 2">
              <a:extLst>
                <a:ext uri="{FF2B5EF4-FFF2-40B4-BE49-F238E27FC236}">
                  <a16:creationId xmlns:a16="http://schemas.microsoft.com/office/drawing/2014/main" id="{5F927F2B-090F-4D53-860C-531BABE80A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960" y="4679651"/>
              <a:ext cx="2837702" cy="2038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对象 26">
              <a:extLst>
                <a:ext uri="{FF2B5EF4-FFF2-40B4-BE49-F238E27FC236}">
                  <a16:creationId xmlns:a16="http://schemas.microsoft.com/office/drawing/2014/main" id="{0F40E9DB-5DF1-48DF-A1C7-0314F2214E3C}"/>
                </a:ext>
              </a:extLst>
            </p:cNvPr>
            <p:cNvGraphicFramePr>
              <a:graphicFrameLocks noChangeAspect="1"/>
            </p:cNvGraphicFramePr>
            <p:nvPr>
              <p:extLst>
                <p:ext uri="{D42A27DB-BD31-4B8C-83A1-F6EECF244321}">
                  <p14:modId xmlns:p14="http://schemas.microsoft.com/office/powerpoint/2010/main" val="773039992"/>
                </p:ext>
              </p:extLst>
            </p:nvPr>
          </p:nvGraphicFramePr>
          <p:xfrm>
            <a:off x="4019822" y="5637386"/>
            <a:ext cx="295275" cy="378230"/>
          </p:xfrm>
          <a:graphic>
            <a:graphicData uri="http://schemas.openxmlformats.org/presentationml/2006/ole">
              <mc:AlternateContent xmlns:mc="http://schemas.openxmlformats.org/markup-compatibility/2006">
                <mc:Choice xmlns:v="urn:schemas-microsoft-com:vml" Requires="v">
                  <p:oleObj spid="_x0000_s17415" name="BMP 图像" r:id="rId7" imgW="166680" imgH="138240" progId="Paint.Picture">
                    <p:embed/>
                  </p:oleObj>
                </mc:Choice>
                <mc:Fallback>
                  <p:oleObj name="BMP 图像" r:id="rId7" imgW="166680" imgH="138240" progId="Paint.Picture">
                    <p:embed/>
                    <p:pic>
                      <p:nvPicPr>
                        <p:cNvPr id="7" name="对象 6">
                          <a:extLst>
                            <a:ext uri="{FF2B5EF4-FFF2-40B4-BE49-F238E27FC236}">
                              <a16:creationId xmlns:a16="http://schemas.microsoft.com/office/drawing/2014/main" id="{E63D4F84-90E0-4A00-AD52-AB45738B5FC3}"/>
                            </a:ext>
                          </a:extLst>
                        </p:cNvPr>
                        <p:cNvPicPr/>
                        <p:nvPr/>
                      </p:nvPicPr>
                      <p:blipFill>
                        <a:blip r:embed="rId8"/>
                        <a:stretch>
                          <a:fillRect/>
                        </a:stretch>
                      </p:blipFill>
                      <p:spPr>
                        <a:xfrm>
                          <a:off x="4019822" y="5637386"/>
                          <a:ext cx="295275" cy="378230"/>
                        </a:xfrm>
                        <a:prstGeom prst="rect">
                          <a:avLst/>
                        </a:prstGeom>
                      </p:spPr>
                    </p:pic>
                  </p:oleObj>
                </mc:Fallback>
              </mc:AlternateContent>
            </a:graphicData>
          </a:graphic>
        </p:graphicFrame>
      </p:grpSp>
      <p:graphicFrame>
        <p:nvGraphicFramePr>
          <p:cNvPr id="13" name="对象 12">
            <a:extLst>
              <a:ext uri="{FF2B5EF4-FFF2-40B4-BE49-F238E27FC236}">
                <a16:creationId xmlns:a16="http://schemas.microsoft.com/office/drawing/2014/main" id="{0F3016B9-E9FB-47E5-97B0-BBAE98A3ADB8}"/>
              </a:ext>
            </a:extLst>
          </p:cNvPr>
          <p:cNvGraphicFramePr>
            <a:graphicFrameLocks noChangeAspect="1"/>
          </p:cNvGraphicFramePr>
          <p:nvPr>
            <p:extLst>
              <p:ext uri="{D42A27DB-BD31-4B8C-83A1-F6EECF244321}">
                <p14:modId xmlns:p14="http://schemas.microsoft.com/office/powerpoint/2010/main" val="2359126155"/>
              </p:ext>
            </p:extLst>
          </p:nvPr>
        </p:nvGraphicFramePr>
        <p:xfrm>
          <a:off x="78599" y="4567970"/>
          <a:ext cx="2797592" cy="2138832"/>
        </p:xfrm>
        <a:graphic>
          <a:graphicData uri="http://schemas.openxmlformats.org/presentationml/2006/ole">
            <mc:AlternateContent xmlns:mc="http://schemas.openxmlformats.org/markup-compatibility/2006">
              <mc:Choice xmlns:v="urn:schemas-microsoft-com:vml" Requires="v">
                <p:oleObj spid="_x0000_s17416" name="BMP 图像" r:id="rId9" imgW="1557360" imgH="1190520" progId="Paint.Picture">
                  <p:embed/>
                </p:oleObj>
              </mc:Choice>
              <mc:Fallback>
                <p:oleObj name="BMP 图像" r:id="rId9" imgW="1557360" imgH="1190520" progId="Paint.Picture">
                  <p:embed/>
                  <p:pic>
                    <p:nvPicPr>
                      <p:cNvPr id="0" name=""/>
                      <p:cNvPicPr/>
                      <p:nvPr/>
                    </p:nvPicPr>
                    <p:blipFill>
                      <a:blip r:embed="rId10"/>
                      <a:stretch>
                        <a:fillRect/>
                      </a:stretch>
                    </p:blipFill>
                    <p:spPr>
                      <a:xfrm>
                        <a:off x="78599" y="4567970"/>
                        <a:ext cx="2797592" cy="2138832"/>
                      </a:xfrm>
                      <a:prstGeom prst="rect">
                        <a:avLst/>
                      </a:prstGeom>
                    </p:spPr>
                  </p:pic>
                </p:oleObj>
              </mc:Fallback>
            </mc:AlternateContent>
          </a:graphicData>
        </a:graphic>
      </p:graphicFrame>
      <p:graphicFrame>
        <p:nvGraphicFramePr>
          <p:cNvPr id="56324" name="Object 3"/>
          <p:cNvGraphicFramePr>
            <a:graphicFrameLocks noChangeAspect="1"/>
          </p:cNvGraphicFramePr>
          <p:nvPr>
            <p:extLst>
              <p:ext uri="{D42A27DB-BD31-4B8C-83A1-F6EECF244321}">
                <p14:modId xmlns:p14="http://schemas.microsoft.com/office/powerpoint/2010/main" val="1144567978"/>
              </p:ext>
            </p:extLst>
          </p:nvPr>
        </p:nvGraphicFramePr>
        <p:xfrm>
          <a:off x="5016500" y="3830638"/>
          <a:ext cx="3857625" cy="938212"/>
        </p:xfrm>
        <a:graphic>
          <a:graphicData uri="http://schemas.openxmlformats.org/presentationml/2006/ole">
            <mc:AlternateContent xmlns:mc="http://schemas.openxmlformats.org/markup-compatibility/2006">
              <mc:Choice xmlns:v="urn:schemas-microsoft-com:vml" Requires="v">
                <p:oleObj spid="_x0000_s17417" name="Equation" r:id="rId11" imgW="1955800" imgH="469900" progId="Equation.DSMT4">
                  <p:embed/>
                </p:oleObj>
              </mc:Choice>
              <mc:Fallback>
                <p:oleObj name="Equation" r:id="rId11" imgW="1955800" imgH="4699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6500" y="3830638"/>
                        <a:ext cx="3857625" cy="938212"/>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6" name="矩形 5">
            <a:extLst>
              <a:ext uri="{FF2B5EF4-FFF2-40B4-BE49-F238E27FC236}">
                <a16:creationId xmlns:a16="http://schemas.microsoft.com/office/drawing/2014/main" id="{E0ACDFE9-1039-AC24-F86C-9915826A464B}"/>
              </a:ext>
            </a:extLst>
          </p:cNvPr>
          <p:cNvSpPr/>
          <p:nvPr/>
        </p:nvSpPr>
        <p:spPr bwMode="auto">
          <a:xfrm>
            <a:off x="392760" y="2712515"/>
            <a:ext cx="767114" cy="951222"/>
          </a:xfrm>
          <a:prstGeom prst="rect">
            <a:avLst/>
          </a:prstGeom>
          <a:noFill/>
          <a:ln w="28575"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cxnSp>
        <p:nvCxnSpPr>
          <p:cNvPr id="12" name="直接箭头连接符 11">
            <a:extLst>
              <a:ext uri="{FF2B5EF4-FFF2-40B4-BE49-F238E27FC236}">
                <a16:creationId xmlns:a16="http://schemas.microsoft.com/office/drawing/2014/main" id="{ECB93770-ADE6-46FA-15D1-44E6BC96097C}"/>
              </a:ext>
            </a:extLst>
          </p:cNvPr>
          <p:cNvCxnSpPr/>
          <p:nvPr/>
        </p:nvCxnSpPr>
        <p:spPr bwMode="auto">
          <a:xfrm>
            <a:off x="2166270" y="1084262"/>
            <a:ext cx="254667" cy="1298925"/>
          </a:xfrm>
          <a:prstGeom prst="straightConnector1">
            <a:avLst/>
          </a:prstGeom>
          <a:solidFill>
            <a:schemeClr val="accent1"/>
          </a:solidFill>
          <a:ln w="57150" cap="flat" cmpd="sng" algn="ctr">
            <a:solidFill>
              <a:srgbClr val="0000FF"/>
            </a:solidFill>
            <a:prstDash val="sysDot"/>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 name="文本框 6">
            <a:extLst>
              <a:ext uri="{FF2B5EF4-FFF2-40B4-BE49-F238E27FC236}">
                <a16:creationId xmlns:a16="http://schemas.microsoft.com/office/drawing/2014/main" id="{226CCB8C-25B6-8514-D4D9-04EE9008A652}"/>
              </a:ext>
            </a:extLst>
          </p:cNvPr>
          <p:cNvSpPr txBox="1"/>
          <p:nvPr/>
        </p:nvSpPr>
        <p:spPr>
          <a:xfrm>
            <a:off x="83177" y="4182839"/>
            <a:ext cx="2381122" cy="461665"/>
          </a:xfrm>
          <a:prstGeom prst="rect">
            <a:avLst/>
          </a:prstGeom>
          <a:solidFill>
            <a:schemeClr val="accent5"/>
          </a:solidFill>
        </p:spPr>
        <p:txBody>
          <a:bodyPr wrap="square" rtlCol="0">
            <a:spAutoFit/>
          </a:bodyPr>
          <a:lstStyle/>
          <a:p>
            <a:r>
              <a:rPr lang="zh-CN" altLang="en-US" sz="2400" b="1" u="sng" dirty="0">
                <a:solidFill>
                  <a:srgbClr val="FF0000"/>
                </a:solidFill>
              </a:rPr>
              <a:t>共模输入回路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blinds(horizontal)">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blinds(horizontal)">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6324"/>
                                        </p:tgtEl>
                                        <p:attrNameLst>
                                          <p:attrName>style.visibility</p:attrName>
                                        </p:attrNameLst>
                                      </p:cBhvr>
                                      <p:to>
                                        <p:strVal val="visible"/>
                                      </p:to>
                                    </p:set>
                                    <p:animEffect transition="in" filter="wipe(left)">
                                      <p:cBhvr>
                                        <p:cTn id="58" dur="500"/>
                                        <p:tgtEl>
                                          <p:spTgt spid="56324"/>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1" nodeType="clickEffect">
                                  <p:stCondLst>
                                    <p:cond delay="0"/>
                                  </p:stCondLst>
                                  <p:childTnLst>
                                    <p:animEffect transition="out" filter="fade">
                                      <p:cBhvr>
                                        <p:cTn id="66" dur="500" tmFilter="0, 0; .2, .5; .8, .5; 1, 0"/>
                                        <p:tgtEl>
                                          <p:spTgt spid="6"/>
                                        </p:tgtEl>
                                      </p:cBhvr>
                                    </p:animEffect>
                                    <p:animScale>
                                      <p:cBhvr>
                                        <p:cTn id="67" dur="250" autoRev="1" fill="hold"/>
                                        <p:tgtEl>
                                          <p:spTgt spid="6"/>
                                        </p:tgtEl>
                                      </p:cBhvr>
                                      <p:by x="105000" y="105000"/>
                                    </p:animScale>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animBg="1"/>
      <p:bldP spid="5" grpId="0" animBg="1"/>
      <p:bldP spid="21" grpId="0" animBg="1"/>
      <p:bldP spid="6" grpId="0" animBg="1"/>
      <p:bldP spid="6" grpId="1"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p:cNvGraphicFramePr>
            <a:graphicFrameLocks noChangeAspect="1"/>
          </p:cNvGraphicFramePr>
          <p:nvPr/>
        </p:nvGraphicFramePr>
        <p:xfrm>
          <a:off x="3635375" y="1700213"/>
          <a:ext cx="5040313" cy="3387725"/>
        </p:xfrm>
        <a:graphic>
          <a:graphicData uri="http://schemas.openxmlformats.org/presentationml/2006/ole">
            <mc:AlternateContent xmlns:mc="http://schemas.openxmlformats.org/markup-compatibility/2006">
              <mc:Choice xmlns:v="urn:schemas-microsoft-com:vml" Requires="v">
                <p:oleObj spid="_x0000_s18439" name="Photo Editor 照片" r:id="rId4" imgW="14980952" imgH="10066667" progId="">
                  <p:embed/>
                </p:oleObj>
              </mc:Choice>
              <mc:Fallback>
                <p:oleObj name="Photo Editor 照片" r:id="rId4" imgW="14980952" imgH="10066667"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1700213"/>
                        <a:ext cx="5040313"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3" name="Rectangle 3"/>
          <p:cNvSpPr>
            <a:spLocks noGrp="1" noChangeArrowheads="1"/>
          </p:cNvSpPr>
          <p:nvPr>
            <p:ph type="title"/>
          </p:nvPr>
        </p:nvSpPr>
        <p:spPr>
          <a:xfrm>
            <a:off x="323850" y="908050"/>
            <a:ext cx="5111750" cy="650875"/>
          </a:xfrm>
        </p:spPr>
        <p:txBody>
          <a:bodyPr/>
          <a:lstStyle/>
          <a:p>
            <a:pPr algn="l"/>
            <a:r>
              <a:rPr lang="en-US" altLang="zh-CN" sz="3200" b="1">
                <a:solidFill>
                  <a:schemeClr val="tx1"/>
                </a:solidFill>
                <a:latin typeface="华文行楷" pitchFamily="2" charset="-122"/>
                <a:ea typeface="华文行楷" pitchFamily="2" charset="-122"/>
              </a:rPr>
              <a:t>3.  </a:t>
            </a:r>
            <a:r>
              <a:rPr lang="zh-CN" altLang="en-US" sz="3200" b="1">
                <a:solidFill>
                  <a:schemeClr val="tx1"/>
                </a:solidFill>
                <a:latin typeface="华文行楷" pitchFamily="2" charset="-122"/>
                <a:ea typeface="华文行楷" pitchFamily="2" charset="-122"/>
              </a:rPr>
              <a:t>放大差模信号</a:t>
            </a:r>
            <a:endParaRPr lang="zh-CN" altLang="en-US" sz="2800" b="1" baseline="-25000">
              <a:solidFill>
                <a:schemeClr val="tx1"/>
              </a:solidFill>
              <a:latin typeface="华文行楷" pitchFamily="2" charset="-122"/>
              <a:ea typeface="华文行楷" pitchFamily="2" charset="-122"/>
            </a:endParaRPr>
          </a:p>
        </p:txBody>
      </p:sp>
      <p:graphicFrame>
        <p:nvGraphicFramePr>
          <p:cNvPr id="49156" name="Object 3"/>
          <p:cNvGraphicFramePr>
            <a:graphicFrameLocks noChangeAspect="1"/>
          </p:cNvGraphicFramePr>
          <p:nvPr/>
        </p:nvGraphicFramePr>
        <p:xfrm>
          <a:off x="1295400" y="3228975"/>
          <a:ext cx="1868488" cy="1981200"/>
        </p:xfrm>
        <a:graphic>
          <a:graphicData uri="http://schemas.openxmlformats.org/presentationml/2006/ole">
            <mc:AlternateContent xmlns:mc="http://schemas.openxmlformats.org/markup-compatibility/2006">
              <mc:Choice xmlns:v="urn:schemas-microsoft-com:vml" Requires="v">
                <p:oleObj spid="_x0000_s18440" name="公式" r:id="rId6" imgW="20726400" imgH="21945600" progId="Equation.3">
                  <p:embed/>
                </p:oleObj>
              </mc:Choice>
              <mc:Fallback>
                <p:oleObj name="公式" r:id="rId6" imgW="20726400" imgH="21945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3228975"/>
                        <a:ext cx="1868488" cy="1981200"/>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sp>
        <p:nvSpPr>
          <p:cNvPr id="49157" name="Text Box 5"/>
          <p:cNvSpPr txBox="1">
            <a:spLocks noChangeArrowheads="1"/>
          </p:cNvSpPr>
          <p:nvPr/>
        </p:nvSpPr>
        <p:spPr bwMode="auto">
          <a:xfrm>
            <a:off x="533400" y="5514975"/>
            <a:ext cx="8610600" cy="457200"/>
          </a:xfrm>
          <a:prstGeom prst="rect">
            <a:avLst/>
          </a:prstGeom>
          <a:noFill/>
          <a:ln w="9525">
            <a:noFill/>
            <a:miter lim="800000"/>
            <a:headEnd/>
            <a:tailEnd/>
          </a:ln>
        </p:spPr>
        <p:txBody>
          <a:bodyPr>
            <a:spAutoFit/>
          </a:bodyPr>
          <a:lstStyle/>
          <a:p>
            <a:pPr algn="ctr" eaLnBrk="1" hangingPunct="1">
              <a:spcBef>
                <a:spcPct val="50000"/>
              </a:spcBef>
            </a:pPr>
            <a:r>
              <a:rPr lang="en-US" altLang="zh-CN" b="1">
                <a:solidFill>
                  <a:srgbClr val="A50021"/>
                </a:solidFill>
              </a:rPr>
              <a:t>△</a:t>
            </a:r>
            <a:r>
              <a:rPr lang="en-US" altLang="zh-CN" b="1" i="1">
                <a:solidFill>
                  <a:srgbClr val="A50021"/>
                </a:solidFill>
              </a:rPr>
              <a:t>i</a:t>
            </a:r>
            <a:r>
              <a:rPr lang="en-US" altLang="zh-CN" b="1" baseline="-25000">
                <a:solidFill>
                  <a:srgbClr val="A50021"/>
                </a:solidFill>
              </a:rPr>
              <a:t>E1</a:t>
            </a:r>
            <a:r>
              <a:rPr lang="en-US" altLang="zh-CN" b="1">
                <a:solidFill>
                  <a:srgbClr val="A50021"/>
                </a:solidFill>
              </a:rPr>
              <a:t>=</a:t>
            </a:r>
            <a:r>
              <a:rPr lang="zh-CN" altLang="en-US" b="1">
                <a:solidFill>
                  <a:srgbClr val="A50021"/>
                </a:solidFill>
              </a:rPr>
              <a:t>－△ </a:t>
            </a:r>
            <a:r>
              <a:rPr lang="en-US" altLang="zh-CN" b="1" i="1">
                <a:solidFill>
                  <a:srgbClr val="A50021"/>
                </a:solidFill>
              </a:rPr>
              <a:t>i</a:t>
            </a:r>
            <a:r>
              <a:rPr lang="en-US" altLang="zh-CN" b="1" baseline="-25000">
                <a:solidFill>
                  <a:srgbClr val="A50021"/>
                </a:solidFill>
              </a:rPr>
              <a:t>E2</a:t>
            </a:r>
            <a:r>
              <a:rPr lang="zh-CN" altLang="en-US" b="1">
                <a:solidFill>
                  <a:srgbClr val="A50021"/>
                </a:solidFill>
              </a:rPr>
              <a:t>，</a:t>
            </a:r>
            <a:r>
              <a:rPr lang="en-US" altLang="zh-CN" b="1" i="1">
                <a:solidFill>
                  <a:srgbClr val="A50021"/>
                </a:solidFill>
              </a:rPr>
              <a:t>R</a:t>
            </a:r>
            <a:r>
              <a:rPr lang="en-US" altLang="zh-CN" b="1" baseline="-25000">
                <a:solidFill>
                  <a:srgbClr val="A50021"/>
                </a:solidFill>
              </a:rPr>
              <a:t>e</a:t>
            </a:r>
            <a:r>
              <a:rPr lang="zh-CN" altLang="zh-CN" b="1">
                <a:solidFill>
                  <a:srgbClr val="A50021"/>
                </a:solidFill>
              </a:rPr>
              <a:t>中</a:t>
            </a:r>
            <a:r>
              <a:rPr lang="zh-CN" altLang="zh-CN" b="1" u="sng">
                <a:solidFill>
                  <a:srgbClr val="A50021"/>
                </a:solidFill>
              </a:rPr>
              <a:t>电流不变</a:t>
            </a:r>
            <a:r>
              <a:rPr lang="zh-CN" altLang="zh-CN" b="1">
                <a:solidFill>
                  <a:srgbClr val="A50021"/>
                </a:solidFill>
              </a:rPr>
              <a:t>，即</a:t>
            </a:r>
            <a:r>
              <a:rPr lang="en-US" altLang="zh-CN" b="1" i="1">
                <a:solidFill>
                  <a:srgbClr val="A50021"/>
                </a:solidFill>
              </a:rPr>
              <a:t>R</a:t>
            </a:r>
            <a:r>
              <a:rPr lang="en-US" altLang="zh-CN" b="1" baseline="-25000">
                <a:solidFill>
                  <a:srgbClr val="A50021"/>
                </a:solidFill>
              </a:rPr>
              <a:t>e</a:t>
            </a:r>
            <a:r>
              <a:rPr lang="en-US" altLang="zh-CN" b="1">
                <a:solidFill>
                  <a:srgbClr val="A50021"/>
                </a:solidFill>
              </a:rPr>
              <a:t> </a:t>
            </a:r>
            <a:r>
              <a:rPr lang="zh-CN" altLang="zh-CN" b="1">
                <a:solidFill>
                  <a:srgbClr val="A50021"/>
                </a:solidFill>
              </a:rPr>
              <a:t>对差模信号无反馈作用。</a:t>
            </a:r>
            <a:endParaRPr lang="zh-CN" altLang="en-US" b="1" baseline="-25000">
              <a:solidFill>
                <a:srgbClr val="A50021"/>
              </a:solidFill>
            </a:endParaRPr>
          </a:p>
        </p:txBody>
      </p:sp>
      <p:grpSp>
        <p:nvGrpSpPr>
          <p:cNvPr id="2" name="Group 6"/>
          <p:cNvGrpSpPr>
            <a:grpSpLocks/>
          </p:cNvGrpSpPr>
          <p:nvPr/>
        </p:nvGrpSpPr>
        <p:grpSpPr bwMode="auto">
          <a:xfrm>
            <a:off x="533400" y="1628775"/>
            <a:ext cx="4648200" cy="1450975"/>
            <a:chOff x="384" y="1008"/>
            <a:chExt cx="2928" cy="914"/>
          </a:xfrm>
        </p:grpSpPr>
        <p:graphicFrame>
          <p:nvGraphicFramePr>
            <p:cNvPr id="34822" name="Object 6"/>
            <p:cNvGraphicFramePr>
              <a:graphicFrameLocks noChangeAspect="1"/>
            </p:cNvGraphicFramePr>
            <p:nvPr/>
          </p:nvGraphicFramePr>
          <p:xfrm>
            <a:off x="1087" y="1584"/>
            <a:ext cx="1613" cy="338"/>
          </p:xfrm>
          <a:graphic>
            <a:graphicData uri="http://schemas.openxmlformats.org/presentationml/2006/ole">
              <mc:AlternateContent xmlns:mc="http://schemas.openxmlformats.org/markup-compatibility/2006">
                <mc:Choice xmlns:v="urn:schemas-microsoft-com:vml" Requires="v">
                  <p:oleObj spid="_x0000_s18441" name="Equation" r:id="rId8" imgW="26212800" imgH="5486400" progId="Equation.3">
                    <p:embed/>
                  </p:oleObj>
                </mc:Choice>
                <mc:Fallback>
                  <p:oleObj name="Equation" r:id="rId8" imgW="26212800" imgH="54864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87" y="1584"/>
                          <a:ext cx="1613" cy="338"/>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34834" name="Text Box 8"/>
            <p:cNvSpPr txBox="1">
              <a:spLocks noChangeArrowheads="1"/>
            </p:cNvSpPr>
            <p:nvPr/>
          </p:nvSpPr>
          <p:spPr bwMode="auto">
            <a:xfrm>
              <a:off x="384" y="1008"/>
              <a:ext cx="2928" cy="542"/>
            </a:xfrm>
            <a:prstGeom prst="rect">
              <a:avLst/>
            </a:prstGeom>
            <a:noFill/>
            <a:ln w="9525">
              <a:noFill/>
              <a:miter lim="800000"/>
              <a:headEnd/>
              <a:tailEnd/>
            </a:ln>
          </p:spPr>
          <p:txBody>
            <a:bodyPr>
              <a:spAutoFit/>
            </a:bodyPr>
            <a:lstStyle/>
            <a:p>
              <a:pPr algn="ctr" eaLnBrk="1" hangingPunct="1">
                <a:lnSpc>
                  <a:spcPct val="105000"/>
                </a:lnSpc>
              </a:pPr>
              <a:r>
                <a:rPr lang="zh-CN" altLang="en-US" b="1"/>
                <a:t>差模信号：数值相等，极性相反的输入信号，即</a:t>
              </a:r>
              <a:endParaRPr lang="zh-CN" altLang="en-US"/>
            </a:p>
          </p:txBody>
        </p:sp>
      </p:grpSp>
      <p:grpSp>
        <p:nvGrpSpPr>
          <p:cNvPr id="3" name="Group 18"/>
          <p:cNvGrpSpPr>
            <a:grpSpLocks/>
          </p:cNvGrpSpPr>
          <p:nvPr/>
        </p:nvGrpSpPr>
        <p:grpSpPr bwMode="auto">
          <a:xfrm>
            <a:off x="4356100" y="3152775"/>
            <a:ext cx="504825" cy="1765300"/>
            <a:chOff x="2744" y="1986"/>
            <a:chExt cx="318" cy="1112"/>
          </a:xfrm>
        </p:grpSpPr>
        <p:grpSp>
          <p:nvGrpSpPr>
            <p:cNvPr id="34829" name="Group 10"/>
            <p:cNvGrpSpPr>
              <a:grpSpLocks/>
            </p:cNvGrpSpPr>
            <p:nvPr/>
          </p:nvGrpSpPr>
          <p:grpSpPr bwMode="auto">
            <a:xfrm>
              <a:off x="2744" y="1986"/>
              <a:ext cx="318" cy="574"/>
              <a:chOff x="3016" y="210"/>
              <a:chExt cx="318" cy="574"/>
            </a:xfrm>
          </p:grpSpPr>
          <p:sp>
            <p:nvSpPr>
              <p:cNvPr id="34832" name="Text Box 11"/>
              <p:cNvSpPr txBox="1">
                <a:spLocks noChangeArrowheads="1"/>
              </p:cNvSpPr>
              <p:nvPr/>
            </p:nvSpPr>
            <p:spPr bwMode="auto">
              <a:xfrm>
                <a:off x="3016" y="210"/>
                <a:ext cx="318" cy="192"/>
              </a:xfrm>
              <a:prstGeom prst="rect">
                <a:avLst/>
              </a:prstGeom>
              <a:noFill/>
              <a:ln w="9525">
                <a:noFill/>
                <a:miter lim="800000"/>
                <a:headEnd/>
                <a:tailEnd/>
              </a:ln>
            </p:spPr>
            <p:txBody>
              <a:bodyPr>
                <a:spAutoFit/>
              </a:bodyPr>
              <a:lstStyle/>
              <a:p>
                <a:pPr algn="ctr" eaLnBrk="1" hangingPunct="1">
                  <a:spcBef>
                    <a:spcPct val="50000"/>
                  </a:spcBef>
                </a:pPr>
                <a:r>
                  <a:rPr lang="zh-CN" altLang="en-US" sz="1400" b="1">
                    <a:solidFill>
                      <a:srgbClr val="CC0000"/>
                    </a:solidFill>
                  </a:rPr>
                  <a:t>＋</a:t>
                </a:r>
              </a:p>
            </p:txBody>
          </p:sp>
          <p:sp>
            <p:nvSpPr>
              <p:cNvPr id="34833" name="Text Box 12"/>
              <p:cNvSpPr txBox="1">
                <a:spLocks noChangeArrowheads="1"/>
              </p:cNvSpPr>
              <p:nvPr/>
            </p:nvSpPr>
            <p:spPr bwMode="auto">
              <a:xfrm>
                <a:off x="3016" y="572"/>
                <a:ext cx="318" cy="212"/>
              </a:xfrm>
              <a:prstGeom prst="rect">
                <a:avLst/>
              </a:prstGeom>
              <a:noFill/>
              <a:ln w="9525">
                <a:noFill/>
                <a:miter lim="800000"/>
                <a:headEnd/>
                <a:tailEnd/>
              </a:ln>
            </p:spPr>
            <p:txBody>
              <a:bodyPr>
                <a:spAutoFit/>
              </a:bodyPr>
              <a:lstStyle/>
              <a:p>
                <a:pPr algn="ctr" eaLnBrk="1" hangingPunct="1">
                  <a:spcBef>
                    <a:spcPct val="50000"/>
                  </a:spcBef>
                </a:pPr>
                <a:r>
                  <a:rPr lang="zh-CN" altLang="en-US" sz="1600" b="1">
                    <a:solidFill>
                      <a:srgbClr val="CC0000"/>
                    </a:solidFill>
                  </a:rPr>
                  <a:t>－</a:t>
                </a:r>
              </a:p>
            </p:txBody>
          </p:sp>
          <p:graphicFrame>
            <p:nvGraphicFramePr>
              <p:cNvPr id="34821" name="Object 5"/>
              <p:cNvGraphicFramePr>
                <a:graphicFrameLocks noChangeAspect="1"/>
              </p:cNvGraphicFramePr>
              <p:nvPr/>
            </p:nvGraphicFramePr>
            <p:xfrm>
              <a:off x="3061" y="346"/>
              <a:ext cx="195" cy="317"/>
            </p:xfrm>
            <a:graphic>
              <a:graphicData uri="http://schemas.openxmlformats.org/presentationml/2006/ole">
                <mc:AlternateContent xmlns:mc="http://schemas.openxmlformats.org/markup-compatibility/2006">
                  <mc:Choice xmlns:v="urn:schemas-microsoft-com:vml" Requires="v">
                    <p:oleObj spid="_x0000_s18442" name="公式" r:id="rId10" imgW="5791200" imgH="9448800" progId="Equation.3">
                      <p:embed/>
                    </p:oleObj>
                  </mc:Choice>
                  <mc:Fallback>
                    <p:oleObj name="公式" r:id="rId10" imgW="5791200" imgH="94488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61" y="346"/>
                            <a:ext cx="195" cy="317"/>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pSp>
        <p:sp>
          <p:nvSpPr>
            <p:cNvPr id="34830" name="Text Box 15"/>
            <p:cNvSpPr txBox="1">
              <a:spLocks noChangeArrowheads="1"/>
            </p:cNvSpPr>
            <p:nvPr/>
          </p:nvSpPr>
          <p:spPr bwMode="auto">
            <a:xfrm>
              <a:off x="2744" y="2485"/>
              <a:ext cx="318" cy="192"/>
            </a:xfrm>
            <a:prstGeom prst="rect">
              <a:avLst/>
            </a:prstGeom>
            <a:noFill/>
            <a:ln w="9525">
              <a:noFill/>
              <a:miter lim="800000"/>
              <a:headEnd/>
              <a:tailEnd/>
            </a:ln>
          </p:spPr>
          <p:txBody>
            <a:bodyPr>
              <a:spAutoFit/>
            </a:bodyPr>
            <a:lstStyle/>
            <a:p>
              <a:pPr algn="ctr" eaLnBrk="1" hangingPunct="1">
                <a:spcBef>
                  <a:spcPct val="50000"/>
                </a:spcBef>
              </a:pPr>
              <a:r>
                <a:rPr lang="zh-CN" altLang="en-US" sz="1400" b="1">
                  <a:solidFill>
                    <a:srgbClr val="CC0000"/>
                  </a:solidFill>
                </a:rPr>
                <a:t>＋</a:t>
              </a:r>
            </a:p>
          </p:txBody>
        </p:sp>
        <p:sp>
          <p:nvSpPr>
            <p:cNvPr id="34831" name="Text Box 16"/>
            <p:cNvSpPr txBox="1">
              <a:spLocks noChangeArrowheads="1"/>
            </p:cNvSpPr>
            <p:nvPr/>
          </p:nvSpPr>
          <p:spPr bwMode="auto">
            <a:xfrm>
              <a:off x="2744" y="2886"/>
              <a:ext cx="318" cy="212"/>
            </a:xfrm>
            <a:prstGeom prst="rect">
              <a:avLst/>
            </a:prstGeom>
            <a:noFill/>
            <a:ln w="9525">
              <a:noFill/>
              <a:miter lim="800000"/>
              <a:headEnd/>
              <a:tailEnd/>
            </a:ln>
          </p:spPr>
          <p:txBody>
            <a:bodyPr>
              <a:spAutoFit/>
            </a:bodyPr>
            <a:lstStyle/>
            <a:p>
              <a:pPr algn="ctr" eaLnBrk="1" hangingPunct="1">
                <a:spcBef>
                  <a:spcPct val="50000"/>
                </a:spcBef>
              </a:pPr>
              <a:r>
                <a:rPr lang="zh-CN" altLang="en-US" sz="1600" b="1">
                  <a:solidFill>
                    <a:srgbClr val="CC0000"/>
                  </a:solidFill>
                </a:rPr>
                <a:t>－</a:t>
              </a:r>
            </a:p>
          </p:txBody>
        </p:sp>
        <p:graphicFrame>
          <p:nvGraphicFramePr>
            <p:cNvPr id="34820" name="Object 4"/>
            <p:cNvGraphicFramePr>
              <a:graphicFrameLocks noChangeAspect="1"/>
            </p:cNvGraphicFramePr>
            <p:nvPr/>
          </p:nvGraphicFramePr>
          <p:xfrm>
            <a:off x="2789" y="2659"/>
            <a:ext cx="201" cy="330"/>
          </p:xfrm>
          <a:graphic>
            <a:graphicData uri="http://schemas.openxmlformats.org/presentationml/2006/ole">
              <mc:AlternateContent xmlns:mc="http://schemas.openxmlformats.org/markup-compatibility/2006">
                <mc:Choice xmlns:v="urn:schemas-microsoft-com:vml" Requires="v">
                  <p:oleObj spid="_x0000_s18443" name="公式" r:id="rId12" imgW="5791200" imgH="9448800" progId="Equation.3">
                    <p:embed/>
                  </p:oleObj>
                </mc:Choice>
                <mc:Fallback>
                  <p:oleObj name="公式" r:id="rId12" imgW="5791200" imgH="9448800" progId="Equation.3">
                    <p:embed/>
                    <p:pic>
                      <p:nvPicPr>
                        <p:cNvPr id="0"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9" y="2659"/>
                          <a:ext cx="201" cy="33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pSp>
      <p:sp>
        <p:nvSpPr>
          <p:cNvPr id="17" name="椭圆 16"/>
          <p:cNvSpPr>
            <a:spLocks noChangeArrowheads="1"/>
          </p:cNvSpPr>
          <p:nvPr/>
        </p:nvSpPr>
        <p:spPr bwMode="auto">
          <a:xfrm flipH="1" flipV="1">
            <a:off x="6524625" y="3259138"/>
            <a:ext cx="304800" cy="468312"/>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4" name="文本框 3"/>
          <p:cNvSpPr txBox="1">
            <a:spLocks noChangeArrowheads="1"/>
          </p:cNvSpPr>
          <p:nvPr/>
        </p:nvSpPr>
        <p:spPr bwMode="auto">
          <a:xfrm>
            <a:off x="3363913" y="5937250"/>
            <a:ext cx="1497012" cy="461963"/>
          </a:xfrm>
          <a:prstGeom prst="rect">
            <a:avLst/>
          </a:prstGeom>
          <a:solidFill>
            <a:schemeClr val="accent1"/>
          </a:solidFill>
          <a:ln w="9525">
            <a:noFill/>
            <a:miter lim="800000"/>
            <a:headEnd/>
            <a:tailEnd/>
          </a:ln>
        </p:spPr>
        <p:txBody>
          <a:bodyPr>
            <a:spAutoFit/>
          </a:bodyPr>
          <a:lstStyle/>
          <a:p>
            <a:r>
              <a:rPr lang="zh-CN" altLang="en-US" b="1">
                <a:solidFill>
                  <a:srgbClr val="0000FF"/>
                </a:solidFill>
              </a:rPr>
              <a:t>动态分析</a:t>
            </a:r>
          </a:p>
        </p:txBody>
      </p:sp>
      <p:sp>
        <p:nvSpPr>
          <p:cNvPr id="5" name="文本框 4">
            <a:extLst>
              <a:ext uri="{FF2B5EF4-FFF2-40B4-BE49-F238E27FC236}">
                <a16:creationId xmlns:a16="http://schemas.microsoft.com/office/drawing/2014/main" id="{BD0A2733-A115-D703-B4AF-E0AE78EC96E6}"/>
              </a:ext>
            </a:extLst>
          </p:cNvPr>
          <p:cNvSpPr txBox="1"/>
          <p:nvPr/>
        </p:nvSpPr>
        <p:spPr>
          <a:xfrm>
            <a:off x="5149850" y="5034774"/>
            <a:ext cx="2036561" cy="461665"/>
          </a:xfrm>
          <a:prstGeom prst="rect">
            <a:avLst/>
          </a:prstGeom>
          <a:solidFill>
            <a:schemeClr val="accent5"/>
          </a:solidFill>
        </p:spPr>
        <p:txBody>
          <a:bodyPr wrap="square" rtlCol="0">
            <a:spAutoFit/>
          </a:bodyPr>
          <a:lstStyle/>
          <a:p>
            <a:r>
              <a:rPr lang="zh-CN" altLang="en-US" sz="2400" b="1" u="sng" dirty="0">
                <a:solidFill>
                  <a:srgbClr val="FF0000"/>
                </a:solidFill>
              </a:rPr>
              <a:t>差模输入分配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154"/>
                                        </p:tgtEl>
                                        <p:attrNameLst>
                                          <p:attrName>style.visibility</p:attrName>
                                        </p:attrNameLst>
                                      </p:cBhvr>
                                      <p:to>
                                        <p:strVal val="visible"/>
                                      </p:to>
                                    </p:set>
                                    <p:animEffect transition="in" filter="wipe(left)">
                                      <p:cBhvr>
                                        <p:cTn id="12" dur="500"/>
                                        <p:tgtEl>
                                          <p:spTgt spid="491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9156"/>
                                        </p:tgtEl>
                                        <p:attrNameLst>
                                          <p:attrName>style.visibility</p:attrName>
                                        </p:attrNameLst>
                                      </p:cBhvr>
                                      <p:to>
                                        <p:strVal val="visible"/>
                                      </p:to>
                                    </p:set>
                                    <p:animEffect transition="in" filter="wipe(left)">
                                      <p:cBhvr>
                                        <p:cTn id="26" dur="500"/>
                                        <p:tgtEl>
                                          <p:spTgt spid="491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9157">
                                            <p:txEl>
                                              <p:pRg st="0" end="0"/>
                                            </p:txEl>
                                          </p:spTgt>
                                        </p:tgtEl>
                                        <p:attrNameLst>
                                          <p:attrName>style.visibility</p:attrName>
                                        </p:attrNameLst>
                                      </p:cBhvr>
                                      <p:to>
                                        <p:strVal val="visible"/>
                                      </p:to>
                                    </p:set>
                                    <p:animEffect transition="in" filter="wipe(left)">
                                      <p:cBhvr>
                                        <p:cTn id="31" dur="500"/>
                                        <p:tgtEl>
                                          <p:spTgt spid="4915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linds(horizontal)">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build="p" autoUpdateAnimBg="0"/>
      <p:bldP spid="17" grpId="0" animBg="1"/>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2" descr="Dz030305"/>
          <p:cNvPicPr>
            <a:picLocks noChangeAspect="1" noChangeArrowheads="1"/>
          </p:cNvPicPr>
          <p:nvPr/>
        </p:nvPicPr>
        <p:blipFill>
          <a:blip r:embed="rId3"/>
          <a:srcRect r="59166" b="11702"/>
          <a:stretch>
            <a:fillRect/>
          </a:stretch>
        </p:blipFill>
        <p:spPr bwMode="auto">
          <a:xfrm>
            <a:off x="673100" y="1304925"/>
            <a:ext cx="3886200" cy="2590800"/>
          </a:xfrm>
          <a:prstGeom prst="rect">
            <a:avLst/>
          </a:prstGeom>
          <a:noFill/>
          <a:ln w="9525">
            <a:noFill/>
            <a:miter lim="800000"/>
            <a:headEnd/>
            <a:tailEnd/>
          </a:ln>
        </p:spPr>
      </p:pic>
      <p:sp>
        <p:nvSpPr>
          <p:cNvPr id="3" name="Rectangle 5"/>
          <p:cNvSpPr txBox="1">
            <a:spLocks noChangeArrowheads="1"/>
          </p:cNvSpPr>
          <p:nvPr/>
        </p:nvSpPr>
        <p:spPr>
          <a:xfrm>
            <a:off x="395288" y="322263"/>
            <a:ext cx="7772400" cy="508000"/>
          </a:xfrm>
          <a:prstGeom prst="rect">
            <a:avLst/>
          </a:prstGeom>
          <a:solidFill>
            <a:schemeClr val="accent5"/>
          </a:solidFill>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algn="l">
              <a:defRPr/>
            </a:pPr>
            <a:r>
              <a:rPr kumimoji="0" lang="zh-CN" altLang="en-US" sz="3200" b="1" dirty="0">
                <a:solidFill>
                  <a:srgbClr val="FF0000"/>
                </a:solidFill>
                <a:ea typeface="华文行楷" panose="02010800040101010101" pitchFamily="2" charset="-122"/>
              </a:rPr>
              <a:t>差模信号</a:t>
            </a:r>
            <a:r>
              <a:rPr kumimoji="0" lang="zh-CN" altLang="en-US" sz="3200" b="1" dirty="0">
                <a:ea typeface="华文行楷" panose="02010800040101010101" pitchFamily="2" charset="-122"/>
              </a:rPr>
              <a:t>作用时的动态分析（</a:t>
            </a:r>
            <a:r>
              <a:rPr kumimoji="0" lang="zh-CN" altLang="en-US" sz="3200" b="1" dirty="0">
                <a:solidFill>
                  <a:srgbClr val="FF0000"/>
                </a:solidFill>
                <a:ea typeface="华文行楷" panose="02010800040101010101" pitchFamily="2" charset="-122"/>
              </a:rPr>
              <a:t>交流通路</a:t>
            </a:r>
            <a:r>
              <a:rPr kumimoji="0" lang="zh-CN" altLang="en-US" sz="3200" b="1" dirty="0">
                <a:ea typeface="华文行楷" panose="02010800040101010101" pitchFamily="2" charset="-122"/>
              </a:rPr>
              <a:t>）</a:t>
            </a:r>
          </a:p>
        </p:txBody>
      </p:sp>
      <p:sp>
        <p:nvSpPr>
          <p:cNvPr id="4" name="手杖形箭头 20"/>
          <p:cNvSpPr/>
          <p:nvPr/>
        </p:nvSpPr>
        <p:spPr bwMode="auto">
          <a:xfrm rot="5400000">
            <a:off x="2701925" y="2157413"/>
            <a:ext cx="615950" cy="215265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pic>
        <p:nvPicPr>
          <p:cNvPr id="35846" name="Picture 4" descr="Dz020201"/>
          <p:cNvPicPr>
            <a:picLocks noChangeAspect="1" noChangeArrowheads="1"/>
          </p:cNvPicPr>
          <p:nvPr/>
        </p:nvPicPr>
        <p:blipFill>
          <a:blip r:embed="rId4">
            <a:clrChange>
              <a:clrFrom>
                <a:srgbClr val="FFFFFF"/>
              </a:clrFrom>
              <a:clrTo>
                <a:srgbClr val="FFFFFF">
                  <a:alpha val="0"/>
                </a:srgbClr>
              </a:clrTo>
            </a:clrChange>
            <a:lum bright="24000" contrast="42000"/>
            <a:grayscl/>
            <a:biLevel thresh="50000"/>
          </a:blip>
          <a:srcRect t="-3391" b="-1695"/>
          <a:stretch>
            <a:fillRect/>
          </a:stretch>
        </p:blipFill>
        <p:spPr bwMode="auto">
          <a:xfrm>
            <a:off x="566738" y="4065588"/>
            <a:ext cx="3878262" cy="2733675"/>
          </a:xfrm>
          <a:prstGeom prst="rect">
            <a:avLst/>
          </a:prstGeom>
          <a:solidFill>
            <a:schemeClr val="bg1"/>
          </a:solidFill>
          <a:ln w="9525">
            <a:noFill/>
            <a:miter lim="800000"/>
            <a:headEnd/>
            <a:tailEnd/>
          </a:ln>
        </p:spPr>
      </p:pic>
      <p:sp>
        <p:nvSpPr>
          <p:cNvPr id="6" name="上弧形箭头 25"/>
          <p:cNvSpPr/>
          <p:nvPr/>
        </p:nvSpPr>
        <p:spPr bwMode="auto">
          <a:xfrm>
            <a:off x="1468438" y="5530850"/>
            <a:ext cx="465137" cy="327025"/>
          </a:xfrm>
          <a:prstGeom prst="curvedDow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7" name="上弧形箭头 26"/>
          <p:cNvSpPr/>
          <p:nvPr/>
        </p:nvSpPr>
        <p:spPr bwMode="auto">
          <a:xfrm rot="16777577">
            <a:off x="3219450" y="5381625"/>
            <a:ext cx="517525" cy="282575"/>
          </a:xfrm>
          <a:prstGeom prst="curvedDownArrow">
            <a:avLst/>
          </a:prstGeom>
          <a:solidFill>
            <a:schemeClr val="accent2"/>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8" name="TextBox 27"/>
          <p:cNvSpPr txBox="1"/>
          <p:nvPr/>
        </p:nvSpPr>
        <p:spPr>
          <a:xfrm>
            <a:off x="1770063" y="5705475"/>
            <a:ext cx="736600" cy="646113"/>
          </a:xfrm>
          <a:prstGeom prst="rect">
            <a:avLst/>
          </a:prstGeom>
          <a:noFill/>
        </p:spPr>
        <p:txBody>
          <a:bodyPr>
            <a:spAutoFit/>
          </a:bodyPr>
          <a:lstStyle/>
          <a:p>
            <a:pPr algn="ctr" eaLnBrk="1" hangingPunct="1">
              <a:defRPr/>
            </a:pPr>
            <a:r>
              <a:rPr lang="zh-CN" altLang="en-US" sz="1800" dirty="0">
                <a:effectLst>
                  <a:outerShdw blurRad="38100" dist="38100" dir="2700000" algn="tl">
                    <a:srgbClr val="000000">
                      <a:alpha val="43137"/>
                    </a:srgbClr>
                  </a:outerShdw>
                </a:effectLst>
              </a:rPr>
              <a:t>输入回路</a:t>
            </a:r>
          </a:p>
        </p:txBody>
      </p:sp>
      <p:sp>
        <p:nvSpPr>
          <p:cNvPr id="9" name="TextBox 28"/>
          <p:cNvSpPr txBox="1"/>
          <p:nvPr/>
        </p:nvSpPr>
        <p:spPr>
          <a:xfrm>
            <a:off x="2881313" y="5711825"/>
            <a:ext cx="731837" cy="646113"/>
          </a:xfrm>
          <a:prstGeom prst="rect">
            <a:avLst/>
          </a:prstGeom>
          <a:noFill/>
        </p:spPr>
        <p:txBody>
          <a:bodyPr>
            <a:spAutoFit/>
          </a:bodyPr>
          <a:lstStyle/>
          <a:p>
            <a:pPr algn="ctr" eaLnBrk="1" hangingPunct="1">
              <a:defRPr/>
            </a:pPr>
            <a:r>
              <a:rPr lang="zh-CN" altLang="en-US" sz="1800" dirty="0">
                <a:effectLst>
                  <a:outerShdw blurRad="38100" dist="38100" dir="2700000" algn="tl">
                    <a:srgbClr val="000000">
                      <a:alpha val="43137"/>
                    </a:srgbClr>
                  </a:outerShdw>
                </a:effectLst>
              </a:rPr>
              <a:t>输出回路</a:t>
            </a:r>
          </a:p>
        </p:txBody>
      </p:sp>
      <p:sp>
        <p:nvSpPr>
          <p:cNvPr id="10" name="TextBox 27"/>
          <p:cNvSpPr txBox="1"/>
          <p:nvPr/>
        </p:nvSpPr>
        <p:spPr>
          <a:xfrm>
            <a:off x="3348038" y="2903538"/>
            <a:ext cx="736600" cy="646112"/>
          </a:xfrm>
          <a:prstGeom prst="rect">
            <a:avLst/>
          </a:prstGeom>
          <a:noFill/>
        </p:spPr>
        <p:txBody>
          <a:bodyPr>
            <a:spAutoFit/>
          </a:bodyPr>
          <a:lstStyle/>
          <a:p>
            <a:pPr algn="ctr" eaLnBrk="1" hangingPunct="1">
              <a:defRPr/>
            </a:pPr>
            <a:r>
              <a:rPr lang="zh-CN" altLang="en-US" sz="1800" dirty="0">
                <a:solidFill>
                  <a:srgbClr val="0000FF"/>
                </a:solidFill>
                <a:effectLst>
                  <a:outerShdw blurRad="38100" dist="38100" dir="2700000" algn="tl">
                    <a:srgbClr val="000000">
                      <a:alpha val="43137"/>
                    </a:srgbClr>
                  </a:outerShdw>
                </a:effectLst>
              </a:rPr>
              <a:t>输入回路</a:t>
            </a:r>
          </a:p>
        </p:txBody>
      </p:sp>
      <p:graphicFrame>
        <p:nvGraphicFramePr>
          <p:cNvPr id="11" name="Object 17"/>
          <p:cNvGraphicFramePr>
            <a:graphicFrameLocks noChangeAspect="1"/>
          </p:cNvGraphicFramePr>
          <p:nvPr/>
        </p:nvGraphicFramePr>
        <p:xfrm>
          <a:off x="4445000" y="1582738"/>
          <a:ext cx="4914900" cy="509587"/>
        </p:xfrm>
        <a:graphic>
          <a:graphicData uri="http://schemas.openxmlformats.org/presentationml/2006/ole">
            <mc:AlternateContent xmlns:mc="http://schemas.openxmlformats.org/markup-compatibility/2006">
              <mc:Choice xmlns:v="urn:schemas-microsoft-com:vml" Requires="v">
                <p:oleObj spid="_x0000_s19459" name="公式" r:id="rId5" imgW="60960000" imgH="5486400" progId="Equation.3">
                  <p:embed/>
                </p:oleObj>
              </mc:Choice>
              <mc:Fallback>
                <p:oleObj name="公式" r:id="rId5" imgW="60960000" imgH="54864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5000" y="1582738"/>
                        <a:ext cx="4914900" cy="509587"/>
                      </a:xfrm>
                      <a:prstGeom prst="rect">
                        <a:avLst/>
                      </a:prstGeom>
                      <a:solidFill>
                        <a:schemeClr val="accent1"/>
                      </a:solidFill>
                    </p:spPr>
                  </p:pic>
                </p:oleObj>
              </mc:Fallback>
            </mc:AlternateContent>
          </a:graphicData>
        </a:graphic>
      </p:graphicFrame>
      <p:sp>
        <p:nvSpPr>
          <p:cNvPr id="2" name="文本框 1">
            <a:extLst>
              <a:ext uri="{FF2B5EF4-FFF2-40B4-BE49-F238E27FC236}">
                <a16:creationId xmlns:a16="http://schemas.microsoft.com/office/drawing/2014/main" id="{E7DB6D0E-9E84-2292-8401-E57F8958D88F}"/>
              </a:ext>
            </a:extLst>
          </p:cNvPr>
          <p:cNvSpPr txBox="1"/>
          <p:nvPr/>
        </p:nvSpPr>
        <p:spPr>
          <a:xfrm>
            <a:off x="5035103" y="2694930"/>
            <a:ext cx="2381122" cy="461665"/>
          </a:xfrm>
          <a:prstGeom prst="rect">
            <a:avLst/>
          </a:prstGeom>
          <a:solidFill>
            <a:schemeClr val="accent5"/>
          </a:solidFill>
        </p:spPr>
        <p:txBody>
          <a:bodyPr wrap="square" rtlCol="0">
            <a:spAutoFit/>
          </a:bodyPr>
          <a:lstStyle/>
          <a:p>
            <a:r>
              <a:rPr lang="zh-CN" altLang="en-US" sz="2400" b="1" u="sng" dirty="0">
                <a:solidFill>
                  <a:srgbClr val="FF0000"/>
                </a:solidFill>
              </a:rPr>
              <a:t>差模输入回路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B1B6A6B-33AA-494C-9D32-777CF16A2865}"/>
              </a:ext>
            </a:extLst>
          </p:cNvPr>
          <p:cNvPicPr>
            <a:picLocks noChangeAspect="1"/>
          </p:cNvPicPr>
          <p:nvPr/>
        </p:nvPicPr>
        <p:blipFill>
          <a:blip r:embed="rId2"/>
          <a:stretch>
            <a:fillRect/>
          </a:stretch>
        </p:blipFill>
        <p:spPr>
          <a:xfrm>
            <a:off x="4635872" y="952304"/>
            <a:ext cx="4382112" cy="4353533"/>
          </a:xfrm>
          <a:prstGeom prst="rect">
            <a:avLst/>
          </a:prstGeom>
        </p:spPr>
      </p:pic>
      <p:pic>
        <p:nvPicPr>
          <p:cNvPr id="4" name="Picture 2" descr="Dz030305">
            <a:extLst>
              <a:ext uri="{FF2B5EF4-FFF2-40B4-BE49-F238E27FC236}">
                <a16:creationId xmlns:a16="http://schemas.microsoft.com/office/drawing/2014/main" id="{7F45175A-8099-4B1E-B075-417C5A50FDF7}"/>
              </a:ext>
            </a:extLst>
          </p:cNvPr>
          <p:cNvPicPr>
            <a:picLocks noChangeAspect="1" noChangeArrowheads="1"/>
          </p:cNvPicPr>
          <p:nvPr/>
        </p:nvPicPr>
        <p:blipFill>
          <a:blip r:embed="rId3"/>
          <a:srcRect r="59166" b="11702"/>
          <a:stretch>
            <a:fillRect/>
          </a:stretch>
        </p:blipFill>
        <p:spPr bwMode="auto">
          <a:xfrm>
            <a:off x="194862" y="1206735"/>
            <a:ext cx="3886200" cy="2590800"/>
          </a:xfrm>
          <a:prstGeom prst="rect">
            <a:avLst/>
          </a:prstGeom>
          <a:noFill/>
          <a:ln w="9525">
            <a:noFill/>
            <a:miter lim="800000"/>
            <a:headEnd/>
            <a:tailEnd/>
          </a:ln>
        </p:spPr>
      </p:pic>
      <p:sp>
        <p:nvSpPr>
          <p:cNvPr id="5" name="椭圆 4">
            <a:extLst>
              <a:ext uri="{FF2B5EF4-FFF2-40B4-BE49-F238E27FC236}">
                <a16:creationId xmlns:a16="http://schemas.microsoft.com/office/drawing/2014/main" id="{32DF36C5-B518-4E5A-877C-9CCFF0169E97}"/>
              </a:ext>
            </a:extLst>
          </p:cNvPr>
          <p:cNvSpPr>
            <a:spLocks noChangeArrowheads="1"/>
          </p:cNvSpPr>
          <p:nvPr/>
        </p:nvSpPr>
        <p:spPr bwMode="auto">
          <a:xfrm flipH="1" flipV="1">
            <a:off x="2306840" y="2298977"/>
            <a:ext cx="542925" cy="528638"/>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6" name="椭圆 5">
            <a:extLst>
              <a:ext uri="{FF2B5EF4-FFF2-40B4-BE49-F238E27FC236}">
                <a16:creationId xmlns:a16="http://schemas.microsoft.com/office/drawing/2014/main" id="{5865CC4E-F6EC-42CF-ADAB-3A2A59E49473}"/>
              </a:ext>
            </a:extLst>
          </p:cNvPr>
          <p:cNvSpPr>
            <a:spLocks noChangeArrowheads="1"/>
          </p:cNvSpPr>
          <p:nvPr/>
        </p:nvSpPr>
        <p:spPr bwMode="auto">
          <a:xfrm flipH="1" flipV="1">
            <a:off x="7008352" y="3013221"/>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3" name="Rectangle 5">
            <a:extLst>
              <a:ext uri="{FF2B5EF4-FFF2-40B4-BE49-F238E27FC236}">
                <a16:creationId xmlns:a16="http://schemas.microsoft.com/office/drawing/2014/main" id="{47B8A8A3-8C36-F69B-21AF-24AA0B401C1B}"/>
              </a:ext>
            </a:extLst>
          </p:cNvPr>
          <p:cNvSpPr txBox="1">
            <a:spLocks noChangeArrowheads="1"/>
          </p:cNvSpPr>
          <p:nvPr/>
        </p:nvSpPr>
        <p:spPr>
          <a:xfrm>
            <a:off x="395288" y="322263"/>
            <a:ext cx="5451720" cy="508000"/>
          </a:xfrm>
          <a:prstGeom prst="rect">
            <a:avLst/>
          </a:prstGeom>
          <a:solidFill>
            <a:schemeClr val="accent5"/>
          </a:solidFill>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algn="l">
              <a:defRPr/>
            </a:pPr>
            <a:r>
              <a:rPr kumimoji="0" lang="zh-CN" altLang="en-US" sz="3200" b="1" dirty="0">
                <a:solidFill>
                  <a:srgbClr val="FF0000"/>
                </a:solidFill>
                <a:ea typeface="华文行楷" panose="02010800040101010101" pitchFamily="2" charset="-122"/>
              </a:rPr>
              <a:t>差模信号</a:t>
            </a:r>
            <a:r>
              <a:rPr kumimoji="0" lang="zh-CN" altLang="en-US" sz="3200" b="1" dirty="0">
                <a:ea typeface="华文行楷" panose="02010800040101010101" pitchFamily="2" charset="-122"/>
              </a:rPr>
              <a:t>作用时的动态分析</a:t>
            </a:r>
          </a:p>
        </p:txBody>
      </p:sp>
    </p:spTree>
    <p:extLst>
      <p:ext uri="{BB962C8B-B14F-4D97-AF65-F5344CB8AC3E}">
        <p14:creationId xmlns:p14="http://schemas.microsoft.com/office/powerpoint/2010/main" val="332729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CABF0F1-CA95-4DA9-982B-478892C54910}"/>
              </a:ext>
            </a:extLst>
          </p:cNvPr>
          <p:cNvPicPr>
            <a:picLocks noChangeAspect="1"/>
          </p:cNvPicPr>
          <p:nvPr/>
        </p:nvPicPr>
        <p:blipFill>
          <a:blip r:embed="rId3"/>
          <a:stretch>
            <a:fillRect/>
          </a:stretch>
        </p:blipFill>
        <p:spPr>
          <a:xfrm>
            <a:off x="4351684" y="1138330"/>
            <a:ext cx="4201111" cy="2934109"/>
          </a:xfrm>
          <a:prstGeom prst="rect">
            <a:avLst/>
          </a:prstGeom>
        </p:spPr>
      </p:pic>
      <p:pic>
        <p:nvPicPr>
          <p:cNvPr id="11" name="图片 10">
            <a:extLst>
              <a:ext uri="{FF2B5EF4-FFF2-40B4-BE49-F238E27FC236}">
                <a16:creationId xmlns:a16="http://schemas.microsoft.com/office/drawing/2014/main" id="{3C499EA4-F59A-4708-A296-6DFA010DB27C}"/>
              </a:ext>
            </a:extLst>
          </p:cNvPr>
          <p:cNvPicPr>
            <a:picLocks noChangeAspect="1"/>
          </p:cNvPicPr>
          <p:nvPr/>
        </p:nvPicPr>
        <p:blipFill>
          <a:blip r:embed="rId4"/>
          <a:stretch>
            <a:fillRect/>
          </a:stretch>
        </p:blipFill>
        <p:spPr>
          <a:xfrm>
            <a:off x="-30499" y="952304"/>
            <a:ext cx="4382112" cy="4353533"/>
          </a:xfrm>
          <a:prstGeom prst="rect">
            <a:avLst/>
          </a:prstGeom>
        </p:spPr>
      </p:pic>
      <p:sp>
        <p:nvSpPr>
          <p:cNvPr id="6" name="椭圆 5">
            <a:extLst>
              <a:ext uri="{FF2B5EF4-FFF2-40B4-BE49-F238E27FC236}">
                <a16:creationId xmlns:a16="http://schemas.microsoft.com/office/drawing/2014/main" id="{5865CC4E-F6EC-42CF-ADAB-3A2A59E49473}"/>
              </a:ext>
            </a:extLst>
          </p:cNvPr>
          <p:cNvSpPr>
            <a:spLocks noChangeArrowheads="1"/>
          </p:cNvSpPr>
          <p:nvPr/>
        </p:nvSpPr>
        <p:spPr bwMode="auto">
          <a:xfrm flipH="1" flipV="1">
            <a:off x="2344299" y="3013221"/>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graphicFrame>
        <p:nvGraphicFramePr>
          <p:cNvPr id="3" name="对象 2">
            <a:extLst>
              <a:ext uri="{FF2B5EF4-FFF2-40B4-BE49-F238E27FC236}">
                <a16:creationId xmlns:a16="http://schemas.microsoft.com/office/drawing/2014/main" id="{63C8323F-6499-4478-9D03-343AA1196489}"/>
              </a:ext>
            </a:extLst>
          </p:cNvPr>
          <p:cNvGraphicFramePr>
            <a:graphicFrameLocks noChangeAspect="1"/>
          </p:cNvGraphicFramePr>
          <p:nvPr>
            <p:extLst>
              <p:ext uri="{D42A27DB-BD31-4B8C-83A1-F6EECF244321}">
                <p14:modId xmlns:p14="http://schemas.microsoft.com/office/powerpoint/2010/main" val="3645491448"/>
              </p:ext>
            </p:extLst>
          </p:nvPr>
        </p:nvGraphicFramePr>
        <p:xfrm>
          <a:off x="8380677" y="1372719"/>
          <a:ext cx="814087" cy="2634685"/>
        </p:xfrm>
        <a:graphic>
          <a:graphicData uri="http://schemas.openxmlformats.org/presentationml/2006/ole">
            <mc:AlternateContent xmlns:mc="http://schemas.openxmlformats.org/markup-compatibility/2006">
              <mc:Choice xmlns:v="urn:schemas-microsoft-com:vml" Requires="v">
                <p:oleObj spid="_x0000_s20483" name="BMP 图像" r:id="rId5" imgW="262080" imgH="847800" progId="Paint.Picture">
                  <p:embed/>
                </p:oleObj>
              </mc:Choice>
              <mc:Fallback>
                <p:oleObj name="BMP 图像" r:id="rId5" imgW="262080" imgH="847800" progId="Paint.Picture">
                  <p:embed/>
                  <p:pic>
                    <p:nvPicPr>
                      <p:cNvPr id="0" name=""/>
                      <p:cNvPicPr/>
                      <p:nvPr/>
                    </p:nvPicPr>
                    <p:blipFill>
                      <a:blip r:embed="rId6"/>
                      <a:stretch>
                        <a:fillRect/>
                      </a:stretch>
                    </p:blipFill>
                    <p:spPr>
                      <a:xfrm>
                        <a:off x="8380677" y="1372719"/>
                        <a:ext cx="814087" cy="2634685"/>
                      </a:xfrm>
                      <a:prstGeom prst="rect">
                        <a:avLst/>
                      </a:prstGeom>
                    </p:spPr>
                  </p:pic>
                </p:oleObj>
              </mc:Fallback>
            </mc:AlternateContent>
          </a:graphicData>
        </a:graphic>
      </p:graphicFrame>
      <p:sp>
        <p:nvSpPr>
          <p:cNvPr id="8" name="椭圆 7">
            <a:extLst>
              <a:ext uri="{FF2B5EF4-FFF2-40B4-BE49-F238E27FC236}">
                <a16:creationId xmlns:a16="http://schemas.microsoft.com/office/drawing/2014/main" id="{23301107-64D7-42B2-8844-2486494097A7}"/>
              </a:ext>
            </a:extLst>
          </p:cNvPr>
          <p:cNvSpPr>
            <a:spLocks noChangeArrowheads="1"/>
          </p:cNvSpPr>
          <p:nvPr/>
        </p:nvSpPr>
        <p:spPr bwMode="auto">
          <a:xfrm flipH="1" flipV="1">
            <a:off x="6725023" y="2478286"/>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9" name="椭圆 8">
            <a:extLst>
              <a:ext uri="{FF2B5EF4-FFF2-40B4-BE49-F238E27FC236}">
                <a16:creationId xmlns:a16="http://schemas.microsoft.com/office/drawing/2014/main" id="{7FC41A3A-4F2B-42F9-B42D-2A0ADAD90AB3}"/>
              </a:ext>
            </a:extLst>
          </p:cNvPr>
          <p:cNvSpPr>
            <a:spLocks noChangeArrowheads="1"/>
          </p:cNvSpPr>
          <p:nvPr/>
        </p:nvSpPr>
        <p:spPr bwMode="auto">
          <a:xfrm flipH="1" flipV="1">
            <a:off x="8552795" y="2489535"/>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10" name="Rectangle 5">
            <a:extLst>
              <a:ext uri="{FF2B5EF4-FFF2-40B4-BE49-F238E27FC236}">
                <a16:creationId xmlns:a16="http://schemas.microsoft.com/office/drawing/2014/main" id="{9DFE47E2-7653-477C-A71E-1B2226D6ECA1}"/>
              </a:ext>
            </a:extLst>
          </p:cNvPr>
          <p:cNvSpPr txBox="1">
            <a:spLocks noChangeArrowheads="1"/>
          </p:cNvSpPr>
          <p:nvPr/>
        </p:nvSpPr>
        <p:spPr>
          <a:xfrm>
            <a:off x="395288" y="322263"/>
            <a:ext cx="7772400" cy="508000"/>
          </a:xfrm>
          <a:prstGeom prst="rect">
            <a:avLst/>
          </a:prstGeom>
          <a:solidFill>
            <a:schemeClr val="accent5"/>
          </a:solidFill>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algn="l">
              <a:defRPr/>
            </a:pPr>
            <a:r>
              <a:rPr kumimoji="0" lang="zh-CN" altLang="en-US" sz="3200" b="1" dirty="0">
                <a:solidFill>
                  <a:srgbClr val="FF0000"/>
                </a:solidFill>
                <a:ea typeface="华文行楷" panose="02010800040101010101" pitchFamily="2" charset="-122"/>
              </a:rPr>
              <a:t>差模信号</a:t>
            </a:r>
            <a:r>
              <a:rPr kumimoji="0" lang="zh-CN" altLang="en-US" sz="3200" b="1" dirty="0">
                <a:ea typeface="华文行楷" panose="02010800040101010101" pitchFamily="2" charset="-122"/>
              </a:rPr>
              <a:t>作用时的动态分析（</a:t>
            </a:r>
            <a:r>
              <a:rPr kumimoji="0" lang="zh-CN" altLang="en-US" sz="3200" b="1" dirty="0">
                <a:solidFill>
                  <a:srgbClr val="FF0000"/>
                </a:solidFill>
                <a:ea typeface="华文行楷" panose="02010800040101010101" pitchFamily="2" charset="-122"/>
              </a:rPr>
              <a:t>交流通路</a:t>
            </a:r>
            <a:r>
              <a:rPr kumimoji="0" lang="zh-CN" altLang="en-US" sz="3200" b="1" dirty="0">
                <a:ea typeface="华文行楷" panose="02010800040101010101" pitchFamily="2" charset="-122"/>
              </a:rPr>
              <a:t>）</a:t>
            </a:r>
          </a:p>
        </p:txBody>
      </p:sp>
      <p:cxnSp>
        <p:nvCxnSpPr>
          <p:cNvPr id="12" name="直接连接符 11">
            <a:extLst>
              <a:ext uri="{FF2B5EF4-FFF2-40B4-BE49-F238E27FC236}">
                <a16:creationId xmlns:a16="http://schemas.microsoft.com/office/drawing/2014/main" id="{CDE125F9-669F-440A-AD63-62A69F8AEE6B}"/>
              </a:ext>
            </a:extLst>
          </p:cNvPr>
          <p:cNvCxnSpPr/>
          <p:nvPr/>
        </p:nvCxnSpPr>
        <p:spPr bwMode="auto">
          <a:xfrm>
            <a:off x="8167688" y="2605384"/>
            <a:ext cx="502825" cy="0"/>
          </a:xfrm>
          <a:prstGeom prst="line">
            <a:avLst/>
          </a:prstGeom>
          <a:solidFill>
            <a:schemeClr val="accent1"/>
          </a:solidFill>
          <a:ln w="2857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304834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7120E2D-9988-F8EE-E6E9-B62CC61F589E}"/>
              </a:ext>
            </a:extLst>
          </p:cNvPr>
          <p:cNvPicPr>
            <a:picLocks noChangeAspect="1"/>
          </p:cNvPicPr>
          <p:nvPr/>
        </p:nvPicPr>
        <p:blipFill>
          <a:blip r:embed="rId5"/>
          <a:stretch>
            <a:fillRect/>
          </a:stretch>
        </p:blipFill>
        <p:spPr>
          <a:xfrm>
            <a:off x="4656137" y="4225797"/>
            <a:ext cx="3869880" cy="2702773"/>
          </a:xfrm>
          <a:prstGeom prst="rect">
            <a:avLst/>
          </a:prstGeom>
        </p:spPr>
      </p:pic>
      <p:sp>
        <p:nvSpPr>
          <p:cNvPr id="15" name="Text Box 179"/>
          <p:cNvSpPr txBox="1">
            <a:spLocks noChangeArrowheads="1"/>
          </p:cNvSpPr>
          <p:nvPr/>
        </p:nvSpPr>
        <p:spPr bwMode="auto">
          <a:xfrm>
            <a:off x="4680301" y="3462888"/>
            <a:ext cx="4500661" cy="830997"/>
          </a:xfrm>
          <a:prstGeom prst="rect">
            <a:avLst/>
          </a:prstGeom>
          <a:solidFill>
            <a:schemeClr val="bg1"/>
          </a:solidFill>
          <a:ln w="9525">
            <a:noFill/>
            <a:miter lim="800000"/>
            <a:headEnd/>
            <a:tailEnd/>
          </a:ln>
        </p:spPr>
        <p:txBody>
          <a:bodyPr wrap="square">
            <a:spAutoFit/>
          </a:bodyPr>
          <a:lstStyle/>
          <a:p>
            <a:pPr eaLnBrk="1" hangingPunct="1">
              <a:spcBef>
                <a:spcPct val="50000"/>
              </a:spcBef>
            </a:pPr>
            <a:r>
              <a:rPr lang="zh-CN" altLang="en-US" b="1" dirty="0">
                <a:solidFill>
                  <a:srgbClr val="FF0000"/>
                </a:solidFill>
              </a:rPr>
              <a:t>负载电阻的中点电位</a:t>
            </a:r>
            <a:r>
              <a:rPr lang="zh-CN" altLang="en-US" b="1" dirty="0"/>
              <a:t>在差模信号作用下不变，相当于接“地”。</a:t>
            </a:r>
          </a:p>
        </p:txBody>
      </p:sp>
      <p:graphicFrame>
        <p:nvGraphicFramePr>
          <p:cNvPr id="6" name="对象 5">
            <a:extLst>
              <a:ext uri="{FF2B5EF4-FFF2-40B4-BE49-F238E27FC236}">
                <a16:creationId xmlns:a16="http://schemas.microsoft.com/office/drawing/2014/main" id="{AAAE8A4A-3D23-779F-B02F-36B1609C4A91}"/>
              </a:ext>
            </a:extLst>
          </p:cNvPr>
          <p:cNvGraphicFramePr>
            <a:graphicFrameLocks noChangeAspect="1"/>
          </p:cNvGraphicFramePr>
          <p:nvPr>
            <p:extLst>
              <p:ext uri="{D42A27DB-BD31-4B8C-83A1-F6EECF244321}">
                <p14:modId xmlns:p14="http://schemas.microsoft.com/office/powerpoint/2010/main" val="3368208303"/>
              </p:ext>
            </p:extLst>
          </p:nvPr>
        </p:nvGraphicFramePr>
        <p:xfrm>
          <a:off x="8399088" y="4293885"/>
          <a:ext cx="814087" cy="2634685"/>
        </p:xfrm>
        <a:graphic>
          <a:graphicData uri="http://schemas.openxmlformats.org/presentationml/2006/ole">
            <mc:AlternateContent xmlns:mc="http://schemas.openxmlformats.org/markup-compatibility/2006">
              <mc:Choice xmlns:v="urn:schemas-microsoft-com:vml" Requires="v">
                <p:oleObj spid="_x0000_s21509" name="BMP 图像" r:id="rId6" imgW="262080" imgH="847800" progId="Paint.Picture">
                  <p:embed/>
                </p:oleObj>
              </mc:Choice>
              <mc:Fallback>
                <p:oleObj name="BMP 图像" r:id="rId6" imgW="262080" imgH="847800" progId="Paint.Picture">
                  <p:embed/>
                  <p:pic>
                    <p:nvPicPr>
                      <p:cNvPr id="3" name="对象 2">
                        <a:extLst>
                          <a:ext uri="{FF2B5EF4-FFF2-40B4-BE49-F238E27FC236}">
                            <a16:creationId xmlns:a16="http://schemas.microsoft.com/office/drawing/2014/main" id="{63C8323F-6499-4478-9D03-343AA1196489}"/>
                          </a:ext>
                        </a:extLst>
                      </p:cNvPr>
                      <p:cNvPicPr/>
                      <p:nvPr/>
                    </p:nvPicPr>
                    <p:blipFill>
                      <a:blip r:embed="rId7"/>
                      <a:stretch>
                        <a:fillRect/>
                      </a:stretch>
                    </p:blipFill>
                    <p:spPr>
                      <a:xfrm>
                        <a:off x="8399088" y="4293885"/>
                        <a:ext cx="814087" cy="2634685"/>
                      </a:xfrm>
                      <a:prstGeom prst="rect">
                        <a:avLst/>
                      </a:prstGeom>
                    </p:spPr>
                  </p:pic>
                </p:oleObj>
              </mc:Fallback>
            </mc:AlternateContent>
          </a:graphicData>
        </a:graphic>
      </p:graphicFrame>
      <p:sp>
        <p:nvSpPr>
          <p:cNvPr id="7" name="椭圆 6">
            <a:extLst>
              <a:ext uri="{FF2B5EF4-FFF2-40B4-BE49-F238E27FC236}">
                <a16:creationId xmlns:a16="http://schemas.microsoft.com/office/drawing/2014/main" id="{93C190B8-C704-91B8-46AA-A466D988EEFB}"/>
              </a:ext>
            </a:extLst>
          </p:cNvPr>
          <p:cNvSpPr>
            <a:spLocks noChangeArrowheads="1"/>
          </p:cNvSpPr>
          <p:nvPr/>
        </p:nvSpPr>
        <p:spPr bwMode="auto">
          <a:xfrm flipH="1" flipV="1">
            <a:off x="6853900" y="5399452"/>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8" name="椭圆 7">
            <a:extLst>
              <a:ext uri="{FF2B5EF4-FFF2-40B4-BE49-F238E27FC236}">
                <a16:creationId xmlns:a16="http://schemas.microsoft.com/office/drawing/2014/main" id="{05EA7146-E9A0-D1E5-0E72-D11E3E1B5EE0}"/>
              </a:ext>
            </a:extLst>
          </p:cNvPr>
          <p:cNvSpPr>
            <a:spLocks noChangeArrowheads="1"/>
          </p:cNvSpPr>
          <p:nvPr/>
        </p:nvSpPr>
        <p:spPr bwMode="auto">
          <a:xfrm flipH="1" flipV="1">
            <a:off x="8571206" y="5410701"/>
            <a:ext cx="235437" cy="231700"/>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9" name="直接连接符 8">
            <a:extLst>
              <a:ext uri="{FF2B5EF4-FFF2-40B4-BE49-F238E27FC236}">
                <a16:creationId xmlns:a16="http://schemas.microsoft.com/office/drawing/2014/main" id="{204052E2-34CF-0853-6A69-41C1848FD2AB}"/>
              </a:ext>
            </a:extLst>
          </p:cNvPr>
          <p:cNvCxnSpPr/>
          <p:nvPr/>
        </p:nvCxnSpPr>
        <p:spPr bwMode="auto">
          <a:xfrm>
            <a:off x="8186099" y="5526550"/>
            <a:ext cx="502825" cy="0"/>
          </a:xfrm>
          <a:prstGeom prst="line">
            <a:avLst/>
          </a:prstGeom>
          <a:solidFill>
            <a:schemeClr val="accent1"/>
          </a:solidFill>
          <a:ln w="2857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36868" name="Picture 2" descr="Dz030305"/>
          <p:cNvPicPr>
            <a:picLocks noChangeAspect="1" noChangeArrowheads="1"/>
          </p:cNvPicPr>
          <p:nvPr/>
        </p:nvPicPr>
        <p:blipFill>
          <a:blip r:embed="rId8"/>
          <a:srcRect r="59166" b="11702"/>
          <a:stretch>
            <a:fillRect/>
          </a:stretch>
        </p:blipFill>
        <p:spPr bwMode="auto">
          <a:xfrm>
            <a:off x="673100" y="1409700"/>
            <a:ext cx="3886200" cy="2590800"/>
          </a:xfrm>
          <a:prstGeom prst="rect">
            <a:avLst/>
          </a:prstGeom>
          <a:noFill/>
          <a:ln w="9525">
            <a:noFill/>
            <a:miter lim="800000"/>
            <a:headEnd/>
            <a:tailEnd/>
          </a:ln>
        </p:spPr>
      </p:pic>
      <p:sp>
        <p:nvSpPr>
          <p:cNvPr id="51204" name="AutoShape 4"/>
          <p:cNvSpPr>
            <a:spLocks/>
          </p:cNvSpPr>
          <p:nvPr/>
        </p:nvSpPr>
        <p:spPr bwMode="auto">
          <a:xfrm>
            <a:off x="520700" y="1409700"/>
            <a:ext cx="1524000" cy="458788"/>
          </a:xfrm>
          <a:prstGeom prst="borderCallout2">
            <a:avLst>
              <a:gd name="adj1" fmla="val 24912"/>
              <a:gd name="adj2" fmla="val 105000"/>
              <a:gd name="adj3" fmla="val 24912"/>
              <a:gd name="adj4" fmla="val 132708"/>
              <a:gd name="adj5" fmla="val 129412"/>
              <a:gd name="adj6" fmla="val 161458"/>
            </a:avLst>
          </a:prstGeom>
          <a:solidFill>
            <a:srgbClr val="FFFFCC"/>
          </a:solidFill>
          <a:ln w="12700">
            <a:solidFill>
              <a:srgbClr val="FF3300"/>
            </a:solidFill>
            <a:miter lim="800000"/>
            <a:headEnd/>
            <a:tailEnd/>
          </a:ln>
        </p:spPr>
        <p:txBody>
          <a:bodyPr/>
          <a:lstStyle/>
          <a:p>
            <a:pPr algn="ctr" eaLnBrk="1" hangingPunct="1"/>
            <a:r>
              <a:rPr lang="zh-CN" altLang="en-US" b="1">
                <a:latin typeface="Verdana" pitchFamily="34" charset="0"/>
              </a:rPr>
              <a:t>为什么？</a:t>
            </a:r>
          </a:p>
        </p:txBody>
      </p:sp>
      <p:sp>
        <p:nvSpPr>
          <p:cNvPr id="36870" name="Rectangle 5"/>
          <p:cNvSpPr>
            <a:spLocks noGrp="1" noChangeArrowheads="1"/>
          </p:cNvSpPr>
          <p:nvPr>
            <p:ph type="title"/>
          </p:nvPr>
        </p:nvSpPr>
        <p:spPr>
          <a:xfrm>
            <a:off x="395288" y="836613"/>
            <a:ext cx="7772400" cy="508000"/>
          </a:xfrm>
        </p:spPr>
        <p:txBody>
          <a:bodyPr/>
          <a:lstStyle/>
          <a:p>
            <a:pPr algn="l"/>
            <a:r>
              <a:rPr lang="zh-CN" altLang="en-US" sz="3200" b="1">
                <a:solidFill>
                  <a:schemeClr val="tx1"/>
                </a:solidFill>
                <a:ea typeface="华文行楷" pitchFamily="2" charset="-122"/>
              </a:rPr>
              <a:t>差模信号作用时的动态分析</a:t>
            </a:r>
          </a:p>
        </p:txBody>
      </p:sp>
      <p:graphicFrame>
        <p:nvGraphicFramePr>
          <p:cNvPr id="51212" name="Object 6"/>
          <p:cNvGraphicFramePr>
            <a:graphicFrameLocks noGrp="1" noChangeAspect="1"/>
          </p:cNvGraphicFramePr>
          <p:nvPr>
            <p:ph idx="1"/>
          </p:nvPr>
        </p:nvGraphicFramePr>
        <p:xfrm>
          <a:off x="1116013" y="4132263"/>
          <a:ext cx="3411537" cy="2220912"/>
        </p:xfrm>
        <a:graphic>
          <a:graphicData uri="http://schemas.openxmlformats.org/presentationml/2006/ole">
            <mc:AlternateContent xmlns:mc="http://schemas.openxmlformats.org/markup-compatibility/2006">
              <mc:Choice xmlns:v="urn:schemas-microsoft-com:vml" Requires="v">
                <p:oleObj spid="_x0000_s21510" name="Photo Editor 照片" r:id="rId9" imgW="12885714" imgH="8392696" progId="">
                  <p:embed/>
                </p:oleObj>
              </mc:Choice>
              <mc:Fallback>
                <p:oleObj name="Photo Editor 照片" r:id="rId9" imgW="12885714" imgH="8392696" progId="">
                  <p:embed/>
                  <p:pic>
                    <p:nvPicPr>
                      <p:cNvPr id="0" name="Object 6"/>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4132263"/>
                        <a:ext cx="3411537" cy="222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175"/>
          <p:cNvSpPr txBox="1">
            <a:spLocks noChangeArrowheads="1"/>
          </p:cNvSpPr>
          <p:nvPr/>
        </p:nvSpPr>
        <p:spPr bwMode="auto">
          <a:xfrm>
            <a:off x="5016500" y="2020585"/>
            <a:ext cx="3394075" cy="457200"/>
          </a:xfrm>
          <a:prstGeom prst="rect">
            <a:avLst/>
          </a:prstGeom>
          <a:solidFill>
            <a:schemeClr val="bg1"/>
          </a:solidFill>
          <a:ln w="9525">
            <a:noFill/>
            <a:miter lim="800000"/>
            <a:headEnd/>
            <a:tailEnd/>
          </a:ln>
        </p:spPr>
        <p:txBody>
          <a:bodyPr>
            <a:spAutoFit/>
          </a:bodyPr>
          <a:lstStyle/>
          <a:p>
            <a:pPr eaLnBrk="1" hangingPunct="1">
              <a:spcBef>
                <a:spcPct val="50000"/>
              </a:spcBef>
            </a:pPr>
            <a:r>
              <a:rPr lang="zh-CN" altLang="en-US" b="1" dirty="0">
                <a:solidFill>
                  <a:srgbClr val="FF3300"/>
                </a:solidFill>
              </a:rPr>
              <a:t>分析时注意二个“虚地”</a:t>
            </a:r>
          </a:p>
        </p:txBody>
      </p:sp>
      <p:sp>
        <p:nvSpPr>
          <p:cNvPr id="14" name="Text Box 178"/>
          <p:cNvSpPr txBox="1">
            <a:spLocks noChangeArrowheads="1"/>
          </p:cNvSpPr>
          <p:nvPr/>
        </p:nvSpPr>
        <p:spPr bwMode="auto">
          <a:xfrm>
            <a:off x="5016500" y="2524375"/>
            <a:ext cx="3733800" cy="830263"/>
          </a:xfrm>
          <a:prstGeom prst="rect">
            <a:avLst/>
          </a:prstGeom>
          <a:solidFill>
            <a:schemeClr val="bg1"/>
          </a:solidFill>
          <a:ln w="9525">
            <a:noFill/>
            <a:miter lim="800000"/>
            <a:headEnd/>
            <a:tailEnd/>
          </a:ln>
        </p:spPr>
        <p:txBody>
          <a:bodyPr>
            <a:spAutoFit/>
          </a:bodyPr>
          <a:lstStyle/>
          <a:p>
            <a:pPr eaLnBrk="1" hangingPunct="1">
              <a:spcBef>
                <a:spcPct val="50000"/>
              </a:spcBef>
            </a:pPr>
            <a:r>
              <a:rPr lang="en-US" altLang="zh-CN" b="1" dirty="0">
                <a:solidFill>
                  <a:srgbClr val="FF0000"/>
                </a:solidFill>
              </a:rPr>
              <a:t>E</a:t>
            </a:r>
            <a:r>
              <a:rPr lang="zh-CN" altLang="en-US" b="1" dirty="0">
                <a:solidFill>
                  <a:srgbClr val="FF0000"/>
                </a:solidFill>
              </a:rPr>
              <a:t>点电位</a:t>
            </a:r>
            <a:r>
              <a:rPr lang="zh-CN" altLang="en-US" b="1" dirty="0"/>
              <a:t>在差模信号作用下不变，相当于接“地”。</a:t>
            </a:r>
          </a:p>
        </p:txBody>
      </p:sp>
      <p:sp>
        <p:nvSpPr>
          <p:cNvPr id="21" name="手杖形箭头 20"/>
          <p:cNvSpPr/>
          <p:nvPr/>
        </p:nvSpPr>
        <p:spPr bwMode="auto">
          <a:xfrm rot="5400000">
            <a:off x="2811463" y="2251075"/>
            <a:ext cx="615950" cy="215265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sp>
        <p:nvSpPr>
          <p:cNvPr id="22" name="手杖形箭头 21"/>
          <p:cNvSpPr/>
          <p:nvPr/>
        </p:nvSpPr>
        <p:spPr bwMode="auto">
          <a:xfrm rot="6058721">
            <a:off x="1008063" y="4903787"/>
            <a:ext cx="833438" cy="703263"/>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graphicFrame>
        <p:nvGraphicFramePr>
          <p:cNvPr id="36881" name="Object 17"/>
          <p:cNvGraphicFramePr>
            <a:graphicFrameLocks noChangeAspect="1"/>
          </p:cNvGraphicFramePr>
          <p:nvPr/>
        </p:nvGraphicFramePr>
        <p:xfrm>
          <a:off x="4457700" y="1476375"/>
          <a:ext cx="4914900" cy="509588"/>
        </p:xfrm>
        <a:graphic>
          <a:graphicData uri="http://schemas.openxmlformats.org/presentationml/2006/ole">
            <mc:AlternateContent xmlns:mc="http://schemas.openxmlformats.org/markup-compatibility/2006">
              <mc:Choice xmlns:v="urn:schemas-microsoft-com:vml" Requires="v">
                <p:oleObj spid="_x0000_s21511" name="公式" r:id="rId11" imgW="60960000" imgH="5486400" progId="Equation.3">
                  <p:embed/>
                </p:oleObj>
              </mc:Choice>
              <mc:Fallback>
                <p:oleObj name="公式" r:id="rId11" imgW="60960000" imgH="54864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57700" y="1476375"/>
                        <a:ext cx="4914900" cy="509588"/>
                      </a:xfrm>
                      <a:prstGeom prst="rect">
                        <a:avLst/>
                      </a:prstGeom>
                      <a:solidFill>
                        <a:schemeClr val="accent1"/>
                      </a:solidFill>
                    </p:spPr>
                  </p:pic>
                </p:oleObj>
              </mc:Fallback>
            </mc:AlternateContent>
          </a:graphicData>
        </a:graphic>
      </p:graphicFrame>
      <p:sp>
        <p:nvSpPr>
          <p:cNvPr id="23" name="椭圆 22"/>
          <p:cNvSpPr>
            <a:spLocks noChangeArrowheads="1"/>
          </p:cNvSpPr>
          <p:nvPr/>
        </p:nvSpPr>
        <p:spPr bwMode="auto">
          <a:xfrm flipH="1" flipV="1">
            <a:off x="2857500" y="2543175"/>
            <a:ext cx="304800" cy="468313"/>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24" name="椭圆 23"/>
          <p:cNvSpPr>
            <a:spLocks noChangeArrowheads="1"/>
          </p:cNvSpPr>
          <p:nvPr/>
        </p:nvSpPr>
        <p:spPr bwMode="auto">
          <a:xfrm flipH="1" flipV="1">
            <a:off x="2724150" y="1666875"/>
            <a:ext cx="542925" cy="528638"/>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3" name="直接箭头连接符 2"/>
          <p:cNvCxnSpPr>
            <a:cxnSpLocks noChangeShapeType="1"/>
            <a:stCxn id="23" idx="0"/>
          </p:cNvCxnSpPr>
          <p:nvPr/>
        </p:nvCxnSpPr>
        <p:spPr bwMode="auto">
          <a:xfrm flipH="1">
            <a:off x="2171700" y="3011488"/>
            <a:ext cx="838200" cy="2220912"/>
          </a:xfrm>
          <a:prstGeom prst="straightConnector1">
            <a:avLst/>
          </a:prstGeom>
          <a:noFill/>
          <a:ln w="9525" algn="ctr">
            <a:solidFill>
              <a:srgbClr val="FF0000"/>
            </a:solidFill>
            <a:round/>
            <a:headEnd/>
            <a:tailEnd type="triangle" w="med" len="med"/>
          </a:ln>
        </p:spPr>
      </p:cxnSp>
      <p:cxnSp>
        <p:nvCxnSpPr>
          <p:cNvPr id="5" name="直接箭头连接符 4"/>
          <p:cNvCxnSpPr>
            <a:cxnSpLocks noChangeShapeType="1"/>
          </p:cNvCxnSpPr>
          <p:nvPr/>
        </p:nvCxnSpPr>
        <p:spPr bwMode="auto">
          <a:xfrm>
            <a:off x="3028950" y="1985963"/>
            <a:ext cx="895350" cy="3246437"/>
          </a:xfrm>
          <a:prstGeom prst="straightConnector1">
            <a:avLst/>
          </a:prstGeom>
          <a:noFill/>
          <a:ln w="9525" algn="ctr">
            <a:solidFill>
              <a:srgbClr val="FF0000"/>
            </a:solidFill>
            <a:round/>
            <a:headEnd/>
            <a:tailEnd type="triangle" w="med" len="med"/>
          </a:ln>
        </p:spPr>
      </p:cxnSp>
      <p:cxnSp>
        <p:nvCxnSpPr>
          <p:cNvPr id="4" name="直接连接符 3"/>
          <p:cNvCxnSpPr>
            <a:cxnSpLocks noChangeShapeType="1"/>
          </p:cNvCxnSpPr>
          <p:nvPr/>
        </p:nvCxnSpPr>
        <p:spPr bwMode="auto">
          <a:xfrm>
            <a:off x="3028950" y="1149350"/>
            <a:ext cx="0" cy="1674813"/>
          </a:xfrm>
          <a:prstGeom prst="line">
            <a:avLst/>
          </a:prstGeom>
          <a:noFill/>
          <a:ln w="28575" algn="ctr">
            <a:solidFill>
              <a:srgbClr val="0000FF"/>
            </a:solidFill>
            <a:prstDash val="sysDot"/>
            <a:round/>
            <a:headEnd/>
            <a:tailEnd/>
          </a:ln>
        </p:spPr>
      </p:cxnSp>
      <p:cxnSp>
        <p:nvCxnSpPr>
          <p:cNvPr id="18" name="直接连接符 17"/>
          <p:cNvCxnSpPr>
            <a:cxnSpLocks noChangeShapeType="1"/>
          </p:cNvCxnSpPr>
          <p:nvPr/>
        </p:nvCxnSpPr>
        <p:spPr bwMode="auto">
          <a:xfrm flipV="1">
            <a:off x="6762772" y="5557418"/>
            <a:ext cx="2260600" cy="7938"/>
          </a:xfrm>
          <a:prstGeom prst="line">
            <a:avLst/>
          </a:prstGeom>
          <a:noFill/>
          <a:ln w="28575" algn="ctr">
            <a:solidFill>
              <a:srgbClr val="0000FF"/>
            </a:solidFill>
            <a:prstDash val="sysDot"/>
            <a:round/>
            <a:headEnd/>
            <a:tailEnd/>
          </a:ln>
        </p:spPr>
      </p:cxnSp>
      <p:sp>
        <p:nvSpPr>
          <p:cNvPr id="10" name="文本框 9">
            <a:extLst>
              <a:ext uri="{FF2B5EF4-FFF2-40B4-BE49-F238E27FC236}">
                <a16:creationId xmlns:a16="http://schemas.microsoft.com/office/drawing/2014/main" id="{53C1FDB1-9DAE-214C-56F1-A9D8A2F3CA97}"/>
              </a:ext>
            </a:extLst>
          </p:cNvPr>
          <p:cNvSpPr txBox="1"/>
          <p:nvPr/>
        </p:nvSpPr>
        <p:spPr>
          <a:xfrm>
            <a:off x="5749925" y="760573"/>
            <a:ext cx="2381122" cy="461665"/>
          </a:xfrm>
          <a:prstGeom prst="rect">
            <a:avLst/>
          </a:prstGeom>
          <a:solidFill>
            <a:schemeClr val="accent5"/>
          </a:solidFill>
        </p:spPr>
        <p:txBody>
          <a:bodyPr wrap="square" rtlCol="0">
            <a:spAutoFit/>
          </a:bodyPr>
          <a:lstStyle/>
          <a:p>
            <a:r>
              <a:rPr lang="zh-CN" altLang="en-US" sz="2400" b="1" u="sng" dirty="0">
                <a:solidFill>
                  <a:srgbClr val="FF0000"/>
                </a:solidFill>
              </a:rPr>
              <a:t>差模输入回路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1212"/>
                                        </p:tgtEl>
                                        <p:attrNameLst>
                                          <p:attrName>style.visibility</p:attrName>
                                        </p:attrNameLst>
                                      </p:cBhvr>
                                      <p:to>
                                        <p:strVal val="visible"/>
                                      </p:to>
                                    </p:set>
                                    <p:animEffect transition="in" filter="wipe(left)">
                                      <p:cBhvr>
                                        <p:cTn id="11" dur="500"/>
                                        <p:tgtEl>
                                          <p:spTgt spid="512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box(out)">
                                      <p:cBhvr>
                                        <p:cTn id="16" dur="500"/>
                                        <p:tgtEl>
                                          <p:spTgt spid="13">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4" name="camera.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animEffect transition="in" filter="box(out)">
                                      <p:cBhvr>
                                        <p:cTn id="21" dur="500"/>
                                        <p:tgtEl>
                                          <p:spTgt spid="14">
                                            <p:txEl>
                                              <p:pRg st="0" end="0"/>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4" name="camera.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box(out)">
                                      <p:cBhvr>
                                        <p:cTn id="26" dur="500"/>
                                        <p:tgtEl>
                                          <p:spTgt spid="15">
                                            <p:txEl>
                                              <p:pRg st="0" end="0"/>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4"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linds(horizontal)">
                                      <p:cBhvr>
                                        <p:cTn id="31" dur="500"/>
                                        <p:tgtEl>
                                          <p:spTgt spid="2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blinds(horizontal)">
                                      <p:cBhvr>
                                        <p:cTn id="44" dur="500"/>
                                        <p:tgtEl>
                                          <p:spTgt spid="2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linds(horizontal)">
                                      <p:cBhvr>
                                        <p:cTn id="49" dur="500"/>
                                        <p:tgtEl>
                                          <p:spTgt spid="2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blinds(horizontal)">
                                      <p:cBhvr>
                                        <p:cTn id="54" dur="500"/>
                                        <p:tgtEl>
                                          <p:spTgt spid="2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6881"/>
                                        </p:tgtEl>
                                        <p:attrNameLst>
                                          <p:attrName>style.visibility</p:attrName>
                                        </p:attrNameLst>
                                      </p:cBhvr>
                                      <p:to>
                                        <p:strVal val="visible"/>
                                      </p:to>
                                    </p:set>
                                    <p:animEffect transition="in" filter="wipe(left)">
                                      <p:cBhvr>
                                        <p:cTn id="63" dur="500"/>
                                        <p:tgtEl>
                                          <p:spTgt spid="3688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utoUpdateAnimBg="0"/>
      <p:bldP spid="51204" grpId="0" animBg="1" autoUpdateAnimBg="0"/>
      <p:bldP spid="13" grpId="0" build="p" autoUpdateAnimBg="0"/>
      <p:bldP spid="14" grpId="0" build="p" autoUpdateAnimBg="0"/>
      <p:bldP spid="23" grpId="0" animBg="1"/>
      <p:bldP spid="24"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7" name="Picture 2" descr="Dz030305"/>
          <p:cNvPicPr>
            <a:picLocks noChangeAspect="1" noChangeArrowheads="1"/>
          </p:cNvPicPr>
          <p:nvPr/>
        </p:nvPicPr>
        <p:blipFill>
          <a:blip r:embed="rId5"/>
          <a:srcRect r="59166" b="11702"/>
          <a:stretch>
            <a:fillRect/>
          </a:stretch>
        </p:blipFill>
        <p:spPr bwMode="auto">
          <a:xfrm>
            <a:off x="673100" y="1409700"/>
            <a:ext cx="3886200" cy="2590800"/>
          </a:xfrm>
          <a:prstGeom prst="rect">
            <a:avLst/>
          </a:prstGeom>
          <a:noFill/>
          <a:ln w="9525">
            <a:noFill/>
            <a:miter lim="800000"/>
            <a:headEnd/>
            <a:tailEnd/>
          </a:ln>
        </p:spPr>
      </p:pic>
      <p:graphicFrame>
        <p:nvGraphicFramePr>
          <p:cNvPr id="51203" name="Object 2"/>
          <p:cNvGraphicFramePr>
            <a:graphicFrameLocks noChangeAspect="1"/>
          </p:cNvGraphicFramePr>
          <p:nvPr/>
        </p:nvGraphicFramePr>
        <p:xfrm>
          <a:off x="4787900" y="5187950"/>
          <a:ext cx="3529013" cy="508000"/>
        </p:xfrm>
        <a:graphic>
          <a:graphicData uri="http://schemas.openxmlformats.org/presentationml/2006/ole">
            <mc:AlternateContent xmlns:mc="http://schemas.openxmlformats.org/markup-compatibility/2006">
              <mc:Choice xmlns:v="urn:schemas-microsoft-com:vml" Requires="v">
                <p:oleObj spid="_x0000_s22537" name="公式" r:id="rId6" imgW="38404800" imgH="5486400" progId="Equation.3">
                  <p:embed/>
                </p:oleObj>
              </mc:Choice>
              <mc:Fallback>
                <p:oleObj name="公式" r:id="rId6" imgW="38404800" imgH="54864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900" y="5187950"/>
                        <a:ext cx="3529013"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8" name="Rectangle 5"/>
          <p:cNvSpPr>
            <a:spLocks noGrp="1" noChangeArrowheads="1"/>
          </p:cNvSpPr>
          <p:nvPr>
            <p:ph type="title"/>
          </p:nvPr>
        </p:nvSpPr>
        <p:spPr>
          <a:xfrm>
            <a:off x="0" y="663575"/>
            <a:ext cx="7772400" cy="508000"/>
          </a:xfrm>
        </p:spPr>
        <p:txBody>
          <a:bodyPr/>
          <a:lstStyle/>
          <a:p>
            <a:pPr algn="l"/>
            <a:r>
              <a:rPr lang="zh-CN" altLang="en-US" sz="3200" b="1">
                <a:solidFill>
                  <a:schemeClr val="tx1"/>
                </a:solidFill>
                <a:ea typeface="华文行楷" pitchFamily="2" charset="-122"/>
              </a:rPr>
              <a:t>差模信号作用时的动态分析</a:t>
            </a:r>
          </a:p>
        </p:txBody>
      </p:sp>
      <p:grpSp>
        <p:nvGrpSpPr>
          <p:cNvPr id="2" name="Group 7"/>
          <p:cNvGrpSpPr>
            <a:grpSpLocks/>
          </p:cNvGrpSpPr>
          <p:nvPr/>
        </p:nvGrpSpPr>
        <p:grpSpPr bwMode="auto">
          <a:xfrm>
            <a:off x="5273675" y="493713"/>
            <a:ext cx="3581400" cy="871537"/>
            <a:chOff x="576" y="2496"/>
            <a:chExt cx="2256" cy="549"/>
          </a:xfrm>
        </p:grpSpPr>
        <p:sp>
          <p:nvSpPr>
            <p:cNvPr id="37900" name="Text Box 8"/>
            <p:cNvSpPr txBox="1">
              <a:spLocks noChangeArrowheads="1"/>
            </p:cNvSpPr>
            <p:nvPr/>
          </p:nvSpPr>
          <p:spPr bwMode="auto">
            <a:xfrm>
              <a:off x="576" y="2592"/>
              <a:ext cx="1344" cy="288"/>
            </a:xfrm>
            <a:prstGeom prst="rect">
              <a:avLst/>
            </a:prstGeom>
            <a:noFill/>
            <a:ln w="9525">
              <a:noFill/>
              <a:miter lim="800000"/>
              <a:headEnd/>
              <a:tailEnd/>
            </a:ln>
          </p:spPr>
          <p:txBody>
            <a:bodyPr>
              <a:spAutoFit/>
            </a:bodyPr>
            <a:lstStyle/>
            <a:p>
              <a:pPr algn="ctr" eaLnBrk="1" hangingPunct="1">
                <a:spcBef>
                  <a:spcPct val="50000"/>
                </a:spcBef>
              </a:pPr>
              <a:r>
                <a:rPr lang="zh-CN" altLang="en-US" b="1"/>
                <a:t>差模放大倍数</a:t>
              </a:r>
            </a:p>
          </p:txBody>
        </p:sp>
        <p:graphicFrame>
          <p:nvGraphicFramePr>
            <p:cNvPr id="37896" name="Object 7"/>
            <p:cNvGraphicFramePr>
              <a:graphicFrameLocks noChangeAspect="1"/>
            </p:cNvGraphicFramePr>
            <p:nvPr/>
          </p:nvGraphicFramePr>
          <p:xfrm>
            <a:off x="1968" y="2496"/>
            <a:ext cx="864" cy="549"/>
          </p:xfrm>
          <a:graphic>
            <a:graphicData uri="http://schemas.openxmlformats.org/presentationml/2006/ole">
              <mc:AlternateContent xmlns:mc="http://schemas.openxmlformats.org/markup-compatibility/2006">
                <mc:Choice xmlns:v="urn:schemas-microsoft-com:vml" Requires="v">
                  <p:oleObj spid="_x0000_s22538" name="Equation" r:id="rId8" imgW="16459200" imgH="10363200" progId="Equation.3">
                    <p:embed/>
                  </p:oleObj>
                </mc:Choice>
                <mc:Fallback>
                  <p:oleObj name="Equation" r:id="rId8" imgW="16459200" imgH="10363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2496"/>
                          <a:ext cx="864" cy="549"/>
                        </a:xfrm>
                        <a:prstGeom prst="rect">
                          <a:avLst/>
                        </a:prstGeom>
                        <a:solidFill>
                          <a:srgbClr val="66FFFF"/>
                        </a:solidFill>
                        <a:ln w="9525">
                          <a:solidFill>
                            <a:srgbClr val="FF3300"/>
                          </a:solidFill>
                          <a:miter lim="800000"/>
                          <a:headEnd/>
                          <a:tailEnd/>
                        </a:ln>
                      </p:spPr>
                    </p:pic>
                  </p:oleObj>
                </mc:Fallback>
              </mc:AlternateContent>
            </a:graphicData>
          </a:graphic>
        </p:graphicFrame>
      </p:grpSp>
      <p:graphicFrame>
        <p:nvGraphicFramePr>
          <p:cNvPr id="51210" name="Object 4"/>
          <p:cNvGraphicFramePr>
            <a:graphicFrameLocks noChangeAspect="1"/>
          </p:cNvGraphicFramePr>
          <p:nvPr/>
        </p:nvGraphicFramePr>
        <p:xfrm>
          <a:off x="4787900" y="5764213"/>
          <a:ext cx="3313113" cy="835025"/>
        </p:xfrm>
        <a:graphic>
          <a:graphicData uri="http://schemas.openxmlformats.org/presentationml/2006/ole">
            <mc:AlternateContent xmlns:mc="http://schemas.openxmlformats.org/markup-compatibility/2006">
              <mc:Choice xmlns:v="urn:schemas-microsoft-com:vml" Requires="v">
                <p:oleObj spid="_x0000_s22539" name="Equation" r:id="rId10" imgW="37795200" imgH="9448800" progId="Equation.3">
                  <p:embed/>
                </p:oleObj>
              </mc:Choice>
              <mc:Fallback>
                <p:oleObj name="Equation" r:id="rId10" imgW="37795200" imgH="94488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7900" y="5764213"/>
                        <a:ext cx="3313113"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11" name="Object 5"/>
          <p:cNvGraphicFramePr>
            <a:graphicFrameLocks noChangeAspect="1"/>
          </p:cNvGraphicFramePr>
          <p:nvPr/>
        </p:nvGraphicFramePr>
        <p:xfrm>
          <a:off x="4849813" y="4713288"/>
          <a:ext cx="3817937" cy="458787"/>
        </p:xfrm>
        <a:graphic>
          <a:graphicData uri="http://schemas.openxmlformats.org/presentationml/2006/ole">
            <mc:AlternateContent xmlns:mc="http://schemas.openxmlformats.org/markup-compatibility/2006">
              <mc:Choice xmlns:v="urn:schemas-microsoft-com:vml" Requires="v">
                <p:oleObj spid="_x0000_s22540" name="Equation" r:id="rId12" imgW="40843200" imgH="5486400" progId="Equation.3">
                  <p:embed/>
                </p:oleObj>
              </mc:Choice>
              <mc:Fallback>
                <p:oleObj name="Equation" r:id="rId12" imgW="40843200" imgH="54864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9813" y="4713288"/>
                        <a:ext cx="3817937" cy="458787"/>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1212" name="Object 6"/>
          <p:cNvGraphicFramePr>
            <a:graphicFrameLocks noGrp="1" noChangeAspect="1"/>
          </p:cNvGraphicFramePr>
          <p:nvPr>
            <p:ph idx="1"/>
          </p:nvPr>
        </p:nvGraphicFramePr>
        <p:xfrm>
          <a:off x="1116013" y="4132263"/>
          <a:ext cx="3411537" cy="2220912"/>
        </p:xfrm>
        <a:graphic>
          <a:graphicData uri="http://schemas.openxmlformats.org/presentationml/2006/ole">
            <mc:AlternateContent xmlns:mc="http://schemas.openxmlformats.org/markup-compatibility/2006">
              <mc:Choice xmlns:v="urn:schemas-microsoft-com:vml" Requires="v">
                <p:oleObj spid="_x0000_s22541" name="Photo Editor 照片" r:id="rId14" imgW="12885714" imgH="8392696" progId="">
                  <p:embed/>
                </p:oleObj>
              </mc:Choice>
              <mc:Fallback>
                <p:oleObj name="Photo Editor 照片" r:id="rId14" imgW="12885714" imgH="8392696" progId="">
                  <p:embed/>
                  <p:pic>
                    <p:nvPicPr>
                      <p:cNvPr id="0" name="Object 6"/>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6013" y="4132263"/>
                        <a:ext cx="3411537" cy="222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76"/>
          <p:cNvGraphicFramePr>
            <a:graphicFrameLocks noChangeAspect="1"/>
          </p:cNvGraphicFramePr>
          <p:nvPr/>
        </p:nvGraphicFramePr>
        <p:xfrm>
          <a:off x="4619625" y="1341438"/>
          <a:ext cx="3862388" cy="1962150"/>
        </p:xfrm>
        <a:graphic>
          <a:graphicData uri="http://schemas.openxmlformats.org/presentationml/2006/ole">
            <mc:AlternateContent xmlns:mc="http://schemas.openxmlformats.org/markup-compatibility/2006">
              <mc:Choice xmlns:v="urn:schemas-microsoft-com:vml" Requires="v">
                <p:oleObj spid="_x0000_s22542" name="Equation" r:id="rId16" imgW="46024800" imgH="32918400" progId="Equation.3">
                  <p:embed/>
                </p:oleObj>
              </mc:Choice>
              <mc:Fallback>
                <p:oleObj name="Equation" r:id="rId16" imgW="46024800" imgH="32918400" progId="Equation.3">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19625" y="1341438"/>
                        <a:ext cx="3862388" cy="196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6" name="Object 3"/>
          <p:cNvGraphicFramePr>
            <a:graphicFrameLocks noChangeAspect="1"/>
          </p:cNvGraphicFramePr>
          <p:nvPr/>
        </p:nvGraphicFramePr>
        <p:xfrm>
          <a:off x="5141913" y="3389313"/>
          <a:ext cx="2951162" cy="1254125"/>
        </p:xfrm>
        <a:graphic>
          <a:graphicData uri="http://schemas.openxmlformats.org/presentationml/2006/ole">
            <mc:AlternateContent xmlns:mc="http://schemas.openxmlformats.org/markup-compatibility/2006">
              <mc:Choice xmlns:v="urn:schemas-microsoft-com:vml" Requires="v">
                <p:oleObj spid="_x0000_s22543" name="公式" r:id="rId18" imgW="30784800" imgH="14630400" progId="Equation.3">
                  <p:embed/>
                </p:oleObj>
              </mc:Choice>
              <mc:Fallback>
                <p:oleObj name="公式" r:id="rId18" imgW="30784800" imgH="14630400" progId="Equation.3">
                  <p:embed/>
                  <p:pic>
                    <p:nvPicPr>
                      <p:cNvPr id="0" name="Object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1913" y="3389313"/>
                        <a:ext cx="2951162" cy="1254125"/>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4" name="矩形 3">
            <a:extLst>
              <a:ext uri="{FF2B5EF4-FFF2-40B4-BE49-F238E27FC236}">
                <a16:creationId xmlns:a16="http://schemas.microsoft.com/office/drawing/2014/main" id="{02AEB36B-C0FC-60EC-41A6-B8CB564A0573}"/>
              </a:ext>
            </a:extLst>
          </p:cNvPr>
          <p:cNvSpPr/>
          <p:nvPr/>
        </p:nvSpPr>
        <p:spPr bwMode="auto">
          <a:xfrm>
            <a:off x="576870" y="2712515"/>
            <a:ext cx="767114" cy="951222"/>
          </a:xfrm>
          <a:prstGeom prst="rect">
            <a:avLst/>
          </a:prstGeom>
          <a:noFill/>
          <a:ln w="28575"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212"/>
                                        </p:tgtEl>
                                        <p:attrNameLst>
                                          <p:attrName>style.visibility</p:attrName>
                                        </p:attrNameLst>
                                      </p:cBhvr>
                                      <p:to>
                                        <p:strVal val="visible"/>
                                      </p:to>
                                    </p:set>
                                    <p:animEffect transition="in" filter="wipe(left)">
                                      <p:cBhvr>
                                        <p:cTn id="7" dur="500"/>
                                        <p:tgtEl>
                                          <p:spTgt spid="51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wipe(left)">
                                      <p:cBhvr>
                                        <p:cTn id="12" dur="500"/>
                                        <p:tgtEl>
                                          <p:spTgt spid="512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10"/>
                                        </p:tgtEl>
                                        <p:attrNameLst>
                                          <p:attrName>style.visibility</p:attrName>
                                        </p:attrNameLst>
                                      </p:cBhvr>
                                      <p:to>
                                        <p:strVal val="visible"/>
                                      </p:to>
                                    </p:set>
                                    <p:animEffect transition="in" filter="wipe(left)">
                                      <p:cBhvr>
                                        <p:cTn id="17" dur="500"/>
                                        <p:tgtEl>
                                          <p:spTgt spid="512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Right)">
                                      <p:cBhvr>
                                        <p:cTn id="27" dur="500"/>
                                        <p:tgtEl>
                                          <p:spTgt spid="3"/>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1206"/>
                                        </p:tgtEl>
                                        <p:attrNameLst>
                                          <p:attrName>style.visibility</p:attrName>
                                        </p:attrNameLst>
                                      </p:cBhvr>
                                      <p:to>
                                        <p:strVal val="visible"/>
                                      </p:to>
                                    </p:set>
                                    <p:animEffect transition="in" filter="wipe(left)">
                                      <p:cBhvr>
                                        <p:cTn id="32" dur="500"/>
                                        <p:tgtEl>
                                          <p:spTgt spid="512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1211"/>
                                        </p:tgtEl>
                                        <p:attrNameLst>
                                          <p:attrName>style.visibility</p:attrName>
                                        </p:attrNameLst>
                                      </p:cBhvr>
                                      <p:to>
                                        <p:strVal val="visible"/>
                                      </p:to>
                                    </p:set>
                                    <p:animEffect transition="in" filter="wipe(left)">
                                      <p:cBhvr>
                                        <p:cTn id="37" dur="500"/>
                                        <p:tgtEl>
                                          <p:spTgt spid="5121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grpId="1" nodeType="clickEffect">
                                  <p:stCondLst>
                                    <p:cond delay="0"/>
                                  </p:stCondLst>
                                  <p:childTnLst>
                                    <p:animEffect transition="out" filter="fade">
                                      <p:cBhvr>
                                        <p:cTn id="45" dur="500" tmFilter="0, 0; .2, .5; .8, .5; 1, 0"/>
                                        <p:tgtEl>
                                          <p:spTgt spid="4"/>
                                        </p:tgtEl>
                                      </p:cBhvr>
                                    </p:animEffect>
                                    <p:animScale>
                                      <p:cBhvr>
                                        <p:cTn id="46"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468313" y="981075"/>
            <a:ext cx="7427912" cy="519113"/>
          </a:xfrm>
        </p:spPr>
        <p:txBody>
          <a:bodyPr/>
          <a:lstStyle/>
          <a:p>
            <a:pPr algn="l"/>
            <a:r>
              <a:rPr lang="en-US" altLang="zh-CN" sz="3200" b="1">
                <a:solidFill>
                  <a:schemeClr val="tx1"/>
                </a:solidFill>
                <a:latin typeface="华文行楷" pitchFamily="2" charset="-122"/>
                <a:ea typeface="华文行楷" pitchFamily="2" charset="-122"/>
              </a:rPr>
              <a:t>4.  </a:t>
            </a:r>
            <a:r>
              <a:rPr lang="zh-CN" altLang="en-US" sz="3200" b="1">
                <a:solidFill>
                  <a:schemeClr val="tx1"/>
                </a:solidFill>
                <a:latin typeface="华文行楷" pitchFamily="2" charset="-122"/>
                <a:ea typeface="华文行楷" pitchFamily="2" charset="-122"/>
              </a:rPr>
              <a:t>动态参数</a:t>
            </a:r>
            <a:r>
              <a:rPr lang="zh-CN" altLang="en-US" sz="2800" b="1">
                <a:solidFill>
                  <a:schemeClr val="tx1"/>
                </a:solidFill>
              </a:rPr>
              <a:t>：</a:t>
            </a:r>
            <a:r>
              <a:rPr lang="en-US" altLang="zh-CN" sz="2800" b="1" i="1">
                <a:solidFill>
                  <a:schemeClr val="tx1"/>
                </a:solidFill>
              </a:rPr>
              <a:t>A</a:t>
            </a:r>
            <a:r>
              <a:rPr lang="en-US" altLang="zh-CN" sz="2800" b="1" baseline="-25000">
                <a:solidFill>
                  <a:schemeClr val="tx1"/>
                </a:solidFill>
              </a:rPr>
              <a:t>d</a:t>
            </a:r>
            <a:r>
              <a:rPr lang="zh-CN" altLang="en-US" sz="2800" b="1">
                <a:solidFill>
                  <a:schemeClr val="tx1"/>
                </a:solidFill>
              </a:rPr>
              <a:t>、</a:t>
            </a:r>
            <a:r>
              <a:rPr lang="en-US" altLang="zh-CN" sz="2800" b="1" i="1">
                <a:solidFill>
                  <a:schemeClr val="tx1"/>
                </a:solidFill>
              </a:rPr>
              <a:t>R</a:t>
            </a:r>
            <a:r>
              <a:rPr lang="en-US" altLang="zh-CN" sz="2800" b="1" baseline="-25000">
                <a:solidFill>
                  <a:schemeClr val="tx1"/>
                </a:solidFill>
              </a:rPr>
              <a:t>i</a:t>
            </a:r>
            <a:r>
              <a:rPr lang="zh-CN" altLang="en-US" sz="2800" b="1">
                <a:solidFill>
                  <a:schemeClr val="tx1"/>
                </a:solidFill>
              </a:rPr>
              <a:t>、 </a:t>
            </a:r>
            <a:r>
              <a:rPr lang="en-US" altLang="zh-CN" sz="2800" b="1" i="1">
                <a:solidFill>
                  <a:schemeClr val="tx1"/>
                </a:solidFill>
              </a:rPr>
              <a:t>R</a:t>
            </a:r>
            <a:r>
              <a:rPr lang="en-US" altLang="zh-CN" sz="2800" b="1" baseline="-25000">
                <a:solidFill>
                  <a:schemeClr val="tx1"/>
                </a:solidFill>
              </a:rPr>
              <a:t>o</a:t>
            </a:r>
            <a:r>
              <a:rPr lang="zh-CN" altLang="en-US" sz="2800" b="1">
                <a:solidFill>
                  <a:schemeClr val="tx1"/>
                </a:solidFill>
              </a:rPr>
              <a:t>、 </a:t>
            </a:r>
            <a:r>
              <a:rPr lang="en-US" altLang="zh-CN" sz="2800" b="1" i="1">
                <a:solidFill>
                  <a:schemeClr val="tx1"/>
                </a:solidFill>
              </a:rPr>
              <a:t>A</a:t>
            </a:r>
            <a:r>
              <a:rPr lang="en-US" altLang="zh-CN" sz="2800" b="1" baseline="-25000">
                <a:solidFill>
                  <a:schemeClr val="tx1"/>
                </a:solidFill>
              </a:rPr>
              <a:t>c</a:t>
            </a:r>
            <a:r>
              <a:rPr lang="zh-CN" altLang="en-US" sz="2800" b="1">
                <a:solidFill>
                  <a:schemeClr val="tx1"/>
                </a:solidFill>
              </a:rPr>
              <a:t>、</a:t>
            </a:r>
            <a:r>
              <a:rPr lang="en-US" altLang="zh-CN" sz="2800" b="1" i="1">
                <a:solidFill>
                  <a:schemeClr val="tx1"/>
                </a:solidFill>
              </a:rPr>
              <a:t>K</a:t>
            </a:r>
            <a:r>
              <a:rPr lang="en-US" altLang="zh-CN" sz="2800" b="1" baseline="-25000">
                <a:solidFill>
                  <a:schemeClr val="tx1"/>
                </a:solidFill>
              </a:rPr>
              <a:t>CMR</a:t>
            </a:r>
          </a:p>
        </p:txBody>
      </p:sp>
      <p:sp>
        <p:nvSpPr>
          <p:cNvPr id="53251" name="Rectangle 3"/>
          <p:cNvSpPr>
            <a:spLocks noGrp="1" noChangeArrowheads="1"/>
          </p:cNvSpPr>
          <p:nvPr>
            <p:ph type="body" idx="1"/>
          </p:nvPr>
        </p:nvSpPr>
        <p:spPr>
          <a:xfrm>
            <a:off x="357188" y="1616075"/>
            <a:ext cx="8135937" cy="762000"/>
          </a:xfrm>
        </p:spPr>
        <p:txBody>
          <a:bodyPr/>
          <a:lstStyle/>
          <a:p>
            <a:pPr>
              <a:lnSpc>
                <a:spcPct val="110000"/>
              </a:lnSpc>
              <a:spcBef>
                <a:spcPct val="0"/>
              </a:spcBef>
              <a:buFontTx/>
              <a:buNone/>
            </a:pPr>
            <a:r>
              <a:rPr lang="en-US" altLang="zh-CN" sz="2400" b="1"/>
              <a:t>        </a:t>
            </a:r>
            <a:r>
              <a:rPr lang="zh-CN" altLang="en-US" sz="2400" b="1"/>
              <a:t>共模抑制比</a:t>
            </a:r>
            <a:r>
              <a:rPr lang="en-US" altLang="zh-CN" sz="2400" b="1" i="1"/>
              <a:t>K</a:t>
            </a:r>
            <a:r>
              <a:rPr lang="en-US" altLang="zh-CN" sz="2400" b="1" baseline="-25000"/>
              <a:t>CMR</a:t>
            </a:r>
            <a:r>
              <a:rPr lang="zh-CN" altLang="en-US" sz="2400" b="1"/>
              <a:t>：</a:t>
            </a:r>
            <a:r>
              <a:rPr lang="zh-CN" altLang="zh-CN" sz="2400" b="1"/>
              <a:t>综合考察差分放大电路</a:t>
            </a:r>
            <a:r>
              <a:rPr lang="zh-CN" altLang="zh-CN" sz="2400" b="1">
                <a:solidFill>
                  <a:srgbClr val="FF0000"/>
                </a:solidFill>
              </a:rPr>
              <a:t>放大差模信号的能力和抑制共模信号</a:t>
            </a:r>
            <a:r>
              <a:rPr lang="zh-CN" altLang="zh-CN" sz="2400" b="1"/>
              <a:t>的能力。</a:t>
            </a:r>
          </a:p>
        </p:txBody>
      </p:sp>
      <p:graphicFrame>
        <p:nvGraphicFramePr>
          <p:cNvPr id="53252" name="Object 2"/>
          <p:cNvGraphicFramePr>
            <a:graphicFrameLocks noChangeAspect="1"/>
          </p:cNvGraphicFramePr>
          <p:nvPr/>
        </p:nvGraphicFramePr>
        <p:xfrm>
          <a:off x="1979613" y="2636838"/>
          <a:ext cx="4805362" cy="1331912"/>
        </p:xfrm>
        <a:graphic>
          <a:graphicData uri="http://schemas.openxmlformats.org/presentationml/2006/ole">
            <mc:AlternateContent xmlns:mc="http://schemas.openxmlformats.org/markup-compatibility/2006">
              <mc:Choice xmlns:v="urn:schemas-microsoft-com:vml" Requires="v">
                <p:oleObj spid="_x0000_s23555" name="公式" r:id="rId3" imgW="61569600" imgH="17068800" progId="Equation.3">
                  <p:embed/>
                </p:oleObj>
              </mc:Choice>
              <mc:Fallback>
                <p:oleObj name="公式" r:id="rId3" imgW="61569600" imgH="17068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2636838"/>
                        <a:ext cx="4805362" cy="1331912"/>
                      </a:xfrm>
                      <a:prstGeom prst="rect">
                        <a:avLst/>
                      </a:prstGeom>
                      <a:solidFill>
                        <a:srgbClr val="66FFFF"/>
                      </a:solidFill>
                      <a:ln w="9525">
                        <a:solidFill>
                          <a:srgbClr val="FF330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3252"/>
                                        </p:tgtEl>
                                        <p:attrNameLst>
                                          <p:attrName>style.visibility</p:attrName>
                                        </p:attrNameLst>
                                      </p:cBhvr>
                                      <p:to>
                                        <p:strVal val="visible"/>
                                      </p:to>
                                    </p:set>
                                    <p:animEffect transition="in" filter="wipe(left)">
                                      <p:cBhvr>
                                        <p:cTn id="12"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3"/>
          <p:cNvSpPr txBox="1">
            <a:spLocks noChangeArrowheads="1"/>
          </p:cNvSpPr>
          <p:nvPr/>
        </p:nvSpPr>
        <p:spPr bwMode="auto">
          <a:xfrm>
            <a:off x="231775" y="750888"/>
            <a:ext cx="3505200" cy="461962"/>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b="1"/>
              <a:t>共模抑制比</a:t>
            </a:r>
            <a:r>
              <a:rPr lang="en-US" altLang="zh-CN" b="1">
                <a:solidFill>
                  <a:srgbClr val="FF0000"/>
                </a:solidFill>
              </a:rPr>
              <a:t>K</a:t>
            </a:r>
            <a:r>
              <a:rPr lang="en-US" altLang="zh-CN" b="1" baseline="-25000">
                <a:solidFill>
                  <a:srgbClr val="FF0000"/>
                </a:solidFill>
              </a:rPr>
              <a:t>CMR</a:t>
            </a:r>
          </a:p>
        </p:txBody>
      </p:sp>
      <p:sp>
        <p:nvSpPr>
          <p:cNvPr id="126979" name="Text Box 4"/>
          <p:cNvSpPr txBox="1">
            <a:spLocks noChangeArrowheads="1"/>
          </p:cNvSpPr>
          <p:nvPr/>
        </p:nvSpPr>
        <p:spPr bwMode="auto">
          <a:xfrm>
            <a:off x="0" y="1323975"/>
            <a:ext cx="8915400" cy="1939925"/>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b="1"/>
              <a:t>如果</a:t>
            </a:r>
            <a:r>
              <a:rPr lang="zh-CN" altLang="en-US" b="1">
                <a:solidFill>
                  <a:srgbClr val="CC3300"/>
                </a:solidFill>
              </a:rPr>
              <a:t>温度</a:t>
            </a:r>
            <a:r>
              <a:rPr lang="zh-CN" altLang="en-US" b="1"/>
              <a:t>变化，两个差放管的电流将按相同的方向一起增大或减小，相当于给放大电路加上一对</a:t>
            </a:r>
            <a:r>
              <a:rPr lang="zh-CN" altLang="en-US" b="1">
                <a:solidFill>
                  <a:srgbClr val="CC3300"/>
                </a:solidFill>
              </a:rPr>
              <a:t>共模输入信号</a:t>
            </a:r>
            <a:r>
              <a:rPr lang="zh-CN" altLang="en-US" b="1"/>
              <a:t>。所以差模输入信号反映了</a:t>
            </a:r>
            <a:r>
              <a:rPr lang="zh-CN" altLang="en-US" b="1">
                <a:solidFill>
                  <a:srgbClr val="FF0000"/>
                </a:solidFill>
              </a:rPr>
              <a:t>要放大的</a:t>
            </a:r>
            <a:r>
              <a:rPr lang="zh-CN" altLang="en-US" b="1">
                <a:solidFill>
                  <a:srgbClr val="CC3300"/>
                </a:solidFill>
              </a:rPr>
              <a:t>有效信号</a:t>
            </a:r>
            <a:r>
              <a:rPr lang="zh-CN" altLang="en-US" b="1"/>
              <a:t>，而共模输入信号</a:t>
            </a:r>
            <a:r>
              <a:rPr lang="zh-CN" altLang="en-US" b="1">
                <a:solidFill>
                  <a:srgbClr val="CC3300"/>
                </a:solidFill>
              </a:rPr>
              <a:t>可以</a:t>
            </a:r>
            <a:r>
              <a:rPr lang="zh-CN" altLang="en-US" b="1"/>
              <a:t>反映由温度等原因而产生的</a:t>
            </a:r>
            <a:r>
              <a:rPr lang="zh-CN" altLang="en-US" b="1">
                <a:solidFill>
                  <a:srgbClr val="FF0000"/>
                </a:solidFill>
              </a:rPr>
              <a:t>漂移</a:t>
            </a:r>
            <a:r>
              <a:rPr lang="zh-CN" altLang="en-US" b="1"/>
              <a:t>信号或其它干扰信号。通常希望差分放大电路的差模电压放大倍数愈大愈好，而共模电压放大倍数愈小愈好。</a:t>
            </a:r>
          </a:p>
        </p:txBody>
      </p:sp>
      <p:sp>
        <p:nvSpPr>
          <p:cNvPr id="36869" name="Text Box 5"/>
          <p:cNvSpPr txBox="1">
            <a:spLocks noChangeArrowheads="1"/>
          </p:cNvSpPr>
          <p:nvPr/>
        </p:nvSpPr>
        <p:spPr bwMode="auto">
          <a:xfrm>
            <a:off x="0" y="3352800"/>
            <a:ext cx="8915400" cy="830263"/>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b="1">
                <a:solidFill>
                  <a:srgbClr val="FF0000"/>
                </a:solidFill>
              </a:rPr>
              <a:t>共模抑制比</a:t>
            </a:r>
            <a:r>
              <a:rPr lang="zh-CN" altLang="en-US" b="1"/>
              <a:t>反映了</a:t>
            </a:r>
            <a:r>
              <a:rPr lang="zh-CN" altLang="en-US" b="1">
                <a:solidFill>
                  <a:srgbClr val="0000FF"/>
                </a:solidFill>
              </a:rPr>
              <a:t>差分放大电路放大差模信号、抑制零漂和共模信号的能力</a:t>
            </a:r>
            <a:r>
              <a:rPr lang="zh-CN" altLang="en-US" b="1"/>
              <a:t>。</a:t>
            </a:r>
          </a:p>
        </p:txBody>
      </p:sp>
      <p:grpSp>
        <p:nvGrpSpPr>
          <p:cNvPr id="2" name="Group 20"/>
          <p:cNvGrpSpPr>
            <a:grpSpLocks/>
          </p:cNvGrpSpPr>
          <p:nvPr/>
        </p:nvGrpSpPr>
        <p:grpSpPr bwMode="auto">
          <a:xfrm>
            <a:off x="457200" y="4343400"/>
            <a:ext cx="1905000" cy="919163"/>
            <a:chOff x="336" y="2880"/>
            <a:chExt cx="1200" cy="579"/>
          </a:xfrm>
        </p:grpSpPr>
        <p:sp>
          <p:nvSpPr>
            <p:cNvPr id="126994" name="Text Box 6"/>
            <p:cNvSpPr txBox="1">
              <a:spLocks noChangeArrowheads="1"/>
            </p:cNvSpPr>
            <p:nvPr/>
          </p:nvSpPr>
          <p:spPr bwMode="auto">
            <a:xfrm>
              <a:off x="336" y="3024"/>
              <a:ext cx="864"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K</a:t>
              </a:r>
              <a:r>
                <a:rPr lang="en-US" altLang="zh-CN" b="1" baseline="-25000">
                  <a:solidFill>
                    <a:schemeClr val="accent2"/>
                  </a:solidFill>
                </a:rPr>
                <a:t>CMR</a:t>
              </a:r>
              <a:r>
                <a:rPr lang="en-US" altLang="zh-CN" b="1">
                  <a:solidFill>
                    <a:schemeClr val="accent2"/>
                  </a:solidFill>
                </a:rPr>
                <a:t>=</a:t>
              </a:r>
              <a:r>
                <a:rPr lang="en-US" altLang="zh-CN" b="1">
                  <a:solidFill>
                    <a:schemeClr val="accent2"/>
                  </a:solidFill>
                  <a:cs typeface="Times New Roman" pitchFamily="18" charset="0"/>
                </a:rPr>
                <a:t>     </a:t>
              </a:r>
              <a:endParaRPr lang="en-US" altLang="zh-CN" b="1">
                <a:solidFill>
                  <a:schemeClr val="accent2"/>
                </a:solidFill>
              </a:endParaRPr>
            </a:p>
          </p:txBody>
        </p:sp>
        <p:sp>
          <p:nvSpPr>
            <p:cNvPr id="126995" name="Text Box 7"/>
            <p:cNvSpPr txBox="1">
              <a:spLocks noChangeArrowheads="1"/>
            </p:cNvSpPr>
            <p:nvPr/>
          </p:nvSpPr>
          <p:spPr bwMode="auto">
            <a:xfrm>
              <a:off x="1104" y="2880"/>
              <a:ext cx="432"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A</a:t>
              </a:r>
              <a:r>
                <a:rPr lang="en-US" altLang="zh-CN" b="1" baseline="-25000">
                  <a:solidFill>
                    <a:schemeClr val="accent2"/>
                  </a:solidFill>
                </a:rPr>
                <a:t>d</a:t>
              </a:r>
            </a:p>
          </p:txBody>
        </p:sp>
        <p:sp>
          <p:nvSpPr>
            <p:cNvPr id="126996" name="Text Box 8"/>
            <p:cNvSpPr txBox="1">
              <a:spLocks noChangeArrowheads="1"/>
            </p:cNvSpPr>
            <p:nvPr/>
          </p:nvSpPr>
          <p:spPr bwMode="auto">
            <a:xfrm>
              <a:off x="1104" y="3168"/>
              <a:ext cx="432"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A</a:t>
              </a:r>
              <a:r>
                <a:rPr lang="en-US" altLang="zh-CN" b="1" baseline="-25000">
                  <a:solidFill>
                    <a:schemeClr val="accent2"/>
                  </a:solidFill>
                </a:rPr>
                <a:t>c</a:t>
              </a:r>
            </a:p>
          </p:txBody>
        </p:sp>
        <p:sp>
          <p:nvSpPr>
            <p:cNvPr id="126997" name="Line 9"/>
            <p:cNvSpPr>
              <a:spLocks noChangeShapeType="1"/>
            </p:cNvSpPr>
            <p:nvPr/>
          </p:nvSpPr>
          <p:spPr bwMode="auto">
            <a:xfrm>
              <a:off x="1104" y="2976"/>
              <a:ext cx="0" cy="480"/>
            </a:xfrm>
            <a:prstGeom prst="line">
              <a:avLst/>
            </a:prstGeom>
            <a:noFill/>
            <a:ln w="38100">
              <a:solidFill>
                <a:schemeClr val="accent2"/>
              </a:solidFill>
              <a:round/>
              <a:headEnd/>
              <a:tailEnd type="none" w="sm" len="lg"/>
            </a:ln>
          </p:spPr>
          <p:txBody>
            <a:bodyPr/>
            <a:lstStyle/>
            <a:p>
              <a:endParaRPr lang="zh-CN" altLang="en-US"/>
            </a:p>
          </p:txBody>
        </p:sp>
        <p:sp>
          <p:nvSpPr>
            <p:cNvPr id="126998" name="Line 10"/>
            <p:cNvSpPr>
              <a:spLocks noChangeShapeType="1"/>
            </p:cNvSpPr>
            <p:nvPr/>
          </p:nvSpPr>
          <p:spPr bwMode="auto">
            <a:xfrm>
              <a:off x="1440" y="2976"/>
              <a:ext cx="0" cy="480"/>
            </a:xfrm>
            <a:prstGeom prst="line">
              <a:avLst/>
            </a:prstGeom>
            <a:noFill/>
            <a:ln w="38100">
              <a:solidFill>
                <a:schemeClr val="accent2"/>
              </a:solidFill>
              <a:round/>
              <a:headEnd/>
              <a:tailEnd type="none" w="sm" len="lg"/>
            </a:ln>
          </p:spPr>
          <p:txBody>
            <a:bodyPr/>
            <a:lstStyle/>
            <a:p>
              <a:endParaRPr lang="zh-CN" altLang="en-US"/>
            </a:p>
          </p:txBody>
        </p:sp>
        <p:sp>
          <p:nvSpPr>
            <p:cNvPr id="126999" name="Line 11"/>
            <p:cNvSpPr>
              <a:spLocks noChangeShapeType="1"/>
            </p:cNvSpPr>
            <p:nvPr/>
          </p:nvSpPr>
          <p:spPr bwMode="auto">
            <a:xfrm>
              <a:off x="1152" y="3216"/>
              <a:ext cx="240" cy="0"/>
            </a:xfrm>
            <a:prstGeom prst="line">
              <a:avLst/>
            </a:prstGeom>
            <a:noFill/>
            <a:ln w="38100">
              <a:solidFill>
                <a:schemeClr val="accent2"/>
              </a:solidFill>
              <a:round/>
              <a:headEnd/>
              <a:tailEnd type="none" w="sm" len="lg"/>
            </a:ln>
          </p:spPr>
          <p:txBody>
            <a:bodyPr/>
            <a:lstStyle/>
            <a:p>
              <a:endParaRPr lang="zh-CN" altLang="en-US"/>
            </a:p>
          </p:txBody>
        </p:sp>
      </p:grpSp>
      <p:sp>
        <p:nvSpPr>
          <p:cNvPr id="36876" name="Text Box 12"/>
          <p:cNvSpPr txBox="1">
            <a:spLocks noChangeArrowheads="1"/>
          </p:cNvSpPr>
          <p:nvPr/>
        </p:nvSpPr>
        <p:spPr bwMode="auto">
          <a:xfrm>
            <a:off x="3124200" y="4572000"/>
            <a:ext cx="1143000" cy="461963"/>
          </a:xfrm>
          <a:prstGeom prst="rect">
            <a:avLst/>
          </a:prstGeom>
          <a:noFill/>
          <a:ln w="38100">
            <a:noFill/>
            <a:miter lim="800000"/>
            <a:headEnd/>
            <a:tailEnd type="none" w="sm" len="lg"/>
          </a:ln>
        </p:spPr>
        <p:txBody>
          <a:bodyPr>
            <a:spAutoFit/>
          </a:bodyPr>
          <a:lstStyle/>
          <a:p>
            <a:pPr algn="ctr" eaLnBrk="1" hangingPunct="1">
              <a:spcBef>
                <a:spcPct val="50000"/>
              </a:spcBef>
            </a:pPr>
            <a:r>
              <a:rPr lang="zh-CN" altLang="en-US" b="1"/>
              <a:t>或</a:t>
            </a:r>
          </a:p>
        </p:txBody>
      </p:sp>
      <p:grpSp>
        <p:nvGrpSpPr>
          <p:cNvPr id="3" name="Group 22"/>
          <p:cNvGrpSpPr>
            <a:grpSpLocks/>
          </p:cNvGrpSpPr>
          <p:nvPr/>
        </p:nvGrpSpPr>
        <p:grpSpPr bwMode="auto">
          <a:xfrm>
            <a:off x="4419600" y="4267200"/>
            <a:ext cx="3124200" cy="919163"/>
            <a:chOff x="2688" y="2880"/>
            <a:chExt cx="1968" cy="579"/>
          </a:xfrm>
        </p:grpSpPr>
        <p:grpSp>
          <p:nvGrpSpPr>
            <p:cNvPr id="126986" name="Group 19"/>
            <p:cNvGrpSpPr>
              <a:grpSpLocks/>
            </p:cNvGrpSpPr>
            <p:nvPr/>
          </p:nvGrpSpPr>
          <p:grpSpPr bwMode="auto">
            <a:xfrm>
              <a:off x="2688" y="2880"/>
              <a:ext cx="1584" cy="579"/>
              <a:chOff x="2352" y="2880"/>
              <a:chExt cx="1584" cy="579"/>
            </a:xfrm>
          </p:grpSpPr>
          <p:sp>
            <p:nvSpPr>
              <p:cNvPr id="126988" name="Text Box 13"/>
              <p:cNvSpPr txBox="1">
                <a:spLocks noChangeArrowheads="1"/>
              </p:cNvSpPr>
              <p:nvPr/>
            </p:nvSpPr>
            <p:spPr bwMode="auto">
              <a:xfrm>
                <a:off x="2352" y="3024"/>
                <a:ext cx="1200"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K</a:t>
                </a:r>
                <a:r>
                  <a:rPr lang="en-US" altLang="zh-CN" b="1" baseline="-25000">
                    <a:solidFill>
                      <a:schemeClr val="accent2"/>
                    </a:solidFill>
                  </a:rPr>
                  <a:t>CMR</a:t>
                </a:r>
                <a:r>
                  <a:rPr lang="en-US" altLang="zh-CN" b="1">
                    <a:solidFill>
                      <a:schemeClr val="accent2"/>
                    </a:solidFill>
                  </a:rPr>
                  <a:t>=20lg</a:t>
                </a:r>
                <a:r>
                  <a:rPr lang="en-US" altLang="zh-CN" b="1">
                    <a:solidFill>
                      <a:schemeClr val="accent2"/>
                    </a:solidFill>
                    <a:cs typeface="Times New Roman" pitchFamily="18" charset="0"/>
                  </a:rPr>
                  <a:t>     </a:t>
                </a:r>
                <a:endParaRPr lang="en-US" altLang="zh-CN" b="1">
                  <a:solidFill>
                    <a:schemeClr val="accent2"/>
                  </a:solidFill>
                </a:endParaRPr>
              </a:p>
            </p:txBody>
          </p:sp>
          <p:sp>
            <p:nvSpPr>
              <p:cNvPr id="126989" name="Text Box 14"/>
              <p:cNvSpPr txBox="1">
                <a:spLocks noChangeArrowheads="1"/>
              </p:cNvSpPr>
              <p:nvPr/>
            </p:nvSpPr>
            <p:spPr bwMode="auto">
              <a:xfrm>
                <a:off x="3504" y="2880"/>
                <a:ext cx="432"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A</a:t>
                </a:r>
                <a:r>
                  <a:rPr lang="en-US" altLang="zh-CN" b="1" baseline="-25000">
                    <a:solidFill>
                      <a:schemeClr val="accent2"/>
                    </a:solidFill>
                  </a:rPr>
                  <a:t>d</a:t>
                </a:r>
              </a:p>
            </p:txBody>
          </p:sp>
          <p:sp>
            <p:nvSpPr>
              <p:cNvPr id="126990" name="Text Box 15"/>
              <p:cNvSpPr txBox="1">
                <a:spLocks noChangeArrowheads="1"/>
              </p:cNvSpPr>
              <p:nvPr/>
            </p:nvSpPr>
            <p:spPr bwMode="auto">
              <a:xfrm>
                <a:off x="3504" y="3168"/>
                <a:ext cx="432"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A</a:t>
                </a:r>
                <a:r>
                  <a:rPr lang="en-US" altLang="zh-CN" b="1" baseline="-25000">
                    <a:solidFill>
                      <a:schemeClr val="accent2"/>
                    </a:solidFill>
                  </a:rPr>
                  <a:t>c</a:t>
                </a:r>
              </a:p>
            </p:txBody>
          </p:sp>
          <p:sp>
            <p:nvSpPr>
              <p:cNvPr id="126991" name="Line 16"/>
              <p:cNvSpPr>
                <a:spLocks noChangeShapeType="1"/>
              </p:cNvSpPr>
              <p:nvPr/>
            </p:nvSpPr>
            <p:spPr bwMode="auto">
              <a:xfrm>
                <a:off x="3504" y="2976"/>
                <a:ext cx="0" cy="480"/>
              </a:xfrm>
              <a:prstGeom prst="line">
                <a:avLst/>
              </a:prstGeom>
              <a:noFill/>
              <a:ln w="38100">
                <a:solidFill>
                  <a:schemeClr val="accent2"/>
                </a:solidFill>
                <a:round/>
                <a:headEnd/>
                <a:tailEnd type="none" w="sm" len="lg"/>
              </a:ln>
            </p:spPr>
            <p:txBody>
              <a:bodyPr/>
              <a:lstStyle/>
              <a:p>
                <a:endParaRPr lang="zh-CN" altLang="en-US"/>
              </a:p>
            </p:txBody>
          </p:sp>
          <p:sp>
            <p:nvSpPr>
              <p:cNvPr id="126992" name="Line 17"/>
              <p:cNvSpPr>
                <a:spLocks noChangeShapeType="1"/>
              </p:cNvSpPr>
              <p:nvPr/>
            </p:nvSpPr>
            <p:spPr bwMode="auto">
              <a:xfrm>
                <a:off x="3840" y="2976"/>
                <a:ext cx="0" cy="480"/>
              </a:xfrm>
              <a:prstGeom prst="line">
                <a:avLst/>
              </a:prstGeom>
              <a:noFill/>
              <a:ln w="38100">
                <a:solidFill>
                  <a:schemeClr val="accent2"/>
                </a:solidFill>
                <a:round/>
                <a:headEnd/>
                <a:tailEnd type="none" w="sm" len="lg"/>
              </a:ln>
            </p:spPr>
            <p:txBody>
              <a:bodyPr/>
              <a:lstStyle/>
              <a:p>
                <a:endParaRPr lang="zh-CN" altLang="en-US"/>
              </a:p>
            </p:txBody>
          </p:sp>
          <p:sp>
            <p:nvSpPr>
              <p:cNvPr id="126993" name="Line 18"/>
              <p:cNvSpPr>
                <a:spLocks noChangeShapeType="1"/>
              </p:cNvSpPr>
              <p:nvPr/>
            </p:nvSpPr>
            <p:spPr bwMode="auto">
              <a:xfrm>
                <a:off x="3552" y="3216"/>
                <a:ext cx="240" cy="0"/>
              </a:xfrm>
              <a:prstGeom prst="line">
                <a:avLst/>
              </a:prstGeom>
              <a:noFill/>
              <a:ln w="38100">
                <a:solidFill>
                  <a:schemeClr val="accent2"/>
                </a:solidFill>
                <a:round/>
                <a:headEnd/>
                <a:tailEnd type="none" w="sm" len="lg"/>
              </a:ln>
            </p:spPr>
            <p:txBody>
              <a:bodyPr/>
              <a:lstStyle/>
              <a:p>
                <a:endParaRPr lang="zh-CN" altLang="en-US"/>
              </a:p>
            </p:txBody>
          </p:sp>
        </p:grpSp>
        <p:sp>
          <p:nvSpPr>
            <p:cNvPr id="126987" name="Text Box 21"/>
            <p:cNvSpPr txBox="1">
              <a:spLocks noChangeArrowheads="1"/>
            </p:cNvSpPr>
            <p:nvPr/>
          </p:nvSpPr>
          <p:spPr bwMode="auto">
            <a:xfrm>
              <a:off x="4176" y="3024"/>
              <a:ext cx="480" cy="291"/>
            </a:xfrm>
            <a:prstGeom prst="rect">
              <a:avLst/>
            </a:prstGeom>
            <a:noFill/>
            <a:ln w="38100">
              <a:noFill/>
              <a:miter lim="800000"/>
              <a:headEnd/>
              <a:tailEnd type="none" w="sm" len="lg"/>
            </a:ln>
          </p:spPr>
          <p:txBody>
            <a:bodyPr>
              <a:spAutoFit/>
            </a:bodyPr>
            <a:lstStyle/>
            <a:p>
              <a:pPr algn="ctr" eaLnBrk="1" hangingPunct="1">
                <a:spcBef>
                  <a:spcPct val="50000"/>
                </a:spcBef>
              </a:pPr>
              <a:r>
                <a:rPr lang="en-US" altLang="zh-CN" b="1">
                  <a:solidFill>
                    <a:schemeClr val="accent2"/>
                  </a:solidFill>
                </a:rPr>
                <a:t>dB</a:t>
              </a:r>
            </a:p>
          </p:txBody>
        </p:sp>
      </p:grpSp>
      <p:sp>
        <p:nvSpPr>
          <p:cNvPr id="36887" name="Text Box 23" descr="水滴"/>
          <p:cNvSpPr txBox="1">
            <a:spLocks noChangeArrowheads="1"/>
          </p:cNvSpPr>
          <p:nvPr/>
        </p:nvSpPr>
        <p:spPr bwMode="auto">
          <a:xfrm>
            <a:off x="914400" y="5484813"/>
            <a:ext cx="8001000" cy="1200150"/>
          </a:xfrm>
          <a:prstGeom prst="rect">
            <a:avLst/>
          </a:prstGeom>
          <a:blipFill dpi="0" rotWithShape="0">
            <a:blip r:embed="rId3"/>
            <a:srcRect/>
            <a:tile tx="0" ty="0" sx="100000" sy="100000" flip="none" algn="tl"/>
          </a:blipFill>
          <a:ln w="38100">
            <a:noFill/>
            <a:miter lim="800000"/>
            <a:headEnd/>
            <a:tailEnd type="none" w="sm" len="lg"/>
          </a:ln>
        </p:spPr>
        <p:txBody>
          <a:bodyPr>
            <a:spAutoFit/>
          </a:bodyPr>
          <a:lstStyle/>
          <a:p>
            <a:pPr algn="ctr" eaLnBrk="1" hangingPunct="1">
              <a:spcBef>
                <a:spcPct val="50000"/>
              </a:spcBef>
            </a:pPr>
            <a:r>
              <a:rPr lang="en-US" altLang="zh-CN" b="1">
                <a:solidFill>
                  <a:srgbClr val="FF0000"/>
                </a:solidFill>
              </a:rPr>
              <a:t>K</a:t>
            </a:r>
            <a:r>
              <a:rPr lang="en-US" altLang="zh-CN" b="1" baseline="-25000">
                <a:solidFill>
                  <a:srgbClr val="FF0000"/>
                </a:solidFill>
              </a:rPr>
              <a:t>CMR</a:t>
            </a:r>
            <a:r>
              <a:rPr lang="zh-CN" altLang="en-US" b="1">
                <a:solidFill>
                  <a:srgbClr val="FF0000"/>
                </a:solidFill>
              </a:rPr>
              <a:t>愈大，电路的性能就愈好</a:t>
            </a:r>
            <a:r>
              <a:rPr lang="zh-CN" altLang="en-US" b="1">
                <a:solidFill>
                  <a:schemeClr val="tx2"/>
                </a:solidFill>
              </a:rPr>
              <a:t>。在理想情况下，若为双端输出，则由于</a:t>
            </a:r>
            <a:r>
              <a:rPr lang="en-US" altLang="zh-CN" b="1">
                <a:solidFill>
                  <a:schemeClr val="tx2"/>
                </a:solidFill>
              </a:rPr>
              <a:t>A</a:t>
            </a:r>
            <a:r>
              <a:rPr lang="en-US" altLang="zh-CN" b="1" baseline="-25000">
                <a:solidFill>
                  <a:schemeClr val="tx2"/>
                </a:solidFill>
              </a:rPr>
              <a:t>c</a:t>
            </a:r>
            <a:r>
              <a:rPr lang="en-US" altLang="zh-CN" b="1">
                <a:solidFill>
                  <a:schemeClr val="tx2"/>
                </a:solidFill>
              </a:rPr>
              <a:t>=0</a:t>
            </a:r>
            <a:r>
              <a:rPr lang="zh-CN" altLang="en-US" b="1">
                <a:solidFill>
                  <a:schemeClr val="tx2"/>
                </a:solidFill>
              </a:rPr>
              <a:t>，</a:t>
            </a:r>
            <a:r>
              <a:rPr lang="en-US" altLang="zh-CN" b="1">
                <a:solidFill>
                  <a:schemeClr val="tx2"/>
                </a:solidFill>
              </a:rPr>
              <a:t>K</a:t>
            </a:r>
            <a:r>
              <a:rPr lang="en-US" altLang="zh-CN" b="1" baseline="-25000">
                <a:solidFill>
                  <a:schemeClr val="tx2"/>
                </a:solidFill>
              </a:rPr>
              <a:t>CMR</a:t>
            </a:r>
            <a:r>
              <a:rPr lang="en-US" altLang="zh-CN" b="1">
                <a:solidFill>
                  <a:schemeClr val="tx2"/>
                </a:solidFill>
              </a:rPr>
              <a:t>=</a:t>
            </a:r>
            <a:r>
              <a:rPr lang="en-US" altLang="zh-CN" b="1">
                <a:solidFill>
                  <a:schemeClr val="tx2"/>
                </a:solidFill>
                <a:sym typeface="Symbol" pitchFamily="18" charset="2"/>
              </a:rPr>
              <a:t></a:t>
            </a:r>
            <a:r>
              <a:rPr lang="zh-CN" altLang="en-US" b="1">
                <a:solidFill>
                  <a:schemeClr val="tx2"/>
                </a:solidFill>
                <a:sym typeface="Symbol" pitchFamily="18" charset="2"/>
              </a:rPr>
              <a:t>；若为单端输出，则</a:t>
            </a:r>
            <a:r>
              <a:rPr lang="en-US" altLang="zh-CN" b="1">
                <a:solidFill>
                  <a:srgbClr val="FF0000"/>
                </a:solidFill>
                <a:sym typeface="Symbol" pitchFamily="18" charset="2"/>
              </a:rPr>
              <a:t>R</a:t>
            </a:r>
            <a:r>
              <a:rPr lang="en-US" altLang="zh-CN" b="1" baseline="-25000">
                <a:solidFill>
                  <a:srgbClr val="FF0000"/>
                </a:solidFill>
                <a:sym typeface="Symbol" pitchFamily="18" charset="2"/>
              </a:rPr>
              <a:t>E</a:t>
            </a:r>
            <a:r>
              <a:rPr lang="zh-CN" altLang="en-US" b="1">
                <a:solidFill>
                  <a:srgbClr val="FF0000"/>
                </a:solidFill>
                <a:sym typeface="Symbol" pitchFamily="18" charset="2"/>
              </a:rPr>
              <a:t>愈大</a:t>
            </a:r>
            <a:r>
              <a:rPr lang="zh-CN" altLang="en-US" b="1">
                <a:solidFill>
                  <a:schemeClr val="tx2"/>
                </a:solidFill>
                <a:sym typeface="Symbol" pitchFamily="18" charset="2"/>
              </a:rPr>
              <a:t>，</a:t>
            </a:r>
            <a:r>
              <a:rPr lang="en-US" altLang="zh-CN" b="1">
                <a:solidFill>
                  <a:schemeClr val="tx2"/>
                </a:solidFill>
                <a:sym typeface="Symbol" pitchFamily="18" charset="2"/>
              </a:rPr>
              <a:t>K</a:t>
            </a:r>
            <a:r>
              <a:rPr lang="en-US" altLang="zh-CN" b="1" baseline="-25000">
                <a:solidFill>
                  <a:schemeClr val="tx2"/>
                </a:solidFill>
                <a:sym typeface="Symbol" pitchFamily="18" charset="2"/>
              </a:rPr>
              <a:t>CMR</a:t>
            </a:r>
            <a:r>
              <a:rPr lang="zh-CN" altLang="en-US" b="1">
                <a:solidFill>
                  <a:schemeClr val="tx2"/>
                </a:solidFill>
                <a:sym typeface="Symbol" pitchFamily="18" charset="2"/>
              </a:rPr>
              <a:t>愈大。</a:t>
            </a:r>
            <a:endParaRPr lang="zh-CN" altLang="en-US" b="1">
              <a:solidFill>
                <a:schemeClr val="tx2"/>
              </a:solidFill>
            </a:endParaRPr>
          </a:p>
        </p:txBody>
      </p:sp>
      <p:sp>
        <p:nvSpPr>
          <p:cNvPr id="36888" name="AutoShape 24"/>
          <p:cNvSpPr>
            <a:spLocks noChangeArrowheads="1"/>
          </p:cNvSpPr>
          <p:nvPr/>
        </p:nvSpPr>
        <p:spPr bwMode="auto">
          <a:xfrm>
            <a:off x="152400" y="5715000"/>
            <a:ext cx="685800" cy="762000"/>
          </a:xfrm>
          <a:prstGeom prst="star4">
            <a:avLst>
              <a:gd name="adj" fmla="val 12500"/>
            </a:avLst>
          </a:prstGeom>
          <a:gradFill rotWithShape="0">
            <a:gsLst>
              <a:gs pos="0">
                <a:schemeClr val="bg1"/>
              </a:gs>
              <a:gs pos="100000">
                <a:srgbClr val="66CCFF"/>
              </a:gs>
            </a:gsLst>
            <a:path path="shape">
              <a:fillToRect l="50000" t="50000" r="50000" b="50000"/>
            </a:path>
          </a:gradFill>
          <a:ln w="38100">
            <a:noFill/>
            <a:miter lim="800000"/>
            <a:headEnd/>
            <a:tailEnd type="none" w="sm" len="lg"/>
          </a:ln>
        </p:spPr>
        <p:txBody>
          <a:bodyPr wrap="none" anchor="ctr"/>
          <a:lstStyle/>
          <a:p>
            <a:pPr algn="ctr" eaLnBrk="1" hangingPunct="1"/>
            <a:endParaRPr lang="zh-CN"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iterate type="wd">
                                    <p:tmPct val="100000"/>
                                  </p:iterate>
                                  <p:childTnLst>
                                    <p:set>
                                      <p:cBhvr>
                                        <p:cTn id="6" dur="1" fill="hold">
                                          <p:stCondLst>
                                            <p:cond delay="0"/>
                                          </p:stCondLst>
                                        </p:cTn>
                                        <p:tgtEl>
                                          <p:spTgt spid="36869"/>
                                        </p:tgtEl>
                                        <p:attrNameLst>
                                          <p:attrName>style.visibility</p:attrName>
                                        </p:attrNameLst>
                                      </p:cBhvr>
                                      <p:to>
                                        <p:strVal val="visible"/>
                                      </p:to>
                                    </p:set>
                                    <p:animEffect transition="in" filter="wipe(left)">
                                      <p:cBhvr>
                                        <p:cTn id="7" dur="300"/>
                                        <p:tgtEl>
                                          <p:spTgt spid="368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nodeType="afterGroup">
                            <p:stCondLst>
                              <p:cond delay="500"/>
                            </p:stCondLst>
                            <p:childTnLst>
                              <p:par>
                                <p:cTn id="14" presetID="1" presetClass="entr" presetSubtype="0" fill="hold" grpId="0" nodeType="afterEffect">
                                  <p:stCondLst>
                                    <p:cond delay="2000"/>
                                  </p:stCondLst>
                                  <p:childTnLst>
                                    <p:set>
                                      <p:cBhvr>
                                        <p:cTn id="15" dur="1" fill="hold">
                                          <p:stCondLst>
                                            <p:cond delay="499"/>
                                          </p:stCondLst>
                                        </p:cTn>
                                        <p:tgtEl>
                                          <p:spTgt spid="36876"/>
                                        </p:tgtEl>
                                        <p:attrNameLst>
                                          <p:attrName>style.visibility</p:attrName>
                                        </p:attrNameLst>
                                      </p:cBhvr>
                                      <p:to>
                                        <p:strVal val="visible"/>
                                      </p:to>
                                    </p:set>
                                  </p:childTnLst>
                                </p:cTn>
                              </p:par>
                            </p:childTnLst>
                          </p:cTn>
                        </p:par>
                        <p:par>
                          <p:cTn id="16" fill="hold" nodeType="afterGroup">
                            <p:stCondLst>
                              <p:cond delay="3000"/>
                            </p:stCondLst>
                            <p:childTnLst>
                              <p:par>
                                <p:cTn id="17" presetID="22" presetClass="entr" presetSubtype="8" fill="hold" nodeType="afterEffect">
                                  <p:stCondLst>
                                    <p:cond delay="100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6888"/>
                                        </p:tgtEl>
                                        <p:attrNameLst>
                                          <p:attrName>style.visibility</p:attrName>
                                        </p:attrNameLst>
                                      </p:cBhvr>
                                      <p:to>
                                        <p:strVal val="visible"/>
                                      </p:to>
                                    </p:set>
                                    <p:anim calcmode="lin" valueType="num">
                                      <p:cBhvr additive="base">
                                        <p:cTn id="24" dur="500" fill="hold"/>
                                        <p:tgtEl>
                                          <p:spTgt spid="36888"/>
                                        </p:tgtEl>
                                        <p:attrNameLst>
                                          <p:attrName>ppt_x</p:attrName>
                                        </p:attrNameLst>
                                      </p:cBhvr>
                                      <p:tavLst>
                                        <p:tav tm="0">
                                          <p:val>
                                            <p:strVal val="0-#ppt_w/2"/>
                                          </p:val>
                                        </p:tav>
                                        <p:tav tm="100000">
                                          <p:val>
                                            <p:strVal val="#ppt_x"/>
                                          </p:val>
                                        </p:tav>
                                      </p:tavLst>
                                    </p:anim>
                                    <p:anim calcmode="lin" valueType="num">
                                      <p:cBhvr additive="base">
                                        <p:cTn id="25" dur="500" fill="hold"/>
                                        <p:tgtEl>
                                          <p:spTgt spid="368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HIMES.WAV"/>
                                        </p:tgtEl>
                                      </p:cMediaNode>
                                    </p:audio>
                                  </p:subTnLst>
                                </p:cTn>
                              </p:par>
                            </p:childTnLst>
                          </p:cTn>
                        </p:par>
                        <p:par>
                          <p:cTn id="26" fill="hold" nodeType="afterGroup">
                            <p:stCondLst>
                              <p:cond delay="500"/>
                            </p:stCondLst>
                            <p:childTnLst>
                              <p:par>
                                <p:cTn id="27" presetID="4" presetClass="entr" presetSubtype="32" fill="hold" grpId="0" nodeType="afterEffect">
                                  <p:stCondLst>
                                    <p:cond delay="1000"/>
                                  </p:stCondLst>
                                  <p:childTnLst>
                                    <p:set>
                                      <p:cBhvr>
                                        <p:cTn id="28" dur="1" fill="hold">
                                          <p:stCondLst>
                                            <p:cond delay="0"/>
                                          </p:stCondLst>
                                        </p:cTn>
                                        <p:tgtEl>
                                          <p:spTgt spid="36887"/>
                                        </p:tgtEl>
                                        <p:attrNameLst>
                                          <p:attrName>style.visibility</p:attrName>
                                        </p:attrNameLst>
                                      </p:cBhvr>
                                      <p:to>
                                        <p:strVal val="visible"/>
                                      </p:to>
                                    </p:set>
                                    <p:animEffect transition="in" filter="box(out)">
                                      <p:cBhvr>
                                        <p:cTn id="29" dur="500"/>
                                        <p:tgtEl>
                                          <p:spTgt spid="36887"/>
                                        </p:tgtEl>
                                      </p:cBhvr>
                                    </p:animEffect>
                                  </p:childTnLst>
                                  <p:subTnLst>
                                    <p:audio>
                                      <p:cMediaNode>
                                        <p:cTn display="0" masterRel="sameClick">
                                          <p:stCondLst>
                                            <p:cond evt="begin" delay="0">
                                              <p:tn val="27"/>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76" grpId="0" autoUpdateAnimBg="0"/>
      <p:bldP spid="36887" grpId="0" animBg="1" autoUpdateAnimBg="0"/>
      <p:bldP spid="3688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3" descr="Dz030303"/>
          <p:cNvPicPr>
            <a:picLocks noGrp="1" noChangeAspect="1" noChangeArrowheads="1"/>
          </p:cNvPicPr>
          <p:nvPr>
            <p:ph sz="half" idx="1"/>
          </p:nvPr>
        </p:nvPicPr>
        <p:blipFill>
          <a:blip r:embed="rId3"/>
          <a:srcRect/>
          <a:stretch>
            <a:fillRect/>
          </a:stretch>
        </p:blipFill>
        <p:spPr>
          <a:xfrm>
            <a:off x="212725" y="1114425"/>
            <a:ext cx="3743325" cy="2770188"/>
          </a:xfrm>
        </p:spPr>
      </p:pic>
      <p:cxnSp>
        <p:nvCxnSpPr>
          <p:cNvPr id="6" name="直接箭头连接符 5"/>
          <p:cNvCxnSpPr/>
          <p:nvPr/>
        </p:nvCxnSpPr>
        <p:spPr bwMode="auto">
          <a:xfrm flipV="1">
            <a:off x="3568700" y="568325"/>
            <a:ext cx="2201863" cy="2574925"/>
          </a:xfrm>
          <a:prstGeom prst="straightConnector1">
            <a:avLst/>
          </a:prstGeom>
          <a:ln w="57150">
            <a:headEnd type="none" w="med" len="med"/>
            <a:tailEnd type="triangle"/>
          </a:ln>
        </p:spPr>
        <p:style>
          <a:lnRef idx="1">
            <a:schemeClr val="dk1"/>
          </a:lnRef>
          <a:fillRef idx="0">
            <a:schemeClr val="dk1"/>
          </a:fillRef>
          <a:effectRef idx="0">
            <a:schemeClr val="dk1"/>
          </a:effectRef>
          <a:fontRef idx="minor">
            <a:schemeClr val="tx1"/>
          </a:fontRef>
        </p:style>
      </p:cxnSp>
      <p:sp>
        <p:nvSpPr>
          <p:cNvPr id="39944" name="Rectangle 26"/>
          <p:cNvSpPr>
            <a:spLocks noChangeArrowheads="1"/>
          </p:cNvSpPr>
          <p:nvPr/>
        </p:nvSpPr>
        <p:spPr bwMode="auto">
          <a:xfrm>
            <a:off x="225425" y="657225"/>
            <a:ext cx="7543800" cy="457200"/>
          </a:xfrm>
          <a:prstGeom prst="rect">
            <a:avLst/>
          </a:prstGeom>
          <a:noFill/>
          <a:ln w="12700" cap="sq">
            <a:noFill/>
            <a:miter lim="800000"/>
            <a:headEnd type="none" w="sm" len="sm"/>
            <a:tailEnd type="none" w="sm" len="sm"/>
          </a:ln>
        </p:spPr>
        <p:txBody>
          <a:bodyPr>
            <a:spAutoFit/>
          </a:bodyPr>
          <a:lstStyle/>
          <a:p>
            <a:pPr eaLnBrk="1" hangingPunct="1">
              <a:spcBef>
                <a:spcPct val="20000"/>
              </a:spcBef>
              <a:buClr>
                <a:srgbClr val="0000FF"/>
              </a:buClr>
              <a:buSzPct val="85000"/>
              <a:buFont typeface="Monotype Sorts"/>
              <a:buNone/>
            </a:pPr>
            <a:r>
              <a:rPr lang="zh-CN" altLang="en-US" b="1">
                <a:solidFill>
                  <a:srgbClr val="0000FF"/>
                </a:solidFill>
              </a:rPr>
              <a:t>电路特点</a:t>
            </a:r>
            <a:r>
              <a:rPr lang="zh-CN" altLang="en-US" b="1">
                <a:solidFill>
                  <a:srgbClr val="000000"/>
                </a:solidFill>
              </a:rPr>
              <a:t>：</a:t>
            </a:r>
            <a:r>
              <a:rPr lang="en-US" altLang="zh-CN" b="1" i="1">
                <a:solidFill>
                  <a:srgbClr val="000000"/>
                </a:solidFill>
              </a:rPr>
              <a:t>T</a:t>
            </a:r>
            <a:r>
              <a:rPr lang="en-US" altLang="zh-CN" b="1" baseline="-25000">
                <a:solidFill>
                  <a:srgbClr val="000000"/>
                </a:solidFill>
              </a:rPr>
              <a:t>1</a:t>
            </a:r>
            <a:r>
              <a:rPr lang="zh-CN" altLang="en-US" b="1">
                <a:solidFill>
                  <a:srgbClr val="000000"/>
                </a:solidFill>
              </a:rPr>
              <a:t>、</a:t>
            </a:r>
            <a:r>
              <a:rPr lang="en-US" altLang="zh-CN" b="1" i="1">
                <a:solidFill>
                  <a:srgbClr val="000000"/>
                </a:solidFill>
              </a:rPr>
              <a:t>T</a:t>
            </a:r>
            <a:r>
              <a:rPr lang="en-US" altLang="zh-CN" b="1" baseline="-25000">
                <a:solidFill>
                  <a:srgbClr val="000000"/>
                </a:solidFill>
              </a:rPr>
              <a:t>2</a:t>
            </a:r>
            <a:r>
              <a:rPr lang="en-US" altLang="zh-CN" b="1">
                <a:solidFill>
                  <a:srgbClr val="000000"/>
                </a:solidFill>
              </a:rPr>
              <a:t> </a:t>
            </a:r>
            <a:r>
              <a:rPr lang="zh-CN" altLang="en-US" b="1">
                <a:solidFill>
                  <a:srgbClr val="000000"/>
                </a:solidFill>
              </a:rPr>
              <a:t>所在的两边电路参数完全对称。</a:t>
            </a:r>
          </a:p>
        </p:txBody>
      </p:sp>
      <p:graphicFrame>
        <p:nvGraphicFramePr>
          <p:cNvPr id="5" name="Object 1"/>
          <p:cNvGraphicFramePr>
            <a:graphicFrameLocks noGrp="1" noChangeAspect="1"/>
          </p:cNvGraphicFramePr>
          <p:nvPr/>
        </p:nvGraphicFramePr>
        <p:xfrm>
          <a:off x="6475413" y="1331913"/>
          <a:ext cx="2082800" cy="863600"/>
        </p:xfrm>
        <a:graphic>
          <a:graphicData uri="http://schemas.openxmlformats.org/presentationml/2006/ole">
            <mc:AlternateContent xmlns:mc="http://schemas.openxmlformats.org/markup-compatibility/2006">
              <mc:Choice xmlns:v="urn:schemas-microsoft-com:vml" Requires="v">
                <p:oleObj spid="_x0000_s24582" name="公式" r:id="rId4" imgW="25603200" imgH="10668000" progId="Equation.3">
                  <p:embed/>
                </p:oleObj>
              </mc:Choice>
              <mc:Fallback>
                <p:oleObj name="公式" r:id="rId4" imgW="25603200" imgH="10668000" progId="Equation.3">
                  <p:embed/>
                  <p:pic>
                    <p:nvPicPr>
                      <p:cNvPr id="0" name="Object 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1331913"/>
                        <a:ext cx="2082800" cy="8636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2" name="文本框 1"/>
          <p:cNvSpPr txBox="1"/>
          <p:nvPr/>
        </p:nvSpPr>
        <p:spPr>
          <a:xfrm>
            <a:off x="4083050" y="1314450"/>
            <a:ext cx="1882775" cy="1014413"/>
          </a:xfrm>
          <a:prstGeom prst="rect">
            <a:avLst/>
          </a:prstGeom>
          <a:solidFill>
            <a:schemeClr val="accent5"/>
          </a:solidFill>
        </p:spPr>
        <p:txBody>
          <a:bodyPr>
            <a:spAutoFit/>
          </a:bodyPr>
          <a:lstStyle/>
          <a:p>
            <a:pPr>
              <a:defRPr/>
            </a:pPr>
            <a:r>
              <a:rPr lang="en-US" altLang="zh-CN" sz="2000" b="1" dirty="0"/>
              <a:t>1</a:t>
            </a:r>
            <a:r>
              <a:rPr lang="zh-CN" altLang="en-US" sz="2000" b="1" dirty="0"/>
              <a:t>、静态工作点非常</a:t>
            </a:r>
            <a:r>
              <a:rPr lang="zh-CN" altLang="en-US" sz="2000" b="1" dirty="0">
                <a:solidFill>
                  <a:srgbClr val="FF0000"/>
                </a:solidFill>
              </a:rPr>
              <a:t>稳定</a:t>
            </a:r>
            <a:r>
              <a:rPr lang="zh-CN" altLang="en-US" sz="2000" b="1" dirty="0"/>
              <a:t>，取决于</a:t>
            </a:r>
            <a:r>
              <a:rPr lang="en-US" altLang="zh-CN" sz="2000" b="1" dirty="0"/>
              <a:t>V</a:t>
            </a:r>
            <a:r>
              <a:rPr lang="en-US" altLang="zh-CN" sz="2000" b="1" baseline="-25000" dirty="0"/>
              <a:t>EE</a:t>
            </a:r>
            <a:r>
              <a:rPr lang="zh-CN" altLang="en-US" sz="2000" b="1" dirty="0"/>
              <a:t>和</a:t>
            </a:r>
            <a:r>
              <a:rPr lang="en-US" altLang="zh-CN" sz="2000" b="1" dirty="0"/>
              <a:t>Re</a:t>
            </a:r>
            <a:endParaRPr lang="zh-CN" altLang="en-US" sz="2000" b="1" dirty="0"/>
          </a:p>
        </p:txBody>
      </p:sp>
      <p:graphicFrame>
        <p:nvGraphicFramePr>
          <p:cNvPr id="7" name="Object 3"/>
          <p:cNvGraphicFramePr>
            <a:graphicFrameLocks noChangeAspect="1"/>
          </p:cNvGraphicFramePr>
          <p:nvPr/>
        </p:nvGraphicFramePr>
        <p:xfrm>
          <a:off x="6475413" y="3490913"/>
          <a:ext cx="2324100" cy="830262"/>
        </p:xfrm>
        <a:graphic>
          <a:graphicData uri="http://schemas.openxmlformats.org/presentationml/2006/ole">
            <mc:AlternateContent xmlns:mc="http://schemas.openxmlformats.org/markup-compatibility/2006">
              <mc:Choice xmlns:v="urn:schemas-microsoft-com:vml" Requires="v">
                <p:oleObj spid="_x0000_s24583" name="公式" r:id="rId6" imgW="30784800" imgH="14630400" progId="Equation.3">
                  <p:embed/>
                </p:oleObj>
              </mc:Choice>
              <mc:Fallback>
                <p:oleObj name="公式" r:id="rId6" imgW="30784800" imgH="14630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5413" y="3490913"/>
                        <a:ext cx="2324100" cy="830262"/>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8" name="Object 8"/>
          <p:cNvGraphicFramePr>
            <a:graphicFrameLocks noChangeAspect="1"/>
          </p:cNvGraphicFramePr>
          <p:nvPr/>
        </p:nvGraphicFramePr>
        <p:xfrm>
          <a:off x="6303963" y="2436813"/>
          <a:ext cx="2819400" cy="938212"/>
        </p:xfrm>
        <a:graphic>
          <a:graphicData uri="http://schemas.openxmlformats.org/presentationml/2006/ole">
            <mc:AlternateContent xmlns:mc="http://schemas.openxmlformats.org/markup-compatibility/2006">
              <mc:Choice xmlns:v="urn:schemas-microsoft-com:vml" Requires="v">
                <p:oleObj spid="_x0000_s24584" name="Equation" r:id="rId8" imgW="1955800" imgH="469900" progId="Equation.DSMT4">
                  <p:embed/>
                </p:oleObj>
              </mc:Choice>
              <mc:Fallback>
                <p:oleObj name="Equation" r:id="rId8" imgW="1955800" imgH="4699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3963" y="2436813"/>
                        <a:ext cx="2819400" cy="938212"/>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9" name="文本框 8"/>
          <p:cNvSpPr txBox="1"/>
          <p:nvPr/>
        </p:nvSpPr>
        <p:spPr>
          <a:xfrm>
            <a:off x="4083050" y="2544763"/>
            <a:ext cx="2149475" cy="830262"/>
          </a:xfrm>
          <a:prstGeom prst="rect">
            <a:avLst/>
          </a:prstGeom>
          <a:solidFill>
            <a:schemeClr val="accent5"/>
          </a:solidFill>
        </p:spPr>
        <p:txBody>
          <a:bodyPr>
            <a:spAutoFit/>
          </a:bodyPr>
          <a:lstStyle/>
          <a:p>
            <a:pPr>
              <a:defRPr/>
            </a:pPr>
            <a:r>
              <a:rPr lang="en-US" altLang="zh-CN" b="1" dirty="0"/>
              <a:t>2</a:t>
            </a:r>
            <a:r>
              <a:rPr lang="zh-CN" altLang="en-US" b="1" dirty="0"/>
              <a:t>、共模信号</a:t>
            </a:r>
            <a:r>
              <a:rPr lang="zh-CN" altLang="en-US" b="1" dirty="0">
                <a:solidFill>
                  <a:srgbClr val="FF0000"/>
                </a:solidFill>
              </a:rPr>
              <a:t>单端</a:t>
            </a:r>
            <a:r>
              <a:rPr lang="zh-CN" altLang="en-US" b="1" dirty="0"/>
              <a:t>放大倍数</a:t>
            </a:r>
          </a:p>
        </p:txBody>
      </p:sp>
      <p:sp>
        <p:nvSpPr>
          <p:cNvPr id="10" name="文本框 9"/>
          <p:cNvSpPr txBox="1"/>
          <p:nvPr/>
        </p:nvSpPr>
        <p:spPr>
          <a:xfrm>
            <a:off x="3951288" y="3490913"/>
            <a:ext cx="2147887" cy="830262"/>
          </a:xfrm>
          <a:prstGeom prst="rect">
            <a:avLst/>
          </a:prstGeom>
          <a:solidFill>
            <a:schemeClr val="accent5"/>
          </a:solidFill>
        </p:spPr>
        <p:txBody>
          <a:bodyPr>
            <a:spAutoFit/>
          </a:bodyPr>
          <a:lstStyle/>
          <a:p>
            <a:pPr algn="ctr">
              <a:defRPr/>
            </a:pPr>
            <a:r>
              <a:rPr lang="en-US" altLang="zh-CN" b="1" dirty="0"/>
              <a:t>3</a:t>
            </a:r>
            <a:r>
              <a:rPr lang="zh-CN" altLang="en-US" b="1" dirty="0"/>
              <a:t>、差模信号放大倍数</a:t>
            </a:r>
          </a:p>
        </p:txBody>
      </p:sp>
      <p:pic>
        <p:nvPicPr>
          <p:cNvPr id="115722" name="Picture 2" descr="Dz030305"/>
          <p:cNvPicPr>
            <a:picLocks noChangeAspect="1" noChangeArrowheads="1"/>
          </p:cNvPicPr>
          <p:nvPr/>
        </p:nvPicPr>
        <p:blipFill>
          <a:blip r:embed="rId10"/>
          <a:srcRect r="59166" b="11702"/>
          <a:stretch>
            <a:fillRect/>
          </a:stretch>
        </p:blipFill>
        <p:spPr bwMode="auto">
          <a:xfrm>
            <a:off x="0" y="4552950"/>
            <a:ext cx="2873375" cy="1916113"/>
          </a:xfrm>
          <a:prstGeom prst="rect">
            <a:avLst/>
          </a:prstGeom>
          <a:noFill/>
          <a:ln w="9525">
            <a:noFill/>
            <a:miter lim="800000"/>
            <a:headEnd/>
            <a:tailEnd/>
          </a:ln>
        </p:spPr>
      </p:pic>
      <p:sp>
        <p:nvSpPr>
          <p:cNvPr id="12" name="文本框 11"/>
          <p:cNvSpPr txBox="1"/>
          <p:nvPr/>
        </p:nvSpPr>
        <p:spPr>
          <a:xfrm>
            <a:off x="3568700" y="4491038"/>
            <a:ext cx="5326063" cy="460375"/>
          </a:xfrm>
          <a:prstGeom prst="rect">
            <a:avLst/>
          </a:prstGeom>
          <a:solidFill>
            <a:schemeClr val="accent5"/>
          </a:solidFill>
        </p:spPr>
        <p:txBody>
          <a:bodyPr>
            <a:spAutoFit/>
          </a:bodyPr>
          <a:lstStyle/>
          <a:p>
            <a:pPr>
              <a:defRPr/>
            </a:pPr>
            <a:r>
              <a:rPr lang="en-US" altLang="zh-CN" b="1" dirty="0"/>
              <a:t>4</a:t>
            </a:r>
            <a:r>
              <a:rPr lang="zh-CN" altLang="en-US" b="1" dirty="0"/>
              <a:t>、</a:t>
            </a:r>
            <a:r>
              <a:rPr lang="en-US" altLang="zh-CN" b="1" dirty="0"/>
              <a:t>Re</a:t>
            </a:r>
            <a:r>
              <a:rPr lang="zh-CN" altLang="en-US" b="1" dirty="0"/>
              <a:t>对</a:t>
            </a:r>
            <a:r>
              <a:rPr lang="zh-CN" altLang="en-US" b="1" dirty="0">
                <a:solidFill>
                  <a:srgbClr val="FF0000"/>
                </a:solidFill>
              </a:rPr>
              <a:t>共模信号和差模信号的作用</a:t>
            </a:r>
          </a:p>
        </p:txBody>
      </p:sp>
      <p:sp>
        <p:nvSpPr>
          <p:cNvPr id="13" name="文本框 12"/>
          <p:cNvSpPr txBox="1"/>
          <p:nvPr/>
        </p:nvSpPr>
        <p:spPr>
          <a:xfrm>
            <a:off x="3568700" y="5145088"/>
            <a:ext cx="5051425" cy="1323975"/>
          </a:xfrm>
          <a:prstGeom prst="rect">
            <a:avLst/>
          </a:prstGeom>
          <a:solidFill>
            <a:schemeClr val="accent5"/>
          </a:solidFill>
        </p:spPr>
        <p:txBody>
          <a:bodyPr>
            <a:spAutoFit/>
          </a:bodyPr>
          <a:lstStyle/>
          <a:p>
            <a:pPr>
              <a:defRPr/>
            </a:pPr>
            <a:r>
              <a:rPr lang="en-US" altLang="zh-CN" sz="2000" b="1" dirty="0"/>
              <a:t>5</a:t>
            </a:r>
            <a:r>
              <a:rPr lang="zh-CN" altLang="en-US" sz="2000" b="1" dirty="0"/>
              <a:t>、动态分析</a:t>
            </a:r>
            <a:r>
              <a:rPr lang="zh-CN" altLang="en-US" sz="2000" b="1" dirty="0">
                <a:solidFill>
                  <a:srgbClr val="0000FF"/>
                </a:solidFill>
              </a:rPr>
              <a:t>差模输入信号</a:t>
            </a:r>
            <a:r>
              <a:rPr lang="zh-CN" altLang="en-US" sz="2000" b="1" dirty="0"/>
              <a:t>时</a:t>
            </a:r>
            <a:r>
              <a:rPr lang="zh-CN" altLang="en-US" sz="2000" b="1" dirty="0">
                <a:solidFill>
                  <a:srgbClr val="FF3300"/>
                </a:solidFill>
              </a:rPr>
              <a:t>注意二个“虚地”</a:t>
            </a:r>
            <a:r>
              <a:rPr lang="en-US" altLang="zh-CN" sz="2000" b="1" dirty="0">
                <a:solidFill>
                  <a:srgbClr val="FF3300"/>
                </a:solidFill>
              </a:rPr>
              <a:t>:</a:t>
            </a:r>
            <a:r>
              <a:rPr lang="en-US" altLang="zh-CN" sz="2000" b="1" dirty="0">
                <a:solidFill>
                  <a:srgbClr val="FF0000"/>
                </a:solidFill>
              </a:rPr>
              <a:t> E</a:t>
            </a:r>
            <a:r>
              <a:rPr lang="zh-CN" altLang="en-US" sz="2000" b="1" dirty="0">
                <a:solidFill>
                  <a:srgbClr val="FF0000"/>
                </a:solidFill>
              </a:rPr>
              <a:t>点电位</a:t>
            </a:r>
            <a:r>
              <a:rPr lang="zh-CN" altLang="en-US" sz="2000" b="1" dirty="0"/>
              <a:t>在差模信号作用下不变，相当于接“地”</a:t>
            </a:r>
            <a:r>
              <a:rPr lang="en-US" altLang="zh-CN" sz="2000" b="1" dirty="0"/>
              <a:t>;</a:t>
            </a:r>
            <a:r>
              <a:rPr lang="zh-CN" altLang="en-US" sz="2000" b="1" dirty="0">
                <a:solidFill>
                  <a:srgbClr val="FF0000"/>
                </a:solidFill>
              </a:rPr>
              <a:t>负载电阻的中点电位</a:t>
            </a:r>
            <a:r>
              <a:rPr lang="zh-CN" altLang="en-US" sz="2000" b="1" dirty="0"/>
              <a:t>在差模信号作用下不变，相当于接“地”。</a:t>
            </a:r>
            <a:endParaRPr lang="zh-CN" altLang="en-US" sz="2000" b="1" dirty="0">
              <a:solidFill>
                <a:srgbClr val="FF3300"/>
              </a:solidFill>
            </a:endParaRPr>
          </a:p>
        </p:txBody>
      </p:sp>
      <p:graphicFrame>
        <p:nvGraphicFramePr>
          <p:cNvPr id="17" name="Object 17"/>
          <p:cNvGraphicFramePr>
            <a:graphicFrameLocks noChangeAspect="1"/>
          </p:cNvGraphicFramePr>
          <p:nvPr/>
        </p:nvGraphicFramePr>
        <p:xfrm>
          <a:off x="179388" y="4105275"/>
          <a:ext cx="3389312" cy="350838"/>
        </p:xfrm>
        <a:graphic>
          <a:graphicData uri="http://schemas.openxmlformats.org/presentationml/2006/ole">
            <mc:AlternateContent xmlns:mc="http://schemas.openxmlformats.org/markup-compatibility/2006">
              <mc:Choice xmlns:v="urn:schemas-microsoft-com:vml" Requires="v">
                <p:oleObj spid="_x0000_s24585" name="公式" r:id="rId11" imgW="60960000" imgH="5486400" progId="Equation.3">
                  <p:embed/>
                </p:oleObj>
              </mc:Choice>
              <mc:Fallback>
                <p:oleObj name="公式" r:id="rId11" imgW="60960000" imgH="54864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388" y="4105275"/>
                        <a:ext cx="3389312" cy="350838"/>
                      </a:xfrm>
                      <a:prstGeom prst="rect">
                        <a:avLst/>
                      </a:prstGeom>
                      <a:solidFill>
                        <a:schemeClr val="accent1"/>
                      </a:solidFill>
                    </p:spPr>
                  </p:pic>
                </p:oleObj>
              </mc:Fallback>
            </mc:AlternateContent>
          </a:graphicData>
        </a:graphic>
      </p:graphicFrame>
      <p:sp>
        <p:nvSpPr>
          <p:cNvPr id="18" name="手杖形箭头 20"/>
          <p:cNvSpPr/>
          <p:nvPr/>
        </p:nvSpPr>
        <p:spPr bwMode="auto">
          <a:xfrm rot="5400000">
            <a:off x="1408113" y="4940300"/>
            <a:ext cx="546100" cy="215265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sp>
        <p:nvSpPr>
          <p:cNvPr id="15" name="线形标注 1 14"/>
          <p:cNvSpPr>
            <a:spLocks/>
          </p:cNvSpPr>
          <p:nvPr/>
        </p:nvSpPr>
        <p:spPr bwMode="auto">
          <a:xfrm>
            <a:off x="2657475" y="3171825"/>
            <a:ext cx="1443038" cy="371475"/>
          </a:xfrm>
          <a:prstGeom prst="borderCallout1">
            <a:avLst>
              <a:gd name="adj1" fmla="val 18750"/>
              <a:gd name="adj2" fmla="val -8333"/>
              <a:gd name="adj3" fmla="val -114426"/>
              <a:gd name="adj4" fmla="val -44157"/>
            </a:avLst>
          </a:prstGeom>
          <a:solidFill>
            <a:schemeClr val="accent1"/>
          </a:solidFill>
          <a:ln w="9525" algn="ctr">
            <a:solidFill>
              <a:schemeClr val="tx1"/>
            </a:solidFill>
            <a:round/>
            <a:headEnd/>
            <a:tailEnd/>
          </a:ln>
        </p:spPr>
        <p:txBody>
          <a:bodyPr/>
          <a:lstStyle/>
          <a:p>
            <a:pPr algn="ctr" eaLnBrk="1" hangingPunct="1"/>
            <a:r>
              <a:rPr lang="en-US" altLang="zh-CN" b="1">
                <a:solidFill>
                  <a:srgbClr val="FF0000"/>
                </a:solidFill>
              </a:rPr>
              <a:t>E</a:t>
            </a:r>
            <a:r>
              <a:rPr lang="zh-CN" altLang="en-US" b="1">
                <a:solidFill>
                  <a:srgbClr val="FF0000"/>
                </a:solidFill>
              </a:rPr>
              <a:t>点电位</a:t>
            </a:r>
          </a:p>
        </p:txBody>
      </p:sp>
      <p:sp>
        <p:nvSpPr>
          <p:cNvPr id="16" name="TextBox 15"/>
          <p:cNvSpPr txBox="1"/>
          <p:nvPr/>
        </p:nvSpPr>
        <p:spPr>
          <a:xfrm>
            <a:off x="-73025" y="2986088"/>
            <a:ext cx="1822450" cy="923925"/>
          </a:xfrm>
          <a:prstGeom prst="rect">
            <a:avLst/>
          </a:prstGeom>
          <a:solidFill>
            <a:schemeClr val="accent5"/>
          </a:solidFill>
          <a:ln>
            <a:solidFill>
              <a:schemeClr val="accent1"/>
            </a:solidFill>
          </a:ln>
        </p:spPr>
        <p:txBody>
          <a:bodyPr>
            <a:spAutoFit/>
          </a:bodyPr>
          <a:lstStyle/>
          <a:p>
            <a:pPr>
              <a:defRPr/>
            </a:pPr>
            <a:r>
              <a:rPr lang="zh-CN" altLang="en-US" sz="1800" b="1" dirty="0">
                <a:solidFill>
                  <a:srgbClr val="FF0000"/>
                </a:solidFill>
              </a:rPr>
              <a:t>静态：约</a:t>
            </a:r>
            <a:r>
              <a:rPr lang="en-US" altLang="zh-CN" sz="1800" b="1" dirty="0">
                <a:solidFill>
                  <a:srgbClr val="FF0000"/>
                </a:solidFill>
              </a:rPr>
              <a:t>-0.7V</a:t>
            </a:r>
          </a:p>
          <a:p>
            <a:pPr>
              <a:defRPr/>
            </a:pPr>
            <a:r>
              <a:rPr lang="zh-CN" altLang="en-US" sz="1800" b="1" dirty="0">
                <a:solidFill>
                  <a:srgbClr val="FF0000"/>
                </a:solidFill>
              </a:rPr>
              <a:t>共模？</a:t>
            </a:r>
            <a:r>
              <a:rPr lang="zh-CN" altLang="en-US" sz="1800" b="1" dirty="0">
                <a:solidFill>
                  <a:srgbClr val="0000FF"/>
                </a:solidFill>
              </a:rPr>
              <a:t>电位变化</a:t>
            </a:r>
            <a:endParaRPr lang="en-US" altLang="zh-CN" sz="1800" b="1" dirty="0">
              <a:solidFill>
                <a:srgbClr val="0000FF"/>
              </a:solidFill>
            </a:endParaRPr>
          </a:p>
          <a:p>
            <a:pPr>
              <a:defRPr/>
            </a:pPr>
            <a:r>
              <a:rPr lang="zh-CN" altLang="en-US" sz="1800" b="1" dirty="0">
                <a:solidFill>
                  <a:srgbClr val="FF0000"/>
                </a:solidFill>
              </a:rPr>
              <a:t>差模？</a:t>
            </a:r>
            <a:r>
              <a:rPr lang="zh-CN" altLang="en-US" sz="1800" b="1" dirty="0">
                <a:solidFill>
                  <a:srgbClr val="0000FF"/>
                </a:solidFill>
              </a:rPr>
              <a:t>电位变化</a:t>
            </a:r>
            <a:endParaRPr lang="zh-CN" altLang="en-US" sz="1800" b="1" dirty="0">
              <a:solidFill>
                <a:srgbClr val="FF0000"/>
              </a:solidFill>
            </a:endParaRPr>
          </a:p>
        </p:txBody>
      </p:sp>
      <p:sp>
        <p:nvSpPr>
          <p:cNvPr id="3" name="文本框 2"/>
          <p:cNvSpPr txBox="1"/>
          <p:nvPr/>
        </p:nvSpPr>
        <p:spPr>
          <a:xfrm>
            <a:off x="0" y="106363"/>
            <a:ext cx="9123363" cy="523875"/>
          </a:xfrm>
          <a:prstGeom prst="rect">
            <a:avLst/>
          </a:prstGeom>
          <a:solidFill>
            <a:schemeClr val="accent5"/>
          </a:solidFill>
        </p:spPr>
        <p:txBody>
          <a:bodyPr>
            <a:spAutoFit/>
          </a:bodyPr>
          <a:lstStyle/>
          <a:p>
            <a:pPr>
              <a:defRPr/>
            </a:pPr>
            <a:r>
              <a:rPr lang="zh-CN" altLang="en-US" sz="2800" b="1" dirty="0">
                <a:solidFill>
                  <a:srgbClr val="0000FF"/>
                </a:solidFill>
              </a:rPr>
              <a:t>对差分放大电路的分析（</a:t>
            </a:r>
            <a:r>
              <a:rPr lang="en-US" altLang="zh-CN" sz="2800" b="1" dirty="0">
                <a:solidFill>
                  <a:srgbClr val="0000FF"/>
                </a:solidFill>
              </a:rPr>
              <a:t>Re</a:t>
            </a:r>
            <a:r>
              <a:rPr lang="zh-CN" altLang="en-US" sz="2800" b="1" dirty="0">
                <a:solidFill>
                  <a:srgbClr val="0000FF"/>
                </a:solidFill>
              </a:rPr>
              <a:t>）：</a:t>
            </a:r>
            <a:r>
              <a:rPr lang="en-US" altLang="zh-CN" sz="2800" b="1" dirty="0">
                <a:solidFill>
                  <a:srgbClr val="0000FF"/>
                </a:solidFill>
              </a:rPr>
              <a:t>Q</a:t>
            </a:r>
            <a:r>
              <a:rPr lang="zh-CN" altLang="en-US" sz="2800" b="1" dirty="0">
                <a:solidFill>
                  <a:srgbClr val="0000FF"/>
                </a:solidFill>
              </a:rPr>
              <a:t>、共模信号、</a:t>
            </a:r>
            <a:r>
              <a:rPr lang="zh-CN" altLang="en-US" sz="2800" b="1" dirty="0">
                <a:solidFill>
                  <a:srgbClr val="FF0000"/>
                </a:solidFill>
              </a:rPr>
              <a:t>差模信号</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15722"/>
                                        </p:tgtEl>
                                        <p:attrNameLst>
                                          <p:attrName>style.visibility</p:attrName>
                                        </p:attrNameLst>
                                      </p:cBhvr>
                                      <p:to>
                                        <p:strVal val="visible"/>
                                      </p:to>
                                    </p:set>
                                    <p:animEffect transition="in" filter="blinds(horizontal)">
                                      <p:cBhvr>
                                        <p:cTn id="34" dur="500"/>
                                        <p:tgtEl>
                                          <p:spTgt spid="11572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linds(horizontal)">
                                      <p:cBhvr>
                                        <p:cTn id="39" dur="500"/>
                                        <p:tgtEl>
                                          <p:spTgt spid="1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blinds(horizontal)">
                                      <p:cBhvr>
                                        <p:cTn id="44" dur="500"/>
                                        <p:tgtEl>
                                          <p:spTgt spid="1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blinds(horizontal)">
                                      <p:cBhvr>
                                        <p:cTn id="54" dur="500"/>
                                        <p:tgtEl>
                                          <p:spTgt spid="10"/>
                                        </p:tgtEl>
                                      </p:cBhvr>
                                    </p:animEffect>
                                  </p:childTnLst>
                                </p:cTn>
                              </p:par>
                              <p:par>
                                <p:cTn id="55" presetID="3" presetClass="entr" presetSubtype="10" fill="hold"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blinds(horizontal)">
                                      <p:cBhvr>
                                        <p:cTn id="62" dur="500"/>
                                        <p:tgtEl>
                                          <p:spTgt spid="9"/>
                                        </p:tgtEl>
                                      </p:cBhvr>
                                    </p:animEffect>
                                  </p:childTnLst>
                                </p:cTn>
                              </p:par>
                              <p:par>
                                <p:cTn id="63" presetID="3" presetClass="entr" presetSubtype="10" fill="hold" nodeType="with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blinds(horizontal)">
                                      <p:cBhvr>
                                        <p:cTn id="6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2" grpId="0" animBg="1"/>
      <p:bldP spid="13" grpId="0" animBg="1"/>
      <p:bldP spid="15"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z030305">
            <a:extLst>
              <a:ext uri="{FF2B5EF4-FFF2-40B4-BE49-F238E27FC236}">
                <a16:creationId xmlns:a16="http://schemas.microsoft.com/office/drawing/2014/main" id="{EB740025-AADA-4A09-96BE-3E795D69CA22}"/>
              </a:ext>
            </a:extLst>
          </p:cNvPr>
          <p:cNvPicPr>
            <a:picLocks noChangeAspect="1" noChangeArrowheads="1"/>
          </p:cNvPicPr>
          <p:nvPr/>
        </p:nvPicPr>
        <p:blipFill>
          <a:blip r:embed="rId3"/>
          <a:srcRect r="59166" b="11702"/>
          <a:stretch>
            <a:fillRect/>
          </a:stretch>
        </p:blipFill>
        <p:spPr bwMode="auto">
          <a:xfrm>
            <a:off x="5114927" y="793750"/>
            <a:ext cx="3763577" cy="2336738"/>
          </a:xfrm>
          <a:prstGeom prst="rect">
            <a:avLst/>
          </a:prstGeom>
          <a:noFill/>
          <a:ln w="9525">
            <a:noFill/>
            <a:miter lim="800000"/>
            <a:headEnd/>
            <a:tailEnd/>
          </a:ln>
        </p:spPr>
      </p:pic>
      <p:graphicFrame>
        <p:nvGraphicFramePr>
          <p:cNvPr id="3" name="Object 6">
            <a:extLst>
              <a:ext uri="{FF2B5EF4-FFF2-40B4-BE49-F238E27FC236}">
                <a16:creationId xmlns:a16="http://schemas.microsoft.com/office/drawing/2014/main" id="{000ED1F7-7072-48BC-BBBE-1216E7A68FEF}"/>
              </a:ext>
            </a:extLst>
          </p:cNvPr>
          <p:cNvGraphicFramePr>
            <a:graphicFrameLocks noChangeAspect="1"/>
          </p:cNvGraphicFramePr>
          <p:nvPr>
            <p:extLst>
              <p:ext uri="{D42A27DB-BD31-4B8C-83A1-F6EECF244321}">
                <p14:modId xmlns:p14="http://schemas.microsoft.com/office/powerpoint/2010/main" val="4003567735"/>
              </p:ext>
            </p:extLst>
          </p:nvPr>
        </p:nvGraphicFramePr>
        <p:xfrm>
          <a:off x="5357355" y="3066336"/>
          <a:ext cx="3303890" cy="2150834"/>
        </p:xfrm>
        <a:graphic>
          <a:graphicData uri="http://schemas.openxmlformats.org/presentationml/2006/ole">
            <mc:AlternateContent xmlns:mc="http://schemas.openxmlformats.org/markup-compatibility/2006">
              <mc:Choice xmlns:v="urn:schemas-microsoft-com:vml" Requires="v">
                <p:oleObj spid="_x0000_s25606" name="Photo Editor 照片" r:id="rId4" imgW="12885714" imgH="8392696" progId="">
                  <p:embed/>
                </p:oleObj>
              </mc:Choice>
              <mc:Fallback>
                <p:oleObj name="Photo Editor 照片" r:id="rId4" imgW="12885714" imgH="8392696" progId="">
                  <p:embed/>
                  <p:pic>
                    <p:nvPicPr>
                      <p:cNvPr id="51212"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7355" y="3066336"/>
                        <a:ext cx="3303890" cy="2150834"/>
                      </a:xfrm>
                      <a:prstGeom prst="rect">
                        <a:avLst/>
                      </a:prstGeom>
                      <a:noFill/>
                      <a:ln>
                        <a:noFill/>
                      </a:ln>
                      <a:effectLst/>
                    </p:spPr>
                  </p:pic>
                </p:oleObj>
              </mc:Fallback>
            </mc:AlternateContent>
          </a:graphicData>
        </a:graphic>
      </p:graphicFrame>
      <p:graphicFrame>
        <p:nvGraphicFramePr>
          <p:cNvPr id="4" name="Object 3">
            <a:extLst>
              <a:ext uri="{FF2B5EF4-FFF2-40B4-BE49-F238E27FC236}">
                <a16:creationId xmlns:a16="http://schemas.microsoft.com/office/drawing/2014/main" id="{FF291382-E1D7-4C0D-AE66-F0B398F9D920}"/>
              </a:ext>
            </a:extLst>
          </p:cNvPr>
          <p:cNvGraphicFramePr>
            <a:graphicFrameLocks noChangeAspect="1"/>
          </p:cNvGraphicFramePr>
          <p:nvPr>
            <p:extLst>
              <p:ext uri="{D42A27DB-BD31-4B8C-83A1-F6EECF244321}">
                <p14:modId xmlns:p14="http://schemas.microsoft.com/office/powerpoint/2010/main" val="3740382592"/>
              </p:ext>
            </p:extLst>
          </p:nvPr>
        </p:nvGraphicFramePr>
        <p:xfrm>
          <a:off x="5803202" y="5217170"/>
          <a:ext cx="2858043" cy="1214553"/>
        </p:xfrm>
        <a:graphic>
          <a:graphicData uri="http://schemas.openxmlformats.org/presentationml/2006/ole">
            <mc:AlternateContent xmlns:mc="http://schemas.openxmlformats.org/markup-compatibility/2006">
              <mc:Choice xmlns:v="urn:schemas-microsoft-com:vml" Requires="v">
                <p:oleObj spid="_x0000_s25607" name="公式" r:id="rId6" imgW="30784800" imgH="14630400" progId="Equation.3">
                  <p:embed/>
                </p:oleObj>
              </mc:Choice>
              <mc:Fallback>
                <p:oleObj name="公式" r:id="rId6" imgW="30784800" imgH="14630400" progId="Equation.3">
                  <p:embed/>
                  <p:pic>
                    <p:nvPicPr>
                      <p:cNvPr id="51206"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3202" y="5217170"/>
                        <a:ext cx="2858043" cy="1214553"/>
                      </a:xfrm>
                      <a:prstGeom prst="rect">
                        <a:avLst/>
                      </a:prstGeom>
                      <a:solidFill>
                        <a:srgbClr val="66FFFF"/>
                      </a:solidFill>
                      <a:ln w="9525">
                        <a:solidFill>
                          <a:srgbClr val="FF3300"/>
                        </a:solidFill>
                        <a:miter lim="800000"/>
                        <a:headEnd/>
                        <a:tailEnd/>
                      </a:ln>
                    </p:spPr>
                  </p:pic>
                </p:oleObj>
              </mc:Fallback>
            </mc:AlternateContent>
          </a:graphicData>
        </a:graphic>
      </p:graphicFrame>
      <p:pic>
        <p:nvPicPr>
          <p:cNvPr id="5" name="图片 4">
            <a:extLst>
              <a:ext uri="{FF2B5EF4-FFF2-40B4-BE49-F238E27FC236}">
                <a16:creationId xmlns:a16="http://schemas.microsoft.com/office/drawing/2014/main" id="{02C10A19-5DE7-4CF0-9AA4-6FD2ED824E09}"/>
              </a:ext>
            </a:extLst>
          </p:cNvPr>
          <p:cNvPicPr>
            <a:picLocks noChangeAspect="1" noChangeArrowheads="1"/>
          </p:cNvPicPr>
          <p:nvPr/>
        </p:nvPicPr>
        <p:blipFill>
          <a:blip r:embed="rId8"/>
          <a:srcRect/>
          <a:stretch>
            <a:fillRect/>
          </a:stretch>
        </p:blipFill>
        <p:spPr bwMode="auto">
          <a:xfrm>
            <a:off x="285747" y="3455161"/>
            <a:ext cx="3457575" cy="2038350"/>
          </a:xfrm>
          <a:prstGeom prst="rect">
            <a:avLst/>
          </a:prstGeom>
          <a:noFill/>
          <a:ln w="9525">
            <a:noFill/>
            <a:miter lim="800000"/>
            <a:headEnd/>
            <a:tailEnd/>
          </a:ln>
        </p:spPr>
      </p:pic>
      <p:graphicFrame>
        <p:nvGraphicFramePr>
          <p:cNvPr id="6" name="Object 2">
            <a:extLst>
              <a:ext uri="{FF2B5EF4-FFF2-40B4-BE49-F238E27FC236}">
                <a16:creationId xmlns:a16="http://schemas.microsoft.com/office/drawing/2014/main" id="{3DD7DF99-D90E-43E3-968B-D475A8126C50}"/>
              </a:ext>
            </a:extLst>
          </p:cNvPr>
          <p:cNvGraphicFramePr>
            <a:graphicFrameLocks noChangeAspect="1"/>
          </p:cNvGraphicFramePr>
          <p:nvPr>
            <p:extLst>
              <p:ext uri="{D42A27DB-BD31-4B8C-83A1-F6EECF244321}">
                <p14:modId xmlns:p14="http://schemas.microsoft.com/office/powerpoint/2010/main" val="1362953120"/>
              </p:ext>
            </p:extLst>
          </p:nvPr>
        </p:nvGraphicFramePr>
        <p:xfrm>
          <a:off x="-4" y="870012"/>
          <a:ext cx="4029075" cy="2585149"/>
        </p:xfrm>
        <a:graphic>
          <a:graphicData uri="http://schemas.openxmlformats.org/presentationml/2006/ole">
            <mc:AlternateContent xmlns:mc="http://schemas.openxmlformats.org/markup-compatibility/2006">
              <mc:Choice xmlns:v="urn:schemas-microsoft-com:vml" Requires="v">
                <p:oleObj spid="_x0000_s25608" name="Photo Editor 照片" r:id="rId9" imgW="14028571" imgH="9609524" progId="">
                  <p:embed/>
                </p:oleObj>
              </mc:Choice>
              <mc:Fallback>
                <p:oleObj name="Photo Editor 照片" r:id="rId9" imgW="14028571" imgH="9609524" progId="">
                  <p:embed/>
                  <p:pic>
                    <p:nvPicPr>
                      <p:cNvPr id="33794"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 y="870012"/>
                        <a:ext cx="4029075" cy="2585149"/>
                      </a:xfrm>
                      <a:prstGeom prst="rect">
                        <a:avLst/>
                      </a:prstGeom>
                      <a:noFill/>
                    </p:spPr>
                  </p:pic>
                </p:oleObj>
              </mc:Fallback>
            </mc:AlternateContent>
          </a:graphicData>
        </a:graphic>
      </p:graphicFrame>
      <p:graphicFrame>
        <p:nvGraphicFramePr>
          <p:cNvPr id="7" name="Object 3">
            <a:extLst>
              <a:ext uri="{FF2B5EF4-FFF2-40B4-BE49-F238E27FC236}">
                <a16:creationId xmlns:a16="http://schemas.microsoft.com/office/drawing/2014/main" id="{8B6899C3-C3B7-4C09-9B4A-EFE67BBB4800}"/>
              </a:ext>
            </a:extLst>
          </p:cNvPr>
          <p:cNvGraphicFramePr>
            <a:graphicFrameLocks noChangeAspect="1"/>
          </p:cNvGraphicFramePr>
          <p:nvPr>
            <p:extLst>
              <p:ext uri="{D42A27DB-BD31-4B8C-83A1-F6EECF244321}">
                <p14:modId xmlns:p14="http://schemas.microsoft.com/office/powerpoint/2010/main" val="618154693"/>
              </p:ext>
            </p:extLst>
          </p:nvPr>
        </p:nvGraphicFramePr>
        <p:xfrm>
          <a:off x="85723" y="5493511"/>
          <a:ext cx="3857625" cy="938212"/>
        </p:xfrm>
        <a:graphic>
          <a:graphicData uri="http://schemas.openxmlformats.org/presentationml/2006/ole">
            <mc:AlternateContent xmlns:mc="http://schemas.openxmlformats.org/markup-compatibility/2006">
              <mc:Choice xmlns:v="urn:schemas-microsoft-com:vml" Requires="v">
                <p:oleObj spid="_x0000_s25609" name="Equation" r:id="rId11" imgW="1955800" imgH="469900" progId="Equation.DSMT4">
                  <p:embed/>
                </p:oleObj>
              </mc:Choice>
              <mc:Fallback>
                <p:oleObj name="Equation" r:id="rId11" imgW="1955800" imgH="469900" progId="Equation.DSMT4">
                  <p:embed/>
                  <p:pic>
                    <p:nvPicPr>
                      <p:cNvPr id="56324"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723" y="5493511"/>
                        <a:ext cx="3857625" cy="938212"/>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8" name="Text Box 75">
            <a:extLst>
              <a:ext uri="{FF2B5EF4-FFF2-40B4-BE49-F238E27FC236}">
                <a16:creationId xmlns:a16="http://schemas.microsoft.com/office/drawing/2014/main" id="{5A050CB7-9EE3-48E2-80F5-8B59C4DEE554}"/>
              </a:ext>
            </a:extLst>
          </p:cNvPr>
          <p:cNvSpPr txBox="1">
            <a:spLocks noChangeArrowheads="1"/>
          </p:cNvSpPr>
          <p:nvPr/>
        </p:nvSpPr>
        <p:spPr bwMode="auto">
          <a:xfrm>
            <a:off x="4564665" y="0"/>
            <a:ext cx="2432050" cy="830262"/>
          </a:xfrm>
          <a:prstGeom prst="rect">
            <a:avLst/>
          </a:prstGeom>
          <a:solidFill>
            <a:srgbClr val="FFFFCC"/>
          </a:solidFill>
          <a:ln w="19050">
            <a:solidFill>
              <a:srgbClr val="FF33CC"/>
            </a:solidFill>
            <a:miter lim="800000"/>
            <a:headEnd/>
            <a:tailEnd/>
          </a:ln>
        </p:spPr>
        <p:txBody>
          <a:bodyPr wrap="square" anchor="ctr">
            <a:spAutoFit/>
          </a:bodyPr>
          <a:lstStyle/>
          <a:p>
            <a:pPr eaLnBrk="1" hangingPunct="1"/>
            <a:r>
              <a:rPr lang="zh-CN" altLang="en-US" b="1" dirty="0"/>
              <a:t>定义差模信号</a:t>
            </a:r>
          </a:p>
          <a:p>
            <a:pPr eaLnBrk="1" hangingPunct="1"/>
            <a:r>
              <a:rPr lang="en-US" altLang="zh-CN" b="1" i="1" dirty="0" err="1">
                <a:solidFill>
                  <a:schemeClr val="accent2"/>
                </a:solidFill>
              </a:rPr>
              <a:t>u</a:t>
            </a:r>
            <a:r>
              <a:rPr lang="en-US" altLang="zh-CN" sz="1400" b="1" dirty="0" err="1">
                <a:solidFill>
                  <a:schemeClr val="accent2"/>
                </a:solidFill>
              </a:rPr>
              <a:t>id</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b="1" dirty="0">
                <a:solidFill>
                  <a:schemeClr val="accent2"/>
                </a:solidFill>
              </a:rPr>
              <a:t>–</a:t>
            </a:r>
            <a:r>
              <a:rPr lang="en-US" altLang="zh-CN" b="1" i="1" dirty="0">
                <a:solidFill>
                  <a:schemeClr val="accent2"/>
                </a:solidFill>
              </a:rPr>
              <a:t>u</a:t>
            </a:r>
            <a:r>
              <a:rPr lang="en-US" altLang="zh-CN" sz="1400" b="1" dirty="0">
                <a:solidFill>
                  <a:schemeClr val="accent2"/>
                </a:solidFill>
              </a:rPr>
              <a:t>i2</a:t>
            </a:r>
            <a:r>
              <a:rPr lang="en-US" altLang="zh-CN" b="1" dirty="0"/>
              <a:t> </a:t>
            </a:r>
          </a:p>
        </p:txBody>
      </p:sp>
      <p:sp>
        <p:nvSpPr>
          <p:cNvPr id="9" name="Text Box 76">
            <a:extLst>
              <a:ext uri="{FF2B5EF4-FFF2-40B4-BE49-F238E27FC236}">
                <a16:creationId xmlns:a16="http://schemas.microsoft.com/office/drawing/2014/main" id="{45E558FB-E207-4762-83A7-7DA220A3E551}"/>
              </a:ext>
            </a:extLst>
          </p:cNvPr>
          <p:cNvSpPr txBox="1">
            <a:spLocks noChangeArrowheads="1"/>
          </p:cNvSpPr>
          <p:nvPr/>
        </p:nvSpPr>
        <p:spPr bwMode="auto">
          <a:xfrm>
            <a:off x="-4" y="0"/>
            <a:ext cx="2432050" cy="793750"/>
          </a:xfrm>
          <a:prstGeom prst="rect">
            <a:avLst/>
          </a:prstGeom>
          <a:solidFill>
            <a:srgbClr val="FFFFCC"/>
          </a:solidFill>
          <a:ln w="19050">
            <a:solidFill>
              <a:srgbClr val="FF33CC"/>
            </a:solidFill>
            <a:miter lim="800000"/>
            <a:headEnd/>
            <a:tailEnd/>
          </a:ln>
        </p:spPr>
        <p:txBody>
          <a:bodyPr anchor="ctr">
            <a:spAutoFit/>
          </a:bodyPr>
          <a:lstStyle/>
          <a:p>
            <a:pPr eaLnBrk="1" hangingPunct="1"/>
            <a:r>
              <a:rPr lang="zh-CN" altLang="en-US" b="1" dirty="0"/>
              <a:t>定义共模信号</a:t>
            </a:r>
          </a:p>
          <a:p>
            <a:pPr eaLnBrk="1" hangingPunct="1">
              <a:lnSpc>
                <a:spcPct val="90000"/>
              </a:lnSpc>
            </a:pPr>
            <a:r>
              <a:rPr lang="en-US" altLang="zh-CN" b="1" i="1" dirty="0" err="1">
                <a:solidFill>
                  <a:schemeClr val="accent2"/>
                </a:solidFill>
              </a:rPr>
              <a:t>u</a:t>
            </a:r>
            <a:r>
              <a:rPr lang="en-US" altLang="zh-CN" sz="1600" b="1" dirty="0" err="1">
                <a:solidFill>
                  <a:schemeClr val="accent2"/>
                </a:solidFill>
              </a:rPr>
              <a:t>ic</a:t>
            </a:r>
            <a:r>
              <a:rPr lang="en-US" altLang="zh-CN" b="1" i="1" dirty="0">
                <a:solidFill>
                  <a:schemeClr val="accent2"/>
                </a:solidFill>
              </a:rPr>
              <a:t>=</a:t>
            </a:r>
            <a:r>
              <a:rPr lang="en-US" altLang="zh-CN" sz="1600" b="1" dirty="0">
                <a:solidFill>
                  <a:schemeClr val="accent2"/>
                </a:solidFill>
              </a:rPr>
              <a:t>(</a:t>
            </a:r>
            <a:r>
              <a:rPr lang="en-US" altLang="zh-CN" b="1" i="1" dirty="0">
                <a:solidFill>
                  <a:schemeClr val="accent2"/>
                </a:solidFill>
              </a:rPr>
              <a:t>u</a:t>
            </a:r>
            <a:r>
              <a:rPr lang="en-US" altLang="zh-CN" sz="1400" b="1" dirty="0">
                <a:solidFill>
                  <a:schemeClr val="accent2"/>
                </a:solidFill>
              </a:rPr>
              <a:t>i1</a:t>
            </a:r>
            <a:r>
              <a:rPr lang="en-US" altLang="zh-CN" sz="1400" b="1" i="1" dirty="0">
                <a:solidFill>
                  <a:schemeClr val="accent2"/>
                </a:solidFill>
              </a:rPr>
              <a:t> </a:t>
            </a:r>
            <a:r>
              <a:rPr lang="en-US" altLang="zh-CN" b="1" i="1" dirty="0">
                <a:solidFill>
                  <a:schemeClr val="accent2"/>
                </a:solidFill>
              </a:rPr>
              <a:t>+u</a:t>
            </a:r>
            <a:r>
              <a:rPr lang="en-US" altLang="zh-CN" sz="1400" b="1" dirty="0">
                <a:solidFill>
                  <a:schemeClr val="accent2"/>
                </a:solidFill>
              </a:rPr>
              <a:t>i2</a:t>
            </a:r>
            <a:r>
              <a:rPr lang="en-US" altLang="zh-CN" sz="1400" b="1" dirty="0"/>
              <a:t> </a:t>
            </a:r>
            <a:r>
              <a:rPr lang="en-US" altLang="zh-CN" b="1" dirty="0"/>
              <a:t>)/2</a:t>
            </a:r>
          </a:p>
        </p:txBody>
      </p:sp>
      <p:sp>
        <p:nvSpPr>
          <p:cNvPr id="10" name="箭头: 下 9">
            <a:extLst>
              <a:ext uri="{FF2B5EF4-FFF2-40B4-BE49-F238E27FC236}">
                <a16:creationId xmlns:a16="http://schemas.microsoft.com/office/drawing/2014/main" id="{E991B7FE-7C28-6A5A-1FF1-710F239BA636}"/>
              </a:ext>
            </a:extLst>
          </p:cNvPr>
          <p:cNvSpPr/>
          <p:nvPr/>
        </p:nvSpPr>
        <p:spPr bwMode="auto">
          <a:xfrm rot="20324735">
            <a:off x="5210989" y="753429"/>
            <a:ext cx="92054" cy="1528091"/>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箭头: 下 10">
            <a:extLst>
              <a:ext uri="{FF2B5EF4-FFF2-40B4-BE49-F238E27FC236}">
                <a16:creationId xmlns:a16="http://schemas.microsoft.com/office/drawing/2014/main" id="{4C9FB896-1F9E-52B6-843D-751B82DE0410}"/>
              </a:ext>
            </a:extLst>
          </p:cNvPr>
          <p:cNvSpPr/>
          <p:nvPr/>
        </p:nvSpPr>
        <p:spPr bwMode="auto">
          <a:xfrm rot="21329721">
            <a:off x="219469" y="753428"/>
            <a:ext cx="92054" cy="1528091"/>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280741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4774C-206B-A2CE-ACFA-E202D8B9D876}"/>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C941598-7844-6462-B9C8-DB4620462E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9758" y="444633"/>
            <a:ext cx="4991100" cy="3762375"/>
          </a:xfrm>
          <a:prstGeom prst="rect">
            <a:avLst/>
          </a:prstGeom>
          <a:noFill/>
          <a:ln>
            <a:noFill/>
          </a:ln>
        </p:spPr>
      </p:pic>
      <p:sp>
        <p:nvSpPr>
          <p:cNvPr id="4" name="文本框 3">
            <a:extLst>
              <a:ext uri="{FF2B5EF4-FFF2-40B4-BE49-F238E27FC236}">
                <a16:creationId xmlns:a16="http://schemas.microsoft.com/office/drawing/2014/main" id="{BB5FD929-B405-9285-7468-059355D746C6}"/>
              </a:ext>
            </a:extLst>
          </p:cNvPr>
          <p:cNvSpPr txBox="1"/>
          <p:nvPr/>
        </p:nvSpPr>
        <p:spPr>
          <a:xfrm>
            <a:off x="383459" y="4654998"/>
            <a:ext cx="8677950" cy="830997"/>
          </a:xfrm>
          <a:prstGeom prst="rect">
            <a:avLst/>
          </a:prstGeom>
          <a:noFill/>
        </p:spPr>
        <p:txBody>
          <a:bodyPr wrap="square">
            <a:spAutoFit/>
          </a:bodyPr>
          <a:lstStyle/>
          <a:p>
            <a:r>
              <a:rPr lang="zh-CN" altLang="en-US" dirty="0"/>
              <a:t>两只特性完全相同的增强型</a:t>
            </a:r>
            <a:r>
              <a:rPr lang="en-US" altLang="zh-CN" dirty="0"/>
              <a:t>N</a:t>
            </a:r>
            <a:r>
              <a:rPr lang="zh-CN" altLang="en-US" dirty="0"/>
              <a:t>MOS管T1和T2</a:t>
            </a:r>
            <a:r>
              <a:rPr lang="en-US" altLang="zh-CN" dirty="0"/>
              <a:t>,</a:t>
            </a:r>
            <a:r>
              <a:rPr lang="zh-CN" altLang="en-US" dirty="0"/>
              <a:t>组成源极耦合差分放大电路，电路参数对称，具有两个输入端，两个输出端。</a:t>
            </a:r>
          </a:p>
        </p:txBody>
      </p:sp>
      <p:sp>
        <p:nvSpPr>
          <p:cNvPr id="6" name="文本框 5">
            <a:extLst>
              <a:ext uri="{FF2B5EF4-FFF2-40B4-BE49-F238E27FC236}">
                <a16:creationId xmlns:a16="http://schemas.microsoft.com/office/drawing/2014/main" id="{59127B49-ACFF-F98E-D3A3-CE8A9B3102BD}"/>
              </a:ext>
            </a:extLst>
          </p:cNvPr>
          <p:cNvSpPr txBox="1"/>
          <p:nvPr/>
        </p:nvSpPr>
        <p:spPr>
          <a:xfrm>
            <a:off x="917350" y="213800"/>
            <a:ext cx="4572000" cy="461665"/>
          </a:xfrm>
          <a:prstGeom prst="rect">
            <a:avLst/>
          </a:prstGeom>
          <a:noFill/>
        </p:spPr>
        <p:txBody>
          <a:bodyPr wrap="square">
            <a:spAutoFit/>
          </a:bodyPr>
          <a:lstStyle/>
          <a:p>
            <a:r>
              <a:rPr lang="zh-CN" altLang="en-US" dirty="0"/>
              <a:t>源极耦合差分放大电路</a:t>
            </a:r>
          </a:p>
        </p:txBody>
      </p:sp>
    </p:spTree>
    <p:extLst>
      <p:ext uri="{BB962C8B-B14F-4D97-AF65-F5344CB8AC3E}">
        <p14:creationId xmlns:p14="http://schemas.microsoft.com/office/powerpoint/2010/main" val="910950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4366-9AD7-C75D-4A2D-3D8C38A5B52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E0ABFE8-3C9C-2F29-60CB-D304768C5D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9758" y="444633"/>
            <a:ext cx="4991100" cy="3762375"/>
          </a:xfrm>
          <a:prstGeom prst="rect">
            <a:avLst/>
          </a:prstGeom>
          <a:noFill/>
          <a:ln>
            <a:noFill/>
          </a:ln>
        </p:spPr>
      </p:pic>
      <p:sp>
        <p:nvSpPr>
          <p:cNvPr id="6" name="文本框 5">
            <a:extLst>
              <a:ext uri="{FF2B5EF4-FFF2-40B4-BE49-F238E27FC236}">
                <a16:creationId xmlns:a16="http://schemas.microsoft.com/office/drawing/2014/main" id="{6342F6D4-97CC-479A-8215-7FEE6301C853}"/>
              </a:ext>
            </a:extLst>
          </p:cNvPr>
          <p:cNvSpPr txBox="1"/>
          <p:nvPr/>
        </p:nvSpPr>
        <p:spPr>
          <a:xfrm>
            <a:off x="917350" y="213800"/>
            <a:ext cx="4572000" cy="461665"/>
          </a:xfrm>
          <a:prstGeom prst="rect">
            <a:avLst/>
          </a:prstGeom>
          <a:noFill/>
        </p:spPr>
        <p:txBody>
          <a:bodyPr wrap="square">
            <a:spAutoFit/>
          </a:bodyPr>
          <a:lstStyle/>
          <a:p>
            <a:r>
              <a:rPr lang="zh-CN" altLang="en-US" dirty="0"/>
              <a:t>源极耦合差分放大电路</a:t>
            </a:r>
            <a:r>
              <a:rPr lang="en-US" altLang="zh-CN" dirty="0"/>
              <a:t>-</a:t>
            </a:r>
            <a:r>
              <a:rPr lang="zh-CN" altLang="en-US" dirty="0"/>
              <a:t>静态分析</a:t>
            </a:r>
          </a:p>
        </p:txBody>
      </p:sp>
      <p:pic>
        <p:nvPicPr>
          <p:cNvPr id="5" name="图片 4">
            <a:extLst>
              <a:ext uri="{FF2B5EF4-FFF2-40B4-BE49-F238E27FC236}">
                <a16:creationId xmlns:a16="http://schemas.microsoft.com/office/drawing/2014/main" id="{8B05E49F-56BA-0249-11BF-254B18ECF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447" y="4324323"/>
            <a:ext cx="8582962" cy="1556360"/>
          </a:xfrm>
          <a:prstGeom prst="rect">
            <a:avLst/>
          </a:prstGeom>
        </p:spPr>
      </p:pic>
    </p:spTree>
    <p:extLst>
      <p:ext uri="{BB962C8B-B14F-4D97-AF65-F5344CB8AC3E}">
        <p14:creationId xmlns:p14="http://schemas.microsoft.com/office/powerpoint/2010/main" val="2050756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F067F-6B1F-5D16-0AB9-E53C1001880D}"/>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B06AFFC-E13A-BA88-3D23-76BA4FF006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9758" y="444633"/>
            <a:ext cx="4991100" cy="3762375"/>
          </a:xfrm>
          <a:prstGeom prst="rect">
            <a:avLst/>
          </a:prstGeom>
          <a:noFill/>
          <a:ln>
            <a:noFill/>
          </a:ln>
        </p:spPr>
      </p:pic>
      <p:sp>
        <p:nvSpPr>
          <p:cNvPr id="6" name="文本框 5">
            <a:extLst>
              <a:ext uri="{FF2B5EF4-FFF2-40B4-BE49-F238E27FC236}">
                <a16:creationId xmlns:a16="http://schemas.microsoft.com/office/drawing/2014/main" id="{4E6ABC81-793D-7045-39E2-F0AD847F0435}"/>
              </a:ext>
            </a:extLst>
          </p:cNvPr>
          <p:cNvSpPr txBox="1"/>
          <p:nvPr/>
        </p:nvSpPr>
        <p:spPr>
          <a:xfrm>
            <a:off x="917350" y="213800"/>
            <a:ext cx="4572000" cy="461665"/>
          </a:xfrm>
          <a:prstGeom prst="rect">
            <a:avLst/>
          </a:prstGeom>
          <a:noFill/>
        </p:spPr>
        <p:txBody>
          <a:bodyPr wrap="square">
            <a:spAutoFit/>
          </a:bodyPr>
          <a:lstStyle/>
          <a:p>
            <a:r>
              <a:rPr lang="zh-CN" altLang="en-US" dirty="0"/>
              <a:t>源极耦合差分放大电路动态分析</a:t>
            </a:r>
          </a:p>
        </p:txBody>
      </p:sp>
      <p:pic>
        <p:nvPicPr>
          <p:cNvPr id="3" name="图片 2">
            <a:extLst>
              <a:ext uri="{FF2B5EF4-FFF2-40B4-BE49-F238E27FC236}">
                <a16:creationId xmlns:a16="http://schemas.microsoft.com/office/drawing/2014/main" id="{B31E2AC9-B9D1-91F9-417D-2812BA30EF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989" y="4273961"/>
            <a:ext cx="8769507" cy="2630007"/>
          </a:xfrm>
          <a:prstGeom prst="rect">
            <a:avLst/>
          </a:prstGeom>
          <a:noFill/>
          <a:ln>
            <a:noFill/>
          </a:ln>
        </p:spPr>
      </p:pic>
    </p:spTree>
    <p:extLst>
      <p:ext uri="{BB962C8B-B14F-4D97-AF65-F5344CB8AC3E}">
        <p14:creationId xmlns:p14="http://schemas.microsoft.com/office/powerpoint/2010/main" val="1292677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3513-3DDE-CFAD-A261-83D55368BCF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34F840E-0A96-B3D3-F45C-21F1C0E470EE}"/>
              </a:ext>
            </a:extLst>
          </p:cNvPr>
          <p:cNvSpPr txBox="1"/>
          <p:nvPr/>
        </p:nvSpPr>
        <p:spPr>
          <a:xfrm>
            <a:off x="917350" y="213800"/>
            <a:ext cx="4572000" cy="461665"/>
          </a:xfrm>
          <a:prstGeom prst="rect">
            <a:avLst/>
          </a:prstGeom>
          <a:noFill/>
        </p:spPr>
        <p:txBody>
          <a:bodyPr wrap="square">
            <a:spAutoFit/>
          </a:bodyPr>
          <a:lstStyle/>
          <a:p>
            <a:r>
              <a:rPr lang="zh-CN" altLang="en-US" dirty="0"/>
              <a:t>源极耦合差分放大电路</a:t>
            </a:r>
          </a:p>
        </p:txBody>
      </p:sp>
      <p:pic>
        <p:nvPicPr>
          <p:cNvPr id="3" name="图片 2">
            <a:extLst>
              <a:ext uri="{FF2B5EF4-FFF2-40B4-BE49-F238E27FC236}">
                <a16:creationId xmlns:a16="http://schemas.microsoft.com/office/drawing/2014/main" id="{FB39B9A8-F443-83AA-FE2B-1839994403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2599" y="1090570"/>
            <a:ext cx="8397452" cy="3970238"/>
          </a:xfrm>
          <a:prstGeom prst="rect">
            <a:avLst/>
          </a:prstGeom>
          <a:noFill/>
          <a:ln>
            <a:noFill/>
          </a:ln>
        </p:spPr>
      </p:pic>
      <p:pic>
        <p:nvPicPr>
          <p:cNvPr id="5" name="图片 4">
            <a:extLst>
              <a:ext uri="{FF2B5EF4-FFF2-40B4-BE49-F238E27FC236}">
                <a16:creationId xmlns:a16="http://schemas.microsoft.com/office/drawing/2014/main" id="{85AE6938-B90C-0CF6-966B-1D6E57409B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4981" y="5349773"/>
            <a:ext cx="5699343" cy="1294427"/>
          </a:xfrm>
          <a:prstGeom prst="rect">
            <a:avLst/>
          </a:prstGeom>
          <a:noFill/>
          <a:ln>
            <a:noFill/>
          </a:ln>
        </p:spPr>
      </p:pic>
    </p:spTree>
    <p:extLst>
      <p:ext uri="{BB962C8B-B14F-4D97-AF65-F5344CB8AC3E}">
        <p14:creationId xmlns:p14="http://schemas.microsoft.com/office/powerpoint/2010/main" val="116421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3" name="Text Box 5"/>
          <p:cNvSpPr txBox="1">
            <a:spLocks noChangeArrowheads="1"/>
          </p:cNvSpPr>
          <p:nvPr/>
        </p:nvSpPr>
        <p:spPr bwMode="auto">
          <a:xfrm>
            <a:off x="785813" y="4354513"/>
            <a:ext cx="7391400" cy="822325"/>
          </a:xfrm>
          <a:prstGeom prst="rect">
            <a:avLst/>
          </a:prstGeom>
          <a:noFill/>
          <a:ln w="9525">
            <a:noFill/>
            <a:miter lim="800000"/>
            <a:headEnd/>
            <a:tailEnd/>
          </a:ln>
        </p:spPr>
        <p:txBody>
          <a:bodyPr>
            <a:spAutoFit/>
          </a:bodyPr>
          <a:lstStyle/>
          <a:p>
            <a:pPr algn="ctr" eaLnBrk="1" hangingPunct="1">
              <a:spcBef>
                <a:spcPct val="50000"/>
              </a:spcBef>
            </a:pPr>
            <a:r>
              <a:rPr lang="en-US" altLang="zh-CN"/>
              <a:t>    </a:t>
            </a:r>
            <a:r>
              <a:rPr lang="zh-CN" altLang="en-US" b="1"/>
              <a:t>在实际应用时，信号源需要有“  接地”点，以避免干扰；或负载需要有“  接地”点，以安全工作。</a:t>
            </a:r>
          </a:p>
        </p:txBody>
      </p:sp>
      <p:sp>
        <p:nvSpPr>
          <p:cNvPr id="53254" name="Text Box 6"/>
          <p:cNvSpPr txBox="1">
            <a:spLocks noChangeArrowheads="1"/>
          </p:cNvSpPr>
          <p:nvPr/>
        </p:nvSpPr>
        <p:spPr bwMode="auto">
          <a:xfrm>
            <a:off x="785813" y="5192713"/>
            <a:ext cx="7620000" cy="1200150"/>
          </a:xfrm>
          <a:prstGeom prst="rect">
            <a:avLst/>
          </a:prstGeom>
          <a:noFill/>
          <a:ln w="9525">
            <a:noFill/>
            <a:miter lim="800000"/>
            <a:headEnd/>
            <a:tailEnd/>
          </a:ln>
        </p:spPr>
        <p:txBody>
          <a:bodyPr>
            <a:spAutoFit/>
          </a:bodyPr>
          <a:lstStyle/>
          <a:p>
            <a:pPr algn="ctr" eaLnBrk="1" hangingPunct="1">
              <a:spcBef>
                <a:spcPct val="50000"/>
              </a:spcBef>
            </a:pPr>
            <a:r>
              <a:rPr lang="en-US" altLang="zh-CN"/>
              <a:t>    </a:t>
            </a:r>
            <a:r>
              <a:rPr lang="zh-CN" altLang="en-US" b="1"/>
              <a:t>根据</a:t>
            </a:r>
            <a:r>
              <a:rPr lang="zh-CN" altLang="en-US" b="1">
                <a:solidFill>
                  <a:srgbClr val="0000FF"/>
                </a:solidFill>
              </a:rPr>
              <a:t>信号源和负载的接地情况</a:t>
            </a:r>
            <a:r>
              <a:rPr lang="zh-CN" altLang="en-US" b="1"/>
              <a:t>，差分放大电路有四种接法：双端输入双端输出、双端输入单端输出、单端输入双端输出、单端输入单端输出。</a:t>
            </a:r>
          </a:p>
        </p:txBody>
      </p:sp>
      <p:graphicFrame>
        <p:nvGraphicFramePr>
          <p:cNvPr id="40962" name="Object 1"/>
          <p:cNvGraphicFramePr>
            <a:graphicFrameLocks noChangeAspect="1"/>
          </p:cNvGraphicFramePr>
          <p:nvPr/>
        </p:nvGraphicFramePr>
        <p:xfrm>
          <a:off x="1754188" y="844550"/>
          <a:ext cx="4389437" cy="3251200"/>
        </p:xfrm>
        <a:graphic>
          <a:graphicData uri="http://schemas.openxmlformats.org/presentationml/2006/ole">
            <mc:AlternateContent xmlns:mc="http://schemas.openxmlformats.org/markup-compatibility/2006">
              <mc:Choice xmlns:v="urn:schemas-microsoft-com:vml" Requires="v">
                <p:oleObj spid="_x0000_s26627" name="Photo Editor 照片" r:id="rId3" imgW="12317544" imgH="9135750" progId="">
                  <p:embed/>
                </p:oleObj>
              </mc:Choice>
              <mc:Fallback>
                <p:oleObj name="Photo Editor 照片" r:id="rId3" imgW="12317544" imgH="9135750" progId="">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4188" y="844550"/>
                        <a:ext cx="4389437"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文本框 5"/>
          <p:cNvSpPr txBox="1"/>
          <p:nvPr/>
        </p:nvSpPr>
        <p:spPr>
          <a:xfrm>
            <a:off x="639763" y="2363788"/>
            <a:ext cx="1114425" cy="461962"/>
          </a:xfrm>
          <a:prstGeom prst="rect">
            <a:avLst/>
          </a:prstGeom>
          <a:solidFill>
            <a:schemeClr val="accent5"/>
          </a:solidFill>
          <a:ln>
            <a:solidFill>
              <a:schemeClr val="accent1"/>
            </a:solidFill>
          </a:ln>
        </p:spPr>
        <p:txBody>
          <a:bodyPr>
            <a:spAutoFit/>
          </a:bodyPr>
          <a:lstStyle/>
          <a:p>
            <a:pPr>
              <a:defRPr/>
            </a:pPr>
            <a:r>
              <a:rPr lang="zh-CN" altLang="en-US" b="1" dirty="0"/>
              <a:t>信号源</a:t>
            </a:r>
            <a:endParaRPr lang="zh-CN" altLang="en-US" dirty="0"/>
          </a:p>
        </p:txBody>
      </p:sp>
      <p:sp>
        <p:nvSpPr>
          <p:cNvPr id="7" name="文本框 6"/>
          <p:cNvSpPr txBox="1"/>
          <p:nvPr/>
        </p:nvSpPr>
        <p:spPr>
          <a:xfrm>
            <a:off x="6143625" y="2363788"/>
            <a:ext cx="1114425" cy="461962"/>
          </a:xfrm>
          <a:prstGeom prst="rect">
            <a:avLst/>
          </a:prstGeom>
          <a:solidFill>
            <a:schemeClr val="accent5"/>
          </a:solidFill>
          <a:ln>
            <a:solidFill>
              <a:schemeClr val="accent1"/>
            </a:solidFill>
          </a:ln>
        </p:spPr>
        <p:txBody>
          <a:bodyPr>
            <a:spAutoFit/>
          </a:bodyPr>
          <a:lstStyle/>
          <a:p>
            <a:pPr>
              <a:defRPr/>
            </a:pPr>
            <a:r>
              <a:rPr lang="zh-CN" altLang="en-US" b="1" dirty="0"/>
              <a:t>信号源</a:t>
            </a:r>
            <a:endParaRPr lang="zh-CN" altLang="en-US" dirty="0"/>
          </a:p>
        </p:txBody>
      </p:sp>
      <p:sp>
        <p:nvSpPr>
          <p:cNvPr id="8" name="文本框 7"/>
          <p:cNvSpPr txBox="1"/>
          <p:nvPr/>
        </p:nvSpPr>
        <p:spPr>
          <a:xfrm>
            <a:off x="3756025" y="1473200"/>
            <a:ext cx="309563" cy="708025"/>
          </a:xfrm>
          <a:prstGeom prst="rect">
            <a:avLst/>
          </a:prstGeom>
          <a:solidFill>
            <a:schemeClr val="accent5"/>
          </a:solidFill>
          <a:ln>
            <a:solidFill>
              <a:schemeClr val="accent1"/>
            </a:solidFill>
          </a:ln>
        </p:spPr>
        <p:txBody>
          <a:bodyPr>
            <a:spAutoFit/>
          </a:bodyPr>
          <a:lstStyle/>
          <a:p>
            <a:pPr algn="ctr">
              <a:defRPr/>
            </a:pPr>
            <a:r>
              <a:rPr lang="zh-CN" altLang="en-US" sz="2000" b="1" dirty="0"/>
              <a:t>负载</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3">
                                            <p:txEl>
                                              <p:pRg st="0" end="0"/>
                                            </p:txEl>
                                          </p:spTgt>
                                        </p:tgtEl>
                                        <p:attrNameLst>
                                          <p:attrName>style.visibility</p:attrName>
                                        </p:attrNameLst>
                                      </p:cBhvr>
                                      <p:to>
                                        <p:strVal val="visible"/>
                                      </p:to>
                                    </p:set>
                                    <p:animEffect transition="in" filter="wipe(left)">
                                      <p:cBhvr>
                                        <p:cTn id="7" dur="500"/>
                                        <p:tgtEl>
                                          <p:spTgt spid="532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4">
                                            <p:txEl>
                                              <p:pRg st="0" end="0"/>
                                            </p:txEl>
                                          </p:spTgt>
                                        </p:tgtEl>
                                        <p:attrNameLst>
                                          <p:attrName>style.visibility</p:attrName>
                                        </p:attrNameLst>
                                      </p:cBhvr>
                                      <p:to>
                                        <p:strVal val="visible"/>
                                      </p:to>
                                    </p:set>
                                    <p:animEffect transition="in" filter="wipe(left)">
                                      <p:cBhvr>
                                        <p:cTn id="12" dur="500"/>
                                        <p:tgtEl>
                                          <p:spTgt spid="532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build="p" autoUpdateAnimBg="0"/>
      <p:bldP spid="53254"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9"/>
          <p:cNvSpPr txBox="1">
            <a:spLocks noChangeArrowheads="1"/>
          </p:cNvSpPr>
          <p:nvPr/>
        </p:nvSpPr>
        <p:spPr bwMode="auto">
          <a:xfrm>
            <a:off x="457200" y="685800"/>
            <a:ext cx="5257800" cy="519113"/>
          </a:xfrm>
          <a:prstGeom prst="rect">
            <a:avLst/>
          </a:prstGeom>
          <a:noFill/>
          <a:ln w="12700" cap="sq">
            <a:noFill/>
            <a:miter lim="800000"/>
            <a:headEnd type="none" w="sm" len="sm"/>
            <a:tailEnd type="none" w="sm" len="sm"/>
          </a:ln>
        </p:spPr>
        <p:txBody>
          <a:bodyPr>
            <a:spAutoFit/>
          </a:bodyPr>
          <a:lstStyle/>
          <a:p>
            <a:pPr eaLnBrk="1" hangingPunct="1">
              <a:spcBef>
                <a:spcPct val="50000"/>
              </a:spcBef>
            </a:pPr>
            <a:r>
              <a:rPr lang="zh-CN" altLang="en-US" sz="2800" b="1">
                <a:solidFill>
                  <a:schemeClr val="hlink"/>
                </a:solidFill>
                <a:ea typeface="黑体" pitchFamily="49" charset="-122"/>
              </a:rPr>
              <a:t>四、 差分放大电路的四种接法</a:t>
            </a:r>
          </a:p>
        </p:txBody>
      </p:sp>
      <p:sp>
        <p:nvSpPr>
          <p:cNvPr id="172042" name="Rectangle 10"/>
          <p:cNvSpPr>
            <a:spLocks noChangeArrowheads="1"/>
          </p:cNvSpPr>
          <p:nvPr/>
        </p:nvSpPr>
        <p:spPr bwMode="auto">
          <a:xfrm>
            <a:off x="762000" y="2819400"/>
            <a:ext cx="2743200" cy="457200"/>
          </a:xfrm>
          <a:prstGeom prst="rect">
            <a:avLst/>
          </a:prstGeom>
          <a:noFill/>
          <a:ln w="12700" cap="sq">
            <a:noFill/>
            <a:miter lim="800000"/>
            <a:headEnd type="none" w="sm" len="sm"/>
            <a:tailEnd type="none" w="sm" len="sm"/>
          </a:ln>
        </p:spPr>
        <p:txBody>
          <a:bodyPr>
            <a:spAutoFit/>
          </a:bodyPr>
          <a:lstStyle/>
          <a:p>
            <a:pPr algn="just" eaLnBrk="1" hangingPunct="1">
              <a:spcBef>
                <a:spcPct val="20000"/>
              </a:spcBef>
            </a:pPr>
            <a:r>
              <a:rPr lang="en-US" altLang="zh-CN" b="1">
                <a:solidFill>
                  <a:srgbClr val="000000"/>
                </a:solidFill>
                <a:latin typeface="宋体" pitchFamily="2" charset="-122"/>
              </a:rPr>
              <a:t>&lt;A&gt; </a:t>
            </a:r>
            <a:r>
              <a:rPr lang="zh-CN" altLang="en-US" b="1">
                <a:solidFill>
                  <a:srgbClr val="000000"/>
                </a:solidFill>
                <a:latin typeface="宋体" pitchFamily="2" charset="-122"/>
              </a:rPr>
              <a:t>双入、双出</a:t>
            </a:r>
            <a:endParaRPr lang="zh-CN" altLang="en-US" b="1" i="1">
              <a:solidFill>
                <a:srgbClr val="000000"/>
              </a:solidFill>
              <a:latin typeface="宋体" pitchFamily="2" charset="-122"/>
            </a:endParaRPr>
          </a:p>
        </p:txBody>
      </p:sp>
      <p:sp>
        <p:nvSpPr>
          <p:cNvPr id="172043" name="Rectangle 11"/>
          <p:cNvSpPr>
            <a:spLocks noChangeArrowheads="1"/>
          </p:cNvSpPr>
          <p:nvPr/>
        </p:nvSpPr>
        <p:spPr bwMode="auto">
          <a:xfrm>
            <a:off x="762000" y="3352800"/>
            <a:ext cx="2743200" cy="457200"/>
          </a:xfrm>
          <a:prstGeom prst="rect">
            <a:avLst/>
          </a:prstGeom>
          <a:noFill/>
          <a:ln w="12700" cap="sq">
            <a:noFill/>
            <a:miter lim="800000"/>
            <a:headEnd type="none" w="sm" len="sm"/>
            <a:tailEnd type="none" w="sm" len="sm"/>
          </a:ln>
        </p:spPr>
        <p:txBody>
          <a:bodyPr>
            <a:spAutoFit/>
          </a:bodyPr>
          <a:lstStyle/>
          <a:p>
            <a:pPr algn="just" eaLnBrk="1" hangingPunct="1">
              <a:spcBef>
                <a:spcPct val="20000"/>
              </a:spcBef>
            </a:pPr>
            <a:r>
              <a:rPr lang="en-US" altLang="zh-CN" b="1">
                <a:solidFill>
                  <a:srgbClr val="000000"/>
                </a:solidFill>
                <a:latin typeface="宋体" pitchFamily="2" charset="-122"/>
              </a:rPr>
              <a:t>&lt;B&gt; </a:t>
            </a:r>
            <a:r>
              <a:rPr lang="zh-CN" altLang="en-US" b="1">
                <a:solidFill>
                  <a:srgbClr val="000000"/>
                </a:solidFill>
                <a:latin typeface="宋体" pitchFamily="2" charset="-122"/>
              </a:rPr>
              <a:t>双入、单出</a:t>
            </a:r>
            <a:endParaRPr lang="zh-CN" altLang="en-US" b="1" i="1">
              <a:solidFill>
                <a:srgbClr val="000000"/>
              </a:solidFill>
              <a:latin typeface="宋体" pitchFamily="2" charset="-122"/>
            </a:endParaRPr>
          </a:p>
        </p:txBody>
      </p:sp>
      <p:sp>
        <p:nvSpPr>
          <p:cNvPr id="172044" name="Rectangle 12"/>
          <p:cNvSpPr>
            <a:spLocks noChangeArrowheads="1"/>
          </p:cNvSpPr>
          <p:nvPr/>
        </p:nvSpPr>
        <p:spPr bwMode="auto">
          <a:xfrm>
            <a:off x="762000" y="3886200"/>
            <a:ext cx="2743200" cy="457200"/>
          </a:xfrm>
          <a:prstGeom prst="rect">
            <a:avLst/>
          </a:prstGeom>
          <a:noFill/>
          <a:ln w="12700" cap="sq">
            <a:noFill/>
            <a:miter lim="800000"/>
            <a:headEnd type="none" w="sm" len="sm"/>
            <a:tailEnd type="none" w="sm" len="sm"/>
          </a:ln>
        </p:spPr>
        <p:txBody>
          <a:bodyPr>
            <a:spAutoFit/>
          </a:bodyPr>
          <a:lstStyle/>
          <a:p>
            <a:pPr algn="just" eaLnBrk="1" hangingPunct="1">
              <a:spcBef>
                <a:spcPct val="20000"/>
              </a:spcBef>
            </a:pPr>
            <a:r>
              <a:rPr lang="en-US" altLang="zh-CN" b="1">
                <a:solidFill>
                  <a:srgbClr val="000000"/>
                </a:solidFill>
                <a:latin typeface="宋体" pitchFamily="2" charset="-122"/>
              </a:rPr>
              <a:t>&lt;C&gt; </a:t>
            </a:r>
            <a:r>
              <a:rPr lang="zh-CN" altLang="en-US" b="1">
                <a:solidFill>
                  <a:srgbClr val="000000"/>
                </a:solidFill>
                <a:latin typeface="宋体" pitchFamily="2" charset="-122"/>
              </a:rPr>
              <a:t>单入、双出</a:t>
            </a:r>
            <a:endParaRPr lang="zh-CN" altLang="en-US" b="1" i="1">
              <a:solidFill>
                <a:srgbClr val="000000"/>
              </a:solidFill>
              <a:latin typeface="宋体" pitchFamily="2" charset="-122"/>
            </a:endParaRPr>
          </a:p>
        </p:txBody>
      </p:sp>
      <p:sp>
        <p:nvSpPr>
          <p:cNvPr id="172045" name="Rectangle 13"/>
          <p:cNvSpPr>
            <a:spLocks noChangeArrowheads="1"/>
          </p:cNvSpPr>
          <p:nvPr/>
        </p:nvSpPr>
        <p:spPr bwMode="auto">
          <a:xfrm>
            <a:off x="762000" y="4419600"/>
            <a:ext cx="2743200" cy="457200"/>
          </a:xfrm>
          <a:prstGeom prst="rect">
            <a:avLst/>
          </a:prstGeom>
          <a:noFill/>
          <a:ln w="12700" cap="sq">
            <a:noFill/>
            <a:miter lim="800000"/>
            <a:headEnd type="none" w="sm" len="sm"/>
            <a:tailEnd type="none" w="sm" len="sm"/>
          </a:ln>
        </p:spPr>
        <p:txBody>
          <a:bodyPr>
            <a:spAutoFit/>
          </a:bodyPr>
          <a:lstStyle/>
          <a:p>
            <a:pPr algn="just" eaLnBrk="1" hangingPunct="1">
              <a:spcBef>
                <a:spcPct val="20000"/>
              </a:spcBef>
            </a:pPr>
            <a:r>
              <a:rPr lang="en-US" altLang="zh-CN" b="1">
                <a:solidFill>
                  <a:srgbClr val="000000"/>
                </a:solidFill>
                <a:latin typeface="宋体" pitchFamily="2" charset="-122"/>
              </a:rPr>
              <a:t>&lt;D&gt; </a:t>
            </a:r>
            <a:r>
              <a:rPr lang="zh-CN" altLang="en-US" b="1">
                <a:solidFill>
                  <a:srgbClr val="000000"/>
                </a:solidFill>
                <a:latin typeface="宋体" pitchFamily="2" charset="-122"/>
              </a:rPr>
              <a:t>单入、单出</a:t>
            </a:r>
            <a:endParaRPr lang="zh-CN" altLang="en-US" b="1" i="1">
              <a:solidFill>
                <a:srgbClr val="000000"/>
              </a:solidFill>
              <a:latin typeface="宋体" pitchFamily="2" charset="-122"/>
            </a:endParaRPr>
          </a:p>
        </p:txBody>
      </p:sp>
      <p:sp>
        <p:nvSpPr>
          <p:cNvPr id="172046" name="Text Box 14"/>
          <p:cNvSpPr txBox="1">
            <a:spLocks noChangeArrowheads="1"/>
          </p:cNvSpPr>
          <p:nvPr/>
        </p:nvSpPr>
        <p:spPr bwMode="auto">
          <a:xfrm>
            <a:off x="228600" y="1371600"/>
            <a:ext cx="8763000" cy="457200"/>
          </a:xfrm>
          <a:prstGeom prst="rect">
            <a:avLst/>
          </a:prstGeom>
          <a:noFill/>
          <a:ln w="9525">
            <a:noFill/>
            <a:miter lim="800000"/>
            <a:headEnd/>
            <a:tailEnd/>
          </a:ln>
        </p:spPr>
        <p:txBody>
          <a:bodyPr>
            <a:spAutoFit/>
          </a:bodyPr>
          <a:lstStyle/>
          <a:p>
            <a:pPr eaLnBrk="1" hangingPunct="1">
              <a:spcBef>
                <a:spcPct val="50000"/>
              </a:spcBef>
            </a:pPr>
            <a:r>
              <a:rPr lang="zh-CN" altLang="en-US" b="1"/>
              <a:t>基于不同的应用场合，有</a:t>
            </a:r>
            <a:r>
              <a:rPr lang="zh-CN" altLang="en-US" b="1">
                <a:latin typeface="宋体" pitchFamily="2" charset="-122"/>
              </a:rPr>
              <a:t>双</a:t>
            </a:r>
            <a:r>
              <a:rPr lang="zh-CN" altLang="en-US" sz="1800" b="1">
                <a:latin typeface="宋体" pitchFamily="2" charset="-122"/>
              </a:rPr>
              <a:t>、</a:t>
            </a:r>
            <a:r>
              <a:rPr lang="zh-CN" altLang="en-US" b="1"/>
              <a:t>单端输入和</a:t>
            </a:r>
            <a:r>
              <a:rPr lang="zh-CN" altLang="en-US" b="1">
                <a:latin typeface="宋体" pitchFamily="2" charset="-122"/>
              </a:rPr>
              <a:t>双</a:t>
            </a:r>
            <a:r>
              <a:rPr lang="zh-CN" altLang="en-US" sz="1800" b="1">
                <a:latin typeface="宋体" pitchFamily="2" charset="-122"/>
              </a:rPr>
              <a:t>、</a:t>
            </a:r>
            <a:r>
              <a:rPr lang="zh-CN" altLang="en-US" b="1"/>
              <a:t>单端输出的情况。</a:t>
            </a:r>
          </a:p>
        </p:txBody>
      </p:sp>
      <p:sp>
        <p:nvSpPr>
          <p:cNvPr id="172047" name="Text Box 15"/>
          <p:cNvSpPr txBox="1">
            <a:spLocks noChangeArrowheads="1"/>
          </p:cNvSpPr>
          <p:nvPr/>
        </p:nvSpPr>
        <p:spPr bwMode="auto">
          <a:xfrm>
            <a:off x="228600" y="2057400"/>
            <a:ext cx="5029200" cy="457200"/>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0000FF"/>
                </a:solidFill>
              </a:rPr>
              <a:t>所谓“单端”指一端接地。</a:t>
            </a:r>
            <a:endParaRPr lang="zh-CN" altLang="en-US" b="1">
              <a:solidFill>
                <a:srgbClr val="FF0000"/>
              </a:solidFill>
            </a:endParaRPr>
          </a:p>
        </p:txBody>
      </p:sp>
      <p:sp>
        <p:nvSpPr>
          <p:cNvPr id="172048" name="Text Box 16"/>
          <p:cNvSpPr txBox="1">
            <a:spLocks noChangeArrowheads="1"/>
          </p:cNvSpPr>
          <p:nvPr/>
        </p:nvSpPr>
        <p:spPr bwMode="auto">
          <a:xfrm>
            <a:off x="304800" y="5029200"/>
            <a:ext cx="7467600" cy="519113"/>
          </a:xfrm>
          <a:prstGeom prst="rect">
            <a:avLst/>
          </a:prstGeom>
          <a:noFill/>
          <a:ln w="9525">
            <a:noFill/>
            <a:miter lim="800000"/>
            <a:headEnd/>
            <a:tailEnd/>
          </a:ln>
        </p:spPr>
        <p:txBody>
          <a:bodyPr>
            <a:spAutoFit/>
          </a:bodyPr>
          <a:lstStyle/>
          <a:p>
            <a:pPr eaLnBrk="1" hangingPunct="1">
              <a:spcBef>
                <a:spcPct val="50000"/>
              </a:spcBef>
            </a:pPr>
            <a:r>
              <a:rPr lang="en-US" altLang="zh-CN" sz="2800" b="1">
                <a:solidFill>
                  <a:srgbClr val="0000FF"/>
                </a:solidFill>
              </a:rPr>
              <a:t>“</a:t>
            </a:r>
            <a:r>
              <a:rPr lang="zh-CN" altLang="en-US" sz="2800" b="1">
                <a:solidFill>
                  <a:srgbClr val="FF0000"/>
                </a:solidFill>
              </a:rPr>
              <a:t>单端</a:t>
            </a:r>
            <a:r>
              <a:rPr lang="zh-CN" altLang="en-US" sz="2800" b="1">
                <a:solidFill>
                  <a:srgbClr val="0000FF"/>
                </a:solidFill>
              </a:rPr>
              <a:t>”的情况，还具有共模抑制能力吗？</a:t>
            </a:r>
          </a:p>
        </p:txBody>
      </p:sp>
      <p:sp>
        <p:nvSpPr>
          <p:cNvPr id="172049" name="Text Box 17"/>
          <p:cNvSpPr txBox="1">
            <a:spLocks noChangeArrowheads="1"/>
          </p:cNvSpPr>
          <p:nvPr/>
        </p:nvSpPr>
        <p:spPr bwMode="auto">
          <a:xfrm>
            <a:off x="685800" y="5715000"/>
            <a:ext cx="4800600" cy="579438"/>
          </a:xfrm>
          <a:prstGeom prst="rect">
            <a:avLst/>
          </a:prstGeom>
          <a:noFill/>
          <a:ln w="9525">
            <a:noFill/>
            <a:miter lim="800000"/>
            <a:headEnd/>
            <a:tailEnd/>
          </a:ln>
        </p:spPr>
        <p:txBody>
          <a:bodyPr>
            <a:spAutoFit/>
          </a:bodyPr>
          <a:lstStyle/>
          <a:p>
            <a:pPr eaLnBrk="1" hangingPunct="1">
              <a:spcBef>
                <a:spcPct val="50000"/>
              </a:spcBef>
            </a:pPr>
            <a:r>
              <a:rPr lang="zh-CN" altLang="en-US" sz="3200" b="1">
                <a:solidFill>
                  <a:srgbClr val="FF0000"/>
                </a:solidFill>
              </a:rPr>
              <a:t>如何进一步改进呢？</a:t>
            </a:r>
          </a:p>
        </p:txBody>
      </p:sp>
      <p:graphicFrame>
        <p:nvGraphicFramePr>
          <p:cNvPr id="41986" name="Object 1"/>
          <p:cNvGraphicFramePr>
            <a:graphicFrameLocks noChangeAspect="1"/>
          </p:cNvGraphicFramePr>
          <p:nvPr/>
        </p:nvGraphicFramePr>
        <p:xfrm>
          <a:off x="4341813" y="1922463"/>
          <a:ext cx="3860800" cy="2860675"/>
        </p:xfrm>
        <a:graphic>
          <a:graphicData uri="http://schemas.openxmlformats.org/presentationml/2006/ole">
            <mc:AlternateContent xmlns:mc="http://schemas.openxmlformats.org/markup-compatibility/2006">
              <mc:Choice xmlns:v="urn:schemas-microsoft-com:vml" Requires="v">
                <p:oleObj spid="_x0000_s27651" name="Photo Editor 照片" r:id="rId6" imgW="12317544" imgH="9135750" progId="">
                  <p:embed/>
                </p:oleObj>
              </mc:Choice>
              <mc:Fallback>
                <p:oleObj name="Photo Editor 照片" r:id="rId6" imgW="12317544" imgH="9135750" progId="">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1813" y="1922463"/>
                        <a:ext cx="3860800" cy="286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sndAc>
      <p:stSnd>
        <p:snd r:embed="rId4"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20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20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2042"/>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5"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2043"/>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5" name="CHIMES.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72044"/>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5" name="CHIMES.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72045"/>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7204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72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42" grpId="0" autoUpdateAnimBg="0"/>
      <p:bldP spid="172043" grpId="0" autoUpdateAnimBg="0"/>
      <p:bldP spid="172044" grpId="0" autoUpdateAnimBg="0"/>
      <p:bldP spid="172045" grpId="0" autoUpdateAnimBg="0"/>
      <p:bldP spid="172046" grpId="0" autoUpdateAnimBg="0"/>
      <p:bldP spid="172047" grpId="0" autoUpdateAnimBg="0"/>
      <p:bldP spid="172048" grpId="0" autoUpdateAnimBg="0"/>
      <p:bldP spid="172049"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7" name="Object 3"/>
          <p:cNvGraphicFramePr>
            <a:graphicFrameLocks noChangeAspect="1"/>
          </p:cNvGraphicFramePr>
          <p:nvPr/>
        </p:nvGraphicFramePr>
        <p:xfrm>
          <a:off x="611188" y="1916113"/>
          <a:ext cx="3505200" cy="2549525"/>
        </p:xfrm>
        <a:graphic>
          <a:graphicData uri="http://schemas.openxmlformats.org/presentationml/2006/ole">
            <mc:AlternateContent xmlns:mc="http://schemas.openxmlformats.org/markup-compatibility/2006">
              <mc:Choice xmlns:v="urn:schemas-microsoft-com:vml" Requires="v">
                <p:oleObj spid="_x0000_s28675" name="Photo Editor 照片" r:id="rId3" imgW="12161905" imgH="8849960" progId="">
                  <p:embed/>
                </p:oleObj>
              </mc:Choice>
              <mc:Fallback>
                <p:oleObj name="Photo Editor 照片" r:id="rId3" imgW="12161905" imgH="884996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916113"/>
                        <a:ext cx="3505200" cy="25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4" name="Text Box 11"/>
          <p:cNvSpPr txBox="1">
            <a:spLocks noChangeArrowheads="1"/>
          </p:cNvSpPr>
          <p:nvPr/>
        </p:nvSpPr>
        <p:spPr bwMode="auto">
          <a:xfrm>
            <a:off x="323850" y="942975"/>
            <a:ext cx="5400675"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b="1" dirty="0">
                <a:latin typeface="华文行楷" pitchFamily="2" charset="-122"/>
                <a:ea typeface="华文行楷" pitchFamily="2" charset="-122"/>
              </a:rPr>
              <a:t>2.  </a:t>
            </a:r>
            <a:r>
              <a:rPr lang="zh-CN" altLang="en-US" sz="2800" b="1" dirty="0">
                <a:latin typeface="华文行楷" pitchFamily="2" charset="-122"/>
                <a:ea typeface="华文行楷" pitchFamily="2" charset="-122"/>
              </a:rPr>
              <a:t>双端输入单端输出</a:t>
            </a:r>
            <a:r>
              <a:rPr lang="zh-CN" altLang="en-US" b="1" dirty="0"/>
              <a:t>：</a:t>
            </a:r>
          </a:p>
        </p:txBody>
      </p:sp>
      <p:sp>
        <p:nvSpPr>
          <p:cNvPr id="2" name="文本框 1">
            <a:extLst>
              <a:ext uri="{FF2B5EF4-FFF2-40B4-BE49-F238E27FC236}">
                <a16:creationId xmlns:a16="http://schemas.microsoft.com/office/drawing/2014/main" id="{E8FCBDE4-2730-47AE-9812-6E38A91BE872}"/>
              </a:ext>
            </a:extLst>
          </p:cNvPr>
          <p:cNvSpPr txBox="1"/>
          <p:nvPr/>
        </p:nvSpPr>
        <p:spPr>
          <a:xfrm>
            <a:off x="4209922" y="1559816"/>
            <a:ext cx="5001584" cy="461665"/>
          </a:xfrm>
          <a:prstGeom prst="rect">
            <a:avLst/>
          </a:prstGeom>
          <a:solidFill>
            <a:schemeClr val="accent6">
              <a:lumMod val="20000"/>
              <a:lumOff val="80000"/>
            </a:schemeClr>
          </a:solidFill>
        </p:spPr>
        <p:txBody>
          <a:bodyPr wrap="square" rtlCol="0">
            <a:spAutoFit/>
          </a:bodyPr>
          <a:lstStyle/>
          <a:p>
            <a:r>
              <a:rPr lang="zh-CN" altLang="en-US" dirty="0">
                <a:solidFill>
                  <a:srgbClr val="FF0000"/>
                </a:solidFill>
              </a:rPr>
              <a:t>思考一下</a:t>
            </a:r>
            <a:r>
              <a:rPr lang="zh-CN" altLang="en-US" b="1" dirty="0">
                <a:solidFill>
                  <a:srgbClr val="FF0000"/>
                </a:solidFill>
              </a:rPr>
              <a:t>输出</a:t>
            </a:r>
            <a:r>
              <a:rPr lang="en-US" altLang="zh-CN" b="1" dirty="0">
                <a:solidFill>
                  <a:srgbClr val="FF0000"/>
                </a:solidFill>
              </a:rPr>
              <a:t>u</a:t>
            </a:r>
            <a:r>
              <a:rPr lang="en-US" altLang="zh-CN" sz="1800" b="1" dirty="0">
                <a:solidFill>
                  <a:srgbClr val="FF0000"/>
                </a:solidFill>
              </a:rPr>
              <a:t>0</a:t>
            </a:r>
            <a:r>
              <a:rPr lang="en-US" altLang="zh-CN" b="1" dirty="0">
                <a:solidFill>
                  <a:srgbClr val="FF0000"/>
                </a:solidFill>
              </a:rPr>
              <a:t>=</a:t>
            </a:r>
            <a:r>
              <a:rPr lang="zh-CN" altLang="en-US" b="1" dirty="0">
                <a:solidFill>
                  <a:srgbClr val="FF0000"/>
                </a:solidFill>
              </a:rPr>
              <a:t>？</a:t>
            </a:r>
            <a:r>
              <a:rPr lang="zh-CN" altLang="en-US" dirty="0">
                <a:solidFill>
                  <a:srgbClr val="FF0000"/>
                </a:solidFill>
              </a:rPr>
              <a:t>包含那些因素？</a:t>
            </a:r>
          </a:p>
        </p:txBody>
      </p:sp>
      <p:sp>
        <p:nvSpPr>
          <p:cNvPr id="13" name="文本框 12">
            <a:extLst>
              <a:ext uri="{FF2B5EF4-FFF2-40B4-BE49-F238E27FC236}">
                <a16:creationId xmlns:a16="http://schemas.microsoft.com/office/drawing/2014/main" id="{56310F66-A3A9-4401-83E6-3539F3F3927C}"/>
              </a:ext>
            </a:extLst>
          </p:cNvPr>
          <p:cNvSpPr txBox="1"/>
          <p:nvPr/>
        </p:nvSpPr>
        <p:spPr>
          <a:xfrm>
            <a:off x="4693246" y="2381793"/>
            <a:ext cx="2872075" cy="400110"/>
          </a:xfrm>
          <a:prstGeom prst="rect">
            <a:avLst/>
          </a:prstGeom>
          <a:solidFill>
            <a:schemeClr val="accent6">
              <a:lumMod val="20000"/>
              <a:lumOff val="80000"/>
            </a:schemeClr>
          </a:solidFill>
        </p:spPr>
        <p:txBody>
          <a:bodyPr wrap="square" rtlCol="0">
            <a:spAutoFit/>
          </a:bodyPr>
          <a:lstStyle/>
          <a:p>
            <a:r>
              <a:rPr lang="en-US" altLang="zh-CN" sz="2000" b="1" dirty="0"/>
              <a:t>1.</a:t>
            </a:r>
            <a:r>
              <a:rPr lang="zh-CN" altLang="en-US" sz="2000" b="1" dirty="0"/>
              <a:t>差模信号的放大</a:t>
            </a:r>
          </a:p>
        </p:txBody>
      </p:sp>
      <p:sp>
        <p:nvSpPr>
          <p:cNvPr id="14" name="文本框 13">
            <a:extLst>
              <a:ext uri="{FF2B5EF4-FFF2-40B4-BE49-F238E27FC236}">
                <a16:creationId xmlns:a16="http://schemas.microsoft.com/office/drawing/2014/main" id="{A098FD37-1F2E-483A-8A1D-6CE489BD8B90}"/>
              </a:ext>
            </a:extLst>
          </p:cNvPr>
          <p:cNvSpPr txBox="1"/>
          <p:nvPr/>
        </p:nvSpPr>
        <p:spPr>
          <a:xfrm>
            <a:off x="4693246" y="3142216"/>
            <a:ext cx="3839566" cy="1015663"/>
          </a:xfrm>
          <a:prstGeom prst="rect">
            <a:avLst/>
          </a:prstGeom>
          <a:solidFill>
            <a:schemeClr val="accent6">
              <a:lumMod val="20000"/>
              <a:lumOff val="80000"/>
            </a:schemeClr>
          </a:solidFill>
        </p:spPr>
        <p:txBody>
          <a:bodyPr wrap="square" rtlCol="0">
            <a:spAutoFit/>
          </a:bodyPr>
          <a:lstStyle/>
          <a:p>
            <a:r>
              <a:rPr lang="en-US" altLang="zh-CN" sz="2000" b="1" dirty="0"/>
              <a:t>2.</a:t>
            </a:r>
            <a:r>
              <a:rPr lang="zh-CN" altLang="en-US" sz="2000" b="1" dirty="0"/>
              <a:t>假如有共模信号？</a:t>
            </a:r>
            <a:endParaRPr lang="en-US" altLang="zh-CN" sz="2000" b="1" dirty="0"/>
          </a:p>
          <a:p>
            <a:r>
              <a:rPr lang="zh-CN" altLang="en-US" sz="2000" b="1" dirty="0"/>
              <a:t>温漂、不对称等能消除吗？</a:t>
            </a:r>
            <a:endParaRPr lang="en-US" altLang="zh-CN" sz="2000" b="1" dirty="0"/>
          </a:p>
          <a:p>
            <a:r>
              <a:rPr lang="zh-CN" altLang="en-US" sz="2000" b="1" dirty="0"/>
              <a:t>可以靠谁减小？</a:t>
            </a:r>
          </a:p>
        </p:txBody>
      </p:sp>
      <p:sp>
        <p:nvSpPr>
          <p:cNvPr id="15" name="文本框 14">
            <a:extLst>
              <a:ext uri="{FF2B5EF4-FFF2-40B4-BE49-F238E27FC236}">
                <a16:creationId xmlns:a16="http://schemas.microsoft.com/office/drawing/2014/main" id="{330E46E0-3D3A-4F0D-936B-9B658C78DA97}"/>
              </a:ext>
            </a:extLst>
          </p:cNvPr>
          <p:cNvSpPr txBox="1"/>
          <p:nvPr/>
        </p:nvSpPr>
        <p:spPr>
          <a:xfrm>
            <a:off x="4693246" y="4590298"/>
            <a:ext cx="2872075" cy="707886"/>
          </a:xfrm>
          <a:prstGeom prst="rect">
            <a:avLst/>
          </a:prstGeom>
          <a:solidFill>
            <a:schemeClr val="accent6">
              <a:lumMod val="20000"/>
              <a:lumOff val="80000"/>
            </a:schemeClr>
          </a:solidFill>
        </p:spPr>
        <p:txBody>
          <a:bodyPr wrap="square" rtlCol="0">
            <a:spAutoFit/>
          </a:bodyPr>
          <a:lstStyle/>
          <a:p>
            <a:r>
              <a:rPr lang="en-US" altLang="zh-CN" sz="2000" b="1" dirty="0"/>
              <a:t>3.</a:t>
            </a:r>
            <a:r>
              <a:rPr lang="zh-CN" altLang="en-US" sz="2000" b="1" dirty="0"/>
              <a:t>还会有什么输出？</a:t>
            </a:r>
            <a:r>
              <a:rPr lang="en-US" altLang="zh-CN" sz="2000" b="1" dirty="0" err="1"/>
              <a:t>Uceq</a:t>
            </a:r>
            <a:r>
              <a:rPr lang="zh-CN" altLang="en-US" sz="20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blinds(horizontal)">
                                      <p:cBhvr>
                                        <p:cTn id="7" dur="500"/>
                                        <p:tgtEl>
                                          <p:spTgt spid="542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P spid="1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Text Box 4"/>
          <p:cNvSpPr txBox="1">
            <a:spLocks noChangeArrowheads="1"/>
          </p:cNvSpPr>
          <p:nvPr/>
        </p:nvSpPr>
        <p:spPr bwMode="auto">
          <a:xfrm>
            <a:off x="611188" y="4506913"/>
            <a:ext cx="3429000" cy="1844675"/>
          </a:xfrm>
          <a:prstGeom prst="rect">
            <a:avLst/>
          </a:prstGeom>
          <a:noFill/>
          <a:ln w="9525">
            <a:noFill/>
            <a:miter lim="800000"/>
            <a:headEnd/>
            <a:tailEnd/>
          </a:ln>
        </p:spPr>
        <p:txBody>
          <a:bodyPr>
            <a:spAutoFit/>
          </a:bodyPr>
          <a:lstStyle/>
          <a:p>
            <a:pPr algn="ctr" eaLnBrk="1" hangingPunct="1">
              <a:lnSpc>
                <a:spcPct val="120000"/>
              </a:lnSpc>
            </a:pPr>
            <a:r>
              <a:rPr lang="en-US" altLang="zh-CN" b="1" dirty="0"/>
              <a:t>     </a:t>
            </a:r>
            <a:r>
              <a:rPr lang="zh-CN" altLang="en-US" b="1" dirty="0"/>
              <a:t>由于输入回路没有变化，所以</a:t>
            </a:r>
            <a:r>
              <a:rPr lang="en-US" altLang="zh-CN" b="1" i="1" dirty="0">
                <a:solidFill>
                  <a:srgbClr val="FF0000"/>
                </a:solidFill>
              </a:rPr>
              <a:t>I</a:t>
            </a:r>
            <a:r>
              <a:rPr lang="en-US" altLang="zh-CN" b="1" baseline="-25000" dirty="0">
                <a:solidFill>
                  <a:srgbClr val="FF0000"/>
                </a:solidFill>
              </a:rPr>
              <a:t>EQ</a:t>
            </a:r>
            <a:r>
              <a:rPr lang="zh-CN" altLang="en-US" b="1" dirty="0">
                <a:solidFill>
                  <a:srgbClr val="FF0000"/>
                </a:solidFill>
              </a:rPr>
              <a:t>、</a:t>
            </a:r>
            <a:r>
              <a:rPr lang="en-US" altLang="zh-CN" b="1" i="1" dirty="0">
                <a:solidFill>
                  <a:srgbClr val="FF0000"/>
                </a:solidFill>
              </a:rPr>
              <a:t>I</a:t>
            </a:r>
            <a:r>
              <a:rPr lang="en-US" altLang="zh-CN" b="1" baseline="-25000" dirty="0">
                <a:solidFill>
                  <a:srgbClr val="FF0000"/>
                </a:solidFill>
              </a:rPr>
              <a:t>BQ</a:t>
            </a:r>
            <a:r>
              <a:rPr lang="zh-CN" altLang="en-US" b="1" dirty="0">
                <a:solidFill>
                  <a:srgbClr val="FF0000"/>
                </a:solidFill>
              </a:rPr>
              <a:t>、</a:t>
            </a:r>
            <a:r>
              <a:rPr lang="en-US" altLang="zh-CN" b="1" i="1" dirty="0">
                <a:solidFill>
                  <a:srgbClr val="FF0000"/>
                </a:solidFill>
              </a:rPr>
              <a:t>I</a:t>
            </a:r>
            <a:r>
              <a:rPr lang="en-US" altLang="zh-CN" b="1" baseline="-25000" dirty="0">
                <a:solidFill>
                  <a:srgbClr val="FF0000"/>
                </a:solidFill>
              </a:rPr>
              <a:t>CQ</a:t>
            </a:r>
            <a:r>
              <a:rPr lang="zh-CN" altLang="en-US" b="1" dirty="0"/>
              <a:t>与双端输出时一样。但是</a:t>
            </a:r>
            <a:r>
              <a:rPr lang="en-US" altLang="zh-CN" b="1" i="1" dirty="0"/>
              <a:t>U</a:t>
            </a:r>
            <a:r>
              <a:rPr lang="en-US" altLang="zh-CN" b="1" baseline="-25000" dirty="0"/>
              <a:t>CEQ1</a:t>
            </a:r>
            <a:r>
              <a:rPr lang="en-US" altLang="zh-CN" b="1" dirty="0"/>
              <a:t>≠ </a:t>
            </a:r>
            <a:r>
              <a:rPr lang="en-US" altLang="zh-CN" b="1" i="1" dirty="0"/>
              <a:t>U</a:t>
            </a:r>
            <a:r>
              <a:rPr lang="en-US" altLang="zh-CN" b="1" baseline="-25000" dirty="0"/>
              <a:t>CEQ2</a:t>
            </a:r>
            <a:r>
              <a:rPr lang="zh-CN" altLang="en-US" b="1" dirty="0"/>
              <a:t>。</a:t>
            </a:r>
            <a:endParaRPr lang="zh-CN" altLang="en-US" b="1" baseline="-25000" dirty="0"/>
          </a:p>
        </p:txBody>
      </p:sp>
      <p:graphicFrame>
        <p:nvGraphicFramePr>
          <p:cNvPr id="54277" name="Object 3"/>
          <p:cNvGraphicFramePr>
            <a:graphicFrameLocks noChangeAspect="1"/>
          </p:cNvGraphicFramePr>
          <p:nvPr/>
        </p:nvGraphicFramePr>
        <p:xfrm>
          <a:off x="611188" y="1916113"/>
          <a:ext cx="3505200" cy="2549525"/>
        </p:xfrm>
        <a:graphic>
          <a:graphicData uri="http://schemas.openxmlformats.org/presentationml/2006/ole">
            <mc:AlternateContent xmlns:mc="http://schemas.openxmlformats.org/markup-compatibility/2006">
              <mc:Choice xmlns:v="urn:schemas-microsoft-com:vml" Requires="v">
                <p:oleObj spid="_x0000_s29699" name="Photo Editor 照片" r:id="rId4" imgW="12161905" imgH="8849960" progId="">
                  <p:embed/>
                </p:oleObj>
              </mc:Choice>
              <mc:Fallback>
                <p:oleObj name="Photo Editor 照片" r:id="rId4" imgW="12161905" imgH="8849960" progId="">
                  <p:embed/>
                  <p:pic>
                    <p:nvPicPr>
                      <p:cNvPr id="5427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1916113"/>
                        <a:ext cx="3505200" cy="25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4" name="Text Box 11"/>
          <p:cNvSpPr txBox="1">
            <a:spLocks noChangeArrowheads="1"/>
          </p:cNvSpPr>
          <p:nvPr/>
        </p:nvSpPr>
        <p:spPr bwMode="auto">
          <a:xfrm>
            <a:off x="323850" y="942975"/>
            <a:ext cx="5400675"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2.  </a:t>
            </a:r>
            <a:r>
              <a:rPr lang="zh-CN" altLang="en-US" sz="2800" b="1">
                <a:latin typeface="华文行楷" pitchFamily="2" charset="-122"/>
                <a:ea typeface="华文行楷" pitchFamily="2" charset="-122"/>
              </a:rPr>
              <a:t>双端输入单端输出</a:t>
            </a:r>
            <a:r>
              <a:rPr lang="zh-CN" altLang="en-US" b="1"/>
              <a:t>：</a:t>
            </a:r>
            <a:r>
              <a:rPr lang="en-US" altLang="zh-CN" b="1" i="1"/>
              <a:t>Q</a:t>
            </a:r>
            <a:r>
              <a:rPr lang="zh-CN" altLang="en-US" b="1"/>
              <a:t>点分析</a:t>
            </a:r>
          </a:p>
        </p:txBody>
      </p:sp>
      <p:sp>
        <p:nvSpPr>
          <p:cNvPr id="7" name="Text Box 9"/>
          <p:cNvSpPr txBox="1">
            <a:spLocks noChangeArrowheads="1"/>
          </p:cNvSpPr>
          <p:nvPr/>
        </p:nvSpPr>
        <p:spPr bwMode="auto">
          <a:xfrm>
            <a:off x="5562600" y="1371600"/>
            <a:ext cx="2133600" cy="519113"/>
          </a:xfrm>
          <a:prstGeom prst="rect">
            <a:avLst/>
          </a:prstGeom>
          <a:noFill/>
          <a:ln w="12700" cap="sq">
            <a:noFill/>
            <a:miter lim="800000"/>
            <a:headEnd type="none" w="sm" len="sm"/>
            <a:tailEnd type="none" w="sm" len="sm"/>
          </a:ln>
        </p:spPr>
        <p:txBody>
          <a:bodyPr>
            <a:spAutoFit/>
          </a:bodyPr>
          <a:lstStyle/>
          <a:p>
            <a:pPr eaLnBrk="1" hangingPunct="1"/>
            <a:r>
              <a:rPr lang="zh-CN" altLang="en-US" sz="2800" b="1">
                <a:solidFill>
                  <a:srgbClr val="FF3300"/>
                </a:solidFill>
              </a:rPr>
              <a:t>静态工作点</a:t>
            </a:r>
            <a:endParaRPr lang="zh-CN" altLang="en-US" sz="2800">
              <a:solidFill>
                <a:srgbClr val="FF3300"/>
              </a:solidFill>
            </a:endParaRPr>
          </a:p>
        </p:txBody>
      </p:sp>
      <p:sp>
        <p:nvSpPr>
          <p:cNvPr id="8" name="Text Box 10"/>
          <p:cNvSpPr txBox="1">
            <a:spLocks noChangeArrowheads="1"/>
          </p:cNvSpPr>
          <p:nvPr/>
        </p:nvSpPr>
        <p:spPr bwMode="auto">
          <a:xfrm>
            <a:off x="4887913" y="2286000"/>
            <a:ext cx="4256087" cy="461963"/>
          </a:xfrm>
          <a:prstGeom prst="rect">
            <a:avLst/>
          </a:prstGeom>
          <a:noFill/>
          <a:ln w="9525">
            <a:noFill/>
            <a:miter lim="800000"/>
            <a:headEnd/>
            <a:tailEnd/>
          </a:ln>
        </p:spPr>
        <p:txBody>
          <a:bodyPr>
            <a:spAutoFit/>
          </a:bodyPr>
          <a:lstStyle/>
          <a:p>
            <a:pPr eaLnBrk="1" hangingPunct="1">
              <a:spcBef>
                <a:spcPct val="50000"/>
              </a:spcBef>
            </a:pPr>
            <a:r>
              <a:rPr lang="en-US" altLang="zh-CN" b="1">
                <a:latin typeface="宋体" pitchFamily="2" charset="-122"/>
              </a:rPr>
              <a:t>I</a:t>
            </a:r>
            <a:r>
              <a:rPr lang="en-US" altLang="zh-CN" b="1" baseline="-25000"/>
              <a:t>EQ1</a:t>
            </a:r>
            <a:r>
              <a:rPr lang="en-US" altLang="zh-CN" b="1"/>
              <a:t>=</a:t>
            </a:r>
            <a:r>
              <a:rPr lang="en-US" altLang="zh-CN" b="1">
                <a:latin typeface="宋体" pitchFamily="2" charset="-122"/>
              </a:rPr>
              <a:t>I</a:t>
            </a:r>
            <a:r>
              <a:rPr lang="en-US" altLang="zh-CN" b="1" baseline="-25000"/>
              <a:t>EQ2</a:t>
            </a:r>
            <a:r>
              <a:rPr lang="en-US" altLang="zh-CN" b="1"/>
              <a:t>=(V</a:t>
            </a:r>
            <a:r>
              <a:rPr lang="en-US" altLang="zh-CN" b="1" baseline="-25000"/>
              <a:t>EE</a:t>
            </a:r>
            <a:r>
              <a:rPr lang="en-US" altLang="zh-CN" b="1">
                <a:latin typeface="宋体" pitchFamily="2" charset="-122"/>
              </a:rPr>
              <a:t>―</a:t>
            </a:r>
            <a:r>
              <a:rPr lang="en-US" altLang="zh-CN" b="1"/>
              <a:t>U</a:t>
            </a:r>
            <a:r>
              <a:rPr lang="en-US" altLang="zh-CN" b="1" baseline="-25000"/>
              <a:t>BEQ</a:t>
            </a:r>
            <a:r>
              <a:rPr lang="en-US" altLang="zh-CN" b="1"/>
              <a:t>)</a:t>
            </a:r>
            <a:r>
              <a:rPr lang="en-US" altLang="zh-CN" b="1">
                <a:latin typeface="宋体" pitchFamily="2" charset="-122"/>
              </a:rPr>
              <a:t>∕2</a:t>
            </a:r>
            <a:r>
              <a:rPr lang="en-US" altLang="zh-CN" b="1"/>
              <a:t>R</a:t>
            </a:r>
            <a:r>
              <a:rPr lang="en-US" altLang="zh-CN" b="1" baseline="-25000"/>
              <a:t>e </a:t>
            </a:r>
          </a:p>
        </p:txBody>
      </p:sp>
      <p:sp>
        <p:nvSpPr>
          <p:cNvPr id="10" name="Rectangle 41"/>
          <p:cNvSpPr>
            <a:spLocks noChangeArrowheads="1"/>
          </p:cNvSpPr>
          <p:nvPr/>
        </p:nvSpPr>
        <p:spPr bwMode="auto">
          <a:xfrm>
            <a:off x="4887913" y="3276600"/>
            <a:ext cx="3646487" cy="701675"/>
          </a:xfrm>
          <a:prstGeom prst="rect">
            <a:avLst/>
          </a:prstGeom>
          <a:noFill/>
          <a:ln w="9525">
            <a:noFill/>
            <a:miter lim="800000"/>
            <a:headEnd/>
            <a:tailEnd/>
          </a:ln>
        </p:spPr>
        <p:txBody>
          <a:bodyPr>
            <a:spAutoFit/>
          </a:bodyPr>
          <a:lstStyle/>
          <a:p>
            <a:pPr eaLnBrk="1" hangingPunct="1"/>
            <a:r>
              <a:rPr lang="en-US" altLang="zh-CN" b="1">
                <a:latin typeface="宋体" pitchFamily="2" charset="-122"/>
              </a:rPr>
              <a:t>I</a:t>
            </a:r>
            <a:r>
              <a:rPr lang="en-US" altLang="zh-CN" b="1" baseline="-25000"/>
              <a:t>BQ1</a:t>
            </a:r>
            <a:r>
              <a:rPr lang="en-US" altLang="zh-CN" b="1"/>
              <a:t>=</a:t>
            </a:r>
            <a:r>
              <a:rPr lang="en-US" altLang="zh-CN" b="1">
                <a:latin typeface="宋体" pitchFamily="2" charset="-122"/>
              </a:rPr>
              <a:t>I</a:t>
            </a:r>
            <a:r>
              <a:rPr lang="en-US" altLang="zh-CN" b="1" baseline="-25000"/>
              <a:t>BQ2 </a:t>
            </a:r>
            <a:r>
              <a:rPr lang="en-US" altLang="zh-CN" b="1"/>
              <a:t>=</a:t>
            </a:r>
            <a:r>
              <a:rPr lang="en-US" altLang="zh-CN" b="1">
                <a:latin typeface="宋体" pitchFamily="2" charset="-122"/>
              </a:rPr>
              <a:t>I</a:t>
            </a:r>
            <a:r>
              <a:rPr lang="en-US" altLang="zh-CN" b="1" baseline="-25000"/>
              <a:t>EQ1</a:t>
            </a:r>
            <a:r>
              <a:rPr lang="en-US" altLang="zh-CN" b="1"/>
              <a:t>/(1+ </a:t>
            </a:r>
            <a:r>
              <a:rPr lang="en-US" altLang="zh-CN" b="1">
                <a:latin typeface="宋体" pitchFamily="2" charset="-122"/>
              </a:rPr>
              <a:t>β)</a:t>
            </a:r>
            <a:endParaRPr lang="en-US" altLang="zh-CN" b="1"/>
          </a:p>
          <a:p>
            <a:pPr eaLnBrk="1" hangingPunct="1"/>
            <a:endParaRPr lang="en-US" altLang="zh-CN" b="1" baseline="-25000"/>
          </a:p>
        </p:txBody>
      </p:sp>
      <p:sp>
        <p:nvSpPr>
          <p:cNvPr id="11" name="Text Box 42"/>
          <p:cNvSpPr txBox="1">
            <a:spLocks noChangeArrowheads="1"/>
          </p:cNvSpPr>
          <p:nvPr/>
        </p:nvSpPr>
        <p:spPr bwMode="auto">
          <a:xfrm>
            <a:off x="5029200" y="5181600"/>
            <a:ext cx="3733800" cy="822325"/>
          </a:xfrm>
          <a:prstGeom prst="rect">
            <a:avLst/>
          </a:prstGeom>
          <a:noFill/>
          <a:ln w="9525">
            <a:noFill/>
            <a:miter lim="800000"/>
            <a:headEnd/>
            <a:tailEnd/>
          </a:ln>
        </p:spPr>
        <p:txBody>
          <a:bodyPr>
            <a:spAutoFit/>
          </a:bodyPr>
          <a:lstStyle/>
          <a:p>
            <a:pPr eaLnBrk="1" hangingPunct="1">
              <a:spcBef>
                <a:spcPct val="50000"/>
              </a:spcBef>
            </a:pPr>
            <a:r>
              <a:rPr lang="zh-CN" altLang="en-US" b="1">
                <a:solidFill>
                  <a:schemeClr val="hlink"/>
                </a:solidFill>
              </a:rPr>
              <a:t>注意：由于输出回路的不对称性，</a:t>
            </a:r>
            <a:r>
              <a:rPr lang="en-US" altLang="zh-CN" b="1">
                <a:solidFill>
                  <a:schemeClr val="hlink"/>
                </a:solidFill>
              </a:rPr>
              <a:t>U</a:t>
            </a:r>
            <a:r>
              <a:rPr lang="en-US" altLang="zh-CN" b="1" baseline="-30000">
                <a:solidFill>
                  <a:schemeClr val="hlink"/>
                </a:solidFill>
              </a:rPr>
              <a:t>CEQ1</a:t>
            </a:r>
            <a:r>
              <a:rPr lang="en-US" altLang="zh-CN" b="1">
                <a:solidFill>
                  <a:schemeClr val="hlink"/>
                </a:solidFill>
                <a:latin typeface="宋体" pitchFamily="2" charset="-122"/>
              </a:rPr>
              <a:t>≠</a:t>
            </a:r>
            <a:r>
              <a:rPr lang="en-US" altLang="zh-CN" b="1">
                <a:solidFill>
                  <a:schemeClr val="hlink"/>
                </a:solidFill>
              </a:rPr>
              <a:t>U</a:t>
            </a:r>
            <a:r>
              <a:rPr lang="en-US" altLang="zh-CN" b="1" baseline="-30000">
                <a:solidFill>
                  <a:schemeClr val="hlink"/>
                </a:solidFill>
              </a:rPr>
              <a:t>CEQ2</a:t>
            </a:r>
            <a:r>
              <a:rPr lang="zh-CN" altLang="en-US" b="1" baseline="-30000">
                <a:solidFill>
                  <a:schemeClr val="hlink"/>
                </a:solidFill>
              </a:rPr>
              <a:t>。</a:t>
            </a:r>
            <a:endParaRPr lang="zh-CN" altLang="en-US" b="1">
              <a:solidFill>
                <a:schemeClr val="hlink"/>
              </a:solidFill>
            </a:endParaRPr>
          </a:p>
        </p:txBody>
      </p:sp>
      <p:cxnSp>
        <p:nvCxnSpPr>
          <p:cNvPr id="12" name="直接箭头连接符 11"/>
          <p:cNvCxnSpPr/>
          <p:nvPr/>
        </p:nvCxnSpPr>
        <p:spPr>
          <a:xfrm rot="10800000">
            <a:off x="2528888" y="3100388"/>
            <a:ext cx="2500312" cy="210026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260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blinds(horizontal)">
                                      <p:cBhvr>
                                        <p:cTn id="7" dur="500"/>
                                        <p:tgtEl>
                                          <p:spTgt spid="542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6">
                                            <p:txEl>
                                              <p:pRg st="0" end="0"/>
                                            </p:txEl>
                                          </p:spTgt>
                                        </p:tgtEl>
                                        <p:attrNameLst>
                                          <p:attrName>style.visibility</p:attrName>
                                        </p:attrNameLst>
                                      </p:cBhvr>
                                      <p:to>
                                        <p:strVal val="visible"/>
                                      </p:to>
                                    </p:set>
                                    <p:animEffect transition="in" filter="wipe(left)">
                                      <p:cBhvr>
                                        <p:cTn id="12" dur="500"/>
                                        <p:tgtEl>
                                          <p:spTgt spid="542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ox(out)">
                                      <p:cBhvr>
                                        <p:cTn id="17" dur="500"/>
                                        <p:tgtEl>
                                          <p:spTgt spid="7">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box(out)">
                                      <p:cBhvr>
                                        <p:cTn id="22" dur="500"/>
                                        <p:tgtEl>
                                          <p:spTgt spid="8">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box(out)">
                                      <p:cBhvr>
                                        <p:cTn id="27" dur="500"/>
                                        <p:tgtEl>
                                          <p:spTgt spid="10">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
                                            <p:txEl>
                                              <p:pRg st="0" end="0"/>
                                            </p:txEl>
                                          </p:spTgt>
                                        </p:tgtEl>
                                        <p:attrNameLst>
                                          <p:attrName>style.visibility</p:attrName>
                                        </p:attrNameLst>
                                      </p:cBhvr>
                                      <p:to>
                                        <p:strVal val="visible"/>
                                      </p:to>
                                    </p:set>
                                    <p:animEffect transition="in" filter="box(out)">
                                      <p:cBhvr>
                                        <p:cTn id="32" dur="500"/>
                                        <p:tgtEl>
                                          <p:spTgt spid="11">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nodeType="afterGroup">
                            <p:stCondLst>
                              <p:cond delay="500"/>
                            </p:stCondLst>
                            <p:childTnLst>
                              <p:par>
                                <p:cTn id="34" presetID="3" presetClass="entr" presetSubtype="1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linds(horizontal)">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6" presetClass="emph" presetSubtype="0" fill="hold" grpId="1" nodeType="clickEffect">
                                  <p:stCondLst>
                                    <p:cond delay="0"/>
                                  </p:stCondLst>
                                  <p:childTnLst>
                                    <p:animScale>
                                      <p:cBhvr>
                                        <p:cTn id="40" dur="2000" fill="hold"/>
                                        <p:tgtEl>
                                          <p:spTgt spid="11">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autoUpdateAnimBg="0"/>
      <p:bldP spid="7" grpId="0" build="p" autoUpdateAnimBg="0"/>
      <p:bldP spid="8" grpId="0" build="p" autoUpdateAnimBg="0"/>
      <p:bldP spid="10" grpId="0" build="p" autoUpdateAnimBg="0"/>
      <p:bldP spid="11" grpId="0" build="p" autoUpdateAnimBg="0"/>
      <p:bldP spid="11" grpId="1" build="allAtOnce"/>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5" name="Object 2"/>
          <p:cNvGraphicFramePr>
            <a:graphicFrameLocks noChangeAspect="1"/>
          </p:cNvGraphicFramePr>
          <p:nvPr/>
        </p:nvGraphicFramePr>
        <p:xfrm>
          <a:off x="3892550" y="4764088"/>
          <a:ext cx="4652963" cy="1435100"/>
        </p:xfrm>
        <a:graphic>
          <a:graphicData uri="http://schemas.openxmlformats.org/presentationml/2006/ole">
            <mc:AlternateContent xmlns:mc="http://schemas.openxmlformats.org/markup-compatibility/2006">
              <mc:Choice xmlns:v="urn:schemas-microsoft-com:vml" Requires="v">
                <p:oleObj spid="_x0000_s30724" name="公式" r:id="rId3" imgW="53340000" imgH="16459200" progId="Equation.3">
                  <p:embed/>
                </p:oleObj>
              </mc:Choice>
              <mc:Fallback>
                <p:oleObj name="公式" r:id="rId3" imgW="53340000" imgH="16459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2550" y="4764088"/>
                        <a:ext cx="4652963" cy="14351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54276" name="Text Box 4"/>
          <p:cNvSpPr txBox="1">
            <a:spLocks noChangeArrowheads="1"/>
          </p:cNvSpPr>
          <p:nvPr/>
        </p:nvSpPr>
        <p:spPr bwMode="auto">
          <a:xfrm>
            <a:off x="311150" y="4464050"/>
            <a:ext cx="3160713" cy="1865313"/>
          </a:xfrm>
          <a:prstGeom prst="rect">
            <a:avLst/>
          </a:prstGeom>
          <a:noFill/>
          <a:ln w="9525">
            <a:noFill/>
            <a:miter lim="800000"/>
            <a:headEnd/>
            <a:tailEnd/>
          </a:ln>
        </p:spPr>
        <p:txBody>
          <a:bodyPr>
            <a:spAutoFit/>
          </a:bodyPr>
          <a:lstStyle/>
          <a:p>
            <a:pPr algn="ctr" eaLnBrk="1" hangingPunct="1">
              <a:lnSpc>
                <a:spcPct val="120000"/>
              </a:lnSpc>
            </a:pPr>
            <a:r>
              <a:rPr lang="en-US" altLang="zh-CN" b="1" dirty="0"/>
              <a:t>     </a:t>
            </a:r>
            <a:r>
              <a:rPr lang="zh-CN" altLang="en-US" b="1" dirty="0"/>
              <a:t>由于输入回路没有变化，所以</a:t>
            </a:r>
            <a:r>
              <a:rPr lang="en-US" altLang="zh-CN" b="1" i="1" dirty="0">
                <a:solidFill>
                  <a:srgbClr val="FF0000"/>
                </a:solidFill>
              </a:rPr>
              <a:t>I</a:t>
            </a:r>
            <a:r>
              <a:rPr lang="en-US" altLang="zh-CN" b="1" baseline="-25000" dirty="0">
                <a:solidFill>
                  <a:srgbClr val="FF0000"/>
                </a:solidFill>
              </a:rPr>
              <a:t>EQ</a:t>
            </a:r>
            <a:r>
              <a:rPr lang="zh-CN" altLang="en-US" b="1" dirty="0">
                <a:solidFill>
                  <a:srgbClr val="FF0000"/>
                </a:solidFill>
              </a:rPr>
              <a:t>、</a:t>
            </a:r>
            <a:r>
              <a:rPr lang="en-US" altLang="zh-CN" b="1" i="1" dirty="0">
                <a:solidFill>
                  <a:srgbClr val="FF0000"/>
                </a:solidFill>
              </a:rPr>
              <a:t>I</a:t>
            </a:r>
            <a:r>
              <a:rPr lang="en-US" altLang="zh-CN" b="1" baseline="-25000" dirty="0">
                <a:solidFill>
                  <a:srgbClr val="FF0000"/>
                </a:solidFill>
              </a:rPr>
              <a:t>BQ</a:t>
            </a:r>
            <a:r>
              <a:rPr lang="zh-CN" altLang="en-US" b="1" dirty="0">
                <a:solidFill>
                  <a:srgbClr val="FF0000"/>
                </a:solidFill>
              </a:rPr>
              <a:t>、</a:t>
            </a:r>
            <a:r>
              <a:rPr lang="en-US" altLang="zh-CN" b="1" i="1" dirty="0">
                <a:solidFill>
                  <a:srgbClr val="FF0000"/>
                </a:solidFill>
              </a:rPr>
              <a:t>I</a:t>
            </a:r>
            <a:r>
              <a:rPr lang="en-US" altLang="zh-CN" b="1" baseline="-25000" dirty="0">
                <a:solidFill>
                  <a:srgbClr val="FF0000"/>
                </a:solidFill>
              </a:rPr>
              <a:t>CQ</a:t>
            </a:r>
            <a:r>
              <a:rPr lang="zh-CN" altLang="en-US" b="1" dirty="0"/>
              <a:t>与双端输出时一样。但是</a:t>
            </a:r>
            <a:r>
              <a:rPr lang="en-US" altLang="zh-CN" b="1" i="1" dirty="0"/>
              <a:t>U</a:t>
            </a:r>
            <a:r>
              <a:rPr lang="en-US" altLang="zh-CN" b="1" baseline="-25000" dirty="0"/>
              <a:t>CEQ1</a:t>
            </a:r>
            <a:r>
              <a:rPr lang="en-US" altLang="zh-CN" b="1" dirty="0"/>
              <a:t>≠ </a:t>
            </a:r>
            <a:r>
              <a:rPr lang="en-US" altLang="zh-CN" b="1" i="1" dirty="0"/>
              <a:t>U</a:t>
            </a:r>
            <a:r>
              <a:rPr lang="en-US" altLang="zh-CN" b="1" baseline="-25000" dirty="0"/>
              <a:t>CEQ2</a:t>
            </a:r>
            <a:r>
              <a:rPr lang="zh-CN" altLang="en-US" b="1" dirty="0"/>
              <a:t>。</a:t>
            </a:r>
            <a:endParaRPr lang="zh-CN" altLang="en-US" b="1" baseline="-25000" dirty="0"/>
          </a:p>
        </p:txBody>
      </p:sp>
      <p:graphicFrame>
        <p:nvGraphicFramePr>
          <p:cNvPr id="54277" name="Object 3"/>
          <p:cNvGraphicFramePr>
            <a:graphicFrameLocks noChangeAspect="1"/>
          </p:cNvGraphicFramePr>
          <p:nvPr/>
        </p:nvGraphicFramePr>
        <p:xfrm>
          <a:off x="611188" y="1916113"/>
          <a:ext cx="3505200" cy="2549525"/>
        </p:xfrm>
        <a:graphic>
          <a:graphicData uri="http://schemas.openxmlformats.org/presentationml/2006/ole">
            <mc:AlternateContent xmlns:mc="http://schemas.openxmlformats.org/markup-compatibility/2006">
              <mc:Choice xmlns:v="urn:schemas-microsoft-com:vml" Requires="v">
                <p:oleObj spid="_x0000_s30725" name="Photo Editor 照片" r:id="rId5" imgW="12161905" imgH="8849960" progId="">
                  <p:embed/>
                </p:oleObj>
              </mc:Choice>
              <mc:Fallback>
                <p:oleObj name="Photo Editor 照片" r:id="rId5" imgW="12161905" imgH="8849960"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1916113"/>
                        <a:ext cx="3505200" cy="25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09" name="Text Box 11"/>
          <p:cNvSpPr txBox="1">
            <a:spLocks noChangeArrowheads="1"/>
          </p:cNvSpPr>
          <p:nvPr/>
        </p:nvSpPr>
        <p:spPr bwMode="auto">
          <a:xfrm>
            <a:off x="323850" y="942975"/>
            <a:ext cx="5400675"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b="1">
                <a:latin typeface="华文行楷" pitchFamily="2" charset="-122"/>
                <a:ea typeface="华文行楷" pitchFamily="2" charset="-122"/>
              </a:rPr>
              <a:t>2.  </a:t>
            </a:r>
            <a:r>
              <a:rPr lang="zh-CN" altLang="en-US" sz="2800" b="1">
                <a:latin typeface="华文行楷" pitchFamily="2" charset="-122"/>
                <a:ea typeface="华文行楷" pitchFamily="2" charset="-122"/>
              </a:rPr>
              <a:t>双端输入单端输出</a:t>
            </a:r>
            <a:r>
              <a:rPr lang="zh-CN" altLang="en-US" b="1"/>
              <a:t>：</a:t>
            </a:r>
            <a:r>
              <a:rPr lang="en-US" altLang="zh-CN" b="1" i="1"/>
              <a:t>Q</a:t>
            </a:r>
            <a:r>
              <a:rPr lang="zh-CN" altLang="en-US" b="1"/>
              <a:t>点分析</a:t>
            </a:r>
          </a:p>
        </p:txBody>
      </p:sp>
      <p:pic>
        <p:nvPicPr>
          <p:cNvPr id="47110" name="图片 1"/>
          <p:cNvPicPr>
            <a:picLocks noChangeAspect="1" noChangeArrowheads="1"/>
          </p:cNvPicPr>
          <p:nvPr/>
        </p:nvPicPr>
        <p:blipFill>
          <a:blip r:embed="rId7"/>
          <a:srcRect/>
          <a:stretch>
            <a:fillRect/>
          </a:stretch>
        </p:blipFill>
        <p:spPr bwMode="auto">
          <a:xfrm>
            <a:off x="4629150" y="1641475"/>
            <a:ext cx="4152900" cy="29432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blinds(horizontal)">
                                      <p:cBhvr>
                                        <p:cTn id="7" dur="500"/>
                                        <p:tgtEl>
                                          <p:spTgt spid="542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6">
                                            <p:txEl>
                                              <p:pRg st="0" end="0"/>
                                            </p:txEl>
                                          </p:spTgt>
                                        </p:tgtEl>
                                        <p:attrNameLst>
                                          <p:attrName>style.visibility</p:attrName>
                                        </p:attrNameLst>
                                      </p:cBhvr>
                                      <p:to>
                                        <p:strVal val="visible"/>
                                      </p:to>
                                    </p:set>
                                    <p:animEffect transition="in" filter="wipe(left)">
                                      <p:cBhvr>
                                        <p:cTn id="12" dur="500"/>
                                        <p:tgtEl>
                                          <p:spTgt spid="542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4275"/>
                                        </p:tgtEl>
                                        <p:attrNameLst>
                                          <p:attrName>style.visibility</p:attrName>
                                        </p:attrNameLst>
                                      </p:cBhvr>
                                      <p:to>
                                        <p:strVal val="visible"/>
                                      </p:to>
                                    </p:set>
                                    <p:animEffect transition="in" filter="wipe(left)">
                                      <p:cBhvr>
                                        <p:cTn id="17" dur="500"/>
                                        <p:tgtEl>
                                          <p:spTgt spid="542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mph" presetSubtype="0" fill="hold" nodeType="clickEffect">
                                  <p:stCondLst>
                                    <p:cond delay="0"/>
                                  </p:stCondLst>
                                  <p:childTnLst>
                                    <p:animScale>
                                      <p:cBhvr>
                                        <p:cTn id="21" dur="2000" fill="hold"/>
                                        <p:tgtEl>
                                          <p:spTgt spid="5427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900113" y="1844675"/>
          <a:ext cx="3671887" cy="2670175"/>
        </p:xfrm>
        <a:graphic>
          <a:graphicData uri="http://schemas.openxmlformats.org/presentationml/2006/ole">
            <mc:AlternateContent xmlns:mc="http://schemas.openxmlformats.org/markup-compatibility/2006">
              <mc:Choice xmlns:v="urn:schemas-microsoft-com:vml" Requires="v">
                <p:oleObj spid="_x0000_s31750" name="Photo Editor 照片" r:id="rId3" imgW="12161905" imgH="8849960" progId="">
                  <p:embed/>
                </p:oleObj>
              </mc:Choice>
              <mc:Fallback>
                <p:oleObj name="Photo Editor 照片" r:id="rId3" imgW="12161905" imgH="884996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44675"/>
                        <a:ext cx="3671887" cy="267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4" name="Rectangle 3"/>
          <p:cNvSpPr>
            <a:spLocks noGrp="1" noChangeArrowheads="1"/>
          </p:cNvSpPr>
          <p:nvPr>
            <p:ph type="title"/>
          </p:nvPr>
        </p:nvSpPr>
        <p:spPr bwMode="auto">
          <a:xfrm>
            <a:off x="395288" y="836613"/>
            <a:ext cx="8748712" cy="782637"/>
          </a:xfrm>
          <a:noFill/>
          <a:ln>
            <a:miter lim="800000"/>
            <a:headEnd/>
            <a:tailEnd/>
          </a:ln>
        </p:spPr>
        <p:txBody>
          <a:bodyPr vert="horz" wrap="square" lIns="91440" tIns="45720" rIns="91440" bIns="45720" numCol="1" anchor="t" anchorCtr="0" compatLnSpc="1">
            <a:prstTxWarp prst="textNoShape">
              <a:avLst/>
            </a:prstTxWarp>
          </a:bodyPr>
          <a:lstStyle/>
          <a:p>
            <a:pPr algn="l">
              <a:lnSpc>
                <a:spcPct val="145000"/>
              </a:lnSpc>
            </a:pPr>
            <a:r>
              <a:rPr lang="en-US" altLang="zh-CN" sz="3200" b="1">
                <a:latin typeface="华文行楷" pitchFamily="2" charset="-122"/>
                <a:ea typeface="华文行楷" pitchFamily="2" charset="-122"/>
              </a:rPr>
              <a:t>2.  </a:t>
            </a:r>
            <a:r>
              <a:rPr lang="zh-CN" altLang="en-US" sz="3200" b="1">
                <a:latin typeface="华文行楷" pitchFamily="2" charset="-122"/>
                <a:ea typeface="华文行楷" pitchFamily="2" charset="-122"/>
              </a:rPr>
              <a:t>双端输入单端输出</a:t>
            </a:r>
            <a:r>
              <a:rPr lang="zh-CN" altLang="en-US" sz="2800" b="1"/>
              <a:t>：</a:t>
            </a:r>
            <a:r>
              <a:rPr lang="zh-CN" altLang="en-US" sz="2800" b="1">
                <a:solidFill>
                  <a:srgbClr val="FF0000"/>
                </a:solidFill>
              </a:rPr>
              <a:t>差模信号</a:t>
            </a:r>
            <a:r>
              <a:rPr lang="zh-CN" altLang="en-US" sz="2800" b="1"/>
              <a:t>作用下的</a:t>
            </a:r>
            <a:r>
              <a:rPr lang="zh-CN" altLang="en-US" sz="2800" b="1">
                <a:solidFill>
                  <a:srgbClr val="FF0000"/>
                </a:solidFill>
              </a:rPr>
              <a:t>动态分析</a:t>
            </a:r>
            <a:endParaRPr lang="zh-CN" altLang="zh-CN" sz="2800" b="1">
              <a:solidFill>
                <a:srgbClr val="FF0000"/>
              </a:solidFill>
            </a:endParaRPr>
          </a:p>
        </p:txBody>
      </p:sp>
      <p:graphicFrame>
        <p:nvGraphicFramePr>
          <p:cNvPr id="55300" name="Object 3"/>
          <p:cNvGraphicFramePr>
            <a:graphicFrameLocks noChangeAspect="1"/>
          </p:cNvGraphicFramePr>
          <p:nvPr/>
        </p:nvGraphicFramePr>
        <p:xfrm>
          <a:off x="1258888" y="4868863"/>
          <a:ext cx="2955925" cy="904875"/>
        </p:xfrm>
        <a:graphic>
          <a:graphicData uri="http://schemas.openxmlformats.org/presentationml/2006/ole">
            <mc:AlternateContent xmlns:mc="http://schemas.openxmlformats.org/markup-compatibility/2006">
              <mc:Choice xmlns:v="urn:schemas-microsoft-com:vml" Requires="v">
                <p:oleObj spid="_x0000_s31751" name="Equation" r:id="rId5" imgW="33832800" imgH="10363200" progId="Equation.3">
                  <p:embed/>
                </p:oleObj>
              </mc:Choice>
              <mc:Fallback>
                <p:oleObj name="Equation" r:id="rId5" imgW="33832800" imgH="1036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4868863"/>
                        <a:ext cx="2955925" cy="904875"/>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5301" name="Object 4"/>
          <p:cNvGraphicFramePr>
            <a:graphicFrameLocks noChangeAspect="1"/>
          </p:cNvGraphicFramePr>
          <p:nvPr/>
        </p:nvGraphicFramePr>
        <p:xfrm>
          <a:off x="4787900" y="5013325"/>
          <a:ext cx="3313113" cy="493713"/>
        </p:xfrm>
        <a:graphic>
          <a:graphicData uri="http://schemas.openxmlformats.org/presentationml/2006/ole">
            <mc:AlternateContent xmlns:mc="http://schemas.openxmlformats.org/markup-compatibility/2006">
              <mc:Choice xmlns:v="urn:schemas-microsoft-com:vml" Requires="v">
                <p:oleObj spid="_x0000_s31752" name="Equation" r:id="rId7" imgW="36880800" imgH="5486400" progId="Equation.3">
                  <p:embed/>
                </p:oleObj>
              </mc:Choice>
              <mc:Fallback>
                <p:oleObj name="Equation" r:id="rId7" imgW="36880800" imgH="54864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5013325"/>
                        <a:ext cx="3313113" cy="493713"/>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48133" name="Object 5"/>
          <p:cNvGraphicFramePr>
            <a:graphicFrameLocks noGrp="1" noChangeAspect="1"/>
          </p:cNvGraphicFramePr>
          <p:nvPr>
            <p:ph idx="1"/>
          </p:nvPr>
        </p:nvGraphicFramePr>
        <p:xfrm>
          <a:off x="4787900" y="1844675"/>
          <a:ext cx="3384550" cy="2593975"/>
        </p:xfrm>
        <a:graphic>
          <a:graphicData uri="http://schemas.openxmlformats.org/presentationml/2006/ole">
            <mc:AlternateContent xmlns:mc="http://schemas.openxmlformats.org/markup-compatibility/2006">
              <mc:Choice xmlns:v="urn:schemas-microsoft-com:vml" Requires="v">
                <p:oleObj spid="_x0000_s31753" name="Photo Editor 照片" r:id="rId9" imgW="11933333" imgH="9142857" progId="">
                  <p:embed/>
                </p:oleObj>
              </mc:Choice>
              <mc:Fallback>
                <p:oleObj name="Photo Editor 照片" r:id="rId9" imgW="11933333" imgH="9142857" progId="">
                  <p:embed/>
                  <p:pic>
                    <p:nvPicPr>
                      <p:cNvPr id="0" name="Object 5"/>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1844675"/>
                        <a:ext cx="3384550" cy="259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椭圆 6"/>
          <p:cNvSpPr>
            <a:spLocks noChangeArrowheads="1"/>
          </p:cNvSpPr>
          <p:nvPr/>
        </p:nvSpPr>
        <p:spPr bwMode="auto">
          <a:xfrm flipH="1" flipV="1">
            <a:off x="2582863" y="3429000"/>
            <a:ext cx="304800" cy="228600"/>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8" name="直接箭头连接符 7"/>
          <p:cNvCxnSpPr>
            <a:cxnSpLocks noChangeShapeType="1"/>
            <a:stCxn id="7" idx="1"/>
          </p:cNvCxnSpPr>
          <p:nvPr/>
        </p:nvCxnSpPr>
        <p:spPr bwMode="auto">
          <a:xfrm flipV="1">
            <a:off x="2843213" y="3316288"/>
            <a:ext cx="3025775" cy="307975"/>
          </a:xfrm>
          <a:prstGeom prst="straightConnector1">
            <a:avLst/>
          </a:prstGeom>
          <a:noFill/>
          <a:ln w="9525" algn="ctr">
            <a:solidFill>
              <a:srgbClr val="FF0000"/>
            </a:solidFill>
            <a:round/>
            <a:headEnd/>
            <a:tailEnd type="triangle" w="med" len="med"/>
          </a:ln>
        </p:spPr>
      </p:cxnSp>
      <p:sp>
        <p:nvSpPr>
          <p:cNvPr id="9" name="椭圆 8"/>
          <p:cNvSpPr>
            <a:spLocks noChangeArrowheads="1"/>
          </p:cNvSpPr>
          <p:nvPr/>
        </p:nvSpPr>
        <p:spPr bwMode="auto">
          <a:xfrm>
            <a:off x="2271713" y="2471738"/>
            <a:ext cx="738187" cy="849312"/>
          </a:xfrm>
          <a:prstGeom prst="ellipse">
            <a:avLst/>
          </a:prstGeom>
          <a:noFill/>
          <a:ln w="28575" algn="ctr">
            <a:solidFill>
              <a:srgbClr val="FF0000"/>
            </a:solidFill>
            <a:round/>
            <a:headEnd/>
            <a:tailEnd/>
          </a:ln>
        </p:spPr>
        <p:txBody>
          <a:bodyPr/>
          <a:lstStyle/>
          <a:p>
            <a:pPr algn="ctr" eaLnBrk="1" hangingPunct="1"/>
            <a:endParaRPr lang="zh-CN" altLang="en-US"/>
          </a:p>
        </p:txBody>
      </p:sp>
      <p:sp>
        <p:nvSpPr>
          <p:cNvPr id="10" name="椭圆 9"/>
          <p:cNvSpPr>
            <a:spLocks noChangeArrowheads="1"/>
          </p:cNvSpPr>
          <p:nvPr/>
        </p:nvSpPr>
        <p:spPr bwMode="auto">
          <a:xfrm>
            <a:off x="7361238" y="2241550"/>
            <a:ext cx="1027112" cy="849313"/>
          </a:xfrm>
          <a:prstGeom prst="ellipse">
            <a:avLst/>
          </a:prstGeom>
          <a:noFill/>
          <a:ln w="28575" algn="ctr">
            <a:solidFill>
              <a:srgbClr val="FF0000"/>
            </a:solidFill>
            <a:round/>
            <a:headEnd/>
            <a:tailEnd/>
          </a:ln>
        </p:spPr>
        <p:txBody>
          <a:bodyPr/>
          <a:lstStyle/>
          <a:p>
            <a:pPr algn="ctr" eaLnBrk="1" hangingPunct="1"/>
            <a:endParaRPr lang="zh-CN" altLang="en-US"/>
          </a:p>
        </p:txBody>
      </p:sp>
      <p:sp>
        <p:nvSpPr>
          <p:cNvPr id="11" name="手杖形箭头 20"/>
          <p:cNvSpPr/>
          <p:nvPr/>
        </p:nvSpPr>
        <p:spPr bwMode="auto">
          <a:xfrm rot="5400000">
            <a:off x="2620963" y="3419475"/>
            <a:ext cx="228600" cy="1666875"/>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5300"/>
                                        </p:tgtEl>
                                        <p:attrNameLst>
                                          <p:attrName>style.visibility</p:attrName>
                                        </p:attrNameLst>
                                      </p:cBhvr>
                                      <p:to>
                                        <p:strVal val="visible"/>
                                      </p:to>
                                    </p:set>
                                    <p:animEffect transition="in" filter="wipe(left)">
                                      <p:cBhvr>
                                        <p:cTn id="29" dur="500"/>
                                        <p:tgtEl>
                                          <p:spTgt spid="5530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5301"/>
                                        </p:tgtEl>
                                        <p:attrNameLst>
                                          <p:attrName>style.visibility</p:attrName>
                                        </p:attrNameLst>
                                      </p:cBhvr>
                                      <p:to>
                                        <p:strVal val="visible"/>
                                      </p:to>
                                    </p:set>
                                    <p:animEffect transition="in" filter="wipe(left)">
                                      <p:cBhvr>
                                        <p:cTn id="34" dur="500"/>
                                        <p:tgtEl>
                                          <p:spTgt spid="55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Rectangle 2"/>
          <p:cNvSpPr>
            <a:spLocks noGrp="1" noChangeArrowheads="1"/>
          </p:cNvSpPr>
          <p:nvPr>
            <p:ph type="title"/>
          </p:nvPr>
        </p:nvSpPr>
        <p:spPr bwMode="auto">
          <a:xfrm>
            <a:off x="468313" y="908050"/>
            <a:ext cx="8675687" cy="701675"/>
          </a:xfrm>
          <a:noFill/>
          <a:ln>
            <a:miter lim="800000"/>
            <a:headEnd/>
            <a:tailEnd/>
          </a:ln>
        </p:spPr>
        <p:txBody>
          <a:bodyPr vert="horz" wrap="square" lIns="91440" tIns="45720" rIns="91440" bIns="45720" numCol="1" anchor="t" anchorCtr="0" compatLnSpc="1">
            <a:prstTxWarp prst="textNoShape">
              <a:avLst/>
            </a:prstTxWarp>
          </a:bodyPr>
          <a:lstStyle/>
          <a:p>
            <a:pPr algn="l"/>
            <a:r>
              <a:rPr lang="en-US" altLang="zh-CN" sz="3200" b="1">
                <a:latin typeface="华文行楷" pitchFamily="2" charset="-122"/>
                <a:ea typeface="华文行楷" pitchFamily="2" charset="-122"/>
              </a:rPr>
              <a:t>2.  </a:t>
            </a:r>
            <a:r>
              <a:rPr lang="zh-CN" altLang="en-US" sz="3200" b="1">
                <a:latin typeface="华文行楷" pitchFamily="2" charset="-122"/>
                <a:ea typeface="华文行楷" pitchFamily="2" charset="-122"/>
              </a:rPr>
              <a:t>双端输入单端输出</a:t>
            </a:r>
            <a:r>
              <a:rPr lang="zh-CN" altLang="en-US" sz="2800" b="1"/>
              <a:t>：</a:t>
            </a:r>
            <a:r>
              <a:rPr lang="zh-CN" altLang="en-US" sz="2800" b="1">
                <a:solidFill>
                  <a:srgbClr val="FF0000"/>
                </a:solidFill>
              </a:rPr>
              <a:t>共模信号</a:t>
            </a:r>
            <a:r>
              <a:rPr lang="zh-CN" altLang="en-US" sz="2800" b="1"/>
              <a:t>作用下的</a:t>
            </a:r>
            <a:r>
              <a:rPr lang="zh-CN" altLang="en-US" sz="2800" b="1">
                <a:solidFill>
                  <a:srgbClr val="FF0000"/>
                </a:solidFill>
              </a:rPr>
              <a:t>动态分析</a:t>
            </a:r>
            <a:endParaRPr lang="zh-CN" altLang="zh-CN" sz="2800" b="1">
              <a:solidFill>
                <a:srgbClr val="FF0000"/>
              </a:solidFill>
            </a:endParaRPr>
          </a:p>
        </p:txBody>
      </p:sp>
      <p:graphicFrame>
        <p:nvGraphicFramePr>
          <p:cNvPr id="49154" name="Object 2"/>
          <p:cNvGraphicFramePr>
            <a:graphicFrameLocks noChangeAspect="1"/>
          </p:cNvGraphicFramePr>
          <p:nvPr/>
        </p:nvGraphicFramePr>
        <p:xfrm>
          <a:off x="468313" y="5133975"/>
          <a:ext cx="2959100" cy="906463"/>
        </p:xfrm>
        <a:graphic>
          <a:graphicData uri="http://schemas.openxmlformats.org/presentationml/2006/ole">
            <mc:AlternateContent xmlns:mc="http://schemas.openxmlformats.org/markup-compatibility/2006">
              <mc:Choice xmlns:v="urn:schemas-microsoft-com:vml" Requires="v">
                <p:oleObj spid="_x0000_s32775" name="Equation" r:id="rId3" imgW="33832800" imgH="10363200" progId="Equation.3">
                  <p:embed/>
                </p:oleObj>
              </mc:Choice>
              <mc:Fallback>
                <p:oleObj name="Equation" r:id="rId3" imgW="33832800" imgH="10363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133975"/>
                        <a:ext cx="2959100" cy="906463"/>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6324" name="Object 3"/>
          <p:cNvGraphicFramePr>
            <a:graphicFrameLocks noChangeAspect="1"/>
          </p:cNvGraphicFramePr>
          <p:nvPr/>
        </p:nvGraphicFramePr>
        <p:xfrm>
          <a:off x="4787900" y="3862388"/>
          <a:ext cx="3659188" cy="935037"/>
        </p:xfrm>
        <a:graphic>
          <a:graphicData uri="http://schemas.openxmlformats.org/presentationml/2006/ole">
            <mc:AlternateContent xmlns:mc="http://schemas.openxmlformats.org/markup-compatibility/2006">
              <mc:Choice xmlns:v="urn:schemas-microsoft-com:vml" Requires="v">
                <p:oleObj spid="_x0000_s32776" name="Equation" r:id="rId5" imgW="40538400" imgH="10363200" progId="Equation.3">
                  <p:embed/>
                </p:oleObj>
              </mc:Choice>
              <mc:Fallback>
                <p:oleObj name="Equation" r:id="rId5" imgW="40538400" imgH="1036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3862388"/>
                        <a:ext cx="3659188" cy="935037"/>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6325" name="Object 4"/>
          <p:cNvGraphicFramePr>
            <a:graphicFrameLocks noChangeAspect="1"/>
          </p:cNvGraphicFramePr>
          <p:nvPr/>
        </p:nvGraphicFramePr>
        <p:xfrm>
          <a:off x="4529138" y="5157788"/>
          <a:ext cx="4300537" cy="1012825"/>
        </p:xfrm>
        <a:graphic>
          <a:graphicData uri="http://schemas.openxmlformats.org/presentationml/2006/ole">
            <mc:AlternateContent xmlns:mc="http://schemas.openxmlformats.org/markup-compatibility/2006">
              <mc:Choice xmlns:v="urn:schemas-microsoft-com:vml" Requires="v">
                <p:oleObj spid="_x0000_s32777" name="公式" r:id="rId7" imgW="42367200" imgH="10363200" progId="Equation.3">
                  <p:embed/>
                </p:oleObj>
              </mc:Choice>
              <mc:Fallback>
                <p:oleObj name="公式" r:id="rId7" imgW="42367200" imgH="10363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9138" y="5157788"/>
                        <a:ext cx="4300537" cy="1012825"/>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6326" name="Object 5"/>
          <p:cNvGraphicFramePr>
            <a:graphicFrameLocks noChangeAspect="1"/>
          </p:cNvGraphicFramePr>
          <p:nvPr/>
        </p:nvGraphicFramePr>
        <p:xfrm>
          <a:off x="4876800" y="1728788"/>
          <a:ext cx="3367088" cy="1957387"/>
        </p:xfrm>
        <a:graphic>
          <a:graphicData uri="http://schemas.openxmlformats.org/presentationml/2006/ole">
            <mc:AlternateContent xmlns:mc="http://schemas.openxmlformats.org/markup-compatibility/2006">
              <mc:Choice xmlns:v="urn:schemas-microsoft-com:vml" Requires="v">
                <p:oleObj spid="_x0000_s32778" name="Photo Editor 照片" r:id="rId9" imgW="11476190" imgH="6676190" progId="">
                  <p:embed/>
                </p:oleObj>
              </mc:Choice>
              <mc:Fallback>
                <p:oleObj name="Photo Editor 照片" r:id="rId9" imgW="11476190" imgH="6676190" progId="">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1728788"/>
                        <a:ext cx="3367088" cy="195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8" name="Object 6"/>
          <p:cNvGraphicFramePr>
            <a:graphicFrameLocks noChangeAspect="1"/>
          </p:cNvGraphicFramePr>
          <p:nvPr/>
        </p:nvGraphicFramePr>
        <p:xfrm>
          <a:off x="755650" y="1901825"/>
          <a:ext cx="3740150" cy="2720975"/>
        </p:xfrm>
        <a:graphic>
          <a:graphicData uri="http://schemas.openxmlformats.org/presentationml/2006/ole">
            <mc:AlternateContent xmlns:mc="http://schemas.openxmlformats.org/markup-compatibility/2006">
              <mc:Choice xmlns:v="urn:schemas-microsoft-com:vml" Requires="v">
                <p:oleObj spid="_x0000_s32779" name="Photo Editor 照片" r:id="rId11" imgW="12161905" imgH="8849960" progId="">
                  <p:embed/>
                </p:oleObj>
              </mc:Choice>
              <mc:Fallback>
                <p:oleObj name="Photo Editor 照片" r:id="rId11" imgW="12161905" imgH="8849960" progId="">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1901825"/>
                        <a:ext cx="3740150"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椭圆 7"/>
          <p:cNvSpPr>
            <a:spLocks noChangeArrowheads="1"/>
          </p:cNvSpPr>
          <p:nvPr/>
        </p:nvSpPr>
        <p:spPr bwMode="auto">
          <a:xfrm flipH="1" flipV="1">
            <a:off x="5902325" y="2889250"/>
            <a:ext cx="676275" cy="528638"/>
          </a:xfrm>
          <a:prstGeom prst="ellipse">
            <a:avLst/>
          </a:prstGeom>
          <a:noFill/>
          <a:ln w="38100" algn="ctr">
            <a:solidFill>
              <a:srgbClr val="FF0000"/>
            </a:solidFill>
            <a:round/>
            <a:headEnd/>
            <a:tailEnd/>
          </a:ln>
        </p:spPr>
        <p:txBody>
          <a:bodyPr/>
          <a:lstStyle/>
          <a:p>
            <a:pPr algn="ctr" eaLnBrk="1" hangingPunct="1"/>
            <a:endParaRPr lang="zh-CN" altLang="en-US"/>
          </a:p>
        </p:txBody>
      </p:sp>
      <p:sp>
        <p:nvSpPr>
          <p:cNvPr id="9" name="椭圆 8"/>
          <p:cNvSpPr>
            <a:spLocks noChangeArrowheads="1"/>
          </p:cNvSpPr>
          <p:nvPr/>
        </p:nvSpPr>
        <p:spPr bwMode="auto">
          <a:xfrm flipH="1" flipV="1">
            <a:off x="2482850" y="3511550"/>
            <a:ext cx="304800" cy="228600"/>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10" name="直接箭头连接符 9"/>
          <p:cNvCxnSpPr>
            <a:cxnSpLocks noChangeShapeType="1"/>
            <a:stCxn id="9" idx="1"/>
          </p:cNvCxnSpPr>
          <p:nvPr/>
        </p:nvCxnSpPr>
        <p:spPr bwMode="auto">
          <a:xfrm flipV="1">
            <a:off x="2743200" y="3151188"/>
            <a:ext cx="3044825" cy="555625"/>
          </a:xfrm>
          <a:prstGeom prst="straightConnector1">
            <a:avLst/>
          </a:prstGeom>
          <a:noFill/>
          <a:ln w="9525" algn="ctr">
            <a:solidFill>
              <a:srgbClr val="FF0000"/>
            </a:solidFill>
            <a:round/>
            <a:headEnd/>
            <a:tailEnd type="triangle" w="med" len="med"/>
          </a:ln>
        </p:spPr>
      </p:cxnSp>
      <p:sp>
        <p:nvSpPr>
          <p:cNvPr id="49163" name="文本框 12"/>
          <p:cNvSpPr txBox="1">
            <a:spLocks noChangeArrowheads="1"/>
          </p:cNvSpPr>
          <p:nvPr/>
        </p:nvSpPr>
        <p:spPr bwMode="auto">
          <a:xfrm>
            <a:off x="446088" y="4656138"/>
            <a:ext cx="1427162" cy="461962"/>
          </a:xfrm>
          <a:prstGeom prst="rect">
            <a:avLst/>
          </a:prstGeom>
          <a:solidFill>
            <a:schemeClr val="accent1"/>
          </a:solidFill>
          <a:ln w="9525">
            <a:noFill/>
            <a:miter lim="800000"/>
            <a:headEnd/>
            <a:tailEnd/>
          </a:ln>
        </p:spPr>
        <p:txBody>
          <a:bodyPr>
            <a:spAutoFit/>
          </a:bodyPr>
          <a:lstStyle/>
          <a:p>
            <a:r>
              <a:rPr lang="zh-CN" altLang="en-US" b="1">
                <a:solidFill>
                  <a:srgbClr val="FF0000"/>
                </a:solidFill>
              </a:rPr>
              <a:t>差模信号</a:t>
            </a:r>
            <a:endParaRPr lang="zh-CN" altLang="en-US"/>
          </a:p>
        </p:txBody>
      </p:sp>
      <p:sp>
        <p:nvSpPr>
          <p:cNvPr id="4" name="箭头: 下 3"/>
          <p:cNvSpPr/>
          <p:nvPr/>
        </p:nvSpPr>
        <p:spPr>
          <a:xfrm>
            <a:off x="5788025" y="1403350"/>
            <a:ext cx="114300" cy="498475"/>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文本框 4"/>
          <p:cNvSpPr txBox="1">
            <a:spLocks noChangeArrowheads="1"/>
          </p:cNvSpPr>
          <p:nvPr/>
        </p:nvSpPr>
        <p:spPr bwMode="auto">
          <a:xfrm>
            <a:off x="5992813" y="1403350"/>
            <a:ext cx="669925" cy="368300"/>
          </a:xfrm>
          <a:prstGeom prst="rect">
            <a:avLst/>
          </a:prstGeom>
          <a:solidFill>
            <a:srgbClr val="8DD78D"/>
          </a:solidFill>
          <a:ln w="9525">
            <a:noFill/>
            <a:miter lim="800000"/>
            <a:headEnd/>
            <a:tailEnd/>
          </a:ln>
        </p:spPr>
        <p:txBody>
          <a:bodyPr>
            <a:spAutoFit/>
          </a:bodyPr>
          <a:lstStyle/>
          <a:p>
            <a:pPr algn="ctr"/>
            <a:r>
              <a:rPr lang="en-US" altLang="zh-CN" sz="1800"/>
              <a:t>Re</a:t>
            </a:r>
            <a:r>
              <a:rPr lang="zh-CN" altLang="en-US"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6326"/>
                                        </p:tgtEl>
                                        <p:attrNameLst>
                                          <p:attrName>style.visibility</p:attrName>
                                        </p:attrNameLst>
                                      </p:cBhvr>
                                      <p:to>
                                        <p:strVal val="visible"/>
                                      </p:to>
                                    </p:set>
                                    <p:animEffect transition="in" filter="wipe(left)">
                                      <p:cBhvr>
                                        <p:cTn id="15" dur="500"/>
                                        <p:tgtEl>
                                          <p:spTgt spid="563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6324"/>
                                        </p:tgtEl>
                                        <p:attrNameLst>
                                          <p:attrName>style.visibility</p:attrName>
                                        </p:attrNameLst>
                                      </p:cBhvr>
                                      <p:to>
                                        <p:strVal val="visible"/>
                                      </p:to>
                                    </p:set>
                                    <p:animEffect transition="in" filter="wipe(left)">
                                      <p:cBhvr>
                                        <p:cTn id="34" dur="500"/>
                                        <p:tgtEl>
                                          <p:spTgt spid="5632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56325"/>
                                        </p:tgtEl>
                                        <p:attrNameLst>
                                          <p:attrName>style.visibility</p:attrName>
                                        </p:attrNameLst>
                                      </p:cBhvr>
                                      <p:to>
                                        <p:strVal val="visible"/>
                                      </p:to>
                                    </p:set>
                                    <p:animEffect transition="in" filter="wipe(left)">
                                      <p:cBhvr>
                                        <p:cTn id="39" dur="5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animBg="1"/>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5" name="Rectangle 2"/>
          <p:cNvSpPr>
            <a:spLocks noGrp="1" noChangeArrowheads="1"/>
          </p:cNvSpPr>
          <p:nvPr>
            <p:ph type="title"/>
          </p:nvPr>
        </p:nvSpPr>
        <p:spPr bwMode="auto">
          <a:xfrm>
            <a:off x="395288" y="908050"/>
            <a:ext cx="7073900" cy="701675"/>
          </a:xfrm>
          <a:noFill/>
          <a:ln>
            <a:miter lim="800000"/>
            <a:headEnd/>
            <a:tailEnd/>
          </a:ln>
        </p:spPr>
        <p:txBody>
          <a:bodyPr vert="horz" wrap="square" lIns="91440" tIns="45720" rIns="91440" bIns="45720" numCol="1" anchor="t" anchorCtr="0" compatLnSpc="1">
            <a:prstTxWarp prst="textNoShape">
              <a:avLst/>
            </a:prstTxWarp>
          </a:bodyPr>
          <a:lstStyle/>
          <a:p>
            <a:pPr algn="l"/>
            <a:r>
              <a:rPr lang="en-US" altLang="zh-CN" sz="3200" b="1">
                <a:latin typeface="华文行楷" pitchFamily="2" charset="-122"/>
                <a:ea typeface="华文行楷" pitchFamily="2" charset="-122"/>
              </a:rPr>
              <a:t>2.  </a:t>
            </a:r>
            <a:r>
              <a:rPr lang="zh-CN" altLang="en-US" sz="3200" b="1">
                <a:latin typeface="华文行楷" pitchFamily="2" charset="-122"/>
                <a:ea typeface="华文行楷" pitchFamily="2" charset="-122"/>
              </a:rPr>
              <a:t>双端输入单端输出</a:t>
            </a:r>
            <a:r>
              <a:rPr lang="zh-CN" altLang="en-US" sz="2800" b="1"/>
              <a:t>：问题讨论</a:t>
            </a:r>
            <a:endParaRPr lang="zh-CN" altLang="zh-CN" sz="2800" b="1"/>
          </a:p>
        </p:txBody>
      </p:sp>
      <p:graphicFrame>
        <p:nvGraphicFramePr>
          <p:cNvPr id="50178" name="Object 2"/>
          <p:cNvGraphicFramePr>
            <a:graphicFrameLocks noChangeAspect="1"/>
          </p:cNvGraphicFramePr>
          <p:nvPr/>
        </p:nvGraphicFramePr>
        <p:xfrm>
          <a:off x="4975225" y="1457325"/>
          <a:ext cx="3071813" cy="684213"/>
        </p:xfrm>
        <a:graphic>
          <a:graphicData uri="http://schemas.openxmlformats.org/presentationml/2006/ole">
            <mc:AlternateContent xmlns:mc="http://schemas.openxmlformats.org/markup-compatibility/2006">
              <mc:Choice xmlns:v="urn:schemas-microsoft-com:vml" Requires="v">
                <p:oleObj spid="_x0000_s33801" name="Equation" r:id="rId3" imgW="33832800" imgH="10363200" progId="Equation.3">
                  <p:embed/>
                </p:oleObj>
              </mc:Choice>
              <mc:Fallback>
                <p:oleObj name="Equation" r:id="rId3" imgW="33832800" imgH="10363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225" y="1457325"/>
                        <a:ext cx="3071813" cy="684213"/>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57348" name="Text Box 4"/>
          <p:cNvSpPr txBox="1">
            <a:spLocks noChangeArrowheads="1"/>
          </p:cNvSpPr>
          <p:nvPr/>
        </p:nvSpPr>
        <p:spPr bwMode="auto">
          <a:xfrm>
            <a:off x="600075" y="4711700"/>
            <a:ext cx="6934200" cy="1865313"/>
          </a:xfrm>
          <a:prstGeom prst="rect">
            <a:avLst/>
          </a:prstGeom>
          <a:noFill/>
          <a:ln w="9525">
            <a:noFill/>
            <a:miter lim="800000"/>
            <a:headEnd/>
            <a:tailEnd/>
          </a:ln>
        </p:spPr>
        <p:txBody>
          <a:bodyPr>
            <a:spAutoFit/>
          </a:bodyPr>
          <a:lstStyle/>
          <a:p>
            <a:pPr eaLnBrk="1" hangingPunct="1">
              <a:lnSpc>
                <a:spcPct val="120000"/>
              </a:lnSpc>
            </a:pPr>
            <a:r>
              <a:rPr lang="zh-CN" altLang="en-US" b="1" dirty="0"/>
              <a:t>（</a:t>
            </a:r>
            <a:r>
              <a:rPr lang="en-US" altLang="zh-CN" b="1" dirty="0"/>
              <a:t>1</a:t>
            </a:r>
            <a:r>
              <a:rPr lang="zh-CN" altLang="en-US" b="1" dirty="0"/>
              <a:t>）</a:t>
            </a:r>
            <a:r>
              <a:rPr lang="en-US" altLang="zh-CN" b="1" dirty="0"/>
              <a:t>T</a:t>
            </a:r>
            <a:r>
              <a:rPr lang="en-US" altLang="zh-CN" b="1" baseline="-25000" dirty="0"/>
              <a:t>2</a:t>
            </a:r>
            <a:r>
              <a:rPr lang="zh-CN" altLang="en-US" b="1" dirty="0"/>
              <a:t>的</a:t>
            </a:r>
            <a:r>
              <a:rPr lang="en-US" altLang="zh-CN" b="1" i="1" dirty="0" err="1"/>
              <a:t>R</a:t>
            </a:r>
            <a:r>
              <a:rPr lang="en-US" altLang="zh-CN" b="1" baseline="-25000" dirty="0" err="1"/>
              <a:t>c</a:t>
            </a:r>
            <a:r>
              <a:rPr lang="zh-CN" altLang="en-US" b="1" dirty="0"/>
              <a:t>可以短路吗？</a:t>
            </a:r>
          </a:p>
          <a:p>
            <a:pPr eaLnBrk="1" hangingPunct="1">
              <a:lnSpc>
                <a:spcPct val="120000"/>
              </a:lnSpc>
            </a:pPr>
            <a:r>
              <a:rPr lang="zh-CN" altLang="en-US" b="1" dirty="0"/>
              <a:t>（</a:t>
            </a:r>
            <a:r>
              <a:rPr lang="en-US" altLang="zh-CN" b="1" dirty="0"/>
              <a:t>2</a:t>
            </a:r>
            <a:r>
              <a:rPr lang="zh-CN" altLang="en-US" b="1" dirty="0"/>
              <a:t>）什么情况下</a:t>
            </a:r>
            <a:r>
              <a:rPr lang="en-US" altLang="zh-CN" b="1" i="1" dirty="0"/>
              <a:t>A</a:t>
            </a:r>
            <a:r>
              <a:rPr lang="en-US" altLang="zh-CN" b="1" baseline="-25000" dirty="0"/>
              <a:t>d</a:t>
            </a:r>
            <a:r>
              <a:rPr lang="zh-CN" altLang="en-US" b="1" dirty="0"/>
              <a:t>为“＋”？</a:t>
            </a:r>
          </a:p>
          <a:p>
            <a:pPr eaLnBrk="1" hangingPunct="1">
              <a:lnSpc>
                <a:spcPct val="120000"/>
              </a:lnSpc>
            </a:pPr>
            <a:r>
              <a:rPr lang="zh-CN" altLang="en-US" b="1" dirty="0"/>
              <a:t>（</a:t>
            </a:r>
            <a:r>
              <a:rPr lang="en-US" altLang="zh-CN" b="1" dirty="0"/>
              <a:t>3</a:t>
            </a:r>
            <a:r>
              <a:rPr lang="zh-CN" altLang="en-US" b="1" dirty="0"/>
              <a:t>）双端输出时的</a:t>
            </a:r>
            <a:r>
              <a:rPr lang="en-US" altLang="zh-CN" b="1" i="1" dirty="0"/>
              <a:t>A</a:t>
            </a:r>
            <a:r>
              <a:rPr lang="en-US" altLang="zh-CN" b="1" baseline="-25000" dirty="0"/>
              <a:t>d</a:t>
            </a:r>
            <a:r>
              <a:rPr lang="zh-CN" altLang="en-US" b="1" dirty="0"/>
              <a:t>是单端输出时的</a:t>
            </a:r>
            <a:r>
              <a:rPr lang="en-US" altLang="zh-CN" b="1" dirty="0"/>
              <a:t>2</a:t>
            </a:r>
            <a:r>
              <a:rPr lang="zh-CN" altLang="en-US" b="1" dirty="0"/>
              <a:t>倍吗？</a:t>
            </a:r>
            <a:endParaRPr lang="en-US" altLang="zh-CN" b="1" dirty="0"/>
          </a:p>
          <a:p>
            <a:pPr eaLnBrk="1" hangingPunct="1">
              <a:lnSpc>
                <a:spcPct val="120000"/>
              </a:lnSpc>
            </a:pPr>
            <a:r>
              <a:rPr lang="zh-CN" altLang="en-US" b="1" dirty="0"/>
              <a:t>（</a:t>
            </a:r>
            <a:r>
              <a:rPr lang="en-US" altLang="zh-CN" b="1" dirty="0"/>
              <a:t>4</a:t>
            </a:r>
            <a:r>
              <a:rPr lang="zh-CN" altLang="en-US" b="1" dirty="0"/>
              <a:t>）动态</a:t>
            </a:r>
            <a:r>
              <a:rPr lang="en-US" altLang="zh-CN" b="1" dirty="0"/>
              <a:t>u</a:t>
            </a:r>
            <a:r>
              <a:rPr lang="en-US" altLang="zh-CN" sz="1800" b="1" dirty="0"/>
              <a:t>0</a:t>
            </a:r>
            <a:r>
              <a:rPr lang="en-US" altLang="zh-CN" b="1" dirty="0"/>
              <a:t>=</a:t>
            </a:r>
            <a:r>
              <a:rPr lang="zh-CN" altLang="en-US" b="1" dirty="0"/>
              <a:t>？</a:t>
            </a:r>
          </a:p>
        </p:txBody>
      </p:sp>
      <p:graphicFrame>
        <p:nvGraphicFramePr>
          <p:cNvPr id="50179" name="Object 4"/>
          <p:cNvGraphicFramePr>
            <a:graphicFrameLocks noChangeAspect="1"/>
          </p:cNvGraphicFramePr>
          <p:nvPr/>
        </p:nvGraphicFramePr>
        <p:xfrm>
          <a:off x="4918075" y="4103688"/>
          <a:ext cx="3575050" cy="533400"/>
        </p:xfrm>
        <a:graphic>
          <a:graphicData uri="http://schemas.openxmlformats.org/presentationml/2006/ole">
            <mc:AlternateContent xmlns:mc="http://schemas.openxmlformats.org/markup-compatibility/2006">
              <mc:Choice xmlns:v="urn:schemas-microsoft-com:vml" Requires="v">
                <p:oleObj spid="_x0000_s33802" name="Equation" r:id="rId5" imgW="36880800" imgH="5486400" progId="Equation.3">
                  <p:embed/>
                </p:oleObj>
              </mc:Choice>
              <mc:Fallback>
                <p:oleObj name="Equation" r:id="rId5" imgW="36880800" imgH="54864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8075" y="4103688"/>
                        <a:ext cx="3575050" cy="5334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0180" name="Object 5"/>
          <p:cNvGraphicFramePr>
            <a:graphicFrameLocks noChangeAspect="1"/>
          </p:cNvGraphicFramePr>
          <p:nvPr/>
        </p:nvGraphicFramePr>
        <p:xfrm>
          <a:off x="900113" y="1773238"/>
          <a:ext cx="3505200" cy="2549525"/>
        </p:xfrm>
        <a:graphic>
          <a:graphicData uri="http://schemas.openxmlformats.org/presentationml/2006/ole">
            <mc:AlternateContent xmlns:mc="http://schemas.openxmlformats.org/markup-compatibility/2006">
              <mc:Choice xmlns:v="urn:schemas-microsoft-com:vml" Requires="v">
                <p:oleObj spid="_x0000_s33803" name="Photo Editor 照片" r:id="rId7" imgW="12161905" imgH="8849960" progId="">
                  <p:embed/>
                </p:oleObj>
              </mc:Choice>
              <mc:Fallback>
                <p:oleObj name="Photo Editor 照片" r:id="rId7" imgW="12161905" imgH="8849960" progId="">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1773238"/>
                        <a:ext cx="3505200" cy="25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0"/>
          <p:cNvSpPr txBox="1">
            <a:spLocks noChangeArrowheads="1"/>
          </p:cNvSpPr>
          <p:nvPr/>
        </p:nvSpPr>
        <p:spPr bwMode="auto">
          <a:xfrm>
            <a:off x="3219450" y="6115050"/>
            <a:ext cx="3276600" cy="503238"/>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en-US" altLang="zh-CN" b="1" i="1"/>
              <a:t>u</a:t>
            </a:r>
            <a:r>
              <a:rPr lang="en-US" altLang="zh-CN" b="1" baseline="-25000"/>
              <a:t>O</a:t>
            </a:r>
            <a:r>
              <a:rPr lang="en-US" altLang="zh-CN" b="1"/>
              <a:t>= </a:t>
            </a:r>
            <a:r>
              <a:rPr lang="en-US" altLang="zh-CN" b="1" i="1"/>
              <a:t>A</a:t>
            </a:r>
            <a:r>
              <a:rPr lang="en-US" altLang="zh-CN" b="1" baseline="-25000"/>
              <a:t>d </a:t>
            </a:r>
            <a:r>
              <a:rPr lang="en-US" altLang="zh-CN" b="1" i="1"/>
              <a:t>u</a:t>
            </a:r>
            <a:r>
              <a:rPr lang="en-US" altLang="zh-CN" b="1" baseline="-25000"/>
              <a:t>Id</a:t>
            </a:r>
            <a:r>
              <a:rPr lang="en-US" altLang="zh-CN" b="1"/>
              <a:t>+ </a:t>
            </a:r>
            <a:r>
              <a:rPr lang="en-US" altLang="zh-CN" b="1" i="1"/>
              <a:t>A</a:t>
            </a:r>
            <a:r>
              <a:rPr lang="en-US" altLang="zh-CN" b="1" baseline="-25000"/>
              <a:t>c </a:t>
            </a:r>
            <a:r>
              <a:rPr lang="en-US" altLang="zh-CN" b="1" i="1"/>
              <a:t>u</a:t>
            </a:r>
            <a:r>
              <a:rPr lang="en-US" altLang="zh-CN" b="1" baseline="-25000"/>
              <a:t>Ic</a:t>
            </a:r>
            <a:r>
              <a:rPr lang="en-US" altLang="zh-CN" b="1"/>
              <a:t>+</a:t>
            </a:r>
            <a:r>
              <a:rPr lang="en-US" altLang="zh-CN" b="1" i="1"/>
              <a:t>U</a:t>
            </a:r>
            <a:r>
              <a:rPr lang="en-US" altLang="zh-CN" b="1" baseline="-25000"/>
              <a:t>CQ1</a:t>
            </a:r>
            <a:endParaRPr lang="en-US" altLang="zh-CN" b="1"/>
          </a:p>
        </p:txBody>
      </p:sp>
      <p:grpSp>
        <p:nvGrpSpPr>
          <p:cNvPr id="2" name="组合 10"/>
          <p:cNvGrpSpPr>
            <a:grpSpLocks/>
          </p:cNvGrpSpPr>
          <p:nvPr/>
        </p:nvGrpSpPr>
        <p:grpSpPr bwMode="auto">
          <a:xfrm>
            <a:off x="6197600" y="0"/>
            <a:ext cx="2946400" cy="1244600"/>
            <a:chOff x="6197600" y="0"/>
            <a:chExt cx="2946400" cy="1244600"/>
          </a:xfrm>
        </p:grpSpPr>
        <p:graphicFrame>
          <p:nvGraphicFramePr>
            <p:cNvPr id="50184" name="Object 6"/>
            <p:cNvGraphicFramePr>
              <a:graphicFrameLocks noChangeAspect="1"/>
            </p:cNvGraphicFramePr>
            <p:nvPr/>
          </p:nvGraphicFramePr>
          <p:xfrm>
            <a:off x="6197600" y="0"/>
            <a:ext cx="2946400" cy="1244600"/>
          </p:xfrm>
          <a:graphic>
            <a:graphicData uri="http://schemas.openxmlformats.org/presentationml/2006/ole">
              <mc:AlternateContent xmlns:mc="http://schemas.openxmlformats.org/markup-compatibility/2006">
                <mc:Choice xmlns:v="urn:schemas-microsoft-com:vml" Requires="v">
                  <p:oleObj spid="_x0000_s33804" name="公式" r:id="rId9" imgW="30784800" imgH="14630400" progId="Equation.3">
                    <p:embed/>
                  </p:oleObj>
                </mc:Choice>
                <mc:Fallback>
                  <p:oleObj name="公式" r:id="rId9" imgW="30784800" imgH="146304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97600" y="0"/>
                          <a:ext cx="2946400" cy="12446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50197" name="TextBox 9"/>
            <p:cNvSpPr txBox="1">
              <a:spLocks noChangeArrowheads="1"/>
            </p:cNvSpPr>
            <p:nvPr/>
          </p:nvSpPr>
          <p:spPr bwMode="auto">
            <a:xfrm>
              <a:off x="6224954" y="0"/>
              <a:ext cx="914400" cy="369332"/>
            </a:xfrm>
            <a:prstGeom prst="rect">
              <a:avLst/>
            </a:prstGeom>
            <a:noFill/>
            <a:ln w="9525">
              <a:noFill/>
              <a:miter lim="800000"/>
              <a:headEnd/>
              <a:tailEnd/>
            </a:ln>
          </p:spPr>
          <p:txBody>
            <a:bodyPr>
              <a:spAutoFit/>
            </a:bodyPr>
            <a:lstStyle/>
            <a:p>
              <a:pPr algn="ctr" eaLnBrk="1" hangingPunct="1"/>
              <a:r>
                <a:rPr lang="zh-CN" altLang="en-US" sz="1800" b="1"/>
                <a:t>双端出</a:t>
              </a:r>
            </a:p>
          </p:txBody>
        </p:sp>
      </p:grpSp>
      <p:graphicFrame>
        <p:nvGraphicFramePr>
          <p:cNvPr id="740359" name="Object 7"/>
          <p:cNvGraphicFramePr>
            <a:graphicFrameLocks noChangeAspect="1"/>
          </p:cNvGraphicFramePr>
          <p:nvPr/>
        </p:nvGraphicFramePr>
        <p:xfrm>
          <a:off x="0" y="0"/>
          <a:ext cx="4589463" cy="869950"/>
        </p:xfrm>
        <a:graphic>
          <a:graphicData uri="http://schemas.openxmlformats.org/presentationml/2006/ole">
            <mc:AlternateContent xmlns:mc="http://schemas.openxmlformats.org/markup-compatibility/2006">
              <mc:Choice xmlns:v="urn:schemas-microsoft-com:vml" Requires="v">
                <p:oleObj spid="_x0000_s33805" name="公式" r:id="rId11" imgW="57302400" imgH="10668000" progId="Equation.3">
                  <p:embed/>
                </p:oleObj>
              </mc:Choice>
              <mc:Fallback>
                <p:oleObj name="公式" r:id="rId11" imgW="57302400" imgH="106680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4589463" cy="8699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13" name="TextBox 12"/>
          <p:cNvSpPr txBox="1"/>
          <p:nvPr/>
        </p:nvSpPr>
        <p:spPr>
          <a:xfrm>
            <a:off x="6229350" y="4686300"/>
            <a:ext cx="1871663" cy="461963"/>
          </a:xfrm>
          <a:prstGeom prst="rect">
            <a:avLst/>
          </a:prstGeom>
          <a:solidFill>
            <a:schemeClr val="accent6">
              <a:lumMod val="20000"/>
              <a:lumOff val="80000"/>
            </a:schemeClr>
          </a:solidFill>
          <a:ln>
            <a:solidFill>
              <a:schemeClr val="tx1"/>
            </a:solidFill>
          </a:ln>
        </p:spPr>
        <p:txBody>
          <a:bodyPr>
            <a:spAutoFit/>
          </a:bodyPr>
          <a:lstStyle/>
          <a:p>
            <a:pPr algn="ctr" eaLnBrk="1" hangingPunct="1">
              <a:defRPr/>
            </a:pPr>
            <a:r>
              <a:rPr lang="en-US" altLang="zh-CN" dirty="0" err="1"/>
              <a:t>Rc</a:t>
            </a:r>
            <a:r>
              <a:rPr lang="zh-CN" altLang="en-US" dirty="0"/>
              <a:t>可以省</a:t>
            </a:r>
          </a:p>
        </p:txBody>
      </p:sp>
      <p:sp>
        <p:nvSpPr>
          <p:cNvPr id="14" name="TextBox 13"/>
          <p:cNvSpPr txBox="1"/>
          <p:nvPr/>
        </p:nvSpPr>
        <p:spPr>
          <a:xfrm>
            <a:off x="6238875" y="5195888"/>
            <a:ext cx="1871663" cy="461962"/>
          </a:xfrm>
          <a:prstGeom prst="rect">
            <a:avLst/>
          </a:prstGeom>
          <a:solidFill>
            <a:schemeClr val="accent6">
              <a:lumMod val="20000"/>
              <a:lumOff val="80000"/>
            </a:schemeClr>
          </a:solidFill>
          <a:ln>
            <a:solidFill>
              <a:schemeClr val="tx1"/>
            </a:solidFill>
          </a:ln>
        </p:spPr>
        <p:txBody>
          <a:bodyPr>
            <a:spAutoFit/>
          </a:bodyPr>
          <a:lstStyle/>
          <a:p>
            <a:pPr algn="ctr" eaLnBrk="1" hangingPunct="1">
              <a:defRPr/>
            </a:pPr>
            <a:r>
              <a:rPr lang="zh-CN" altLang="en-US" dirty="0"/>
              <a:t>换输入点</a:t>
            </a:r>
          </a:p>
        </p:txBody>
      </p:sp>
      <p:sp>
        <p:nvSpPr>
          <p:cNvPr id="15" name="TextBox 14"/>
          <p:cNvSpPr txBox="1"/>
          <p:nvPr/>
        </p:nvSpPr>
        <p:spPr>
          <a:xfrm>
            <a:off x="7062788" y="5605463"/>
            <a:ext cx="1871662" cy="708025"/>
          </a:xfrm>
          <a:prstGeom prst="rect">
            <a:avLst/>
          </a:prstGeom>
          <a:solidFill>
            <a:schemeClr val="accent6">
              <a:lumMod val="20000"/>
              <a:lumOff val="80000"/>
            </a:schemeClr>
          </a:solidFill>
          <a:ln>
            <a:solidFill>
              <a:schemeClr val="tx1"/>
            </a:solidFill>
          </a:ln>
        </p:spPr>
        <p:txBody>
          <a:bodyPr>
            <a:spAutoFit/>
          </a:bodyPr>
          <a:lstStyle/>
          <a:p>
            <a:pPr algn="ctr" eaLnBrk="1" hangingPunct="1">
              <a:defRPr/>
            </a:pPr>
            <a:r>
              <a:rPr lang="en-US" altLang="zh-CN" sz="2000" dirty="0" err="1"/>
              <a:t>R</a:t>
            </a:r>
            <a:r>
              <a:rPr lang="en-US" altLang="zh-CN" sz="2000" baseline="-25000" dirty="0" err="1"/>
              <a:t>c</a:t>
            </a:r>
            <a:r>
              <a:rPr lang="zh-CN" altLang="en-US" sz="2000" dirty="0"/>
              <a:t>为</a:t>
            </a:r>
            <a:r>
              <a:rPr lang="zh-CN" altLang="en-US" sz="2000" dirty="0">
                <a:solidFill>
                  <a:srgbClr val="0000FF"/>
                </a:solidFill>
              </a:rPr>
              <a:t>无穷大</a:t>
            </a:r>
            <a:r>
              <a:rPr lang="zh-CN" altLang="en-US" sz="2000" dirty="0"/>
              <a:t>时是</a:t>
            </a:r>
            <a:r>
              <a:rPr lang="en-US" altLang="zh-CN" sz="2000" dirty="0"/>
              <a:t>2</a:t>
            </a:r>
            <a:r>
              <a:rPr lang="zh-CN" altLang="en-US" sz="2000" dirty="0"/>
              <a:t>倍</a:t>
            </a:r>
          </a:p>
        </p:txBody>
      </p:sp>
      <p:sp>
        <p:nvSpPr>
          <p:cNvPr id="16" name="TextBox 15"/>
          <p:cNvSpPr txBox="1"/>
          <p:nvPr/>
        </p:nvSpPr>
        <p:spPr>
          <a:xfrm>
            <a:off x="0" y="1509713"/>
            <a:ext cx="1614488" cy="830262"/>
          </a:xfrm>
          <a:prstGeom prst="rect">
            <a:avLst/>
          </a:prstGeom>
          <a:solidFill>
            <a:schemeClr val="accent5">
              <a:lumMod val="20000"/>
              <a:lumOff val="80000"/>
            </a:schemeClr>
          </a:solidFill>
          <a:ln>
            <a:solidFill>
              <a:schemeClr val="tx1"/>
            </a:solidFill>
          </a:ln>
        </p:spPr>
        <p:txBody>
          <a:bodyPr>
            <a:spAutoFit/>
          </a:bodyPr>
          <a:lstStyle/>
          <a:p>
            <a:pPr algn="ctr" eaLnBrk="1" hangingPunct="1">
              <a:defRPr/>
            </a:pPr>
            <a:r>
              <a:rPr lang="zh-CN" altLang="en-US" dirty="0">
                <a:solidFill>
                  <a:srgbClr val="FF0000"/>
                </a:solidFill>
              </a:rPr>
              <a:t>输入输出同相端？</a:t>
            </a:r>
          </a:p>
        </p:txBody>
      </p:sp>
      <p:graphicFrame>
        <p:nvGraphicFramePr>
          <p:cNvPr id="50182" name="Object 8"/>
          <p:cNvGraphicFramePr>
            <a:graphicFrameLocks noChangeAspect="1"/>
          </p:cNvGraphicFramePr>
          <p:nvPr/>
        </p:nvGraphicFramePr>
        <p:xfrm>
          <a:off x="5257800" y="2222500"/>
          <a:ext cx="3016250" cy="765175"/>
        </p:xfrm>
        <a:graphic>
          <a:graphicData uri="http://schemas.openxmlformats.org/presentationml/2006/ole">
            <mc:AlternateContent xmlns:mc="http://schemas.openxmlformats.org/markup-compatibility/2006">
              <mc:Choice xmlns:v="urn:schemas-microsoft-com:vml" Requires="v">
                <p:oleObj spid="_x0000_s33806" name="Equation" r:id="rId13" imgW="40538400" imgH="10363200" progId="Equation.3">
                  <p:embed/>
                </p:oleObj>
              </mc:Choice>
              <mc:Fallback>
                <p:oleObj name="Equation" r:id="rId13" imgW="40538400" imgH="103632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7800" y="2222500"/>
                        <a:ext cx="3016250" cy="765175"/>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0183" name="Object 9"/>
          <p:cNvGraphicFramePr>
            <a:graphicFrameLocks noChangeAspect="1"/>
          </p:cNvGraphicFramePr>
          <p:nvPr/>
        </p:nvGraphicFramePr>
        <p:xfrm>
          <a:off x="4872038" y="3119438"/>
          <a:ext cx="3857625" cy="908050"/>
        </p:xfrm>
        <a:graphic>
          <a:graphicData uri="http://schemas.openxmlformats.org/presentationml/2006/ole">
            <mc:AlternateContent xmlns:mc="http://schemas.openxmlformats.org/markup-compatibility/2006">
              <mc:Choice xmlns:v="urn:schemas-microsoft-com:vml" Requires="v">
                <p:oleObj spid="_x0000_s33807" name="公式" r:id="rId15" imgW="1765300" imgH="431800" progId="Equation.3">
                  <p:embed/>
                </p:oleObj>
              </mc:Choice>
              <mc:Fallback>
                <p:oleObj name="公式" r:id="rId15" imgW="1765300" imgH="4318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72038" y="3119438"/>
                        <a:ext cx="3857625" cy="9080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18" name="Text Box 12"/>
          <p:cNvSpPr txBox="1">
            <a:spLocks noChangeArrowheads="1"/>
          </p:cNvSpPr>
          <p:nvPr/>
        </p:nvSpPr>
        <p:spPr bwMode="auto">
          <a:xfrm>
            <a:off x="1493838" y="2722563"/>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19" name="Text Box 12"/>
          <p:cNvSpPr txBox="1">
            <a:spLocks noChangeArrowheads="1"/>
          </p:cNvSpPr>
          <p:nvPr/>
        </p:nvSpPr>
        <p:spPr bwMode="auto">
          <a:xfrm>
            <a:off x="2276475" y="2047875"/>
            <a:ext cx="381000" cy="584200"/>
          </a:xfrm>
          <a:prstGeom prst="rect">
            <a:avLst/>
          </a:prstGeom>
          <a:noFill/>
          <a:ln w="9525">
            <a:noFill/>
            <a:miter lim="800000"/>
            <a:headEnd/>
            <a:tailEnd/>
          </a:ln>
        </p:spPr>
        <p:txBody>
          <a:bodyPr>
            <a:spAutoFit/>
          </a:bodyPr>
          <a:lstStyle/>
          <a:p>
            <a:pPr algn="ctr" eaLnBrk="1" hangingPunct="1">
              <a:spcBef>
                <a:spcPct val="50000"/>
              </a:spcBef>
            </a:pPr>
            <a:r>
              <a:rPr lang="en-US" altLang="zh-CN" sz="3200" b="1">
                <a:solidFill>
                  <a:srgbClr val="FF3300"/>
                </a:solidFill>
                <a:ea typeface="黑体" pitchFamily="49" charset="-122"/>
              </a:rPr>
              <a:t>-</a:t>
            </a:r>
            <a:endParaRPr lang="zh-CN" altLang="en-US" sz="3200" b="1">
              <a:solidFill>
                <a:srgbClr val="FF3300"/>
              </a:solidFill>
              <a:ea typeface="黑体" pitchFamily="49" charset="-122"/>
            </a:endParaRPr>
          </a:p>
        </p:txBody>
      </p:sp>
      <p:sp>
        <p:nvSpPr>
          <p:cNvPr id="22" name="Text Box 12"/>
          <p:cNvSpPr txBox="1">
            <a:spLocks noChangeArrowheads="1"/>
          </p:cNvSpPr>
          <p:nvPr/>
        </p:nvSpPr>
        <p:spPr bwMode="auto">
          <a:xfrm>
            <a:off x="1112838" y="3803650"/>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0000FF"/>
                </a:solidFill>
                <a:ea typeface="黑体" pitchFamily="49" charset="-122"/>
              </a:rPr>
              <a:t>＋</a:t>
            </a:r>
          </a:p>
        </p:txBody>
      </p:sp>
      <p:sp>
        <p:nvSpPr>
          <p:cNvPr id="24" name="Text Box 12"/>
          <p:cNvSpPr txBox="1">
            <a:spLocks noChangeArrowheads="1"/>
          </p:cNvSpPr>
          <p:nvPr/>
        </p:nvSpPr>
        <p:spPr bwMode="auto">
          <a:xfrm>
            <a:off x="2509838" y="2170113"/>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0000FF"/>
                </a:solidFill>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8">
                                            <p:txEl>
                                              <p:pRg st="0" end="0"/>
                                            </p:txEl>
                                          </p:spTgt>
                                        </p:tgtEl>
                                        <p:attrNameLst>
                                          <p:attrName>style.visibility</p:attrName>
                                        </p:attrNameLst>
                                      </p:cBhvr>
                                      <p:to>
                                        <p:strVal val="visible"/>
                                      </p:to>
                                    </p:set>
                                    <p:animEffect transition="in" filter="wipe(left)">
                                      <p:cBhvr>
                                        <p:cTn id="7" dur="500"/>
                                        <p:tgtEl>
                                          <p:spTgt spid="573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8">
                                            <p:txEl>
                                              <p:pRg st="1" end="1"/>
                                            </p:txEl>
                                          </p:spTgt>
                                        </p:tgtEl>
                                        <p:attrNameLst>
                                          <p:attrName>style.visibility</p:attrName>
                                        </p:attrNameLst>
                                      </p:cBhvr>
                                      <p:to>
                                        <p:strVal val="visible"/>
                                      </p:to>
                                    </p:set>
                                    <p:animEffect transition="in" filter="wipe(left)">
                                      <p:cBhvr>
                                        <p:cTn id="12" dur="500"/>
                                        <p:tgtEl>
                                          <p:spTgt spid="573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48">
                                            <p:txEl>
                                              <p:pRg st="2" end="2"/>
                                            </p:txEl>
                                          </p:spTgt>
                                        </p:tgtEl>
                                        <p:attrNameLst>
                                          <p:attrName>style.visibility</p:attrName>
                                        </p:attrNameLst>
                                      </p:cBhvr>
                                      <p:to>
                                        <p:strVal val="visible"/>
                                      </p:to>
                                    </p:set>
                                    <p:animEffect transition="in" filter="wipe(left)">
                                      <p:cBhvr>
                                        <p:cTn id="17" dur="500"/>
                                        <p:tgtEl>
                                          <p:spTgt spid="573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348">
                                            <p:txEl>
                                              <p:pRg st="3" end="3"/>
                                            </p:txEl>
                                          </p:spTgt>
                                        </p:tgtEl>
                                        <p:attrNameLst>
                                          <p:attrName>style.visibility</p:attrName>
                                        </p:attrNameLst>
                                      </p:cBhvr>
                                      <p:to>
                                        <p:strVal val="visible"/>
                                      </p:to>
                                    </p:set>
                                    <p:animEffect transition="in" filter="wipe(left)">
                                      <p:cBhvr>
                                        <p:cTn id="22" dur="500"/>
                                        <p:tgtEl>
                                          <p:spTgt spid="573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linds(horizontal)">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linds(horizontal)">
                                      <p:cBhvr>
                                        <p:cTn id="58" dur="5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blinds(horizontal)">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ipe(left)">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740359"/>
                                        </p:tgtEl>
                                        <p:attrNameLst>
                                          <p:attrName>style.visibility</p:attrName>
                                        </p:attrNameLst>
                                      </p:cBhvr>
                                      <p:to>
                                        <p:strVal val="visible"/>
                                      </p:to>
                                    </p:set>
                                    <p:animEffect transition="in" filter="wipe(left)">
                                      <p:cBhvr>
                                        <p:cTn id="73" dur="500"/>
                                        <p:tgtEl>
                                          <p:spTgt spid="740359"/>
                                        </p:tgtEl>
                                      </p:cBhvr>
                                    </p:animEffect>
                                  </p:childTnLst>
                                </p:cTn>
                              </p:par>
                            </p:childTnLst>
                          </p:cTn>
                        </p:par>
                      </p:childTnLst>
                    </p:cTn>
                  </p:par>
                  <p:par>
                    <p:cTn id="74" fill="hold">
                      <p:stCondLst>
                        <p:cond delay="indefinite"/>
                      </p:stCondLst>
                      <p:childTnLst>
                        <p:par>
                          <p:cTn id="75" fill="hold">
                            <p:stCondLst>
                              <p:cond delay="0"/>
                            </p:stCondLst>
                            <p:childTnLst>
                              <p:par>
                                <p:cTn id="76" presetID="6" presetClass="emph" presetSubtype="0" fill="hold" grpId="1" nodeType="clickEffect">
                                  <p:stCondLst>
                                    <p:cond delay="0"/>
                                  </p:stCondLst>
                                  <p:childTnLst>
                                    <p:animScale>
                                      <p:cBhvr>
                                        <p:cTn id="77" dur="2000" fill="hold"/>
                                        <p:tgtEl>
                                          <p:spTgt spid="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uild="p" autoUpdateAnimBg="0"/>
      <p:bldP spid="9" grpId="0" animBg="1" autoUpdateAnimBg="0"/>
      <p:bldP spid="9" grpId="1" animBg="1"/>
      <p:bldP spid="13" grpId="0" animBg="1"/>
      <p:bldP spid="14" grpId="0" animBg="1"/>
      <p:bldP spid="15" grpId="0" animBg="1"/>
      <p:bldP spid="16" grpId="0" animBg="1"/>
      <p:bldP spid="18" grpId="0"/>
      <p:bldP spid="19" grpId="0"/>
      <p:bldP spid="22" grpId="0"/>
      <p:bldP spid="2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603500" y="3806825"/>
            <a:ext cx="1752600" cy="2503488"/>
            <a:chOff x="4224" y="1728"/>
            <a:chExt cx="1104" cy="1577"/>
          </a:xfrm>
        </p:grpSpPr>
        <p:sp>
          <p:nvSpPr>
            <p:cNvPr id="130066" name="Text Box 4"/>
            <p:cNvSpPr txBox="1">
              <a:spLocks noChangeArrowheads="1"/>
            </p:cNvSpPr>
            <p:nvPr/>
          </p:nvSpPr>
          <p:spPr bwMode="auto">
            <a:xfrm>
              <a:off x="5081" y="3017"/>
              <a:ext cx="201" cy="288"/>
            </a:xfrm>
            <a:prstGeom prst="rect">
              <a:avLst/>
            </a:prstGeom>
            <a:noFill/>
            <a:ln w="9525">
              <a:noFill/>
              <a:miter lim="800000"/>
              <a:headEnd/>
              <a:tailEnd/>
            </a:ln>
          </p:spPr>
          <p:txBody>
            <a:bodyPr wrap="none" anchor="ctr">
              <a:spAutoFit/>
            </a:bodyPr>
            <a:lstStyle/>
            <a:p>
              <a:pPr algn="ctr" eaLnBrk="1" hangingPunct="1"/>
              <a:r>
                <a:rPr lang="en-US" altLang="zh-CN" b="1">
                  <a:solidFill>
                    <a:srgbClr val="FF3300"/>
                  </a:solidFill>
                </a:rPr>
                <a:t>e</a:t>
              </a:r>
              <a:endParaRPr lang="en-US" altLang="zh-CN">
                <a:solidFill>
                  <a:srgbClr val="FF3300"/>
                </a:solidFill>
              </a:endParaRPr>
            </a:p>
          </p:txBody>
        </p:sp>
        <p:sp>
          <p:nvSpPr>
            <p:cNvPr id="130067" name="Text Box 5"/>
            <p:cNvSpPr txBox="1">
              <a:spLocks noChangeArrowheads="1"/>
            </p:cNvSpPr>
            <p:nvPr/>
          </p:nvSpPr>
          <p:spPr bwMode="auto">
            <a:xfrm>
              <a:off x="4988" y="1728"/>
              <a:ext cx="340" cy="288"/>
            </a:xfrm>
            <a:prstGeom prst="rect">
              <a:avLst/>
            </a:prstGeom>
            <a:noFill/>
            <a:ln w="9525">
              <a:noFill/>
              <a:miter lim="800000"/>
              <a:headEnd/>
              <a:tailEnd/>
            </a:ln>
          </p:spPr>
          <p:txBody>
            <a:bodyPr anchor="ctr">
              <a:spAutoFit/>
            </a:bodyPr>
            <a:lstStyle/>
            <a:p>
              <a:pPr algn="ctr" eaLnBrk="1" hangingPunct="1"/>
              <a:r>
                <a:rPr lang="en-US" altLang="zh-CN" b="1">
                  <a:solidFill>
                    <a:srgbClr val="FF3300"/>
                  </a:solidFill>
                </a:rPr>
                <a:t>c</a:t>
              </a:r>
              <a:endParaRPr lang="en-US" altLang="zh-CN">
                <a:solidFill>
                  <a:srgbClr val="FF3300"/>
                </a:solidFill>
              </a:endParaRPr>
            </a:p>
          </p:txBody>
        </p:sp>
        <p:sp>
          <p:nvSpPr>
            <p:cNvPr id="130068" name="Text Box 6"/>
            <p:cNvSpPr txBox="1">
              <a:spLocks noChangeArrowheads="1"/>
            </p:cNvSpPr>
            <p:nvPr/>
          </p:nvSpPr>
          <p:spPr bwMode="auto">
            <a:xfrm>
              <a:off x="4224" y="2544"/>
              <a:ext cx="223" cy="288"/>
            </a:xfrm>
            <a:prstGeom prst="rect">
              <a:avLst/>
            </a:prstGeom>
            <a:noFill/>
            <a:ln w="9525">
              <a:noFill/>
              <a:miter lim="800000"/>
              <a:headEnd/>
              <a:tailEnd/>
            </a:ln>
          </p:spPr>
          <p:txBody>
            <a:bodyPr wrap="none" anchor="ctr">
              <a:spAutoFit/>
            </a:bodyPr>
            <a:lstStyle/>
            <a:p>
              <a:pPr algn="ctr" eaLnBrk="1" hangingPunct="1"/>
              <a:r>
                <a:rPr lang="en-US" altLang="zh-CN" b="1">
                  <a:solidFill>
                    <a:srgbClr val="FF3300"/>
                  </a:solidFill>
                </a:rPr>
                <a:t>b</a:t>
              </a:r>
              <a:endParaRPr lang="en-US" altLang="zh-CN">
                <a:solidFill>
                  <a:srgbClr val="FF3300"/>
                </a:solidFill>
              </a:endParaRPr>
            </a:p>
          </p:txBody>
        </p:sp>
        <p:sp>
          <p:nvSpPr>
            <p:cNvPr id="130069" name="Oval 7"/>
            <p:cNvSpPr>
              <a:spLocks noChangeArrowheads="1"/>
            </p:cNvSpPr>
            <p:nvPr/>
          </p:nvSpPr>
          <p:spPr bwMode="auto">
            <a:xfrm>
              <a:off x="4244" y="2450"/>
              <a:ext cx="96" cy="96"/>
            </a:xfrm>
            <a:prstGeom prst="ellipse">
              <a:avLst/>
            </a:prstGeom>
            <a:noFill/>
            <a:ln w="38100">
              <a:solidFill>
                <a:schemeClr val="tx1"/>
              </a:solidFill>
              <a:round/>
              <a:headEnd/>
              <a:tailEnd/>
            </a:ln>
          </p:spPr>
          <p:txBody>
            <a:bodyPr wrap="none" anchor="ctr"/>
            <a:lstStyle/>
            <a:p>
              <a:pPr algn="ctr" eaLnBrk="1" hangingPunct="1"/>
              <a:endParaRPr lang="zh-CN" altLang="en-US"/>
            </a:p>
          </p:txBody>
        </p:sp>
        <p:sp>
          <p:nvSpPr>
            <p:cNvPr id="130070" name="Line 8"/>
            <p:cNvSpPr>
              <a:spLocks noChangeShapeType="1"/>
            </p:cNvSpPr>
            <p:nvPr/>
          </p:nvSpPr>
          <p:spPr bwMode="auto">
            <a:xfrm>
              <a:off x="4628" y="2294"/>
              <a:ext cx="0" cy="432"/>
            </a:xfrm>
            <a:prstGeom prst="line">
              <a:avLst/>
            </a:prstGeom>
            <a:noFill/>
            <a:ln w="38100">
              <a:solidFill>
                <a:schemeClr val="tx1"/>
              </a:solidFill>
              <a:round/>
              <a:headEnd/>
              <a:tailEnd/>
            </a:ln>
          </p:spPr>
          <p:txBody>
            <a:bodyPr wrap="none" anchor="ctr"/>
            <a:lstStyle/>
            <a:p>
              <a:endParaRPr lang="zh-CN" altLang="en-US"/>
            </a:p>
          </p:txBody>
        </p:sp>
        <p:sp>
          <p:nvSpPr>
            <p:cNvPr id="130071" name="Line 9"/>
            <p:cNvSpPr>
              <a:spLocks noChangeShapeType="1"/>
            </p:cNvSpPr>
            <p:nvPr/>
          </p:nvSpPr>
          <p:spPr bwMode="auto">
            <a:xfrm flipV="1">
              <a:off x="4628" y="2306"/>
              <a:ext cx="336" cy="144"/>
            </a:xfrm>
            <a:prstGeom prst="line">
              <a:avLst/>
            </a:prstGeom>
            <a:noFill/>
            <a:ln w="38100">
              <a:solidFill>
                <a:schemeClr val="tx1"/>
              </a:solidFill>
              <a:round/>
              <a:headEnd/>
              <a:tailEnd/>
            </a:ln>
          </p:spPr>
          <p:txBody>
            <a:bodyPr wrap="none" anchor="ctr"/>
            <a:lstStyle/>
            <a:p>
              <a:endParaRPr lang="zh-CN" altLang="en-US"/>
            </a:p>
          </p:txBody>
        </p:sp>
        <p:sp>
          <p:nvSpPr>
            <p:cNvPr id="130072" name="Line 10"/>
            <p:cNvSpPr>
              <a:spLocks noChangeShapeType="1"/>
            </p:cNvSpPr>
            <p:nvPr/>
          </p:nvSpPr>
          <p:spPr bwMode="auto">
            <a:xfrm>
              <a:off x="4628" y="2546"/>
              <a:ext cx="336" cy="144"/>
            </a:xfrm>
            <a:prstGeom prst="line">
              <a:avLst/>
            </a:prstGeom>
            <a:noFill/>
            <a:ln w="38100">
              <a:solidFill>
                <a:schemeClr val="tx1"/>
              </a:solidFill>
              <a:round/>
              <a:headEnd/>
              <a:tailEnd type="stealth" w="med" len="lg"/>
            </a:ln>
          </p:spPr>
          <p:txBody>
            <a:bodyPr wrap="none" anchor="ctr"/>
            <a:lstStyle/>
            <a:p>
              <a:endParaRPr lang="zh-CN" altLang="en-US"/>
            </a:p>
          </p:txBody>
        </p:sp>
        <p:sp>
          <p:nvSpPr>
            <p:cNvPr id="130073" name="Line 11"/>
            <p:cNvSpPr>
              <a:spLocks noChangeShapeType="1"/>
            </p:cNvSpPr>
            <p:nvPr/>
          </p:nvSpPr>
          <p:spPr bwMode="auto">
            <a:xfrm flipH="1">
              <a:off x="4340" y="2498"/>
              <a:ext cx="288" cy="0"/>
            </a:xfrm>
            <a:prstGeom prst="line">
              <a:avLst/>
            </a:prstGeom>
            <a:noFill/>
            <a:ln w="25400">
              <a:solidFill>
                <a:schemeClr val="tx1"/>
              </a:solidFill>
              <a:round/>
              <a:headEnd/>
              <a:tailEnd/>
            </a:ln>
          </p:spPr>
          <p:txBody>
            <a:bodyPr wrap="none" anchor="ctr"/>
            <a:lstStyle/>
            <a:p>
              <a:endParaRPr lang="zh-CN" altLang="en-US"/>
            </a:p>
          </p:txBody>
        </p:sp>
        <p:sp>
          <p:nvSpPr>
            <p:cNvPr id="130074" name="Line 12"/>
            <p:cNvSpPr>
              <a:spLocks noChangeShapeType="1"/>
            </p:cNvSpPr>
            <p:nvPr/>
          </p:nvSpPr>
          <p:spPr bwMode="auto">
            <a:xfrm flipV="1">
              <a:off x="4964" y="1922"/>
              <a:ext cx="0" cy="384"/>
            </a:xfrm>
            <a:prstGeom prst="line">
              <a:avLst/>
            </a:prstGeom>
            <a:noFill/>
            <a:ln w="25400">
              <a:solidFill>
                <a:schemeClr val="tx1"/>
              </a:solidFill>
              <a:round/>
              <a:headEnd/>
              <a:tailEnd/>
            </a:ln>
          </p:spPr>
          <p:txBody>
            <a:bodyPr wrap="none" anchor="ctr"/>
            <a:lstStyle/>
            <a:p>
              <a:endParaRPr lang="zh-CN" altLang="en-US"/>
            </a:p>
          </p:txBody>
        </p:sp>
        <p:sp>
          <p:nvSpPr>
            <p:cNvPr id="130075" name="Line 13"/>
            <p:cNvSpPr>
              <a:spLocks noChangeShapeType="1"/>
            </p:cNvSpPr>
            <p:nvPr/>
          </p:nvSpPr>
          <p:spPr bwMode="auto">
            <a:xfrm>
              <a:off x="4952" y="2678"/>
              <a:ext cx="0" cy="432"/>
            </a:xfrm>
            <a:prstGeom prst="line">
              <a:avLst/>
            </a:prstGeom>
            <a:noFill/>
            <a:ln w="25400">
              <a:solidFill>
                <a:schemeClr val="tx1"/>
              </a:solidFill>
              <a:round/>
              <a:headEnd/>
              <a:tailEnd/>
            </a:ln>
          </p:spPr>
          <p:txBody>
            <a:bodyPr wrap="none" anchor="ctr"/>
            <a:lstStyle/>
            <a:p>
              <a:endParaRPr lang="zh-CN" altLang="en-US"/>
            </a:p>
          </p:txBody>
        </p:sp>
        <p:sp>
          <p:nvSpPr>
            <p:cNvPr id="130076" name="Oval 14"/>
            <p:cNvSpPr>
              <a:spLocks noChangeArrowheads="1"/>
            </p:cNvSpPr>
            <p:nvPr/>
          </p:nvSpPr>
          <p:spPr bwMode="auto">
            <a:xfrm>
              <a:off x="4916" y="1826"/>
              <a:ext cx="96" cy="96"/>
            </a:xfrm>
            <a:prstGeom prst="ellipse">
              <a:avLst/>
            </a:prstGeom>
            <a:noFill/>
            <a:ln w="38100">
              <a:solidFill>
                <a:schemeClr val="tx1"/>
              </a:solidFill>
              <a:round/>
              <a:headEnd/>
              <a:tailEnd/>
            </a:ln>
          </p:spPr>
          <p:txBody>
            <a:bodyPr wrap="none" anchor="ctr"/>
            <a:lstStyle/>
            <a:p>
              <a:pPr algn="ctr" eaLnBrk="1" hangingPunct="1"/>
              <a:endParaRPr lang="zh-CN" altLang="en-US"/>
            </a:p>
          </p:txBody>
        </p:sp>
        <p:sp>
          <p:nvSpPr>
            <p:cNvPr id="130077" name="Oval 15"/>
            <p:cNvSpPr>
              <a:spLocks noChangeArrowheads="1"/>
            </p:cNvSpPr>
            <p:nvPr/>
          </p:nvSpPr>
          <p:spPr bwMode="auto">
            <a:xfrm>
              <a:off x="4916" y="3122"/>
              <a:ext cx="96" cy="96"/>
            </a:xfrm>
            <a:prstGeom prst="ellipse">
              <a:avLst/>
            </a:prstGeom>
            <a:noFill/>
            <a:ln w="38100">
              <a:solidFill>
                <a:schemeClr val="tx1"/>
              </a:solidFill>
              <a:round/>
              <a:headEnd/>
              <a:tailEnd/>
            </a:ln>
          </p:spPr>
          <p:txBody>
            <a:bodyPr wrap="none" anchor="ctr"/>
            <a:lstStyle/>
            <a:p>
              <a:pPr algn="ctr" eaLnBrk="1" hangingPunct="1"/>
              <a:endParaRPr lang="zh-CN" altLang="en-US"/>
            </a:p>
          </p:txBody>
        </p:sp>
      </p:grpSp>
      <p:pic>
        <p:nvPicPr>
          <p:cNvPr id="2013185" name="Picture 1"/>
          <p:cNvPicPr>
            <a:picLocks noChangeAspect="1" noChangeArrowheads="1"/>
          </p:cNvPicPr>
          <p:nvPr/>
        </p:nvPicPr>
        <p:blipFill>
          <a:blip r:embed="rId2"/>
          <a:srcRect/>
          <a:stretch>
            <a:fillRect/>
          </a:stretch>
        </p:blipFill>
        <p:spPr bwMode="auto">
          <a:xfrm>
            <a:off x="0" y="787400"/>
            <a:ext cx="3429000" cy="2771775"/>
          </a:xfrm>
          <a:prstGeom prst="rect">
            <a:avLst/>
          </a:prstGeom>
          <a:noFill/>
          <a:ln w="9525">
            <a:noFill/>
            <a:miter lim="800000"/>
            <a:headEnd/>
            <a:tailEnd/>
          </a:ln>
        </p:spPr>
      </p:pic>
      <p:pic>
        <p:nvPicPr>
          <p:cNvPr id="2013186" name="Picture 2"/>
          <p:cNvPicPr>
            <a:picLocks noChangeAspect="1" noChangeArrowheads="1"/>
          </p:cNvPicPr>
          <p:nvPr/>
        </p:nvPicPr>
        <p:blipFill>
          <a:blip r:embed="rId3"/>
          <a:srcRect/>
          <a:stretch>
            <a:fillRect/>
          </a:stretch>
        </p:blipFill>
        <p:spPr bwMode="auto">
          <a:xfrm>
            <a:off x="3929063" y="874713"/>
            <a:ext cx="2705100" cy="1943100"/>
          </a:xfrm>
          <a:prstGeom prst="rect">
            <a:avLst/>
          </a:prstGeom>
          <a:noFill/>
          <a:ln w="9525">
            <a:noFill/>
            <a:miter lim="800000"/>
            <a:headEnd/>
            <a:tailEnd/>
          </a:ln>
        </p:spPr>
      </p:pic>
      <p:grpSp>
        <p:nvGrpSpPr>
          <p:cNvPr id="3" name="组合 20"/>
          <p:cNvGrpSpPr>
            <a:grpSpLocks/>
          </p:cNvGrpSpPr>
          <p:nvPr/>
        </p:nvGrpSpPr>
        <p:grpSpPr bwMode="auto">
          <a:xfrm>
            <a:off x="5326063" y="2811463"/>
            <a:ext cx="3608387" cy="3484562"/>
            <a:chOff x="5325641" y="2811437"/>
            <a:chExt cx="3608637" cy="3485289"/>
          </a:xfrm>
        </p:grpSpPr>
        <p:pic>
          <p:nvPicPr>
            <p:cNvPr id="130062" name="Picture 2"/>
            <p:cNvPicPr>
              <a:picLocks noChangeAspect="1" noChangeArrowheads="1"/>
            </p:cNvPicPr>
            <p:nvPr/>
          </p:nvPicPr>
          <p:blipFill>
            <a:blip r:embed="rId4"/>
            <a:srcRect/>
            <a:stretch>
              <a:fillRect/>
            </a:stretch>
          </p:blipFill>
          <p:spPr bwMode="auto">
            <a:xfrm>
              <a:off x="5325641" y="2811437"/>
              <a:ext cx="3559052" cy="3485289"/>
            </a:xfrm>
            <a:prstGeom prst="rect">
              <a:avLst/>
            </a:prstGeom>
            <a:noFill/>
            <a:ln w="9525">
              <a:noFill/>
              <a:miter lim="800000"/>
              <a:headEnd/>
              <a:tailEnd/>
            </a:ln>
          </p:spPr>
        </p:pic>
        <p:sp>
          <p:nvSpPr>
            <p:cNvPr id="130063" name="Text Box 4"/>
            <p:cNvSpPr txBox="1">
              <a:spLocks noChangeArrowheads="1"/>
            </p:cNvSpPr>
            <p:nvPr/>
          </p:nvSpPr>
          <p:spPr bwMode="auto">
            <a:xfrm>
              <a:off x="6921951" y="4290706"/>
              <a:ext cx="319088" cy="457200"/>
            </a:xfrm>
            <a:prstGeom prst="rect">
              <a:avLst/>
            </a:prstGeom>
            <a:noFill/>
            <a:ln w="9525">
              <a:noFill/>
              <a:miter lim="800000"/>
              <a:headEnd/>
              <a:tailEnd/>
            </a:ln>
          </p:spPr>
          <p:txBody>
            <a:bodyPr wrap="none" anchor="ctr">
              <a:spAutoFit/>
            </a:bodyPr>
            <a:lstStyle/>
            <a:p>
              <a:pPr algn="ctr" eaLnBrk="1" hangingPunct="1"/>
              <a:r>
                <a:rPr lang="en-US" altLang="zh-CN" b="1">
                  <a:solidFill>
                    <a:srgbClr val="FF3300"/>
                  </a:solidFill>
                </a:rPr>
                <a:t>e</a:t>
              </a:r>
              <a:endParaRPr lang="en-US" altLang="zh-CN">
                <a:solidFill>
                  <a:srgbClr val="FF3300"/>
                </a:solidFill>
              </a:endParaRPr>
            </a:p>
          </p:txBody>
        </p:sp>
        <p:sp>
          <p:nvSpPr>
            <p:cNvPr id="130064" name="Text Box 4"/>
            <p:cNvSpPr txBox="1">
              <a:spLocks noChangeArrowheads="1"/>
            </p:cNvSpPr>
            <p:nvPr/>
          </p:nvSpPr>
          <p:spPr bwMode="auto">
            <a:xfrm>
              <a:off x="5429441" y="3537846"/>
              <a:ext cx="356188" cy="461665"/>
            </a:xfrm>
            <a:prstGeom prst="rect">
              <a:avLst/>
            </a:prstGeom>
            <a:noFill/>
            <a:ln w="9525">
              <a:noFill/>
              <a:miter lim="800000"/>
              <a:headEnd/>
              <a:tailEnd/>
            </a:ln>
          </p:spPr>
          <p:txBody>
            <a:bodyPr wrap="none" anchor="ctr">
              <a:spAutoFit/>
            </a:bodyPr>
            <a:lstStyle/>
            <a:p>
              <a:pPr algn="ctr" eaLnBrk="1" hangingPunct="1"/>
              <a:r>
                <a:rPr lang="en-US" altLang="zh-CN" b="1">
                  <a:solidFill>
                    <a:srgbClr val="FF3300"/>
                  </a:solidFill>
                </a:rPr>
                <a:t>b</a:t>
              </a:r>
              <a:endParaRPr lang="en-US" altLang="zh-CN">
                <a:solidFill>
                  <a:srgbClr val="FF3300"/>
                </a:solidFill>
              </a:endParaRPr>
            </a:p>
          </p:txBody>
        </p:sp>
        <p:sp>
          <p:nvSpPr>
            <p:cNvPr id="130065" name="Text Box 4"/>
            <p:cNvSpPr txBox="1">
              <a:spLocks noChangeArrowheads="1"/>
            </p:cNvSpPr>
            <p:nvPr/>
          </p:nvSpPr>
          <p:spPr bwMode="auto">
            <a:xfrm>
              <a:off x="8613356" y="3537846"/>
              <a:ext cx="320922" cy="461665"/>
            </a:xfrm>
            <a:prstGeom prst="rect">
              <a:avLst/>
            </a:prstGeom>
            <a:noFill/>
            <a:ln w="9525">
              <a:noFill/>
              <a:miter lim="800000"/>
              <a:headEnd/>
              <a:tailEnd/>
            </a:ln>
          </p:spPr>
          <p:txBody>
            <a:bodyPr wrap="none" anchor="ctr">
              <a:spAutoFit/>
            </a:bodyPr>
            <a:lstStyle/>
            <a:p>
              <a:pPr algn="ctr" eaLnBrk="1" hangingPunct="1"/>
              <a:r>
                <a:rPr lang="en-US" altLang="zh-CN">
                  <a:solidFill>
                    <a:srgbClr val="FF3300"/>
                  </a:solidFill>
                </a:rPr>
                <a:t>c</a:t>
              </a:r>
            </a:p>
          </p:txBody>
        </p:sp>
      </p:grpSp>
      <p:sp>
        <p:nvSpPr>
          <p:cNvPr id="24" name="AutoShape 11"/>
          <p:cNvSpPr>
            <a:spLocks/>
          </p:cNvSpPr>
          <p:nvPr/>
        </p:nvSpPr>
        <p:spPr bwMode="auto">
          <a:xfrm>
            <a:off x="6842125" y="1985963"/>
            <a:ext cx="2133600" cy="808037"/>
          </a:xfrm>
          <a:prstGeom prst="borderCallout2">
            <a:avLst>
              <a:gd name="adj1" fmla="val 14144"/>
              <a:gd name="adj2" fmla="val -3569"/>
              <a:gd name="adj3" fmla="val 14144"/>
              <a:gd name="adj4" fmla="val -11903"/>
              <a:gd name="adj5" fmla="val 153148"/>
              <a:gd name="adj6" fmla="val -16287"/>
            </a:avLst>
          </a:prstGeom>
          <a:solidFill>
            <a:srgbClr val="FFFFCC"/>
          </a:solidFill>
          <a:ln w="9525">
            <a:solidFill>
              <a:srgbClr val="FF3300"/>
            </a:solidFill>
            <a:miter lim="800000"/>
            <a:headEnd/>
            <a:tailEnd/>
          </a:ln>
        </p:spPr>
        <p:txBody>
          <a:bodyPr/>
          <a:lstStyle/>
          <a:p>
            <a:pPr algn="ctr"/>
            <a:r>
              <a:rPr lang="zh-CN" altLang="en-US">
                <a:solidFill>
                  <a:srgbClr val="000000"/>
                </a:solidFill>
              </a:rPr>
              <a:t>放大电路的</a:t>
            </a:r>
          </a:p>
          <a:p>
            <a:pPr algn="ctr"/>
            <a:r>
              <a:rPr lang="zh-CN" altLang="en-US">
                <a:solidFill>
                  <a:srgbClr val="000000"/>
                </a:solidFill>
              </a:rPr>
              <a:t>交流等效电路</a:t>
            </a:r>
          </a:p>
        </p:txBody>
      </p:sp>
      <p:sp>
        <p:nvSpPr>
          <p:cNvPr id="25" name="椭圆 24"/>
          <p:cNvSpPr/>
          <p:nvPr/>
        </p:nvSpPr>
        <p:spPr bwMode="auto">
          <a:xfrm>
            <a:off x="5680075" y="3182938"/>
            <a:ext cx="2860675" cy="1884362"/>
          </a:xfrm>
          <a:prstGeom prst="ellipse">
            <a:avLst/>
          </a:prstGeom>
          <a:noFill/>
          <a:ln w="9525" cap="flat" cmpd="sng" algn="ctr">
            <a:solidFill>
              <a:srgbClr val="FF0000"/>
            </a:solidFill>
            <a:prstDash val="solid"/>
            <a:round/>
            <a:headEnd type="none" w="med" len="med"/>
            <a:tailEnd type="none" w="med" len="me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26" name="矩形 25"/>
          <p:cNvSpPr/>
          <p:nvPr/>
        </p:nvSpPr>
        <p:spPr>
          <a:xfrm>
            <a:off x="2638425" y="2978150"/>
            <a:ext cx="2525713" cy="646113"/>
          </a:xfrm>
          <a:prstGeom prst="rect">
            <a:avLst/>
          </a:prstGeom>
          <a:solidFill>
            <a:schemeClr val="accent1">
              <a:lumMod val="20000"/>
              <a:lumOff val="80000"/>
            </a:schemeClr>
          </a:solidFill>
        </p:spPr>
        <p:txBody>
          <a:bodyPr>
            <a:spAutoFit/>
          </a:bodyPr>
          <a:lstStyle/>
          <a:p>
            <a:pPr algn="ctr" eaLnBrk="1" hangingPunct="1">
              <a:defRPr/>
            </a:pPr>
            <a:r>
              <a:rPr lang="en-US" altLang="zh-CN" sz="3600" b="1" i="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E</a:t>
            </a:r>
            <a:r>
              <a:rPr lang="zh-CN" altLang="en-US" sz="3600" b="1" dirty="0">
                <a:solidFill>
                  <a:schemeClr val="tx2"/>
                </a:solidFill>
                <a:latin typeface="新宋体" panose="02010609030101010101" pitchFamily="49" charset="-122"/>
                <a:ea typeface="新宋体" panose="02010609030101010101" pitchFamily="49" charset="-122"/>
              </a:rPr>
              <a:t>＝</a:t>
            </a:r>
            <a:r>
              <a:rPr lang="en-US" altLang="zh-CN" sz="3600" b="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B</a:t>
            </a:r>
            <a:r>
              <a:rPr lang="zh-CN" altLang="en-US" sz="3600" b="1" dirty="0">
                <a:solidFill>
                  <a:schemeClr val="tx2"/>
                </a:solidFill>
                <a:latin typeface="新宋体" panose="02010609030101010101" pitchFamily="49" charset="-122"/>
                <a:ea typeface="新宋体" panose="02010609030101010101" pitchFamily="49" charset="-122"/>
              </a:rPr>
              <a:t>＋</a:t>
            </a:r>
            <a:r>
              <a:rPr lang="en-US" altLang="zh-CN" sz="3600" b="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C</a:t>
            </a:r>
            <a:endParaRPr lang="zh-CN" altLang="en-US" sz="3600" dirty="0"/>
          </a:p>
        </p:txBody>
      </p:sp>
      <p:sp>
        <p:nvSpPr>
          <p:cNvPr id="27" name="Text Box 12"/>
          <p:cNvSpPr txBox="1">
            <a:spLocks noChangeArrowheads="1"/>
          </p:cNvSpPr>
          <p:nvPr/>
        </p:nvSpPr>
        <p:spPr bwMode="auto">
          <a:xfrm>
            <a:off x="1133475" y="1449388"/>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28" name="Text Box 12"/>
          <p:cNvSpPr txBox="1">
            <a:spLocks noChangeArrowheads="1"/>
          </p:cNvSpPr>
          <p:nvPr/>
        </p:nvSpPr>
        <p:spPr bwMode="auto">
          <a:xfrm>
            <a:off x="2005013" y="1038225"/>
            <a:ext cx="381000" cy="584200"/>
          </a:xfrm>
          <a:prstGeom prst="rect">
            <a:avLst/>
          </a:prstGeom>
          <a:noFill/>
          <a:ln w="9525">
            <a:noFill/>
            <a:miter lim="800000"/>
            <a:headEnd/>
            <a:tailEnd/>
          </a:ln>
        </p:spPr>
        <p:txBody>
          <a:bodyPr>
            <a:spAutoFit/>
          </a:bodyPr>
          <a:lstStyle/>
          <a:p>
            <a:pPr algn="ctr" eaLnBrk="1" hangingPunct="1">
              <a:spcBef>
                <a:spcPct val="50000"/>
              </a:spcBef>
            </a:pPr>
            <a:r>
              <a:rPr lang="en-US" altLang="zh-CN" sz="3200" b="1">
                <a:solidFill>
                  <a:srgbClr val="FF3300"/>
                </a:solidFill>
                <a:ea typeface="黑体" pitchFamily="49" charset="-122"/>
              </a:rPr>
              <a:t>-</a:t>
            </a:r>
            <a:endParaRPr lang="zh-CN" altLang="en-US" sz="3200" b="1">
              <a:solidFill>
                <a:srgbClr val="FF3300"/>
              </a:solidFill>
              <a:ea typeface="黑体" pitchFamily="49" charset="-122"/>
            </a:endParaRPr>
          </a:p>
        </p:txBody>
      </p:sp>
      <p:sp>
        <p:nvSpPr>
          <p:cNvPr id="29" name="TextBox 28"/>
          <p:cNvSpPr txBox="1">
            <a:spLocks noChangeArrowheads="1"/>
          </p:cNvSpPr>
          <p:nvPr/>
        </p:nvSpPr>
        <p:spPr bwMode="auto">
          <a:xfrm>
            <a:off x="257175" y="3971925"/>
            <a:ext cx="1928813" cy="1200150"/>
          </a:xfrm>
          <a:prstGeom prst="rect">
            <a:avLst/>
          </a:prstGeom>
          <a:solidFill>
            <a:schemeClr val="accent1"/>
          </a:solidFill>
          <a:ln w="9525">
            <a:noFill/>
            <a:miter lim="800000"/>
            <a:headEnd/>
            <a:tailEnd/>
          </a:ln>
        </p:spPr>
        <p:txBody>
          <a:bodyPr>
            <a:spAutoFit/>
          </a:bodyPr>
          <a:lstStyle/>
          <a:p>
            <a:pPr algn="ctr" eaLnBrk="1" hangingPunct="1"/>
            <a:r>
              <a:rPr lang="en-US" altLang="zh-CN"/>
              <a:t>NPN</a:t>
            </a:r>
            <a:r>
              <a:rPr lang="zh-CN" altLang="en-US"/>
              <a:t>换成</a:t>
            </a:r>
            <a:r>
              <a:rPr lang="en-US" altLang="zh-CN"/>
              <a:t>PNP</a:t>
            </a:r>
            <a:r>
              <a:rPr lang="zh-CN" altLang="en-US"/>
              <a:t>，极性变化吗？</a:t>
            </a:r>
          </a:p>
        </p:txBody>
      </p:sp>
      <p:sp>
        <p:nvSpPr>
          <p:cNvPr id="4" name="文本框 3"/>
          <p:cNvSpPr txBox="1"/>
          <p:nvPr/>
        </p:nvSpPr>
        <p:spPr>
          <a:xfrm>
            <a:off x="1000125" y="234950"/>
            <a:ext cx="3282950" cy="461963"/>
          </a:xfrm>
          <a:prstGeom prst="rect">
            <a:avLst/>
          </a:prstGeom>
          <a:solidFill>
            <a:schemeClr val="accent5"/>
          </a:solidFill>
          <a:ln>
            <a:solidFill>
              <a:schemeClr val="accent1"/>
            </a:solidFill>
          </a:ln>
        </p:spPr>
        <p:txBody>
          <a:bodyPr>
            <a:spAutoFit/>
          </a:bodyPr>
          <a:lstStyle/>
          <a:p>
            <a:pPr algn="ctr">
              <a:defRPr/>
            </a:pPr>
            <a:r>
              <a:rPr lang="zh-CN" altLang="en-US" b="1" dirty="0">
                <a:solidFill>
                  <a:srgbClr val="0000FF"/>
                </a:solidFill>
              </a:rPr>
              <a:t>共射放大电路极性问题</a:t>
            </a:r>
          </a:p>
        </p:txBody>
      </p:sp>
      <p:sp>
        <p:nvSpPr>
          <p:cNvPr id="30" name="文本框 29"/>
          <p:cNvSpPr txBox="1"/>
          <p:nvPr/>
        </p:nvSpPr>
        <p:spPr>
          <a:xfrm>
            <a:off x="5429250" y="279400"/>
            <a:ext cx="2052638" cy="460375"/>
          </a:xfrm>
          <a:prstGeom prst="rect">
            <a:avLst/>
          </a:prstGeom>
          <a:solidFill>
            <a:schemeClr val="accent5"/>
          </a:solidFill>
          <a:ln>
            <a:solidFill>
              <a:schemeClr val="accent1"/>
            </a:solidFill>
          </a:ln>
        </p:spPr>
        <p:txBody>
          <a:bodyPr>
            <a:spAutoFit/>
          </a:bodyPr>
          <a:lstStyle/>
          <a:p>
            <a:pPr algn="ctr">
              <a:defRPr/>
            </a:pPr>
            <a:r>
              <a:rPr lang="zh-CN" altLang="en-US" dirty="0">
                <a:solidFill>
                  <a:srgbClr val="FF0000"/>
                </a:solidFill>
              </a:rPr>
              <a:t>瞬时极性法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13185"/>
                                        </p:tgtEl>
                                        <p:attrNameLst>
                                          <p:attrName>style.visibility</p:attrName>
                                        </p:attrNameLst>
                                      </p:cBhvr>
                                      <p:to>
                                        <p:strVal val="visible"/>
                                      </p:to>
                                    </p:set>
                                    <p:animEffect transition="in" filter="blinds(horizontal)">
                                      <p:cBhvr>
                                        <p:cTn id="7" dur="500"/>
                                        <p:tgtEl>
                                          <p:spTgt spid="20131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13186"/>
                                        </p:tgtEl>
                                        <p:attrNameLst>
                                          <p:attrName>style.visibility</p:attrName>
                                        </p:attrNameLst>
                                      </p:cBhvr>
                                      <p:to>
                                        <p:strVal val="visible"/>
                                      </p:to>
                                    </p:set>
                                    <p:animEffect transition="in" filter="blinds(horizontal)">
                                      <p:cBhvr>
                                        <p:cTn id="12" dur="500"/>
                                        <p:tgtEl>
                                          <p:spTgt spid="20131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linds(horizontal)">
                                      <p:cBhvr>
                                        <p:cTn id="31" dur="500"/>
                                        <p:tgtEl>
                                          <p:spTgt spid="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linds(horizontal)">
                                      <p:cBhvr>
                                        <p:cTn id="36" dur="500"/>
                                        <p:tgtEl>
                                          <p:spTgt spid="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linds(horizontal)">
                                      <p:cBhvr>
                                        <p:cTn id="45" dur="500"/>
                                        <p:tgtEl>
                                          <p:spTgt spid="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blinds(horizontal)">
                                      <p:cBhvr>
                                        <p:cTn id="50" dur="500"/>
                                        <p:tgtEl>
                                          <p:spTgt spid="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blinds(horizontal)">
                                      <p:cBhvr>
                                        <p:cTn id="5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utoUpdateAnimBg="0"/>
      <p:bldP spid="25" grpId="0" animBg="1"/>
      <p:bldP spid="26" grpId="0" animBg="1"/>
      <p:bldP spid="27" grpId="0"/>
      <p:bldP spid="28" grpId="0"/>
      <p:bldP spid="29" grpId="0" animBg="1"/>
      <p:bldP spid="3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3" name="Picture 2" descr="Dz020501"/>
          <p:cNvPicPr>
            <a:picLocks noChangeAspect="1" noChangeArrowheads="1"/>
          </p:cNvPicPr>
          <p:nvPr/>
        </p:nvPicPr>
        <p:blipFill>
          <a:blip r:embed="rId3"/>
          <a:srcRect r="63542" b="10884"/>
          <a:stretch>
            <a:fillRect/>
          </a:stretch>
        </p:blipFill>
        <p:spPr bwMode="auto">
          <a:xfrm>
            <a:off x="647700" y="1257300"/>
            <a:ext cx="2895600" cy="2398713"/>
          </a:xfrm>
          <a:prstGeom prst="rect">
            <a:avLst/>
          </a:prstGeom>
          <a:noFill/>
          <a:ln w="9525">
            <a:noFill/>
            <a:miter lim="800000"/>
            <a:headEnd/>
            <a:tailEnd/>
          </a:ln>
        </p:spPr>
      </p:pic>
      <p:graphicFrame>
        <p:nvGraphicFramePr>
          <p:cNvPr id="5" name="Object 2"/>
          <p:cNvGraphicFramePr>
            <a:graphicFrameLocks noChangeAspect="1"/>
          </p:cNvGraphicFramePr>
          <p:nvPr/>
        </p:nvGraphicFramePr>
        <p:xfrm>
          <a:off x="4791075" y="3400425"/>
          <a:ext cx="3657600" cy="1938338"/>
        </p:xfrm>
        <a:graphic>
          <a:graphicData uri="http://schemas.openxmlformats.org/presentationml/2006/ole">
            <mc:AlternateContent xmlns:mc="http://schemas.openxmlformats.org/markup-compatibility/2006">
              <mc:Choice xmlns:v="urn:schemas-microsoft-com:vml" Requires="v">
                <p:oleObj spid="_x0000_s34819" name="Photo Editor 照片" r:id="rId4" imgW="11841228" imgH="6276190" progId="">
                  <p:embed/>
                </p:oleObj>
              </mc:Choice>
              <mc:Fallback>
                <p:oleObj name="Photo Editor 照片" r:id="rId4" imgW="11841228" imgH="627619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1075" y="3400425"/>
                        <a:ext cx="36576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12" descr="Dz020501"/>
          <p:cNvPicPr>
            <a:picLocks noGrp="1" noChangeAspect="1" noChangeArrowheads="1"/>
          </p:cNvPicPr>
          <p:nvPr>
            <p:ph idx="1"/>
          </p:nvPr>
        </p:nvPicPr>
        <p:blipFill>
          <a:blip r:embed="rId6"/>
          <a:srcRect l="64203" t="14197" b="14822"/>
          <a:stretch>
            <a:fillRect/>
          </a:stretch>
        </p:blipFill>
        <p:spPr bwMode="auto">
          <a:xfrm>
            <a:off x="6148388" y="1800225"/>
            <a:ext cx="2771775" cy="1590675"/>
          </a:xfrm>
          <a:noFill/>
          <a:ln>
            <a:miter lim="800000"/>
            <a:headEnd/>
            <a:tailEnd/>
          </a:ln>
        </p:spPr>
      </p:pic>
      <p:sp>
        <p:nvSpPr>
          <p:cNvPr id="7" name="矩形 6"/>
          <p:cNvSpPr/>
          <p:nvPr/>
        </p:nvSpPr>
        <p:spPr>
          <a:xfrm>
            <a:off x="3827463" y="1063625"/>
            <a:ext cx="2524125" cy="646113"/>
          </a:xfrm>
          <a:prstGeom prst="rect">
            <a:avLst/>
          </a:prstGeom>
          <a:solidFill>
            <a:schemeClr val="accent1">
              <a:lumMod val="20000"/>
              <a:lumOff val="80000"/>
            </a:schemeClr>
          </a:solidFill>
        </p:spPr>
        <p:txBody>
          <a:bodyPr>
            <a:spAutoFit/>
          </a:bodyPr>
          <a:lstStyle/>
          <a:p>
            <a:pPr algn="ctr" eaLnBrk="1" hangingPunct="1">
              <a:defRPr/>
            </a:pPr>
            <a:r>
              <a:rPr lang="en-US" altLang="zh-CN" sz="3600" b="1" i="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E</a:t>
            </a:r>
            <a:r>
              <a:rPr lang="zh-CN" altLang="en-US" sz="3600" b="1" dirty="0">
                <a:solidFill>
                  <a:schemeClr val="tx2"/>
                </a:solidFill>
                <a:latin typeface="新宋体" panose="02010609030101010101" pitchFamily="49" charset="-122"/>
                <a:ea typeface="新宋体" panose="02010609030101010101" pitchFamily="49" charset="-122"/>
              </a:rPr>
              <a:t>＝</a:t>
            </a:r>
            <a:r>
              <a:rPr lang="en-US" altLang="zh-CN" sz="3600" b="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B</a:t>
            </a:r>
            <a:r>
              <a:rPr lang="zh-CN" altLang="en-US" sz="3600" b="1" dirty="0">
                <a:solidFill>
                  <a:schemeClr val="tx2"/>
                </a:solidFill>
                <a:latin typeface="新宋体" panose="02010609030101010101" pitchFamily="49" charset="-122"/>
                <a:ea typeface="新宋体" panose="02010609030101010101" pitchFamily="49" charset="-122"/>
              </a:rPr>
              <a:t>＋</a:t>
            </a:r>
            <a:r>
              <a:rPr lang="en-US" altLang="zh-CN" sz="3600" b="1" dirty="0" err="1">
                <a:solidFill>
                  <a:schemeClr val="tx2"/>
                </a:solidFill>
                <a:latin typeface="新宋体" panose="02010609030101010101" pitchFamily="49" charset="-122"/>
                <a:ea typeface="新宋体" panose="02010609030101010101" pitchFamily="49" charset="-122"/>
              </a:rPr>
              <a:t>i</a:t>
            </a:r>
            <a:r>
              <a:rPr lang="en-US" altLang="zh-CN" sz="3600" b="1" baseline="-25000" dirty="0" err="1">
                <a:solidFill>
                  <a:schemeClr val="tx2"/>
                </a:solidFill>
                <a:latin typeface="新宋体" panose="02010609030101010101" pitchFamily="49" charset="-122"/>
                <a:ea typeface="新宋体" panose="02010609030101010101" pitchFamily="49" charset="-122"/>
              </a:rPr>
              <a:t>C</a:t>
            </a:r>
            <a:endParaRPr lang="zh-CN" altLang="en-US" sz="3600" dirty="0"/>
          </a:p>
        </p:txBody>
      </p:sp>
      <p:sp>
        <p:nvSpPr>
          <p:cNvPr id="8" name="Text Box 12"/>
          <p:cNvSpPr txBox="1">
            <a:spLocks noChangeArrowheads="1"/>
          </p:cNvSpPr>
          <p:nvPr/>
        </p:nvSpPr>
        <p:spPr bwMode="auto">
          <a:xfrm>
            <a:off x="1476375" y="1511300"/>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9" name="Text Box 12"/>
          <p:cNvSpPr txBox="1">
            <a:spLocks noChangeArrowheads="1"/>
          </p:cNvSpPr>
          <p:nvPr/>
        </p:nvSpPr>
        <p:spPr bwMode="auto">
          <a:xfrm>
            <a:off x="2157413" y="2430463"/>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10" name="TextBox 9"/>
          <p:cNvSpPr txBox="1">
            <a:spLocks noChangeArrowheads="1"/>
          </p:cNvSpPr>
          <p:nvPr/>
        </p:nvSpPr>
        <p:spPr bwMode="auto">
          <a:xfrm>
            <a:off x="257175" y="3971925"/>
            <a:ext cx="1928813" cy="1200150"/>
          </a:xfrm>
          <a:prstGeom prst="rect">
            <a:avLst/>
          </a:prstGeom>
          <a:solidFill>
            <a:schemeClr val="accent1"/>
          </a:solidFill>
          <a:ln w="9525">
            <a:noFill/>
            <a:miter lim="800000"/>
            <a:headEnd/>
            <a:tailEnd/>
          </a:ln>
        </p:spPr>
        <p:txBody>
          <a:bodyPr>
            <a:spAutoFit/>
          </a:bodyPr>
          <a:lstStyle/>
          <a:p>
            <a:pPr algn="ctr" eaLnBrk="1" hangingPunct="1"/>
            <a:r>
              <a:rPr lang="en-US" altLang="zh-CN"/>
              <a:t>NPN</a:t>
            </a:r>
            <a:r>
              <a:rPr lang="zh-CN" altLang="en-US"/>
              <a:t>换成</a:t>
            </a:r>
            <a:r>
              <a:rPr lang="en-US" altLang="zh-CN"/>
              <a:t>PNP</a:t>
            </a:r>
            <a:r>
              <a:rPr lang="zh-CN" altLang="en-US"/>
              <a:t>，极性变化吗？</a:t>
            </a:r>
          </a:p>
        </p:txBody>
      </p:sp>
      <p:sp>
        <p:nvSpPr>
          <p:cNvPr id="11" name="文本框 10"/>
          <p:cNvSpPr txBox="1"/>
          <p:nvPr/>
        </p:nvSpPr>
        <p:spPr>
          <a:xfrm>
            <a:off x="1408113" y="285750"/>
            <a:ext cx="3883025" cy="461963"/>
          </a:xfrm>
          <a:prstGeom prst="rect">
            <a:avLst/>
          </a:prstGeom>
          <a:solidFill>
            <a:schemeClr val="accent5"/>
          </a:solidFill>
          <a:ln>
            <a:solidFill>
              <a:schemeClr val="accent1"/>
            </a:solidFill>
          </a:ln>
        </p:spPr>
        <p:txBody>
          <a:bodyPr>
            <a:spAutoFit/>
          </a:bodyPr>
          <a:lstStyle/>
          <a:p>
            <a:pPr algn="ctr">
              <a:defRPr/>
            </a:pPr>
            <a:r>
              <a:rPr lang="zh-CN" altLang="en-US" b="1" dirty="0">
                <a:solidFill>
                  <a:srgbClr val="0000FF"/>
                </a:solidFill>
              </a:rPr>
              <a:t>共集电极放大电路极性问题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outVertic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Dz020504"/>
          <p:cNvPicPr>
            <a:picLocks noChangeAspect="1" noChangeArrowheads="1"/>
          </p:cNvPicPr>
          <p:nvPr/>
        </p:nvPicPr>
        <p:blipFill>
          <a:blip r:embed="rId3"/>
          <a:srcRect l="23656" t="49577" r="23656" b="6854"/>
          <a:stretch>
            <a:fillRect/>
          </a:stretch>
        </p:blipFill>
        <p:spPr bwMode="auto">
          <a:xfrm>
            <a:off x="4587875" y="1435100"/>
            <a:ext cx="3657600" cy="2165350"/>
          </a:xfrm>
          <a:prstGeom prst="rect">
            <a:avLst/>
          </a:prstGeom>
          <a:noFill/>
          <a:ln w="9525">
            <a:noFill/>
            <a:miter lim="800000"/>
            <a:headEnd/>
            <a:tailEnd/>
          </a:ln>
        </p:spPr>
      </p:pic>
      <p:graphicFrame>
        <p:nvGraphicFramePr>
          <p:cNvPr id="52226" name="Object 4"/>
          <p:cNvGraphicFramePr>
            <a:graphicFrameLocks noChangeAspect="1"/>
          </p:cNvGraphicFramePr>
          <p:nvPr/>
        </p:nvGraphicFramePr>
        <p:xfrm>
          <a:off x="552450" y="1589088"/>
          <a:ext cx="3581400" cy="2133600"/>
        </p:xfrm>
        <a:graphic>
          <a:graphicData uri="http://schemas.openxmlformats.org/presentationml/2006/ole">
            <mc:AlternateContent xmlns:mc="http://schemas.openxmlformats.org/markup-compatibility/2006">
              <mc:Choice xmlns:v="urn:schemas-microsoft-com:vml" Requires="v">
                <p:oleObj spid="_x0000_s35843" name="Photo Editor 照片" r:id="rId4" imgW="11133333" imgH="6676190" progId="MSPhotoEd.3">
                  <p:embed/>
                </p:oleObj>
              </mc:Choice>
              <mc:Fallback>
                <p:oleObj name="Photo Editor 照片" r:id="rId4" imgW="11133333" imgH="6676190" progId="MSPhotoEd.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b="592"/>
                      <a:stretch>
                        <a:fillRect/>
                      </a:stretch>
                    </p:blipFill>
                    <p:spPr bwMode="auto">
                      <a:xfrm>
                        <a:off x="552450" y="1589088"/>
                        <a:ext cx="3581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2"/>
          <p:cNvSpPr txBox="1">
            <a:spLocks noChangeArrowheads="1"/>
          </p:cNvSpPr>
          <p:nvPr/>
        </p:nvSpPr>
        <p:spPr bwMode="auto">
          <a:xfrm>
            <a:off x="1962150" y="1441450"/>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9" name="Text Box 12"/>
          <p:cNvSpPr txBox="1">
            <a:spLocks noChangeArrowheads="1"/>
          </p:cNvSpPr>
          <p:nvPr/>
        </p:nvSpPr>
        <p:spPr bwMode="auto">
          <a:xfrm>
            <a:off x="2857500" y="1435100"/>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10" name="TextBox 9"/>
          <p:cNvSpPr txBox="1">
            <a:spLocks noChangeArrowheads="1"/>
          </p:cNvSpPr>
          <p:nvPr/>
        </p:nvSpPr>
        <p:spPr bwMode="auto">
          <a:xfrm>
            <a:off x="2476500" y="3962400"/>
            <a:ext cx="1928813" cy="1200150"/>
          </a:xfrm>
          <a:prstGeom prst="rect">
            <a:avLst/>
          </a:prstGeom>
          <a:solidFill>
            <a:schemeClr val="accent1"/>
          </a:solidFill>
          <a:ln w="9525">
            <a:noFill/>
            <a:miter lim="800000"/>
            <a:headEnd/>
            <a:tailEnd/>
          </a:ln>
        </p:spPr>
        <p:txBody>
          <a:bodyPr>
            <a:spAutoFit/>
          </a:bodyPr>
          <a:lstStyle/>
          <a:p>
            <a:pPr algn="ctr" eaLnBrk="1" hangingPunct="1"/>
            <a:r>
              <a:rPr lang="en-US" altLang="zh-CN"/>
              <a:t>NPN</a:t>
            </a:r>
            <a:r>
              <a:rPr lang="zh-CN" altLang="en-US"/>
              <a:t>换成</a:t>
            </a:r>
            <a:r>
              <a:rPr lang="en-US" altLang="zh-CN"/>
              <a:t>PNP</a:t>
            </a:r>
            <a:r>
              <a:rPr lang="zh-CN" altLang="en-US"/>
              <a:t>，极性变化吗？</a:t>
            </a:r>
          </a:p>
        </p:txBody>
      </p:sp>
      <p:sp>
        <p:nvSpPr>
          <p:cNvPr id="11" name="文本框 10"/>
          <p:cNvSpPr txBox="1"/>
          <p:nvPr/>
        </p:nvSpPr>
        <p:spPr>
          <a:xfrm>
            <a:off x="2152650" y="733425"/>
            <a:ext cx="3881438" cy="461963"/>
          </a:xfrm>
          <a:prstGeom prst="rect">
            <a:avLst/>
          </a:prstGeom>
          <a:solidFill>
            <a:schemeClr val="accent5"/>
          </a:solidFill>
          <a:ln>
            <a:solidFill>
              <a:schemeClr val="accent1"/>
            </a:solidFill>
          </a:ln>
        </p:spPr>
        <p:txBody>
          <a:bodyPr>
            <a:spAutoFit/>
          </a:bodyPr>
          <a:lstStyle/>
          <a:p>
            <a:pPr algn="ctr">
              <a:defRPr/>
            </a:pPr>
            <a:r>
              <a:rPr lang="zh-CN" altLang="en-US" b="1" dirty="0">
                <a:solidFill>
                  <a:srgbClr val="0000FF"/>
                </a:solidFill>
              </a:rPr>
              <a:t>共基放大电路极性问题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bwMode="auto">
          <a:xfrm>
            <a:off x="468313" y="908050"/>
            <a:ext cx="4899025" cy="519113"/>
          </a:xfrm>
          <a:noFill/>
          <a:ln>
            <a:miter lim="800000"/>
            <a:headEnd/>
            <a:tailEnd/>
          </a:ln>
        </p:spPr>
        <p:txBody>
          <a:bodyPr vert="horz" wrap="square" lIns="91440" tIns="45720" rIns="91440" bIns="45720" numCol="1" anchor="t" anchorCtr="0" compatLnSpc="1">
            <a:prstTxWarp prst="textNoShape">
              <a:avLst/>
            </a:prstTxWarp>
          </a:bodyPr>
          <a:lstStyle/>
          <a:p>
            <a:pPr algn="l"/>
            <a:r>
              <a:rPr lang="en-US" altLang="zh-CN" sz="3200" b="1">
                <a:latin typeface="华文行楷" pitchFamily="2" charset="-122"/>
                <a:ea typeface="华文行楷" pitchFamily="2" charset="-122"/>
              </a:rPr>
              <a:t>3.  </a:t>
            </a:r>
            <a:r>
              <a:rPr lang="zh-CN" altLang="zh-CN" sz="3200" b="1">
                <a:latin typeface="华文行楷" pitchFamily="2" charset="-122"/>
                <a:ea typeface="华文行楷" pitchFamily="2" charset="-122"/>
              </a:rPr>
              <a:t>单端输入双端输出</a:t>
            </a:r>
          </a:p>
        </p:txBody>
      </p:sp>
      <p:pic>
        <p:nvPicPr>
          <p:cNvPr id="53252" name="Picture 3" descr="Dz030311"/>
          <p:cNvPicPr>
            <a:picLocks noChangeAspect="1" noChangeArrowheads="1"/>
          </p:cNvPicPr>
          <p:nvPr/>
        </p:nvPicPr>
        <p:blipFill>
          <a:blip r:embed="rId3"/>
          <a:srcRect r="53174" b="13649"/>
          <a:stretch>
            <a:fillRect/>
          </a:stretch>
        </p:blipFill>
        <p:spPr bwMode="auto">
          <a:xfrm>
            <a:off x="614363" y="1633538"/>
            <a:ext cx="3733800" cy="2643187"/>
          </a:xfrm>
          <a:prstGeom prst="rect">
            <a:avLst/>
          </a:prstGeom>
          <a:noFill/>
          <a:ln w="9525">
            <a:noFill/>
            <a:miter lim="800000"/>
            <a:headEnd/>
            <a:tailEnd/>
          </a:ln>
        </p:spPr>
      </p:pic>
      <p:pic>
        <p:nvPicPr>
          <p:cNvPr id="58372" name="Picture 4" descr="Dz030311"/>
          <p:cNvPicPr>
            <a:picLocks noChangeAspect="1" noChangeArrowheads="1"/>
          </p:cNvPicPr>
          <p:nvPr/>
        </p:nvPicPr>
        <p:blipFill>
          <a:blip r:embed="rId4"/>
          <a:srcRect l="51147" b="9894"/>
          <a:stretch>
            <a:fillRect/>
          </a:stretch>
        </p:blipFill>
        <p:spPr bwMode="auto">
          <a:xfrm>
            <a:off x="4500563" y="1557338"/>
            <a:ext cx="3657600" cy="2589212"/>
          </a:xfrm>
          <a:prstGeom prst="rect">
            <a:avLst/>
          </a:prstGeom>
          <a:noFill/>
          <a:ln w="9525">
            <a:noFill/>
            <a:miter lim="800000"/>
            <a:headEnd/>
            <a:tailEnd/>
          </a:ln>
        </p:spPr>
      </p:pic>
      <p:grpSp>
        <p:nvGrpSpPr>
          <p:cNvPr id="2" name="Group 5"/>
          <p:cNvGrpSpPr>
            <a:grpSpLocks/>
          </p:cNvGrpSpPr>
          <p:nvPr/>
        </p:nvGrpSpPr>
        <p:grpSpPr bwMode="auto">
          <a:xfrm>
            <a:off x="5186363" y="3309938"/>
            <a:ext cx="2263775" cy="1295400"/>
            <a:chOff x="3264" y="2304"/>
            <a:chExt cx="1426" cy="897"/>
          </a:xfrm>
        </p:grpSpPr>
        <p:sp>
          <p:nvSpPr>
            <p:cNvPr id="53262" name="AutoShape 6"/>
            <p:cNvSpPr>
              <a:spLocks/>
            </p:cNvSpPr>
            <p:nvPr/>
          </p:nvSpPr>
          <p:spPr bwMode="auto">
            <a:xfrm>
              <a:off x="3312" y="2880"/>
              <a:ext cx="1378" cy="321"/>
            </a:xfrm>
            <a:prstGeom prst="borderCallout1">
              <a:avLst>
                <a:gd name="adj1" fmla="val 22431"/>
                <a:gd name="adj2" fmla="val 103481"/>
                <a:gd name="adj3" fmla="val -171028"/>
                <a:gd name="adj4" fmla="val 117125"/>
              </a:avLst>
            </a:prstGeom>
            <a:solidFill>
              <a:srgbClr val="FFFFCC"/>
            </a:solidFill>
            <a:ln w="19050">
              <a:solidFill>
                <a:srgbClr val="FF3300"/>
              </a:solidFill>
              <a:miter lim="800000"/>
              <a:headEnd/>
              <a:tailEnd/>
            </a:ln>
          </p:spPr>
          <p:txBody>
            <a:bodyPr/>
            <a:lstStyle/>
            <a:p>
              <a:pPr algn="ctr" eaLnBrk="1" hangingPunct="1"/>
              <a:r>
                <a:rPr lang="zh-CN" altLang="en-US" b="1"/>
                <a:t>共模输入电压</a:t>
              </a:r>
            </a:p>
          </p:txBody>
        </p:sp>
        <p:sp>
          <p:nvSpPr>
            <p:cNvPr id="53263" name="Line 7"/>
            <p:cNvSpPr>
              <a:spLocks noChangeShapeType="1"/>
            </p:cNvSpPr>
            <p:nvPr/>
          </p:nvSpPr>
          <p:spPr bwMode="auto">
            <a:xfrm>
              <a:off x="3264" y="2304"/>
              <a:ext cx="288" cy="528"/>
            </a:xfrm>
            <a:prstGeom prst="line">
              <a:avLst/>
            </a:prstGeom>
            <a:noFill/>
            <a:ln w="19050">
              <a:solidFill>
                <a:srgbClr val="FF3300"/>
              </a:solidFill>
              <a:round/>
              <a:headEnd/>
              <a:tailEnd/>
            </a:ln>
          </p:spPr>
          <p:txBody>
            <a:bodyPr/>
            <a:lstStyle/>
            <a:p>
              <a:endParaRPr lang="zh-CN" altLang="en-US"/>
            </a:p>
          </p:txBody>
        </p:sp>
      </p:grpSp>
      <p:grpSp>
        <p:nvGrpSpPr>
          <p:cNvPr id="3" name="Group 8"/>
          <p:cNvGrpSpPr>
            <a:grpSpLocks/>
          </p:cNvGrpSpPr>
          <p:nvPr/>
        </p:nvGrpSpPr>
        <p:grpSpPr bwMode="auto">
          <a:xfrm>
            <a:off x="5276850" y="3843338"/>
            <a:ext cx="2500313" cy="1295400"/>
            <a:chOff x="3321" y="2640"/>
            <a:chExt cx="1575" cy="1008"/>
          </a:xfrm>
        </p:grpSpPr>
        <p:sp>
          <p:nvSpPr>
            <p:cNvPr id="53260" name="AutoShape 9"/>
            <p:cNvSpPr>
              <a:spLocks/>
            </p:cNvSpPr>
            <p:nvPr/>
          </p:nvSpPr>
          <p:spPr bwMode="auto">
            <a:xfrm>
              <a:off x="3321" y="3320"/>
              <a:ext cx="1383" cy="328"/>
            </a:xfrm>
            <a:prstGeom prst="borderCallout1">
              <a:avLst>
                <a:gd name="adj1" fmla="val 21949"/>
                <a:gd name="adj2" fmla="val -3472"/>
                <a:gd name="adj3" fmla="val -192685"/>
                <a:gd name="adj4" fmla="val -15329"/>
              </a:avLst>
            </a:prstGeom>
            <a:solidFill>
              <a:srgbClr val="FFFFCC"/>
            </a:solidFill>
            <a:ln w="19050">
              <a:solidFill>
                <a:srgbClr val="FF3300"/>
              </a:solidFill>
              <a:miter lim="800000"/>
              <a:headEnd/>
              <a:tailEnd/>
            </a:ln>
          </p:spPr>
          <p:txBody>
            <a:bodyPr/>
            <a:lstStyle/>
            <a:p>
              <a:pPr algn="ctr" eaLnBrk="1" hangingPunct="1"/>
              <a:r>
                <a:rPr lang="zh-CN" altLang="en-US" b="1"/>
                <a:t>差模输入电压</a:t>
              </a:r>
            </a:p>
          </p:txBody>
        </p:sp>
        <p:sp>
          <p:nvSpPr>
            <p:cNvPr id="53261" name="Line 10"/>
            <p:cNvSpPr>
              <a:spLocks noChangeShapeType="1"/>
            </p:cNvSpPr>
            <p:nvPr/>
          </p:nvSpPr>
          <p:spPr bwMode="auto">
            <a:xfrm flipH="1">
              <a:off x="4752" y="2640"/>
              <a:ext cx="144" cy="768"/>
            </a:xfrm>
            <a:prstGeom prst="line">
              <a:avLst/>
            </a:prstGeom>
            <a:noFill/>
            <a:ln w="19050">
              <a:solidFill>
                <a:srgbClr val="FF3300"/>
              </a:solidFill>
              <a:round/>
              <a:headEnd/>
              <a:tailEnd/>
            </a:ln>
          </p:spPr>
          <p:txBody>
            <a:bodyPr/>
            <a:lstStyle/>
            <a:p>
              <a:endParaRPr lang="zh-CN" altLang="en-US"/>
            </a:p>
          </p:txBody>
        </p:sp>
      </p:grpSp>
      <p:sp>
        <p:nvSpPr>
          <p:cNvPr id="58379" name="Text Box 11"/>
          <p:cNvSpPr txBox="1">
            <a:spLocks noChangeArrowheads="1"/>
          </p:cNvSpPr>
          <p:nvPr/>
        </p:nvSpPr>
        <p:spPr bwMode="auto">
          <a:xfrm>
            <a:off x="746125" y="5084763"/>
            <a:ext cx="4197350" cy="534987"/>
          </a:xfrm>
          <a:prstGeom prst="rect">
            <a:avLst/>
          </a:prstGeom>
          <a:solidFill>
            <a:schemeClr val="accent6">
              <a:lumMod val="20000"/>
              <a:lumOff val="80000"/>
            </a:schemeClr>
          </a:solidFill>
          <a:ln w="9525">
            <a:noFill/>
            <a:miter lim="800000"/>
            <a:headEnd/>
            <a:tailEnd/>
          </a:ln>
        </p:spPr>
        <p:txBody>
          <a:bodyPr>
            <a:spAutoFit/>
          </a:bodyPr>
          <a:lstStyle/>
          <a:p>
            <a:pPr algn="ctr" eaLnBrk="1" hangingPunct="1">
              <a:lnSpc>
                <a:spcPct val="120000"/>
              </a:lnSpc>
              <a:defRPr/>
            </a:pPr>
            <a:r>
              <a:rPr lang="en-US" altLang="zh-CN" b="1" dirty="0"/>
              <a:t> </a:t>
            </a:r>
            <a:r>
              <a:rPr lang="zh-CN" altLang="en-US" b="1" dirty="0"/>
              <a:t>电位变化，有</a:t>
            </a:r>
            <a:r>
              <a:rPr lang="zh-CN" altLang="en-US" b="1" dirty="0">
                <a:solidFill>
                  <a:srgbClr val="A50021"/>
                </a:solidFill>
              </a:rPr>
              <a:t>共模信号输入：</a:t>
            </a:r>
            <a:endParaRPr lang="zh-CN" altLang="en-US" b="1" baseline="-25000" dirty="0">
              <a:solidFill>
                <a:srgbClr val="A50021"/>
              </a:solidFill>
            </a:endParaRPr>
          </a:p>
        </p:txBody>
      </p:sp>
      <p:sp>
        <p:nvSpPr>
          <p:cNvPr id="58380" name="Text Box 12"/>
          <p:cNvSpPr txBox="1">
            <a:spLocks noChangeArrowheads="1"/>
          </p:cNvSpPr>
          <p:nvPr/>
        </p:nvSpPr>
        <p:spPr bwMode="auto">
          <a:xfrm>
            <a:off x="365125" y="4276725"/>
            <a:ext cx="4211638" cy="830263"/>
          </a:xfrm>
          <a:prstGeom prst="rect">
            <a:avLst/>
          </a:prstGeom>
          <a:noFill/>
          <a:ln w="9525">
            <a:noFill/>
            <a:miter lim="800000"/>
            <a:headEnd/>
            <a:tailEnd/>
          </a:ln>
        </p:spPr>
        <p:txBody>
          <a:bodyPr>
            <a:spAutoFit/>
          </a:bodyPr>
          <a:lstStyle/>
          <a:p>
            <a:pPr algn="ctr" eaLnBrk="1" hangingPunct="1">
              <a:spcBef>
                <a:spcPct val="50000"/>
              </a:spcBef>
            </a:pPr>
            <a:r>
              <a:rPr lang="en-US" altLang="zh-CN" b="1">
                <a:latin typeface="Verdana" pitchFamily="34" charset="0"/>
              </a:rPr>
              <a:t>   </a:t>
            </a:r>
            <a:r>
              <a:rPr lang="zh-CN" altLang="en-US" b="1">
                <a:latin typeface="Verdana" pitchFamily="34" charset="0"/>
              </a:rPr>
              <a:t>在输入</a:t>
            </a:r>
            <a:r>
              <a:rPr lang="zh-CN" altLang="en-US" b="1">
                <a:solidFill>
                  <a:srgbClr val="A50021"/>
                </a:solidFill>
              </a:rPr>
              <a:t>差模</a:t>
            </a:r>
            <a:r>
              <a:rPr lang="zh-CN" altLang="en-US" b="1">
                <a:latin typeface="Verdana" pitchFamily="34" charset="0"/>
              </a:rPr>
              <a:t>信号作用下发射极的电位变化吗？说明什么？</a:t>
            </a:r>
          </a:p>
        </p:txBody>
      </p:sp>
      <p:graphicFrame>
        <p:nvGraphicFramePr>
          <p:cNvPr id="58381" name="Object 2"/>
          <p:cNvGraphicFramePr>
            <a:graphicFrameLocks noChangeAspect="1"/>
          </p:cNvGraphicFramePr>
          <p:nvPr/>
        </p:nvGraphicFramePr>
        <p:xfrm>
          <a:off x="3063875" y="6205538"/>
          <a:ext cx="2870200" cy="533400"/>
        </p:xfrm>
        <a:graphic>
          <a:graphicData uri="http://schemas.openxmlformats.org/presentationml/2006/ole">
            <mc:AlternateContent xmlns:mc="http://schemas.openxmlformats.org/markup-compatibility/2006">
              <mc:Choice xmlns:v="urn:schemas-microsoft-com:vml" Requires="v">
                <p:oleObj spid="_x0000_s36867" name="Equation" r:id="rId5" imgW="29565600" imgH="5486400" progId="Equation.3">
                  <p:embed/>
                </p:oleObj>
              </mc:Choice>
              <mc:Fallback>
                <p:oleObj name="Equation" r:id="rId5" imgW="29565600" imgH="54864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3875" y="6205538"/>
                        <a:ext cx="2870200" cy="5334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14" name="Text Box 11"/>
          <p:cNvSpPr txBox="1">
            <a:spLocks noChangeArrowheads="1"/>
          </p:cNvSpPr>
          <p:nvPr/>
        </p:nvSpPr>
        <p:spPr bwMode="auto">
          <a:xfrm>
            <a:off x="769938" y="5651500"/>
            <a:ext cx="6997700" cy="493713"/>
          </a:xfrm>
          <a:prstGeom prst="rect">
            <a:avLst/>
          </a:prstGeom>
          <a:solidFill>
            <a:schemeClr val="accent6">
              <a:lumMod val="20000"/>
              <a:lumOff val="80000"/>
            </a:schemeClr>
          </a:solidFill>
          <a:ln w="9525">
            <a:noFill/>
            <a:miter lim="800000"/>
            <a:headEnd/>
            <a:tailEnd/>
          </a:ln>
        </p:spPr>
        <p:txBody>
          <a:bodyPr>
            <a:spAutoFit/>
          </a:bodyPr>
          <a:lstStyle/>
          <a:p>
            <a:pPr algn="ctr" eaLnBrk="1" hangingPunct="1">
              <a:lnSpc>
                <a:spcPct val="120000"/>
              </a:lnSpc>
              <a:defRPr/>
            </a:pPr>
            <a:r>
              <a:rPr lang="en-US" altLang="zh-CN" b="1" dirty="0"/>
              <a:t>   </a:t>
            </a:r>
            <a:r>
              <a:rPr lang="zh-CN" altLang="en-US" b="1" dirty="0">
                <a:solidFill>
                  <a:srgbClr val="A50021"/>
                </a:solidFill>
              </a:rPr>
              <a:t>输入差模信号的同时总是</a:t>
            </a:r>
            <a:r>
              <a:rPr lang="zh-CN" altLang="en-US" b="1" dirty="0">
                <a:solidFill>
                  <a:srgbClr val="0000FF"/>
                </a:solidFill>
              </a:rPr>
              <a:t>伴随</a:t>
            </a:r>
            <a:r>
              <a:rPr lang="zh-CN" altLang="en-US" b="1" dirty="0">
                <a:solidFill>
                  <a:srgbClr val="A50021"/>
                </a:solidFill>
              </a:rPr>
              <a:t>着共模信号输入：</a:t>
            </a:r>
            <a:endParaRPr lang="zh-CN" altLang="en-US" b="1" baseline="-25000" dirty="0">
              <a:solidFill>
                <a:srgbClr val="A50021"/>
              </a:solidFill>
            </a:endParaRPr>
          </a:p>
        </p:txBody>
      </p:sp>
      <p:cxnSp>
        <p:nvCxnSpPr>
          <p:cNvPr id="17" name="连接符: 肘形 16"/>
          <p:cNvCxnSpPr>
            <a:cxnSpLocks/>
          </p:cNvCxnSpPr>
          <p:nvPr/>
        </p:nvCxnSpPr>
        <p:spPr>
          <a:xfrm>
            <a:off x="1568450" y="3257550"/>
            <a:ext cx="1712913" cy="104775"/>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80"/>
                                        </p:tgtEl>
                                        <p:attrNameLst>
                                          <p:attrName>style.visibility</p:attrName>
                                        </p:attrNameLst>
                                      </p:cBhvr>
                                      <p:to>
                                        <p:strVal val="visible"/>
                                      </p:to>
                                    </p:set>
                                    <p:animEffect transition="in" filter="wipe(left)">
                                      <p:cBhvr>
                                        <p:cTn id="7" dur="500"/>
                                        <p:tgtEl>
                                          <p:spTgt spid="583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372"/>
                                        </p:tgtEl>
                                        <p:attrNameLst>
                                          <p:attrName>style.visibility</p:attrName>
                                        </p:attrNameLst>
                                      </p:cBhvr>
                                      <p:to>
                                        <p:strVal val="visible"/>
                                      </p:to>
                                    </p:set>
                                    <p:animEffect transition="in" filter="wipe(left)">
                                      <p:cBhvr>
                                        <p:cTn id="12" dur="500"/>
                                        <p:tgtEl>
                                          <p:spTgt spid="58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8379">
                                            <p:txEl>
                                              <p:pRg st="0" end="0"/>
                                            </p:txEl>
                                          </p:spTgt>
                                        </p:tgtEl>
                                        <p:attrNameLst>
                                          <p:attrName>style.visibility</p:attrName>
                                        </p:attrNameLst>
                                      </p:cBhvr>
                                      <p:to>
                                        <p:strVal val="visible"/>
                                      </p:to>
                                    </p:set>
                                    <p:animEffect transition="in" filter="wipe(left)">
                                      <p:cBhvr>
                                        <p:cTn id="25" dur="500"/>
                                        <p:tgtEl>
                                          <p:spTgt spid="58379">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wipe(left)">
                                      <p:cBhvr>
                                        <p:cTn id="30" dur="500"/>
                                        <p:tgtEl>
                                          <p:spTgt spid="14">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21" fill="hold" nodeType="clickEffect">
                                  <p:stCondLst>
                                    <p:cond delay="0"/>
                                  </p:stCondLst>
                                  <p:childTnLst>
                                    <p:set>
                                      <p:cBhvr>
                                        <p:cTn id="34" dur="1" fill="hold">
                                          <p:stCondLst>
                                            <p:cond delay="0"/>
                                          </p:stCondLst>
                                        </p:cTn>
                                        <p:tgtEl>
                                          <p:spTgt spid="58381"/>
                                        </p:tgtEl>
                                        <p:attrNameLst>
                                          <p:attrName>style.visibility</p:attrName>
                                        </p:attrNameLst>
                                      </p:cBhvr>
                                      <p:to>
                                        <p:strVal val="visible"/>
                                      </p:to>
                                    </p:set>
                                    <p:animEffect transition="in" filter="barn(inVertical)">
                                      <p:cBhvr>
                                        <p:cTn id="35" dur="500"/>
                                        <p:tgtEl>
                                          <p:spTgt spid="5838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6" presetClass="emph" presetSubtype="0" fill="hold" grpId="1" nodeType="clickEffect">
                                  <p:stCondLst>
                                    <p:cond delay="0"/>
                                  </p:stCondLst>
                                  <p:childTnLst>
                                    <p:animScale>
                                      <p:cBhvr>
                                        <p:cTn id="39" dur="2000" fill="hold"/>
                                        <p:tgtEl>
                                          <p:spTgt spid="14">
                                            <p:bg/>
                                          </p:spTgt>
                                        </p:tgtEl>
                                      </p:cBhvr>
                                      <p:by x="150000" y="150000"/>
                                    </p:animScale>
                                  </p:childTnLst>
                                </p:cTn>
                              </p:par>
                              <p:par>
                                <p:cTn id="40" presetID="6" presetClass="emph" presetSubtype="0" fill="hold" grpId="1" nodeType="withEffect">
                                  <p:stCondLst>
                                    <p:cond delay="0"/>
                                  </p:stCondLst>
                                  <p:childTnLst>
                                    <p:animScale>
                                      <p:cBhvr>
                                        <p:cTn id="41" dur="2000" fill="hold"/>
                                        <p:tgtEl>
                                          <p:spTgt spid="14">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9" grpId="0" build="p" autoUpdateAnimBg="0"/>
      <p:bldP spid="58380" grpId="0" autoUpdateAnimBg="0"/>
      <p:bldP spid="14" grpId="0" build="p" autoUpdateAnimBg="0"/>
      <p:bldP spid="14" grpId="1" build="allAtOnce"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Rectangle 2"/>
          <p:cNvSpPr>
            <a:spLocks noGrp="1" noChangeArrowheads="1"/>
          </p:cNvSpPr>
          <p:nvPr>
            <p:ph type="title"/>
          </p:nvPr>
        </p:nvSpPr>
        <p:spPr bwMode="auto">
          <a:xfrm>
            <a:off x="468313" y="1052513"/>
            <a:ext cx="4724400" cy="519112"/>
          </a:xfrm>
          <a:noFill/>
          <a:ln>
            <a:miter lim="800000"/>
            <a:headEnd/>
            <a:tailEnd/>
          </a:ln>
        </p:spPr>
        <p:txBody>
          <a:bodyPr vert="horz" wrap="square" lIns="91440" tIns="45720" rIns="91440" bIns="45720" numCol="1" anchor="t" anchorCtr="0" compatLnSpc="1">
            <a:prstTxWarp prst="textNoShape">
              <a:avLst/>
            </a:prstTxWarp>
          </a:bodyPr>
          <a:lstStyle/>
          <a:p>
            <a:pPr algn="l"/>
            <a:r>
              <a:rPr lang="en-US" altLang="zh-CN" sz="3200" b="1">
                <a:latin typeface="华文行楷" pitchFamily="2" charset="-122"/>
                <a:ea typeface="华文行楷" pitchFamily="2" charset="-122"/>
              </a:rPr>
              <a:t>3.  </a:t>
            </a:r>
            <a:r>
              <a:rPr lang="zh-CN" altLang="zh-CN" sz="3200" b="1">
                <a:latin typeface="华文行楷" pitchFamily="2" charset="-122"/>
                <a:ea typeface="华文行楷" pitchFamily="2" charset="-122"/>
              </a:rPr>
              <a:t>单端输入双端输出</a:t>
            </a:r>
          </a:p>
        </p:txBody>
      </p:sp>
      <p:pic>
        <p:nvPicPr>
          <p:cNvPr id="54279" name="Picture 3" descr="Dz030311"/>
          <p:cNvPicPr>
            <a:picLocks noChangeAspect="1" noChangeArrowheads="1"/>
          </p:cNvPicPr>
          <p:nvPr/>
        </p:nvPicPr>
        <p:blipFill>
          <a:blip r:embed="rId3"/>
          <a:srcRect r="53174" b="13649"/>
          <a:stretch>
            <a:fillRect/>
          </a:stretch>
        </p:blipFill>
        <p:spPr bwMode="auto">
          <a:xfrm>
            <a:off x="684213" y="1773238"/>
            <a:ext cx="3733800" cy="2643187"/>
          </a:xfrm>
          <a:prstGeom prst="rect">
            <a:avLst/>
          </a:prstGeom>
          <a:noFill/>
          <a:ln w="9525">
            <a:noFill/>
            <a:miter lim="800000"/>
            <a:headEnd/>
            <a:tailEnd/>
          </a:ln>
        </p:spPr>
      </p:pic>
      <p:sp>
        <p:nvSpPr>
          <p:cNvPr id="59396" name="Text Box 4"/>
          <p:cNvSpPr txBox="1">
            <a:spLocks noChangeArrowheads="1"/>
          </p:cNvSpPr>
          <p:nvPr/>
        </p:nvSpPr>
        <p:spPr bwMode="auto">
          <a:xfrm>
            <a:off x="4497388" y="1325563"/>
            <a:ext cx="3581400" cy="2709862"/>
          </a:xfrm>
          <a:prstGeom prst="rect">
            <a:avLst/>
          </a:prstGeom>
          <a:noFill/>
          <a:ln w="9525">
            <a:noFill/>
            <a:miter lim="800000"/>
            <a:headEnd/>
            <a:tailEnd/>
          </a:ln>
        </p:spPr>
        <p:txBody>
          <a:bodyPr>
            <a:spAutoFit/>
          </a:bodyPr>
          <a:lstStyle/>
          <a:p>
            <a:pPr eaLnBrk="1" hangingPunct="1">
              <a:lnSpc>
                <a:spcPct val="120000"/>
              </a:lnSpc>
            </a:pPr>
            <a:r>
              <a:rPr lang="zh-CN" altLang="en-US" b="1" dirty="0"/>
              <a:t>问题讨论：</a:t>
            </a:r>
          </a:p>
          <a:p>
            <a:pPr eaLnBrk="1" hangingPunct="1">
              <a:lnSpc>
                <a:spcPct val="120000"/>
              </a:lnSpc>
            </a:pPr>
            <a:r>
              <a:rPr lang="zh-CN" altLang="en-US" b="1" dirty="0"/>
              <a:t>（</a:t>
            </a:r>
            <a:r>
              <a:rPr lang="en-US" altLang="zh-CN" b="1" dirty="0"/>
              <a:t>1</a:t>
            </a:r>
            <a:r>
              <a:rPr lang="zh-CN" altLang="en-US" b="1" dirty="0"/>
              <a:t>）</a:t>
            </a:r>
            <a:r>
              <a:rPr lang="en-US" altLang="zh-CN" b="1" dirty="0"/>
              <a:t>Ad</a:t>
            </a:r>
            <a:r>
              <a:rPr lang="zh-CN" altLang="en-US" b="1" dirty="0"/>
              <a:t>？</a:t>
            </a:r>
            <a:endParaRPr lang="en-US" altLang="zh-CN" b="1" dirty="0"/>
          </a:p>
          <a:p>
            <a:pPr eaLnBrk="1" hangingPunct="1">
              <a:lnSpc>
                <a:spcPct val="120000"/>
              </a:lnSpc>
            </a:pPr>
            <a:r>
              <a:rPr lang="zh-CN" altLang="en-US" b="1" dirty="0"/>
              <a:t>（</a:t>
            </a:r>
            <a:r>
              <a:rPr lang="en-US" altLang="zh-CN" b="1" dirty="0"/>
              <a:t>2</a:t>
            </a:r>
            <a:r>
              <a:rPr lang="zh-CN" altLang="en-US" b="1" dirty="0"/>
              <a:t>）单端</a:t>
            </a:r>
            <a:r>
              <a:rPr lang="en-US" altLang="zh-CN" b="1" dirty="0"/>
              <a:t>Ac</a:t>
            </a:r>
            <a:r>
              <a:rPr lang="zh-CN" altLang="en-US" b="1" dirty="0"/>
              <a:t>？</a:t>
            </a:r>
            <a:endParaRPr lang="en-US" altLang="zh-CN" b="1" dirty="0"/>
          </a:p>
          <a:p>
            <a:pPr eaLnBrk="1" hangingPunct="1">
              <a:lnSpc>
                <a:spcPct val="120000"/>
              </a:lnSpc>
            </a:pPr>
            <a:r>
              <a:rPr lang="zh-CN" altLang="en-US" b="1" i="1" dirty="0"/>
              <a:t>（</a:t>
            </a:r>
            <a:r>
              <a:rPr lang="en-US" altLang="zh-CN" b="1" i="1" dirty="0"/>
              <a:t>3</a:t>
            </a:r>
            <a:r>
              <a:rPr lang="zh-CN" altLang="en-US" b="1" i="1" dirty="0"/>
              <a:t>）</a:t>
            </a:r>
            <a:r>
              <a:rPr lang="en-US" altLang="zh-CN" b="1" i="1" dirty="0"/>
              <a:t>U</a:t>
            </a:r>
            <a:r>
              <a:rPr lang="en-US" altLang="zh-CN" b="1" baseline="-25000" dirty="0"/>
              <a:t>OQ</a:t>
            </a:r>
            <a:r>
              <a:rPr lang="zh-CN" altLang="en-US" b="1" dirty="0"/>
              <a:t>产生的原因？</a:t>
            </a:r>
          </a:p>
          <a:p>
            <a:pPr eaLnBrk="1" hangingPunct="1">
              <a:lnSpc>
                <a:spcPct val="120000"/>
              </a:lnSpc>
            </a:pPr>
            <a:r>
              <a:rPr lang="zh-CN" altLang="en-US" b="1" dirty="0"/>
              <a:t>（</a:t>
            </a:r>
            <a:r>
              <a:rPr lang="en-US" altLang="zh-CN" b="1" dirty="0"/>
              <a:t>4</a:t>
            </a:r>
            <a:r>
              <a:rPr lang="zh-CN" altLang="en-US" b="1" dirty="0"/>
              <a:t>）如何减小共模输出电压？</a:t>
            </a:r>
          </a:p>
        </p:txBody>
      </p:sp>
      <p:grpSp>
        <p:nvGrpSpPr>
          <p:cNvPr id="2" name="Group 5"/>
          <p:cNvGrpSpPr>
            <a:grpSpLocks/>
          </p:cNvGrpSpPr>
          <p:nvPr/>
        </p:nvGrpSpPr>
        <p:grpSpPr bwMode="auto">
          <a:xfrm>
            <a:off x="1617663" y="4470400"/>
            <a:ext cx="4725987" cy="841375"/>
            <a:chOff x="1020" y="2659"/>
            <a:chExt cx="2977" cy="530"/>
          </a:xfrm>
        </p:grpSpPr>
        <p:graphicFrame>
          <p:nvGraphicFramePr>
            <p:cNvPr id="54277" name="Object 19"/>
            <p:cNvGraphicFramePr>
              <a:graphicFrameLocks noChangeAspect="1"/>
            </p:cNvGraphicFramePr>
            <p:nvPr/>
          </p:nvGraphicFramePr>
          <p:xfrm>
            <a:off x="1837" y="2659"/>
            <a:ext cx="2160" cy="530"/>
          </p:xfrm>
          <a:graphic>
            <a:graphicData uri="http://schemas.openxmlformats.org/presentationml/2006/ole">
              <mc:AlternateContent xmlns:mc="http://schemas.openxmlformats.org/markup-compatibility/2006">
                <mc:Choice xmlns:v="urn:schemas-microsoft-com:vml" Requires="v">
                  <p:oleObj spid="_x0000_s37894" name="Equation" r:id="rId4" imgW="38404800" imgH="9448800" progId="Equation.3">
                    <p:embed/>
                  </p:oleObj>
                </mc:Choice>
                <mc:Fallback>
                  <p:oleObj name="Equation" r:id="rId4" imgW="38404800" imgH="9448800" progId="Equation.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7" y="2659"/>
                          <a:ext cx="2160" cy="53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54292" name="Text Box 7"/>
            <p:cNvSpPr txBox="1">
              <a:spLocks noChangeArrowheads="1"/>
            </p:cNvSpPr>
            <p:nvPr/>
          </p:nvSpPr>
          <p:spPr bwMode="auto">
            <a:xfrm>
              <a:off x="1020" y="2750"/>
              <a:ext cx="726" cy="288"/>
            </a:xfrm>
            <a:prstGeom prst="rect">
              <a:avLst/>
            </a:prstGeom>
            <a:noFill/>
            <a:ln w="9525">
              <a:noFill/>
              <a:miter lim="800000"/>
              <a:headEnd/>
              <a:tailEnd/>
            </a:ln>
          </p:spPr>
          <p:txBody>
            <a:bodyPr>
              <a:spAutoFit/>
            </a:bodyPr>
            <a:lstStyle/>
            <a:p>
              <a:pPr algn="ctr" eaLnBrk="1" hangingPunct="1">
                <a:spcBef>
                  <a:spcPct val="50000"/>
                </a:spcBef>
              </a:pPr>
              <a:r>
                <a:rPr lang="zh-CN" altLang="en-US" b="1"/>
                <a:t>测试</a:t>
              </a:r>
              <a:r>
                <a:rPr lang="en-US" altLang="zh-CN" b="1"/>
                <a:t>:</a:t>
              </a:r>
            </a:p>
          </p:txBody>
        </p:sp>
      </p:grpSp>
      <p:grpSp>
        <p:nvGrpSpPr>
          <p:cNvPr id="3" name="Group 8"/>
          <p:cNvGrpSpPr>
            <a:grpSpLocks/>
          </p:cNvGrpSpPr>
          <p:nvPr/>
        </p:nvGrpSpPr>
        <p:grpSpPr bwMode="auto">
          <a:xfrm>
            <a:off x="1522413" y="4592638"/>
            <a:ext cx="2855912" cy="1295400"/>
            <a:chOff x="960" y="2736"/>
            <a:chExt cx="1799" cy="816"/>
          </a:xfrm>
        </p:grpSpPr>
        <p:sp>
          <p:nvSpPr>
            <p:cNvPr id="54290" name="Oval 9"/>
            <p:cNvSpPr>
              <a:spLocks noChangeArrowheads="1"/>
            </p:cNvSpPr>
            <p:nvPr/>
          </p:nvSpPr>
          <p:spPr bwMode="auto">
            <a:xfrm>
              <a:off x="2231" y="2736"/>
              <a:ext cx="528" cy="384"/>
            </a:xfrm>
            <a:prstGeom prst="ellipse">
              <a:avLst/>
            </a:prstGeom>
            <a:noFill/>
            <a:ln w="28575">
              <a:solidFill>
                <a:srgbClr val="FF3300"/>
              </a:solidFill>
              <a:round/>
              <a:headEnd/>
              <a:tailEnd/>
            </a:ln>
          </p:spPr>
          <p:txBody>
            <a:bodyPr wrap="none" anchor="ctr"/>
            <a:lstStyle/>
            <a:p>
              <a:pPr algn="ctr" eaLnBrk="1" hangingPunct="1"/>
              <a:endParaRPr lang="zh-CN" altLang="en-US"/>
            </a:p>
          </p:txBody>
        </p:sp>
        <p:sp>
          <p:nvSpPr>
            <p:cNvPr id="54291" name="AutoShape 10"/>
            <p:cNvSpPr>
              <a:spLocks/>
            </p:cNvSpPr>
            <p:nvPr/>
          </p:nvSpPr>
          <p:spPr bwMode="auto">
            <a:xfrm>
              <a:off x="960" y="3254"/>
              <a:ext cx="997" cy="298"/>
            </a:xfrm>
            <a:prstGeom prst="borderCallout1">
              <a:avLst>
                <a:gd name="adj1" fmla="val 24162"/>
                <a:gd name="adj2" fmla="val 104815"/>
                <a:gd name="adj3" fmla="val -43287"/>
                <a:gd name="adj4" fmla="val 148745"/>
              </a:avLst>
            </a:prstGeom>
            <a:solidFill>
              <a:srgbClr val="FFFFCC"/>
            </a:solidFill>
            <a:ln w="19050">
              <a:solidFill>
                <a:srgbClr val="FF3300"/>
              </a:solidFill>
              <a:miter lim="800000"/>
              <a:headEnd/>
              <a:tailEnd/>
            </a:ln>
          </p:spPr>
          <p:txBody>
            <a:bodyPr/>
            <a:lstStyle/>
            <a:p>
              <a:pPr algn="ctr" eaLnBrk="1" hangingPunct="1"/>
              <a:r>
                <a:rPr lang="zh-CN" altLang="en-US" b="1"/>
                <a:t>差模输出</a:t>
              </a:r>
            </a:p>
          </p:txBody>
        </p:sp>
      </p:grpSp>
      <p:grpSp>
        <p:nvGrpSpPr>
          <p:cNvPr id="4" name="Group 11"/>
          <p:cNvGrpSpPr>
            <a:grpSpLocks/>
          </p:cNvGrpSpPr>
          <p:nvPr/>
        </p:nvGrpSpPr>
        <p:grpSpPr bwMode="auto">
          <a:xfrm>
            <a:off x="3275013" y="4440238"/>
            <a:ext cx="2244725" cy="1616075"/>
            <a:chOff x="2064" y="2640"/>
            <a:chExt cx="1414" cy="1018"/>
          </a:xfrm>
        </p:grpSpPr>
        <p:sp>
          <p:nvSpPr>
            <p:cNvPr id="54288" name="Oval 12"/>
            <p:cNvSpPr>
              <a:spLocks noChangeArrowheads="1"/>
            </p:cNvSpPr>
            <p:nvPr/>
          </p:nvSpPr>
          <p:spPr bwMode="auto">
            <a:xfrm>
              <a:off x="2902" y="2640"/>
              <a:ext cx="576" cy="576"/>
            </a:xfrm>
            <a:prstGeom prst="ellipse">
              <a:avLst/>
            </a:prstGeom>
            <a:noFill/>
            <a:ln w="28575">
              <a:solidFill>
                <a:srgbClr val="FF3300"/>
              </a:solidFill>
              <a:round/>
              <a:headEnd/>
              <a:tailEnd/>
            </a:ln>
          </p:spPr>
          <p:txBody>
            <a:bodyPr wrap="none" anchor="ctr"/>
            <a:lstStyle/>
            <a:p>
              <a:pPr algn="ctr" eaLnBrk="1" hangingPunct="1"/>
              <a:endParaRPr lang="zh-CN" altLang="en-US"/>
            </a:p>
          </p:txBody>
        </p:sp>
        <p:sp>
          <p:nvSpPr>
            <p:cNvPr id="54289" name="AutoShape 13"/>
            <p:cNvSpPr>
              <a:spLocks/>
            </p:cNvSpPr>
            <p:nvPr/>
          </p:nvSpPr>
          <p:spPr bwMode="auto">
            <a:xfrm>
              <a:off x="2064" y="3360"/>
              <a:ext cx="997" cy="298"/>
            </a:xfrm>
            <a:prstGeom prst="borderCallout1">
              <a:avLst>
                <a:gd name="adj1" fmla="val 24162"/>
                <a:gd name="adj2" fmla="val 104815"/>
                <a:gd name="adj3" fmla="val -48995"/>
                <a:gd name="adj4" fmla="val 116852"/>
              </a:avLst>
            </a:prstGeom>
            <a:solidFill>
              <a:srgbClr val="FFFFCC"/>
            </a:solidFill>
            <a:ln w="19050">
              <a:solidFill>
                <a:srgbClr val="FF3300"/>
              </a:solidFill>
              <a:miter lim="800000"/>
              <a:headEnd/>
              <a:tailEnd/>
            </a:ln>
          </p:spPr>
          <p:txBody>
            <a:bodyPr/>
            <a:lstStyle/>
            <a:p>
              <a:pPr algn="ctr" eaLnBrk="1" hangingPunct="1"/>
              <a:r>
                <a:rPr lang="zh-CN" altLang="en-US" b="1"/>
                <a:t>共模输出</a:t>
              </a:r>
            </a:p>
          </p:txBody>
        </p:sp>
      </p:grpSp>
      <p:sp>
        <p:nvSpPr>
          <p:cNvPr id="59406" name="AutoShape 14"/>
          <p:cNvSpPr>
            <a:spLocks/>
          </p:cNvSpPr>
          <p:nvPr/>
        </p:nvSpPr>
        <p:spPr bwMode="auto">
          <a:xfrm>
            <a:off x="6253163" y="5668963"/>
            <a:ext cx="1981200" cy="506412"/>
          </a:xfrm>
          <a:prstGeom prst="borderCallout1">
            <a:avLst>
              <a:gd name="adj1" fmla="val 22569"/>
              <a:gd name="adj2" fmla="val -3847"/>
              <a:gd name="adj3" fmla="val -111745"/>
              <a:gd name="adj4" fmla="val -12227"/>
            </a:avLst>
          </a:prstGeom>
          <a:solidFill>
            <a:srgbClr val="FFFFCC"/>
          </a:solidFill>
          <a:ln w="19050">
            <a:solidFill>
              <a:srgbClr val="FF3300"/>
            </a:solidFill>
            <a:miter lim="800000"/>
            <a:headEnd/>
            <a:tailEnd/>
          </a:ln>
        </p:spPr>
        <p:txBody>
          <a:bodyPr/>
          <a:lstStyle/>
          <a:p>
            <a:pPr algn="ctr" eaLnBrk="1" hangingPunct="1"/>
            <a:r>
              <a:rPr lang="zh-CN" altLang="en-US" b="1"/>
              <a:t>静态时的值</a:t>
            </a:r>
          </a:p>
        </p:txBody>
      </p:sp>
      <p:sp>
        <p:nvSpPr>
          <p:cNvPr id="15" name="AutoShape 14"/>
          <p:cNvSpPr>
            <a:spLocks/>
          </p:cNvSpPr>
          <p:nvPr/>
        </p:nvSpPr>
        <p:spPr bwMode="auto">
          <a:xfrm>
            <a:off x="6186488" y="3836988"/>
            <a:ext cx="1981200" cy="506412"/>
          </a:xfrm>
          <a:prstGeom prst="borderCallout1">
            <a:avLst>
              <a:gd name="adj1" fmla="val 22569"/>
              <a:gd name="adj2" fmla="val -3847"/>
              <a:gd name="adj3" fmla="val -41625"/>
              <a:gd name="adj4" fmla="val -29255"/>
            </a:avLst>
          </a:prstGeom>
          <a:solidFill>
            <a:srgbClr val="FFFFCC"/>
          </a:solidFill>
          <a:ln w="19050">
            <a:solidFill>
              <a:srgbClr val="FF3300"/>
            </a:solidFill>
            <a:miter lim="800000"/>
            <a:headEnd/>
            <a:tailEnd/>
          </a:ln>
        </p:spPr>
        <p:txBody>
          <a:bodyPr/>
          <a:lstStyle/>
          <a:p>
            <a:pPr algn="ctr" eaLnBrk="1" hangingPunct="1"/>
            <a:r>
              <a:rPr lang="zh-CN" altLang="en-US" b="1">
                <a:solidFill>
                  <a:srgbClr val="FF0000"/>
                </a:solidFill>
              </a:rPr>
              <a:t>对称性</a:t>
            </a:r>
            <a:r>
              <a:rPr lang="zh-CN" altLang="en-US" b="1"/>
              <a:t>，</a:t>
            </a:r>
            <a:r>
              <a:rPr lang="en-US" altLang="zh-CN" b="1"/>
              <a:t>Re</a:t>
            </a:r>
            <a:endParaRPr lang="zh-CN" altLang="en-US" b="1"/>
          </a:p>
        </p:txBody>
      </p:sp>
      <p:sp>
        <p:nvSpPr>
          <p:cNvPr id="16" name="TextBox 15"/>
          <p:cNvSpPr txBox="1"/>
          <p:nvPr/>
        </p:nvSpPr>
        <p:spPr>
          <a:xfrm>
            <a:off x="7299325" y="2711450"/>
            <a:ext cx="1871663" cy="461963"/>
          </a:xfrm>
          <a:prstGeom prst="rect">
            <a:avLst/>
          </a:prstGeom>
          <a:solidFill>
            <a:schemeClr val="accent6">
              <a:lumMod val="20000"/>
              <a:lumOff val="80000"/>
            </a:schemeClr>
          </a:solidFill>
          <a:ln>
            <a:solidFill>
              <a:schemeClr val="tx1"/>
            </a:solidFill>
          </a:ln>
        </p:spPr>
        <p:txBody>
          <a:bodyPr>
            <a:spAutoFit/>
          </a:bodyPr>
          <a:lstStyle/>
          <a:p>
            <a:pPr algn="ctr" eaLnBrk="1" hangingPunct="1">
              <a:defRPr/>
            </a:pPr>
            <a:r>
              <a:rPr lang="zh-CN" altLang="en-US" dirty="0"/>
              <a:t>静态不对称</a:t>
            </a:r>
          </a:p>
        </p:txBody>
      </p:sp>
      <p:sp>
        <p:nvSpPr>
          <p:cNvPr id="17" name="Text Box 11"/>
          <p:cNvSpPr txBox="1">
            <a:spLocks noChangeArrowheads="1"/>
          </p:cNvSpPr>
          <p:nvPr/>
        </p:nvSpPr>
        <p:spPr bwMode="auto">
          <a:xfrm>
            <a:off x="1103313" y="0"/>
            <a:ext cx="6997700" cy="493713"/>
          </a:xfrm>
          <a:prstGeom prst="rect">
            <a:avLst/>
          </a:prstGeom>
          <a:solidFill>
            <a:schemeClr val="accent6">
              <a:lumMod val="20000"/>
              <a:lumOff val="80000"/>
            </a:schemeClr>
          </a:solidFill>
          <a:ln w="9525">
            <a:solidFill>
              <a:schemeClr val="tx1"/>
            </a:solidFill>
            <a:miter lim="800000"/>
            <a:headEnd/>
            <a:tailEnd/>
          </a:ln>
        </p:spPr>
        <p:txBody>
          <a:bodyPr>
            <a:spAutoFit/>
          </a:bodyPr>
          <a:lstStyle/>
          <a:p>
            <a:pPr algn="ctr" eaLnBrk="1" hangingPunct="1">
              <a:lnSpc>
                <a:spcPct val="120000"/>
              </a:lnSpc>
              <a:defRPr/>
            </a:pPr>
            <a:r>
              <a:rPr lang="en-US" altLang="zh-CN" b="1" dirty="0"/>
              <a:t>   </a:t>
            </a:r>
            <a:r>
              <a:rPr lang="zh-CN" altLang="en-US" b="1" dirty="0">
                <a:solidFill>
                  <a:srgbClr val="A50021"/>
                </a:solidFill>
              </a:rPr>
              <a:t>输入差模信号的同时总是</a:t>
            </a:r>
            <a:r>
              <a:rPr lang="zh-CN" altLang="en-US" b="1" dirty="0">
                <a:solidFill>
                  <a:srgbClr val="0000FF"/>
                </a:solidFill>
              </a:rPr>
              <a:t>伴随</a:t>
            </a:r>
            <a:r>
              <a:rPr lang="zh-CN" altLang="en-US" b="1" dirty="0">
                <a:solidFill>
                  <a:srgbClr val="A50021"/>
                </a:solidFill>
              </a:rPr>
              <a:t>着共模信号输入：</a:t>
            </a:r>
            <a:endParaRPr lang="zh-CN" altLang="en-US" b="1" baseline="-25000" dirty="0">
              <a:solidFill>
                <a:srgbClr val="A50021"/>
              </a:solidFill>
            </a:endParaRPr>
          </a:p>
        </p:txBody>
      </p:sp>
      <p:graphicFrame>
        <p:nvGraphicFramePr>
          <p:cNvPr id="54274" name="Object 2"/>
          <p:cNvGraphicFramePr>
            <a:graphicFrameLocks noChangeAspect="1"/>
          </p:cNvGraphicFramePr>
          <p:nvPr/>
        </p:nvGraphicFramePr>
        <p:xfrm>
          <a:off x="4835525" y="635000"/>
          <a:ext cx="2870200" cy="533400"/>
        </p:xfrm>
        <a:graphic>
          <a:graphicData uri="http://schemas.openxmlformats.org/presentationml/2006/ole">
            <mc:AlternateContent xmlns:mc="http://schemas.openxmlformats.org/markup-compatibility/2006">
              <mc:Choice xmlns:v="urn:schemas-microsoft-com:vml" Requires="v">
                <p:oleObj spid="_x0000_s37895" name="Equation" r:id="rId6" imgW="29565600" imgH="5486400" progId="Equation.3">
                  <p:embed/>
                </p:oleObj>
              </mc:Choice>
              <mc:Fallback>
                <p:oleObj name="Equation" r:id="rId6" imgW="29565600" imgH="54864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5525" y="635000"/>
                        <a:ext cx="2870200" cy="5334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19" name="Object 3"/>
          <p:cNvGraphicFramePr>
            <a:graphicFrameLocks noChangeAspect="1"/>
          </p:cNvGraphicFramePr>
          <p:nvPr/>
        </p:nvGraphicFramePr>
        <p:xfrm>
          <a:off x="6253163" y="1508125"/>
          <a:ext cx="1847850" cy="500063"/>
        </p:xfrm>
        <a:graphic>
          <a:graphicData uri="http://schemas.openxmlformats.org/presentationml/2006/ole">
            <mc:AlternateContent xmlns:mc="http://schemas.openxmlformats.org/markup-compatibility/2006">
              <mc:Choice xmlns:v="urn:schemas-microsoft-com:vml" Requires="v">
                <p:oleObj spid="_x0000_s37896" name="公式" r:id="rId8" imgW="30784800" imgH="14630400" progId="Equation.3">
                  <p:embed/>
                </p:oleObj>
              </mc:Choice>
              <mc:Fallback>
                <p:oleObj name="公式" r:id="rId8" imgW="30784800" imgH="146304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53163" y="1508125"/>
                        <a:ext cx="1847850" cy="500063"/>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20" name="Object 14"/>
          <p:cNvGraphicFramePr>
            <a:graphicFrameLocks noChangeAspect="1"/>
          </p:cNvGraphicFramePr>
          <p:nvPr>
            <p:extLst>
              <p:ext uri="{D42A27DB-BD31-4B8C-83A1-F6EECF244321}">
                <p14:modId xmlns:p14="http://schemas.microsoft.com/office/powerpoint/2010/main" val="2051942098"/>
              </p:ext>
            </p:extLst>
          </p:nvPr>
        </p:nvGraphicFramePr>
        <p:xfrm>
          <a:off x="6594294" y="2115344"/>
          <a:ext cx="2466975" cy="565150"/>
        </p:xfrm>
        <a:graphic>
          <a:graphicData uri="http://schemas.openxmlformats.org/presentationml/2006/ole">
            <mc:AlternateContent xmlns:mc="http://schemas.openxmlformats.org/markup-compatibility/2006">
              <mc:Choice xmlns:v="urn:schemas-microsoft-com:vml" Requires="v">
                <p:oleObj spid="_x0000_s37897" name="Equation" r:id="rId10" imgW="1955800" imgH="469900" progId="Equation.DSMT4">
                  <p:embed/>
                </p:oleObj>
              </mc:Choice>
              <mc:Fallback>
                <p:oleObj name="Equation" r:id="rId10" imgW="1955800" imgH="4699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94294" y="2115344"/>
                        <a:ext cx="2466975" cy="565150"/>
                      </a:xfrm>
                      <a:prstGeom prst="rect">
                        <a:avLst/>
                      </a:prstGeom>
                      <a:solidFill>
                        <a:srgbClr val="66FFFF"/>
                      </a:solidFill>
                      <a:ln w="9525">
                        <a:solidFill>
                          <a:srgbClr val="FF330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5940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9396">
                                            <p:txEl>
                                              <p:pRg st="0" end="0"/>
                                            </p:txEl>
                                          </p:spTgt>
                                        </p:tgtEl>
                                        <p:attrNameLst>
                                          <p:attrName>style.visibility</p:attrName>
                                        </p:attrNameLst>
                                      </p:cBhvr>
                                      <p:to>
                                        <p:strVal val="visible"/>
                                      </p:to>
                                    </p:set>
                                    <p:animEffect transition="in" filter="wipe(left)">
                                      <p:cBhvr>
                                        <p:cTn id="26" dur="500"/>
                                        <p:tgtEl>
                                          <p:spTgt spid="5939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9396">
                                            <p:txEl>
                                              <p:pRg st="1" end="1"/>
                                            </p:txEl>
                                          </p:spTgt>
                                        </p:tgtEl>
                                        <p:attrNameLst>
                                          <p:attrName>style.visibility</p:attrName>
                                        </p:attrNameLst>
                                      </p:cBhvr>
                                      <p:to>
                                        <p:strVal val="visible"/>
                                      </p:to>
                                    </p:set>
                                    <p:animEffect transition="in" filter="wipe(left)">
                                      <p:cBhvr>
                                        <p:cTn id="31" dur="500"/>
                                        <p:tgtEl>
                                          <p:spTgt spid="59396">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9396">
                                            <p:txEl>
                                              <p:pRg st="2" end="2"/>
                                            </p:txEl>
                                          </p:spTgt>
                                        </p:tgtEl>
                                        <p:attrNameLst>
                                          <p:attrName>style.visibility</p:attrName>
                                        </p:attrNameLst>
                                      </p:cBhvr>
                                      <p:to>
                                        <p:strVal val="visible"/>
                                      </p:to>
                                    </p:set>
                                    <p:animEffect transition="in" filter="wipe(left)">
                                      <p:cBhvr>
                                        <p:cTn id="36" dur="500"/>
                                        <p:tgtEl>
                                          <p:spTgt spid="59396">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9396">
                                            <p:txEl>
                                              <p:pRg st="3" end="3"/>
                                            </p:txEl>
                                          </p:spTgt>
                                        </p:tgtEl>
                                        <p:attrNameLst>
                                          <p:attrName>style.visibility</p:attrName>
                                        </p:attrNameLst>
                                      </p:cBhvr>
                                      <p:to>
                                        <p:strVal val="visible"/>
                                      </p:to>
                                    </p:set>
                                    <p:animEffect transition="in" filter="wipe(left)">
                                      <p:cBhvr>
                                        <p:cTn id="41" dur="500"/>
                                        <p:tgtEl>
                                          <p:spTgt spid="59396">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9396">
                                            <p:txEl>
                                              <p:pRg st="4" end="4"/>
                                            </p:txEl>
                                          </p:spTgt>
                                        </p:tgtEl>
                                        <p:attrNameLst>
                                          <p:attrName>style.visibility</p:attrName>
                                        </p:attrNameLst>
                                      </p:cBhvr>
                                      <p:to>
                                        <p:strVal val="visible"/>
                                      </p:to>
                                    </p:set>
                                    <p:animEffect transition="in" filter="wipe(left)">
                                      <p:cBhvr>
                                        <p:cTn id="46" dur="500"/>
                                        <p:tgtEl>
                                          <p:spTgt spid="59396">
                                            <p:txEl>
                                              <p:pRg st="4" end="4"/>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linds(horizontal)">
                                      <p:cBhvr>
                                        <p:cTn id="49" dur="500"/>
                                        <p:tgtEl>
                                          <p:spTgt spid="19"/>
                                        </p:tgtEl>
                                      </p:cBhvr>
                                    </p:animEffect>
                                  </p:childTnLst>
                                </p:cTn>
                              </p:par>
                              <p:par>
                                <p:cTn id="50" presetID="3" presetClass="entr" presetSubtype="1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linds(horizontal)">
                                      <p:cBhvr>
                                        <p:cTn id="52" dur="500"/>
                                        <p:tgtEl>
                                          <p:spTgt spid="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autoUpdateAnimBg="0"/>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9" name="Text Box 9"/>
          <p:cNvSpPr txBox="1">
            <a:spLocks noChangeArrowheads="1"/>
          </p:cNvSpPr>
          <p:nvPr/>
        </p:nvSpPr>
        <p:spPr bwMode="auto">
          <a:xfrm>
            <a:off x="709613" y="1884363"/>
            <a:ext cx="3686175" cy="954087"/>
          </a:xfrm>
          <a:prstGeom prst="rect">
            <a:avLst/>
          </a:prstGeom>
          <a:noFill/>
          <a:ln w="12700" cap="sq">
            <a:noFill/>
            <a:miter lim="800000"/>
            <a:headEnd type="none" w="sm" len="sm"/>
            <a:tailEnd type="none" w="sm" len="sm"/>
          </a:ln>
        </p:spPr>
        <p:txBody>
          <a:bodyPr>
            <a:spAutoFit/>
          </a:bodyPr>
          <a:lstStyle/>
          <a:p>
            <a:pPr eaLnBrk="1" hangingPunct="1"/>
            <a:r>
              <a:rPr lang="zh-CN" altLang="en-US" sz="2800" b="1">
                <a:solidFill>
                  <a:srgbClr val="FF3300"/>
                </a:solidFill>
              </a:rPr>
              <a:t>静态分析：与 双端输入单端输出相同</a:t>
            </a:r>
            <a:endParaRPr lang="zh-CN" altLang="en-US" sz="2800">
              <a:solidFill>
                <a:srgbClr val="FF3300"/>
              </a:solidFill>
            </a:endParaRPr>
          </a:p>
        </p:txBody>
      </p:sp>
      <p:sp>
        <p:nvSpPr>
          <p:cNvPr id="179216" name="Rectangle 16"/>
          <p:cNvSpPr>
            <a:spLocks noChangeArrowheads="1"/>
          </p:cNvSpPr>
          <p:nvPr/>
        </p:nvSpPr>
        <p:spPr bwMode="auto">
          <a:xfrm>
            <a:off x="533400" y="762000"/>
            <a:ext cx="4343400" cy="519113"/>
          </a:xfrm>
          <a:prstGeom prst="rect">
            <a:avLst/>
          </a:prstGeom>
          <a:noFill/>
          <a:ln w="12700" cap="sq">
            <a:noFill/>
            <a:miter lim="800000"/>
            <a:headEnd type="none" w="sm" len="sm"/>
            <a:tailEnd type="none" w="sm" len="sm"/>
          </a:ln>
        </p:spPr>
        <p:txBody>
          <a:bodyPr>
            <a:spAutoFit/>
          </a:bodyPr>
          <a:lstStyle/>
          <a:p>
            <a:pPr algn="just" eaLnBrk="1" hangingPunct="1">
              <a:spcBef>
                <a:spcPct val="20000"/>
              </a:spcBef>
            </a:pPr>
            <a:r>
              <a:rPr lang="en-US" altLang="zh-CN" sz="2800" b="1">
                <a:solidFill>
                  <a:schemeClr val="hlink"/>
                </a:solidFill>
                <a:latin typeface="宋体" pitchFamily="2" charset="-122"/>
              </a:rPr>
              <a:t>4. </a:t>
            </a:r>
            <a:r>
              <a:rPr lang="zh-CN" altLang="en-US" sz="2800" b="1">
                <a:solidFill>
                  <a:schemeClr val="hlink"/>
                </a:solidFill>
                <a:latin typeface="宋体" pitchFamily="2" charset="-122"/>
              </a:rPr>
              <a:t>单端输入、单端输出</a:t>
            </a:r>
            <a:endParaRPr lang="zh-CN" altLang="en-US" sz="2800" b="1" i="1">
              <a:solidFill>
                <a:schemeClr val="hlink"/>
              </a:solidFill>
              <a:latin typeface="宋体" pitchFamily="2" charset="-122"/>
            </a:endParaRPr>
          </a:p>
        </p:txBody>
      </p:sp>
      <p:sp>
        <p:nvSpPr>
          <p:cNvPr id="179217" name="Text Box 17"/>
          <p:cNvSpPr txBox="1">
            <a:spLocks noChangeArrowheads="1"/>
          </p:cNvSpPr>
          <p:nvPr/>
        </p:nvSpPr>
        <p:spPr bwMode="auto">
          <a:xfrm>
            <a:off x="5105400" y="3889375"/>
            <a:ext cx="4038600" cy="396875"/>
          </a:xfrm>
          <a:prstGeom prst="rect">
            <a:avLst/>
          </a:prstGeom>
          <a:noFill/>
          <a:ln w="9525">
            <a:noFill/>
            <a:miter lim="800000"/>
            <a:headEnd/>
            <a:tailEnd/>
          </a:ln>
        </p:spPr>
        <p:txBody>
          <a:bodyPr>
            <a:spAutoFit/>
          </a:bodyPr>
          <a:lstStyle/>
          <a:p>
            <a:pPr eaLnBrk="1" hangingPunct="1">
              <a:spcBef>
                <a:spcPct val="50000"/>
              </a:spcBef>
            </a:pPr>
            <a:r>
              <a:rPr lang="zh-CN" altLang="en-US" sz="2000" b="1">
                <a:solidFill>
                  <a:srgbClr val="CC00CC"/>
                </a:solidFill>
              </a:rPr>
              <a:t>图</a:t>
            </a:r>
            <a:r>
              <a:rPr lang="en-US" altLang="zh-CN" sz="2000" b="1">
                <a:solidFill>
                  <a:srgbClr val="CC00CC"/>
                </a:solidFill>
              </a:rPr>
              <a:t>3.3.12</a:t>
            </a:r>
            <a:r>
              <a:rPr lang="zh-CN" altLang="en-US" sz="2000" b="1">
                <a:solidFill>
                  <a:srgbClr val="CC00CC"/>
                </a:solidFill>
              </a:rPr>
              <a:t>　</a:t>
            </a:r>
            <a:r>
              <a:rPr lang="zh-CN" altLang="en-US" sz="2000" b="1">
                <a:solidFill>
                  <a:srgbClr val="CC00CC"/>
                </a:solidFill>
                <a:latin typeface="宋体" pitchFamily="2" charset="-122"/>
              </a:rPr>
              <a:t>单端输入单端输出</a:t>
            </a:r>
            <a:r>
              <a:rPr lang="zh-CN" altLang="en-US" sz="2000" b="1">
                <a:solidFill>
                  <a:srgbClr val="CC00CC"/>
                </a:solidFill>
              </a:rPr>
              <a:t>电路</a:t>
            </a:r>
          </a:p>
        </p:txBody>
      </p:sp>
      <p:sp>
        <p:nvSpPr>
          <p:cNvPr id="179227" name="Text Box 27"/>
          <p:cNvSpPr txBox="1">
            <a:spLocks noChangeArrowheads="1"/>
          </p:cNvSpPr>
          <p:nvPr/>
        </p:nvSpPr>
        <p:spPr bwMode="auto">
          <a:xfrm>
            <a:off x="692150" y="3019425"/>
            <a:ext cx="4064000" cy="954088"/>
          </a:xfrm>
          <a:prstGeom prst="rect">
            <a:avLst/>
          </a:prstGeom>
          <a:noFill/>
          <a:ln w="9525">
            <a:noFill/>
            <a:miter lim="800000"/>
            <a:headEnd/>
            <a:tailEnd/>
          </a:ln>
        </p:spPr>
        <p:txBody>
          <a:bodyPr>
            <a:spAutoFit/>
          </a:bodyPr>
          <a:lstStyle/>
          <a:p>
            <a:pPr eaLnBrk="1" hangingPunct="1">
              <a:spcBef>
                <a:spcPct val="50000"/>
              </a:spcBef>
            </a:pPr>
            <a:r>
              <a:rPr lang="zh-CN" altLang="en-US" sz="2800" b="1"/>
              <a:t>动态分析：与双入单出的一样。</a:t>
            </a:r>
          </a:p>
        </p:txBody>
      </p:sp>
      <p:grpSp>
        <p:nvGrpSpPr>
          <p:cNvPr id="2" name="Group 31"/>
          <p:cNvGrpSpPr>
            <a:grpSpLocks/>
          </p:cNvGrpSpPr>
          <p:nvPr/>
        </p:nvGrpSpPr>
        <p:grpSpPr bwMode="auto">
          <a:xfrm>
            <a:off x="5178425" y="838200"/>
            <a:ext cx="3670300" cy="2895600"/>
            <a:chOff x="3262" y="528"/>
            <a:chExt cx="2312" cy="1824"/>
          </a:xfrm>
        </p:grpSpPr>
        <p:grpSp>
          <p:nvGrpSpPr>
            <p:cNvPr id="55304" name="Group 26"/>
            <p:cNvGrpSpPr>
              <a:grpSpLocks/>
            </p:cNvGrpSpPr>
            <p:nvPr/>
          </p:nvGrpSpPr>
          <p:grpSpPr bwMode="auto">
            <a:xfrm>
              <a:off x="3262" y="528"/>
              <a:ext cx="2312" cy="1824"/>
              <a:chOff x="3262" y="528"/>
              <a:chExt cx="2312" cy="1974"/>
            </a:xfrm>
          </p:grpSpPr>
          <p:grpSp>
            <p:nvGrpSpPr>
              <p:cNvPr id="55306" name="Group 19"/>
              <p:cNvGrpSpPr>
                <a:grpSpLocks/>
              </p:cNvGrpSpPr>
              <p:nvPr/>
            </p:nvGrpSpPr>
            <p:grpSpPr bwMode="auto">
              <a:xfrm>
                <a:off x="3264" y="528"/>
                <a:ext cx="2310" cy="1974"/>
                <a:chOff x="3264" y="528"/>
                <a:chExt cx="2310" cy="1974"/>
              </a:xfrm>
            </p:grpSpPr>
            <p:graphicFrame>
              <p:nvGraphicFramePr>
                <p:cNvPr id="55298" name="Object 12"/>
                <p:cNvGraphicFramePr>
                  <a:graphicFrameLocks noChangeAspect="1"/>
                </p:cNvGraphicFramePr>
                <p:nvPr/>
              </p:nvGraphicFramePr>
              <p:xfrm>
                <a:off x="3264" y="528"/>
                <a:ext cx="2310" cy="1974"/>
              </p:xfrm>
              <a:graphic>
                <a:graphicData uri="http://schemas.openxmlformats.org/presentationml/2006/ole">
                  <mc:AlternateContent xmlns:mc="http://schemas.openxmlformats.org/markup-compatibility/2006">
                    <mc:Choice xmlns:v="urn:schemas-microsoft-com:vml" Requires="v">
                      <p:oleObj spid="_x0000_s38915" name="BMP 图像" r:id="rId7" imgW="2752381" imgH="3134162" progId="PBrush">
                        <p:embed/>
                      </p:oleObj>
                    </mc:Choice>
                    <mc:Fallback>
                      <p:oleObj name="BMP 图像" r:id="rId7" imgW="2752381" imgH="3134162" progId="PBrush">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4" y="528"/>
                              <a:ext cx="2310" cy="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13" name="Text Box 18"/>
                <p:cNvSpPr txBox="1">
                  <a:spLocks noChangeArrowheads="1"/>
                </p:cNvSpPr>
                <p:nvPr/>
              </p:nvSpPr>
              <p:spPr bwMode="auto">
                <a:xfrm>
                  <a:off x="3312" y="1440"/>
                  <a:ext cx="336" cy="312"/>
                </a:xfrm>
                <a:prstGeom prst="rect">
                  <a:avLst/>
                </a:prstGeom>
                <a:solidFill>
                  <a:schemeClr val="bg1"/>
                </a:solidFill>
                <a:ln w="9525">
                  <a:noFill/>
                  <a:miter lim="800000"/>
                  <a:headEnd/>
                  <a:tailEnd/>
                </a:ln>
              </p:spPr>
              <p:txBody>
                <a:bodyPr>
                  <a:spAutoFit/>
                </a:bodyPr>
                <a:lstStyle/>
                <a:p>
                  <a:pPr eaLnBrk="1" hangingPunct="1">
                    <a:spcBef>
                      <a:spcPct val="50000"/>
                    </a:spcBef>
                  </a:pPr>
                  <a:endParaRPr lang="zh-CN" altLang="zh-CN"/>
                </a:p>
              </p:txBody>
            </p:sp>
          </p:grpSp>
          <p:grpSp>
            <p:nvGrpSpPr>
              <p:cNvPr id="55307" name="Group 20"/>
              <p:cNvGrpSpPr>
                <a:grpSpLocks/>
              </p:cNvGrpSpPr>
              <p:nvPr/>
            </p:nvGrpSpPr>
            <p:grpSpPr bwMode="auto">
              <a:xfrm>
                <a:off x="3262" y="1536"/>
                <a:ext cx="386" cy="96"/>
                <a:chOff x="1822" y="2352"/>
                <a:chExt cx="386" cy="96"/>
              </a:xfrm>
            </p:grpSpPr>
            <p:sp>
              <p:nvSpPr>
                <p:cNvPr id="55310" name="Rectangle 21"/>
                <p:cNvSpPr>
                  <a:spLocks noChangeArrowheads="1"/>
                </p:cNvSpPr>
                <p:nvPr/>
              </p:nvSpPr>
              <p:spPr bwMode="auto">
                <a:xfrm>
                  <a:off x="2064" y="2352"/>
                  <a:ext cx="144" cy="96"/>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55311" name="Line 22"/>
                <p:cNvSpPr>
                  <a:spLocks noChangeShapeType="1"/>
                </p:cNvSpPr>
                <p:nvPr/>
              </p:nvSpPr>
              <p:spPr bwMode="auto">
                <a:xfrm>
                  <a:off x="1872" y="2400"/>
                  <a:ext cx="192" cy="0"/>
                </a:xfrm>
                <a:prstGeom prst="line">
                  <a:avLst/>
                </a:prstGeom>
                <a:noFill/>
                <a:ln w="38100">
                  <a:solidFill>
                    <a:schemeClr val="tx1"/>
                  </a:solidFill>
                  <a:round/>
                  <a:headEnd/>
                  <a:tailEnd/>
                </a:ln>
              </p:spPr>
              <p:txBody>
                <a:bodyPr/>
                <a:lstStyle/>
                <a:p>
                  <a:endParaRPr lang="zh-CN" altLang="en-US"/>
                </a:p>
              </p:txBody>
            </p:sp>
            <p:sp>
              <p:nvSpPr>
                <p:cNvPr id="55312" name="Oval 23"/>
                <p:cNvSpPr>
                  <a:spLocks noChangeArrowheads="1"/>
                </p:cNvSpPr>
                <p:nvPr/>
              </p:nvSpPr>
              <p:spPr bwMode="auto">
                <a:xfrm>
                  <a:off x="1822" y="2352"/>
                  <a:ext cx="50" cy="46"/>
                </a:xfrm>
                <a:prstGeom prst="ellipse">
                  <a:avLst/>
                </a:prstGeom>
                <a:noFill/>
                <a:ln w="38100">
                  <a:solidFill>
                    <a:schemeClr val="tx1"/>
                  </a:solidFill>
                  <a:round/>
                  <a:headEnd/>
                  <a:tailEnd/>
                </a:ln>
              </p:spPr>
              <p:txBody>
                <a:bodyPr wrap="none" anchor="ctr"/>
                <a:lstStyle/>
                <a:p>
                  <a:pPr algn="ctr" eaLnBrk="1" hangingPunct="1"/>
                  <a:endParaRPr lang="zh-CN" altLang="en-US"/>
                </a:p>
              </p:txBody>
            </p:sp>
          </p:grpSp>
          <p:sp>
            <p:nvSpPr>
              <p:cNvPr id="55308" name="Rectangle 24"/>
              <p:cNvSpPr>
                <a:spLocks noChangeArrowheads="1"/>
              </p:cNvSpPr>
              <p:nvPr/>
            </p:nvSpPr>
            <p:spPr bwMode="auto">
              <a:xfrm>
                <a:off x="5136" y="1536"/>
                <a:ext cx="192" cy="96"/>
              </a:xfrm>
              <a:prstGeom prst="rect">
                <a:avLst/>
              </a:prstGeom>
              <a:solidFill>
                <a:schemeClr val="bg1"/>
              </a:solidFill>
              <a:ln w="38100">
                <a:solidFill>
                  <a:schemeClr val="tx1"/>
                </a:solidFill>
                <a:miter lim="800000"/>
                <a:headEnd/>
                <a:tailEnd/>
              </a:ln>
            </p:spPr>
            <p:txBody>
              <a:bodyPr wrap="none" anchor="ctr"/>
              <a:lstStyle/>
              <a:p>
                <a:pPr algn="ctr" eaLnBrk="1" hangingPunct="1"/>
                <a:endParaRPr lang="zh-CN" altLang="en-US"/>
              </a:p>
            </p:txBody>
          </p:sp>
          <p:sp>
            <p:nvSpPr>
              <p:cNvPr id="55309" name="Rectangle 25"/>
              <p:cNvSpPr>
                <a:spLocks noChangeArrowheads="1"/>
              </p:cNvSpPr>
              <p:nvPr/>
            </p:nvSpPr>
            <p:spPr bwMode="auto">
              <a:xfrm>
                <a:off x="3264" y="1248"/>
                <a:ext cx="245" cy="270"/>
              </a:xfrm>
              <a:prstGeom prst="rect">
                <a:avLst/>
              </a:prstGeom>
              <a:noFill/>
              <a:ln w="9525">
                <a:noFill/>
                <a:miter lim="800000"/>
                <a:headEnd/>
                <a:tailEnd/>
              </a:ln>
            </p:spPr>
            <p:txBody>
              <a:bodyPr wrap="none">
                <a:spAutoFit/>
              </a:bodyPr>
              <a:lstStyle/>
              <a:p>
                <a:pPr eaLnBrk="1" hangingPunct="1"/>
                <a:r>
                  <a:rPr lang="en-US" altLang="zh-CN" sz="2000" b="1" i="1">
                    <a:solidFill>
                      <a:srgbClr val="FF3300"/>
                    </a:solidFill>
                  </a:rPr>
                  <a:t>u</a:t>
                </a:r>
                <a:r>
                  <a:rPr lang="en-US" altLang="zh-CN" sz="2000" b="1" baseline="-25000">
                    <a:solidFill>
                      <a:srgbClr val="FF3300"/>
                    </a:solidFill>
                  </a:rPr>
                  <a:t>I</a:t>
                </a:r>
              </a:p>
            </p:txBody>
          </p:sp>
        </p:grpSp>
        <p:sp>
          <p:nvSpPr>
            <p:cNvPr id="55305" name="Line 30"/>
            <p:cNvSpPr>
              <a:spLocks noChangeShapeType="1"/>
            </p:cNvSpPr>
            <p:nvPr/>
          </p:nvSpPr>
          <p:spPr bwMode="auto">
            <a:xfrm>
              <a:off x="4224" y="2208"/>
              <a:ext cx="96" cy="0"/>
            </a:xfrm>
            <a:prstGeom prst="line">
              <a:avLst/>
            </a:prstGeom>
            <a:noFill/>
            <a:ln w="38100">
              <a:solidFill>
                <a:schemeClr val="tx1"/>
              </a:solidFill>
              <a:round/>
              <a:headEnd/>
              <a:tailEnd/>
            </a:ln>
          </p:spPr>
          <p:txBody>
            <a:bodyPr/>
            <a:lstStyle/>
            <a:p>
              <a:endParaRPr lang="zh-CN" altLang="en-US"/>
            </a:p>
          </p:txBody>
        </p:sp>
      </p:grpSp>
    </p:spTree>
  </p:cSld>
  <p:clrMapOvr>
    <a:masterClrMapping/>
  </p:clrMapOvr>
  <p:transition spd="slow">
    <p:pull dir="r"/>
    <p:sndAc>
      <p:stSnd>
        <p:snd r:embed="rId4"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921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5" name="CHIMES.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179217">
                                            <p:txEl>
                                              <p:pRg st="0" end="0"/>
                                            </p:txEl>
                                          </p:spTgt>
                                        </p:tgtEl>
                                        <p:attrNameLst>
                                          <p:attrName>style.visibility</p:attrName>
                                        </p:attrNameLst>
                                      </p:cBhvr>
                                      <p:to>
                                        <p:strVal val="visible"/>
                                      </p:to>
                                    </p:set>
                                    <p:animEffect transition="in" filter="box(out)">
                                      <p:cBhvr>
                                        <p:cTn id="11" dur="500"/>
                                        <p:tgtEl>
                                          <p:spTgt spid="179217">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6" name="camera.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500"/>
                                        <p:tgtEl>
                                          <p:spTgt spid="2"/>
                                        </p:tgtEl>
                                      </p:cBhvr>
                                    </p:animEffect>
                                  </p:childTnLst>
                                  <p:subTnLst>
                                    <p:audio>
                                      <p:cMediaNode>
                                        <p:cTn display="0" masterRel="sameClick">
                                          <p:stCondLst>
                                            <p:cond evt="begin" delay="0">
                                              <p:tn val="14"/>
                                            </p:cond>
                                          </p:stCondLst>
                                          <p:endCondLst>
                                            <p:cond evt="onStopAudio" delay="0">
                                              <p:tgtEl>
                                                <p:sldTgt/>
                                              </p:tgtEl>
                                            </p:cond>
                                          </p:endCondLst>
                                        </p:cTn>
                                        <p:tgtEl>
                                          <p:sndTgt r:embed="rId6" name="camera.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79209"/>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5"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79227">
                                            <p:txEl>
                                              <p:pRg st="0" end="0"/>
                                            </p:txEl>
                                          </p:spTgt>
                                        </p:tgtEl>
                                        <p:attrNameLst>
                                          <p:attrName>style.visibility</p:attrName>
                                        </p:attrNameLst>
                                      </p:cBhvr>
                                      <p:to>
                                        <p:strVal val="visible"/>
                                      </p:to>
                                    </p:set>
                                    <p:animEffect transition="in" filter="box(out)">
                                      <p:cBhvr>
                                        <p:cTn id="25" dur="500"/>
                                        <p:tgtEl>
                                          <p:spTgt spid="179227">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6"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9" grpId="0" autoUpdateAnimBg="0"/>
      <p:bldP spid="179216" grpId="0" autoUpdateAnimBg="0"/>
      <p:bldP spid="179217" grpId="0" build="p" autoUpdateAnimBg="0"/>
      <p:bldP spid="179227"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9" name="Rectangle 5"/>
          <p:cNvSpPr>
            <a:spLocks noChangeArrowheads="1"/>
          </p:cNvSpPr>
          <p:nvPr/>
        </p:nvSpPr>
        <p:spPr bwMode="auto">
          <a:xfrm>
            <a:off x="990600" y="2362200"/>
            <a:ext cx="2590800" cy="609600"/>
          </a:xfrm>
          <a:prstGeom prst="rect">
            <a:avLst/>
          </a:prstGeom>
          <a:noFill/>
          <a:ln w="9525">
            <a:noFill/>
            <a:miter lim="800000"/>
            <a:headEnd/>
            <a:tailEnd/>
          </a:ln>
        </p:spPr>
        <p:txBody>
          <a:bodyPr/>
          <a:lstStyle/>
          <a:p>
            <a:pPr marL="342900" indent="-342900" eaLnBrk="1" hangingPunct="1">
              <a:spcBef>
                <a:spcPct val="20000"/>
              </a:spcBef>
            </a:pPr>
            <a:r>
              <a:rPr lang="en-US" altLang="zh-CN" sz="2800"/>
              <a:t>     </a:t>
            </a:r>
            <a:r>
              <a:rPr lang="zh-CN" altLang="en-US" b="1">
                <a:solidFill>
                  <a:srgbClr val="FF3300"/>
                </a:solidFill>
              </a:rPr>
              <a:t>双端输出时：</a:t>
            </a:r>
          </a:p>
        </p:txBody>
      </p:sp>
      <p:graphicFrame>
        <p:nvGraphicFramePr>
          <p:cNvPr id="180230" name="Object 6"/>
          <p:cNvGraphicFramePr>
            <a:graphicFrameLocks noChangeAspect="1"/>
          </p:cNvGraphicFramePr>
          <p:nvPr/>
        </p:nvGraphicFramePr>
        <p:xfrm>
          <a:off x="3978275" y="2200275"/>
          <a:ext cx="2422525" cy="1116013"/>
        </p:xfrm>
        <a:graphic>
          <a:graphicData uri="http://schemas.openxmlformats.org/presentationml/2006/ole">
            <mc:AlternateContent xmlns:mc="http://schemas.openxmlformats.org/markup-compatibility/2006">
              <mc:Choice xmlns:v="urn:schemas-microsoft-com:vml" Requires="v">
                <p:oleObj spid="_x0000_s39942" name="公式" r:id="rId5" imgW="28041600" imgH="13106400" progId="Equation.3">
                  <p:embed/>
                </p:oleObj>
              </mc:Choice>
              <mc:Fallback>
                <p:oleObj name="公式" r:id="rId5" imgW="28041600" imgH="13106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8275" y="2200275"/>
                        <a:ext cx="2422525" cy="11160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0231" name="Rectangle 7"/>
          <p:cNvSpPr>
            <a:spLocks noChangeArrowheads="1"/>
          </p:cNvSpPr>
          <p:nvPr/>
        </p:nvSpPr>
        <p:spPr bwMode="auto">
          <a:xfrm>
            <a:off x="971550" y="3352800"/>
            <a:ext cx="2590800" cy="609600"/>
          </a:xfrm>
          <a:prstGeom prst="rect">
            <a:avLst/>
          </a:prstGeom>
          <a:noFill/>
          <a:ln w="9525">
            <a:noFill/>
            <a:miter lim="800000"/>
            <a:headEnd/>
            <a:tailEnd/>
          </a:ln>
        </p:spPr>
        <p:txBody>
          <a:bodyPr/>
          <a:lstStyle/>
          <a:p>
            <a:pPr marL="342900" indent="-342900" eaLnBrk="1" hangingPunct="1">
              <a:spcBef>
                <a:spcPct val="20000"/>
              </a:spcBef>
            </a:pPr>
            <a:r>
              <a:rPr lang="en-US" altLang="zh-CN" sz="2800"/>
              <a:t>     </a:t>
            </a:r>
            <a:r>
              <a:rPr lang="zh-CN" altLang="en-US" b="1">
                <a:solidFill>
                  <a:srgbClr val="FF3300"/>
                </a:solidFill>
              </a:rPr>
              <a:t>单端输出时：</a:t>
            </a:r>
          </a:p>
        </p:txBody>
      </p:sp>
      <p:graphicFrame>
        <p:nvGraphicFramePr>
          <p:cNvPr id="180232" name="Object 8"/>
          <p:cNvGraphicFramePr>
            <a:graphicFrameLocks noChangeAspect="1"/>
          </p:cNvGraphicFramePr>
          <p:nvPr/>
        </p:nvGraphicFramePr>
        <p:xfrm>
          <a:off x="3954463" y="3382963"/>
          <a:ext cx="2522537" cy="884237"/>
        </p:xfrm>
        <a:graphic>
          <a:graphicData uri="http://schemas.openxmlformats.org/presentationml/2006/ole">
            <mc:AlternateContent xmlns:mc="http://schemas.openxmlformats.org/markup-compatibility/2006">
              <mc:Choice xmlns:v="urn:schemas-microsoft-com:vml" Requires="v">
                <p:oleObj spid="_x0000_s39943" name="公式" r:id="rId7" imgW="26822400" imgH="9448800" progId="Equation.3">
                  <p:embed/>
                </p:oleObj>
              </mc:Choice>
              <mc:Fallback>
                <p:oleObj name="公式" r:id="rId7" imgW="26822400" imgH="9448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4463" y="3382963"/>
                        <a:ext cx="2522537" cy="8842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0233" name="Rectangle 9"/>
          <p:cNvSpPr>
            <a:spLocks noChangeArrowheads="1"/>
          </p:cNvSpPr>
          <p:nvPr/>
        </p:nvSpPr>
        <p:spPr bwMode="auto">
          <a:xfrm>
            <a:off x="996950" y="3962400"/>
            <a:ext cx="3803650" cy="533400"/>
          </a:xfrm>
          <a:prstGeom prst="rect">
            <a:avLst/>
          </a:prstGeom>
          <a:noFill/>
          <a:ln w="9525">
            <a:noFill/>
            <a:miter lim="800000"/>
            <a:headEnd/>
            <a:tailEnd/>
          </a:ln>
        </p:spPr>
        <p:txBody>
          <a:bodyPr anchor="ctr"/>
          <a:lstStyle/>
          <a:p>
            <a:pPr eaLnBrk="1" hangingPunct="1"/>
            <a:r>
              <a:rPr lang="en-US" altLang="zh-CN" sz="4400"/>
              <a:t> </a:t>
            </a:r>
            <a:r>
              <a:rPr lang="en-US" altLang="zh-CN" b="1">
                <a:solidFill>
                  <a:srgbClr val="990000"/>
                </a:solidFill>
                <a:latin typeface="幼圆" pitchFamily="49" charset="-122"/>
                <a:ea typeface="幼圆" pitchFamily="49" charset="-122"/>
              </a:rPr>
              <a:t>(2)</a:t>
            </a:r>
            <a:r>
              <a:rPr lang="zh-CN" altLang="en-US" b="1">
                <a:solidFill>
                  <a:srgbClr val="990000"/>
                </a:solidFill>
                <a:latin typeface="幼圆" pitchFamily="49" charset="-122"/>
                <a:ea typeface="幼圆" pitchFamily="49" charset="-122"/>
              </a:rPr>
              <a:t>共模电压放大倍数</a:t>
            </a:r>
            <a:endParaRPr lang="zh-CN" altLang="en-US" b="1"/>
          </a:p>
        </p:txBody>
      </p:sp>
      <p:sp>
        <p:nvSpPr>
          <p:cNvPr id="180234" name="Rectangle 10"/>
          <p:cNvSpPr>
            <a:spLocks noChangeArrowheads="1"/>
          </p:cNvSpPr>
          <p:nvPr/>
        </p:nvSpPr>
        <p:spPr bwMode="auto">
          <a:xfrm>
            <a:off x="762000" y="4572000"/>
            <a:ext cx="7620000" cy="609600"/>
          </a:xfrm>
          <a:prstGeom prst="rect">
            <a:avLst/>
          </a:prstGeom>
          <a:noFill/>
          <a:ln w="9525">
            <a:noFill/>
            <a:miter lim="800000"/>
            <a:headEnd/>
            <a:tailEnd/>
          </a:ln>
        </p:spPr>
        <p:txBody>
          <a:bodyPr/>
          <a:lstStyle/>
          <a:p>
            <a:pPr marL="342900" indent="-342900" eaLnBrk="1" hangingPunct="1">
              <a:spcBef>
                <a:spcPct val="20000"/>
              </a:spcBef>
            </a:pPr>
            <a:r>
              <a:rPr lang="en-US" altLang="zh-CN" sz="2800"/>
              <a:t>     </a:t>
            </a:r>
            <a:r>
              <a:rPr lang="zh-CN" altLang="en-US" b="1"/>
              <a:t>与单端输入还是双端输入无关，只与输出方式有关：</a:t>
            </a:r>
          </a:p>
        </p:txBody>
      </p:sp>
      <p:sp>
        <p:nvSpPr>
          <p:cNvPr id="180235" name="Rectangle 11"/>
          <p:cNvSpPr>
            <a:spLocks noChangeArrowheads="1"/>
          </p:cNvSpPr>
          <p:nvPr/>
        </p:nvSpPr>
        <p:spPr bwMode="auto">
          <a:xfrm>
            <a:off x="163513" y="5334000"/>
            <a:ext cx="2590800" cy="609600"/>
          </a:xfrm>
          <a:prstGeom prst="rect">
            <a:avLst/>
          </a:prstGeom>
          <a:noFill/>
          <a:ln w="9525">
            <a:noFill/>
            <a:miter lim="800000"/>
            <a:headEnd/>
            <a:tailEnd/>
          </a:ln>
        </p:spPr>
        <p:txBody>
          <a:bodyPr/>
          <a:lstStyle/>
          <a:p>
            <a:pPr marL="342900" indent="-342900" eaLnBrk="1" hangingPunct="1">
              <a:spcBef>
                <a:spcPct val="20000"/>
              </a:spcBef>
            </a:pPr>
            <a:r>
              <a:rPr lang="en-US" altLang="zh-CN" sz="2800"/>
              <a:t>     </a:t>
            </a:r>
            <a:r>
              <a:rPr lang="zh-CN" altLang="en-US" b="1">
                <a:solidFill>
                  <a:srgbClr val="FF3300"/>
                </a:solidFill>
              </a:rPr>
              <a:t>双端输出时：</a:t>
            </a:r>
          </a:p>
        </p:txBody>
      </p:sp>
      <p:sp>
        <p:nvSpPr>
          <p:cNvPr id="180236" name="Rectangle 12"/>
          <p:cNvSpPr>
            <a:spLocks noChangeArrowheads="1"/>
          </p:cNvSpPr>
          <p:nvPr/>
        </p:nvSpPr>
        <p:spPr bwMode="auto">
          <a:xfrm>
            <a:off x="3582988" y="5334000"/>
            <a:ext cx="2590800" cy="609600"/>
          </a:xfrm>
          <a:prstGeom prst="rect">
            <a:avLst/>
          </a:prstGeom>
          <a:noFill/>
          <a:ln w="9525">
            <a:noFill/>
            <a:miter lim="800000"/>
            <a:headEnd/>
            <a:tailEnd/>
          </a:ln>
        </p:spPr>
        <p:txBody>
          <a:bodyPr/>
          <a:lstStyle/>
          <a:p>
            <a:pPr marL="342900" indent="-342900" eaLnBrk="1" hangingPunct="1">
              <a:spcBef>
                <a:spcPct val="20000"/>
              </a:spcBef>
            </a:pPr>
            <a:r>
              <a:rPr lang="zh-CN" altLang="en-US" b="1">
                <a:solidFill>
                  <a:srgbClr val="FF3300"/>
                </a:solidFill>
              </a:rPr>
              <a:t>单端输出时：</a:t>
            </a:r>
          </a:p>
        </p:txBody>
      </p:sp>
      <p:graphicFrame>
        <p:nvGraphicFramePr>
          <p:cNvPr id="180237" name="Object 13" descr="羊皮纸"/>
          <p:cNvGraphicFramePr>
            <a:graphicFrameLocks noChangeAspect="1"/>
          </p:cNvGraphicFramePr>
          <p:nvPr/>
        </p:nvGraphicFramePr>
        <p:xfrm>
          <a:off x="2439988" y="5386388"/>
          <a:ext cx="1066800" cy="509587"/>
        </p:xfrm>
        <a:graphic>
          <a:graphicData uri="http://schemas.openxmlformats.org/presentationml/2006/ole">
            <mc:AlternateContent xmlns:mc="http://schemas.openxmlformats.org/markup-compatibility/2006">
              <mc:Choice xmlns:v="urn:schemas-microsoft-com:vml" Requires="v">
                <p:oleObj spid="_x0000_s39944" name="公式" r:id="rId9" imgW="10058400" imgH="4876800" progId="Equation.3">
                  <p:embed/>
                </p:oleObj>
              </mc:Choice>
              <mc:Fallback>
                <p:oleObj name="公式" r:id="rId9" imgW="10058400" imgH="4876800" progId="Equation.3">
                  <p:embed/>
                  <p:pic>
                    <p:nvPicPr>
                      <p:cNvPr id="0" name="Object 13" descr="羊皮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9988" y="5386388"/>
                        <a:ext cx="1066800" cy="509587"/>
                      </a:xfrm>
                      <a:prstGeom prst="rect">
                        <a:avLst/>
                      </a:prstGeom>
                      <a:blipFill dpi="0" rotWithShape="0">
                        <a:blip r:embed="rId11"/>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32" name="Rectangle 17"/>
          <p:cNvSpPr>
            <a:spLocks noChangeArrowheads="1"/>
          </p:cNvSpPr>
          <p:nvPr/>
        </p:nvSpPr>
        <p:spPr bwMode="auto">
          <a:xfrm>
            <a:off x="838200" y="609600"/>
            <a:ext cx="5186363" cy="519113"/>
          </a:xfrm>
          <a:prstGeom prst="rect">
            <a:avLst/>
          </a:prstGeom>
          <a:noFill/>
          <a:ln w="9525">
            <a:noFill/>
            <a:miter lim="800000"/>
            <a:headEnd/>
            <a:tailEnd/>
          </a:ln>
        </p:spPr>
        <p:txBody>
          <a:bodyPr wrap="none">
            <a:spAutoFit/>
          </a:bodyPr>
          <a:lstStyle/>
          <a:p>
            <a:pPr eaLnBrk="1" hangingPunct="1"/>
            <a:r>
              <a:rPr lang="en-US" altLang="zh-CN" sz="2800" b="1">
                <a:solidFill>
                  <a:schemeClr val="hlink"/>
                </a:solidFill>
                <a:latin typeface="幼圆" pitchFamily="49" charset="-122"/>
                <a:ea typeface="幼圆" pitchFamily="49" charset="-122"/>
              </a:rPr>
              <a:t>5.</a:t>
            </a:r>
            <a:r>
              <a:rPr lang="zh-CN" altLang="en-US" sz="2800" b="1">
                <a:solidFill>
                  <a:schemeClr val="hlink"/>
                </a:solidFill>
                <a:latin typeface="幼圆" pitchFamily="49" charset="-122"/>
                <a:ea typeface="幼圆" pitchFamily="49" charset="-122"/>
              </a:rPr>
              <a:t>差动放大器动态参数计算总结</a:t>
            </a:r>
          </a:p>
        </p:txBody>
      </p:sp>
      <p:sp>
        <p:nvSpPr>
          <p:cNvPr id="56333" name="Rectangle 20"/>
          <p:cNvSpPr>
            <a:spLocks noChangeArrowheads="1"/>
          </p:cNvSpPr>
          <p:nvPr/>
        </p:nvSpPr>
        <p:spPr bwMode="auto">
          <a:xfrm>
            <a:off x="990600" y="1143000"/>
            <a:ext cx="3097213" cy="457200"/>
          </a:xfrm>
          <a:prstGeom prst="rect">
            <a:avLst/>
          </a:prstGeom>
          <a:noFill/>
          <a:ln w="9525">
            <a:noFill/>
            <a:miter lim="800000"/>
            <a:headEnd/>
            <a:tailEnd/>
          </a:ln>
        </p:spPr>
        <p:txBody>
          <a:bodyPr wrap="none">
            <a:spAutoFit/>
          </a:bodyPr>
          <a:lstStyle/>
          <a:p>
            <a:pPr eaLnBrk="1" hangingPunct="1"/>
            <a:r>
              <a:rPr lang="en-US" altLang="zh-CN" b="1" dirty="0">
                <a:solidFill>
                  <a:srgbClr val="990000"/>
                </a:solidFill>
                <a:latin typeface="黑体" panose="02010609060101010101" pitchFamily="49" charset="-122"/>
                <a:ea typeface="黑体" panose="02010609060101010101" pitchFamily="49" charset="-122"/>
              </a:rPr>
              <a:t>(1)</a:t>
            </a:r>
            <a:r>
              <a:rPr lang="zh-CN" altLang="en-US" b="1" dirty="0">
                <a:solidFill>
                  <a:srgbClr val="990000"/>
                </a:solidFill>
                <a:latin typeface="黑体" panose="02010609060101010101" pitchFamily="49" charset="-122"/>
                <a:ea typeface="黑体" panose="02010609060101010101" pitchFamily="49" charset="-122"/>
              </a:rPr>
              <a:t>差模电压放大倍数</a:t>
            </a:r>
          </a:p>
        </p:txBody>
      </p:sp>
      <p:sp>
        <p:nvSpPr>
          <p:cNvPr id="180246" name="Rectangle 22"/>
          <p:cNvSpPr>
            <a:spLocks noChangeArrowheads="1"/>
          </p:cNvSpPr>
          <p:nvPr/>
        </p:nvSpPr>
        <p:spPr bwMode="auto">
          <a:xfrm>
            <a:off x="922338" y="1676400"/>
            <a:ext cx="7231062" cy="457200"/>
          </a:xfrm>
          <a:prstGeom prst="rect">
            <a:avLst/>
          </a:prstGeom>
          <a:noFill/>
          <a:ln w="9525">
            <a:noFill/>
            <a:miter lim="800000"/>
            <a:headEnd/>
            <a:tailEnd/>
          </a:ln>
        </p:spPr>
        <p:txBody>
          <a:bodyPr wrap="none">
            <a:spAutoFit/>
          </a:bodyPr>
          <a:lstStyle/>
          <a:p>
            <a:pPr eaLnBrk="1" hangingPunct="1"/>
            <a:r>
              <a:rPr lang="zh-CN" altLang="en-US" b="1"/>
              <a:t>与单端输入还是双端输入无关，只与输出方式有关：</a:t>
            </a:r>
          </a:p>
        </p:txBody>
      </p:sp>
      <p:graphicFrame>
        <p:nvGraphicFramePr>
          <p:cNvPr id="744454" name="Object 14"/>
          <p:cNvGraphicFramePr>
            <a:graphicFrameLocks noChangeAspect="1"/>
          </p:cNvGraphicFramePr>
          <p:nvPr/>
        </p:nvGraphicFramePr>
        <p:xfrm>
          <a:off x="5445125" y="5103813"/>
          <a:ext cx="3740150" cy="927100"/>
        </p:xfrm>
        <a:graphic>
          <a:graphicData uri="http://schemas.openxmlformats.org/presentationml/2006/ole">
            <mc:AlternateContent xmlns:mc="http://schemas.openxmlformats.org/markup-compatibility/2006">
              <mc:Choice xmlns:v="urn:schemas-microsoft-com:vml" Requires="v">
                <p:oleObj spid="_x0000_s39945" name="公式" r:id="rId12" imgW="41452800" imgH="10363200" progId="Equation.3">
                  <p:embed/>
                </p:oleObj>
              </mc:Choice>
              <mc:Fallback>
                <p:oleObj name="公式" r:id="rId12" imgW="41452800" imgH="1036320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45125" y="5103813"/>
                        <a:ext cx="3740150" cy="9271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15" name="TextBox 15"/>
          <p:cNvSpPr txBox="1"/>
          <p:nvPr/>
        </p:nvSpPr>
        <p:spPr>
          <a:xfrm>
            <a:off x="6951663" y="3343275"/>
            <a:ext cx="1614487" cy="830263"/>
          </a:xfrm>
          <a:prstGeom prst="rect">
            <a:avLst/>
          </a:prstGeom>
          <a:solidFill>
            <a:schemeClr val="accent5">
              <a:lumMod val="20000"/>
              <a:lumOff val="80000"/>
            </a:schemeClr>
          </a:solidFill>
          <a:ln>
            <a:solidFill>
              <a:schemeClr val="tx1"/>
            </a:solidFill>
          </a:ln>
        </p:spPr>
        <p:txBody>
          <a:bodyPr>
            <a:spAutoFit/>
          </a:bodyPr>
          <a:lstStyle/>
          <a:p>
            <a:pPr algn="ctr" eaLnBrk="1" hangingPunct="1">
              <a:defRPr/>
            </a:pPr>
            <a:r>
              <a:rPr lang="zh-CN" altLang="en-US" dirty="0">
                <a:solidFill>
                  <a:srgbClr val="FF0000"/>
                </a:solidFill>
              </a:rPr>
              <a:t>输入输出同相端？</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0246">
                                            <p:txEl>
                                              <p:pRg st="0" end="0"/>
                                            </p:txEl>
                                          </p:spTgt>
                                        </p:tgtEl>
                                        <p:attrNameLst>
                                          <p:attrName>style.visibility</p:attrName>
                                        </p:attrNameLst>
                                      </p:cBhvr>
                                      <p:to>
                                        <p:strVal val="visible"/>
                                      </p:to>
                                    </p:set>
                                    <p:animEffect transition="in" filter="box(out)">
                                      <p:cBhvr>
                                        <p:cTn id="7" dur="500"/>
                                        <p:tgtEl>
                                          <p:spTgt spid="18024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0229">
                                            <p:txEl>
                                              <p:pRg st="0" end="0"/>
                                            </p:txEl>
                                          </p:spTgt>
                                        </p:tgtEl>
                                        <p:attrNameLst>
                                          <p:attrName>style.visibility</p:attrName>
                                        </p:attrNameLst>
                                      </p:cBhvr>
                                      <p:to>
                                        <p:strVal val="visible"/>
                                      </p:to>
                                    </p:set>
                                    <p:animEffect transition="in" filter="barn(inVertical)">
                                      <p:cBhvr>
                                        <p:cTn id="12" dur="500"/>
                                        <p:tgtEl>
                                          <p:spTgt spid="1802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180230"/>
                                        </p:tgtEl>
                                        <p:attrNameLst>
                                          <p:attrName>style.visibility</p:attrName>
                                        </p:attrNameLst>
                                      </p:cBhvr>
                                      <p:to>
                                        <p:strVal val="visible"/>
                                      </p:to>
                                    </p:set>
                                    <p:anim calcmode="lin" valueType="num">
                                      <p:cBhvr additive="base">
                                        <p:cTn id="17" dur="500" fill="hold"/>
                                        <p:tgtEl>
                                          <p:spTgt spid="180230"/>
                                        </p:tgtEl>
                                        <p:attrNameLst>
                                          <p:attrName>ppt_x</p:attrName>
                                        </p:attrNameLst>
                                      </p:cBhvr>
                                      <p:tavLst>
                                        <p:tav tm="0">
                                          <p:val>
                                            <p:strVal val="1+#ppt_w/2"/>
                                          </p:val>
                                        </p:tav>
                                        <p:tav tm="100000">
                                          <p:val>
                                            <p:strVal val="#ppt_x"/>
                                          </p:val>
                                        </p:tav>
                                      </p:tavLst>
                                    </p:anim>
                                    <p:anim calcmode="lin" valueType="num">
                                      <p:cBhvr additive="base">
                                        <p:cTn id="18" dur="500" fill="hold"/>
                                        <p:tgtEl>
                                          <p:spTgt spid="18023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80231">
                                            <p:txEl>
                                              <p:pRg st="0" end="0"/>
                                            </p:txEl>
                                          </p:spTgt>
                                        </p:tgtEl>
                                        <p:attrNameLst>
                                          <p:attrName>style.visibility</p:attrName>
                                        </p:attrNameLst>
                                      </p:cBhvr>
                                      <p:to>
                                        <p:strVal val="visible"/>
                                      </p:to>
                                    </p:set>
                                    <p:animEffect transition="in" filter="barn(inVertical)">
                                      <p:cBhvr>
                                        <p:cTn id="23" dur="500"/>
                                        <p:tgtEl>
                                          <p:spTgt spid="180231">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18023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8023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80234">
                                            <p:txEl>
                                              <p:pRg st="0" end="0"/>
                                            </p:txEl>
                                          </p:spTgt>
                                        </p:tgtEl>
                                        <p:attrNameLst>
                                          <p:attrName>style.visibility</p:attrName>
                                        </p:attrNameLst>
                                      </p:cBhvr>
                                      <p:to>
                                        <p:strVal val="visible"/>
                                      </p:to>
                                    </p:set>
                                    <p:animEffect transition="in" filter="barn(inVertical)">
                                      <p:cBhvr>
                                        <p:cTn id="41" dur="500"/>
                                        <p:tgtEl>
                                          <p:spTgt spid="180234">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180235">
                                            <p:txEl>
                                              <p:pRg st="0" end="0"/>
                                            </p:txEl>
                                          </p:spTgt>
                                        </p:tgtEl>
                                        <p:attrNameLst>
                                          <p:attrName>style.visibility</p:attrName>
                                        </p:attrNameLst>
                                      </p:cBhvr>
                                      <p:to>
                                        <p:strVal val="visible"/>
                                      </p:to>
                                    </p:set>
                                    <p:animEffect transition="in" filter="barn(inVertical)">
                                      <p:cBhvr>
                                        <p:cTn id="46" dur="500"/>
                                        <p:tgtEl>
                                          <p:spTgt spid="180235">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nodeType="clickEffect">
                                  <p:stCondLst>
                                    <p:cond delay="0"/>
                                  </p:stCondLst>
                                  <p:childTnLst>
                                    <p:set>
                                      <p:cBhvr>
                                        <p:cTn id="50" dur="1" fill="hold">
                                          <p:stCondLst>
                                            <p:cond delay="0"/>
                                          </p:stCondLst>
                                        </p:cTn>
                                        <p:tgtEl>
                                          <p:spTgt spid="180237"/>
                                        </p:tgtEl>
                                        <p:attrNameLst>
                                          <p:attrName>style.visibility</p:attrName>
                                        </p:attrNameLst>
                                      </p:cBhvr>
                                      <p:to>
                                        <p:strVal val="visible"/>
                                      </p:to>
                                    </p:set>
                                    <p:anim calcmode="lin" valueType="num">
                                      <p:cBhvr additive="base">
                                        <p:cTn id="51" dur="500" fill="hold"/>
                                        <p:tgtEl>
                                          <p:spTgt spid="180237"/>
                                        </p:tgtEl>
                                        <p:attrNameLst>
                                          <p:attrName>ppt_x</p:attrName>
                                        </p:attrNameLst>
                                      </p:cBhvr>
                                      <p:tavLst>
                                        <p:tav tm="0">
                                          <p:val>
                                            <p:strVal val="1+#ppt_w/2"/>
                                          </p:val>
                                        </p:tav>
                                        <p:tav tm="100000">
                                          <p:val>
                                            <p:strVal val="#ppt_x"/>
                                          </p:val>
                                        </p:tav>
                                      </p:tavLst>
                                    </p:anim>
                                    <p:anim calcmode="lin" valueType="num">
                                      <p:cBhvr additive="base">
                                        <p:cTn id="52" dur="500" fill="hold"/>
                                        <p:tgtEl>
                                          <p:spTgt spid="180237"/>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80236">
                                            <p:txEl>
                                              <p:pRg st="0" end="0"/>
                                            </p:txEl>
                                          </p:spTgt>
                                        </p:tgtEl>
                                        <p:attrNameLst>
                                          <p:attrName>style.visibility</p:attrName>
                                        </p:attrNameLst>
                                      </p:cBhvr>
                                      <p:to>
                                        <p:strVal val="visible"/>
                                      </p:to>
                                    </p:set>
                                    <p:animEffect transition="in" filter="barn(inVertical)">
                                      <p:cBhvr>
                                        <p:cTn id="57" dur="500"/>
                                        <p:tgtEl>
                                          <p:spTgt spid="180236">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44454"/>
                                        </p:tgtEl>
                                        <p:attrNameLst>
                                          <p:attrName>style.visibility</p:attrName>
                                        </p:attrNameLst>
                                      </p:cBhvr>
                                      <p:to>
                                        <p:strVal val="visible"/>
                                      </p:to>
                                    </p:set>
                                    <p:animEffect transition="in" filter="wipe(left)">
                                      <p:cBhvr>
                                        <p:cTn id="62" dur="500"/>
                                        <p:tgtEl>
                                          <p:spTgt spid="744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9" grpId="0" build="p" autoUpdateAnimBg="0"/>
      <p:bldP spid="180231" grpId="0" build="p" autoUpdateAnimBg="0"/>
      <p:bldP spid="180233" grpId="0" autoUpdateAnimBg="0"/>
      <p:bldP spid="180234" grpId="0" build="p" autoUpdateAnimBg="0"/>
      <p:bldP spid="180235" grpId="0" build="p" autoUpdateAnimBg="0"/>
      <p:bldP spid="180236" grpId="0" build="p" autoUpdateAnimBg="0"/>
      <p:bldP spid="180246" grpId="0" build="p" autoUpdateAnimBg="0"/>
      <p:bldP spid="1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
          <p:cNvSpPr>
            <a:spLocks noChangeArrowheads="1"/>
          </p:cNvSpPr>
          <p:nvPr/>
        </p:nvSpPr>
        <p:spPr bwMode="auto">
          <a:xfrm>
            <a:off x="1042987" y="908050"/>
            <a:ext cx="5757057" cy="381000"/>
          </a:xfrm>
          <a:prstGeom prst="rect">
            <a:avLst/>
          </a:prstGeom>
          <a:noFill/>
          <a:ln w="9525">
            <a:noFill/>
            <a:miter lim="800000"/>
            <a:headEnd/>
            <a:tailEnd/>
          </a:ln>
        </p:spPr>
        <p:txBody>
          <a:bodyPr anchor="ctr"/>
          <a:lstStyle/>
          <a:p>
            <a:pPr eaLnBrk="1" hangingPunct="1"/>
            <a:r>
              <a:rPr lang="en-US" altLang="zh-CN" sz="4400" dirty="0"/>
              <a:t> </a:t>
            </a:r>
            <a:r>
              <a:rPr lang="en-US" altLang="zh-CN" sz="2800" b="1" dirty="0">
                <a:solidFill>
                  <a:srgbClr val="A50021"/>
                </a:solidFill>
                <a:latin typeface="幼圆" pitchFamily="49" charset="-122"/>
                <a:ea typeface="幼圆" pitchFamily="49" charset="-122"/>
              </a:rPr>
              <a:t>(3)</a:t>
            </a:r>
            <a:r>
              <a:rPr lang="zh-CN" altLang="en-US" sz="2800" b="1" dirty="0">
                <a:solidFill>
                  <a:srgbClr val="A50021"/>
                </a:solidFill>
                <a:latin typeface="幼圆" pitchFamily="49" charset="-122"/>
                <a:ea typeface="幼圆" pitchFamily="49" charset="-122"/>
              </a:rPr>
              <a:t>差模输入电阻（</a:t>
            </a:r>
            <a:r>
              <a:rPr lang="zh-CN" altLang="en-US" sz="2800" b="1" dirty="0">
                <a:solidFill>
                  <a:srgbClr val="0000FF"/>
                </a:solidFill>
                <a:latin typeface="幼圆" pitchFamily="49" charset="-122"/>
                <a:ea typeface="幼圆" pitchFamily="49" charset="-122"/>
              </a:rPr>
              <a:t>针对</a:t>
            </a:r>
            <a:r>
              <a:rPr lang="zh-CN" altLang="en-US" sz="2800" b="1" dirty="0">
                <a:solidFill>
                  <a:srgbClr val="0000FF"/>
                </a:solidFill>
              </a:rPr>
              <a:t>差模信号</a:t>
            </a:r>
            <a:r>
              <a:rPr lang="zh-CN" altLang="en-US" sz="2800" b="1" dirty="0">
                <a:solidFill>
                  <a:srgbClr val="A50021"/>
                </a:solidFill>
                <a:latin typeface="幼圆" pitchFamily="49" charset="-122"/>
                <a:ea typeface="幼圆" pitchFamily="49" charset="-122"/>
              </a:rPr>
              <a:t>）</a:t>
            </a:r>
            <a:endParaRPr lang="zh-CN" altLang="en-US" sz="2800" b="1" dirty="0">
              <a:solidFill>
                <a:srgbClr val="A50021"/>
              </a:solidFill>
            </a:endParaRPr>
          </a:p>
        </p:txBody>
      </p:sp>
      <p:sp>
        <p:nvSpPr>
          <p:cNvPr id="181251" name="Rectangle 3"/>
          <p:cNvSpPr>
            <a:spLocks noChangeArrowheads="1"/>
          </p:cNvSpPr>
          <p:nvPr/>
        </p:nvSpPr>
        <p:spPr bwMode="auto">
          <a:xfrm>
            <a:off x="609600" y="1447800"/>
            <a:ext cx="7620000" cy="1219200"/>
          </a:xfrm>
          <a:prstGeom prst="rect">
            <a:avLst/>
          </a:prstGeom>
          <a:noFill/>
          <a:ln w="9525">
            <a:noFill/>
            <a:miter lim="800000"/>
            <a:headEnd/>
            <a:tailEnd/>
          </a:ln>
        </p:spPr>
        <p:txBody>
          <a:bodyPr/>
          <a:lstStyle/>
          <a:p>
            <a:pPr marL="342900" indent="-342900" eaLnBrk="1" hangingPunct="1">
              <a:spcBef>
                <a:spcPct val="20000"/>
              </a:spcBef>
            </a:pPr>
            <a:r>
              <a:rPr lang="en-US" altLang="zh-CN" sz="2800"/>
              <a:t>            </a:t>
            </a:r>
            <a:r>
              <a:rPr lang="zh-CN" altLang="en-US" b="1"/>
              <a:t>不论是单端输入还是双端输入，差模输入电阻　　　</a:t>
            </a:r>
            <a:r>
              <a:rPr lang="en-US" altLang="zh-CN" b="1" i="1"/>
              <a:t>R</a:t>
            </a:r>
            <a:r>
              <a:rPr lang="en-US" altLang="zh-CN" b="1" baseline="-25000"/>
              <a:t>id</a:t>
            </a:r>
            <a:r>
              <a:rPr lang="zh-CN" altLang="en-US" b="1"/>
              <a:t>是基本放大电路的两倍。</a:t>
            </a:r>
          </a:p>
        </p:txBody>
      </p:sp>
      <p:graphicFrame>
        <p:nvGraphicFramePr>
          <p:cNvPr id="181256" name="Object 8"/>
          <p:cNvGraphicFramePr>
            <a:graphicFrameLocks noChangeAspect="1"/>
          </p:cNvGraphicFramePr>
          <p:nvPr/>
        </p:nvGraphicFramePr>
        <p:xfrm>
          <a:off x="2755900" y="2466975"/>
          <a:ext cx="3035300" cy="669925"/>
        </p:xfrm>
        <a:graphic>
          <a:graphicData uri="http://schemas.openxmlformats.org/presentationml/2006/ole">
            <mc:AlternateContent xmlns:mc="http://schemas.openxmlformats.org/markup-compatibility/2006">
              <mc:Choice xmlns:v="urn:schemas-microsoft-com:vml" Requires="v">
                <p:oleObj spid="_x0000_s40965" name="公式" r:id="rId5" imgW="21336000" imgH="4876800" progId="Equation.3">
                  <p:embed/>
                </p:oleObj>
              </mc:Choice>
              <mc:Fallback>
                <p:oleObj name="公式" r:id="rId5" imgW="21336000" imgH="4876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5900" y="2466975"/>
                        <a:ext cx="303530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1257" name="Rectangle 9"/>
          <p:cNvSpPr>
            <a:spLocks noChangeArrowheads="1"/>
          </p:cNvSpPr>
          <p:nvPr/>
        </p:nvSpPr>
        <p:spPr bwMode="auto">
          <a:xfrm>
            <a:off x="1042988" y="3284538"/>
            <a:ext cx="4800600" cy="533400"/>
          </a:xfrm>
          <a:prstGeom prst="rect">
            <a:avLst/>
          </a:prstGeom>
          <a:noFill/>
          <a:ln w="9525">
            <a:noFill/>
            <a:miter lim="800000"/>
            <a:headEnd/>
            <a:tailEnd/>
          </a:ln>
        </p:spPr>
        <p:txBody>
          <a:bodyPr anchor="ctr"/>
          <a:lstStyle/>
          <a:p>
            <a:pPr eaLnBrk="1" hangingPunct="1"/>
            <a:r>
              <a:rPr lang="en-US" altLang="zh-CN" sz="4400"/>
              <a:t> </a:t>
            </a:r>
            <a:r>
              <a:rPr lang="en-US" altLang="zh-CN" sz="2800" b="1">
                <a:solidFill>
                  <a:srgbClr val="A50021"/>
                </a:solidFill>
                <a:latin typeface="幼圆" pitchFamily="49" charset="-122"/>
                <a:ea typeface="幼圆" pitchFamily="49" charset="-122"/>
              </a:rPr>
              <a:t>(4)</a:t>
            </a:r>
            <a:r>
              <a:rPr lang="zh-CN" altLang="en-US" sz="2800" b="1">
                <a:solidFill>
                  <a:srgbClr val="A50021"/>
                </a:solidFill>
                <a:latin typeface="幼圆" pitchFamily="49" charset="-122"/>
                <a:ea typeface="幼圆" pitchFamily="49" charset="-122"/>
              </a:rPr>
              <a:t>输出电阻</a:t>
            </a:r>
            <a:endParaRPr lang="zh-CN" altLang="en-US" sz="2800" b="1">
              <a:solidFill>
                <a:srgbClr val="A50021"/>
              </a:solidFill>
            </a:endParaRPr>
          </a:p>
        </p:txBody>
      </p:sp>
      <p:grpSp>
        <p:nvGrpSpPr>
          <p:cNvPr id="2" name="Group 13"/>
          <p:cNvGrpSpPr>
            <a:grpSpLocks/>
          </p:cNvGrpSpPr>
          <p:nvPr/>
        </p:nvGrpSpPr>
        <p:grpSpPr bwMode="auto">
          <a:xfrm>
            <a:off x="457200" y="3733800"/>
            <a:ext cx="5105400" cy="2590800"/>
            <a:chOff x="0" y="2256"/>
            <a:chExt cx="3216" cy="1632"/>
          </a:xfrm>
        </p:grpSpPr>
        <p:grpSp>
          <p:nvGrpSpPr>
            <p:cNvPr id="57353" name="Group 4"/>
            <p:cNvGrpSpPr>
              <a:grpSpLocks/>
            </p:cNvGrpSpPr>
            <p:nvPr/>
          </p:nvGrpSpPr>
          <p:grpSpPr bwMode="auto">
            <a:xfrm>
              <a:off x="0" y="2256"/>
              <a:ext cx="3216" cy="1632"/>
              <a:chOff x="0" y="2832"/>
              <a:chExt cx="3216" cy="1488"/>
            </a:xfrm>
          </p:grpSpPr>
          <p:sp>
            <p:nvSpPr>
              <p:cNvPr id="57355" name="Rectangle 5"/>
              <p:cNvSpPr>
                <a:spLocks noChangeArrowheads="1"/>
              </p:cNvSpPr>
              <p:nvPr/>
            </p:nvSpPr>
            <p:spPr bwMode="auto">
              <a:xfrm>
                <a:off x="0" y="2832"/>
                <a:ext cx="2784" cy="1488"/>
              </a:xfrm>
              <a:prstGeom prst="rect">
                <a:avLst/>
              </a:prstGeom>
              <a:noFill/>
              <a:ln w="9525">
                <a:noFill/>
                <a:miter lim="800000"/>
                <a:headEnd/>
                <a:tailEnd/>
              </a:ln>
            </p:spPr>
            <p:txBody>
              <a:bodyPr/>
              <a:lstStyle/>
              <a:p>
                <a:pPr eaLnBrk="1" hangingPunct="1"/>
                <a:r>
                  <a:rPr kumimoji="0" lang="en-US" altLang="zh-CN" sz="1800">
                    <a:latin typeface="Arial" pitchFamily="34" charset="0"/>
                  </a:rPr>
                  <a:t>           </a:t>
                </a:r>
                <a:endParaRPr kumimoji="0" lang="en-US" altLang="zh-CN" sz="2800">
                  <a:latin typeface="Arial" pitchFamily="34" charset="0"/>
                </a:endParaRPr>
              </a:p>
              <a:p>
                <a:pPr eaLnBrk="1" hangingPunct="1"/>
                <a:r>
                  <a:rPr kumimoji="0" lang="en-US" altLang="zh-CN" sz="2800">
                    <a:latin typeface="Arial" pitchFamily="34" charset="0"/>
                  </a:rPr>
                  <a:t>              </a:t>
                </a:r>
                <a:endParaRPr kumimoji="0" lang="en-US" altLang="zh-CN" sz="1800">
                  <a:latin typeface="Arial" pitchFamily="34" charset="0"/>
                </a:endParaRPr>
              </a:p>
            </p:txBody>
          </p:sp>
          <p:graphicFrame>
            <p:nvGraphicFramePr>
              <p:cNvPr id="57347" name="Object 6"/>
              <p:cNvGraphicFramePr>
                <a:graphicFrameLocks noChangeAspect="1"/>
              </p:cNvGraphicFramePr>
              <p:nvPr/>
            </p:nvGraphicFramePr>
            <p:xfrm>
              <a:off x="2352" y="3195"/>
              <a:ext cx="816" cy="358"/>
            </p:xfrm>
            <a:graphic>
              <a:graphicData uri="http://schemas.openxmlformats.org/presentationml/2006/ole">
                <mc:AlternateContent xmlns:mc="http://schemas.openxmlformats.org/markup-compatibility/2006">
                  <mc:Choice xmlns:v="urn:schemas-microsoft-com:vml" Requires="v">
                    <p:oleObj spid="_x0000_s40966" name="公式" r:id="rId7" imgW="12496800" imgH="5486400" progId="Equation.3">
                      <p:embed/>
                    </p:oleObj>
                  </mc:Choice>
                  <mc:Fallback>
                    <p:oleObj name="公式" r:id="rId7" imgW="12496800" imgH="54864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2" y="3195"/>
                            <a:ext cx="816"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48" name="Object 7"/>
              <p:cNvGraphicFramePr>
                <a:graphicFrameLocks noChangeAspect="1"/>
              </p:cNvGraphicFramePr>
              <p:nvPr/>
            </p:nvGraphicFramePr>
            <p:xfrm>
              <a:off x="2256" y="3504"/>
              <a:ext cx="960" cy="368"/>
            </p:xfrm>
            <a:graphic>
              <a:graphicData uri="http://schemas.openxmlformats.org/presentationml/2006/ole">
                <mc:AlternateContent xmlns:mc="http://schemas.openxmlformats.org/markup-compatibility/2006">
                  <mc:Choice xmlns:v="urn:schemas-microsoft-com:vml" Requires="v">
                    <p:oleObj spid="_x0000_s40967" name="公式" r:id="rId9" imgW="14325600" imgH="5486400" progId="Equation.3">
                      <p:embed/>
                    </p:oleObj>
                  </mc:Choice>
                  <mc:Fallback>
                    <p:oleObj name="公式" r:id="rId9" imgW="14325600" imgH="54864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6" y="3504"/>
                            <a:ext cx="96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7354" name="Rectangle 12"/>
            <p:cNvSpPr>
              <a:spLocks noChangeArrowheads="1"/>
            </p:cNvSpPr>
            <p:nvPr/>
          </p:nvSpPr>
          <p:spPr bwMode="auto">
            <a:xfrm>
              <a:off x="816" y="2629"/>
              <a:ext cx="1488" cy="731"/>
            </a:xfrm>
            <a:prstGeom prst="rect">
              <a:avLst/>
            </a:prstGeom>
            <a:noFill/>
            <a:ln w="9525">
              <a:noFill/>
              <a:miter lim="800000"/>
              <a:headEnd/>
              <a:tailEnd/>
            </a:ln>
          </p:spPr>
          <p:txBody>
            <a:bodyPr>
              <a:spAutoFit/>
            </a:bodyPr>
            <a:lstStyle/>
            <a:p>
              <a:pPr eaLnBrk="1" hangingPunct="1">
                <a:spcBef>
                  <a:spcPct val="50000"/>
                </a:spcBef>
              </a:pPr>
              <a:r>
                <a:rPr kumimoji="0" lang="zh-CN" altLang="en-US" sz="2800" b="1">
                  <a:latin typeface="Arial" pitchFamily="34" charset="0"/>
                </a:rPr>
                <a:t>单端输出时              </a:t>
              </a:r>
            </a:p>
            <a:p>
              <a:pPr eaLnBrk="1" hangingPunct="1">
                <a:spcBef>
                  <a:spcPct val="50000"/>
                </a:spcBef>
              </a:pPr>
              <a:r>
                <a:rPr kumimoji="0" lang="zh-CN" altLang="en-US" sz="2800" b="1">
                  <a:latin typeface="Arial" pitchFamily="34" charset="0"/>
                </a:rPr>
                <a:t>双端输出时</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Effect transition="in" filter="barn(inVertical)">
                                      <p:cBhvr>
                                        <p:cTn id="7" dur="500"/>
                                        <p:tgtEl>
                                          <p:spTgt spid="181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81256"/>
                                        </p:tgtEl>
                                        <p:attrNameLst>
                                          <p:attrName>style.visibility</p:attrName>
                                        </p:attrNameLst>
                                      </p:cBhvr>
                                      <p:to>
                                        <p:strVal val="visible"/>
                                      </p:to>
                                    </p:set>
                                    <p:animEffect transition="in" filter="blinds(vertical)">
                                      <p:cBhvr>
                                        <p:cTn id="12" dur="500"/>
                                        <p:tgtEl>
                                          <p:spTgt spid="1812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8125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subTnLst>
                                    <p:audio>
                                      <p:cMediaNode>
                                        <p:cTn display="0" masterRel="sameClick">
                                          <p:stCondLst>
                                            <p:cond evt="begin" delay="0">
                                              <p:tn val="19"/>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autoUpdateAnimBg="0"/>
      <p:bldP spid="18125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ChangeArrowheads="1"/>
          </p:cNvSpPr>
          <p:nvPr/>
        </p:nvSpPr>
        <p:spPr bwMode="auto">
          <a:xfrm>
            <a:off x="762000" y="609600"/>
            <a:ext cx="4572000" cy="533400"/>
          </a:xfrm>
          <a:prstGeom prst="rect">
            <a:avLst/>
          </a:prstGeom>
          <a:noFill/>
          <a:ln w="9525">
            <a:noFill/>
            <a:miter lim="800000"/>
            <a:headEnd/>
            <a:tailEnd/>
          </a:ln>
        </p:spPr>
        <p:txBody>
          <a:bodyPr anchor="ctr"/>
          <a:lstStyle/>
          <a:p>
            <a:pPr eaLnBrk="1" hangingPunct="1"/>
            <a:r>
              <a:rPr lang="en-US" altLang="zh-CN" sz="3200" b="1">
                <a:solidFill>
                  <a:srgbClr val="A50021"/>
                </a:solidFill>
                <a:latin typeface="幼圆" pitchFamily="49" charset="-122"/>
                <a:ea typeface="幼圆" pitchFamily="49" charset="-122"/>
              </a:rPr>
              <a:t>(5)</a:t>
            </a:r>
            <a:r>
              <a:rPr lang="zh-CN" altLang="en-US" sz="3200" b="1">
                <a:solidFill>
                  <a:srgbClr val="A50021"/>
                </a:solidFill>
                <a:latin typeface="幼圆" pitchFamily="49" charset="-122"/>
                <a:ea typeface="幼圆" pitchFamily="49" charset="-122"/>
              </a:rPr>
              <a:t>共模抑制比</a:t>
            </a:r>
            <a:endParaRPr lang="zh-CN" altLang="en-US" sz="3200" b="1">
              <a:solidFill>
                <a:srgbClr val="A50021"/>
              </a:solidFill>
              <a:latin typeface="黑体" pitchFamily="49" charset="-122"/>
              <a:ea typeface="黑体" pitchFamily="49" charset="-122"/>
            </a:endParaRPr>
          </a:p>
        </p:txBody>
      </p:sp>
      <p:sp>
        <p:nvSpPr>
          <p:cNvPr id="182275" name="Rectangle 3"/>
          <p:cNvSpPr>
            <a:spLocks noChangeArrowheads="1"/>
          </p:cNvSpPr>
          <p:nvPr/>
        </p:nvSpPr>
        <p:spPr bwMode="auto">
          <a:xfrm>
            <a:off x="685800" y="1066800"/>
            <a:ext cx="7772400" cy="762000"/>
          </a:xfrm>
          <a:prstGeom prst="rect">
            <a:avLst/>
          </a:prstGeom>
          <a:noFill/>
          <a:ln w="9525">
            <a:noFill/>
            <a:miter lim="800000"/>
            <a:headEnd/>
            <a:tailEnd/>
          </a:ln>
        </p:spPr>
        <p:txBody>
          <a:bodyPr/>
          <a:lstStyle/>
          <a:p>
            <a:pPr marL="342900" indent="-342900" eaLnBrk="1" hangingPunct="1">
              <a:spcBef>
                <a:spcPct val="20000"/>
              </a:spcBef>
            </a:pPr>
            <a:r>
              <a:rPr lang="en-US" altLang="zh-CN" sz="3200"/>
              <a:t>  </a:t>
            </a:r>
            <a:r>
              <a:rPr lang="zh-CN" altLang="en-US" sz="2800" b="1"/>
              <a:t>共模抑制比</a:t>
            </a:r>
            <a:r>
              <a:rPr lang="en-US" altLang="zh-CN" sz="2800" b="1" i="1"/>
              <a:t>K</a:t>
            </a:r>
            <a:r>
              <a:rPr lang="en-US" altLang="zh-CN" sz="2800" b="1" baseline="-25000"/>
              <a:t>CMR</a:t>
            </a:r>
            <a:r>
              <a:rPr lang="zh-CN" altLang="en-US" sz="2800" b="1"/>
              <a:t>是差分放大器的一个重要指标。</a:t>
            </a:r>
            <a:endParaRPr lang="zh-CN" altLang="en-US" b="1"/>
          </a:p>
        </p:txBody>
      </p:sp>
      <p:graphicFrame>
        <p:nvGraphicFramePr>
          <p:cNvPr id="182277" name="Object 5"/>
          <p:cNvGraphicFramePr>
            <a:graphicFrameLocks noChangeAspect="1"/>
          </p:cNvGraphicFramePr>
          <p:nvPr/>
        </p:nvGraphicFramePr>
        <p:xfrm>
          <a:off x="2438400" y="1752600"/>
          <a:ext cx="1874838" cy="1076325"/>
        </p:xfrm>
        <a:graphic>
          <a:graphicData uri="http://schemas.openxmlformats.org/presentationml/2006/ole">
            <mc:AlternateContent xmlns:mc="http://schemas.openxmlformats.org/markup-compatibility/2006">
              <mc:Choice xmlns:v="urn:schemas-microsoft-com:vml" Requires="v">
                <p:oleObj spid="_x0000_s41989" name="公式" r:id="rId5" imgW="20116800" imgH="11582400" progId="Equation.3">
                  <p:embed/>
                </p:oleObj>
              </mc:Choice>
              <mc:Fallback>
                <p:oleObj name="公式" r:id="rId5" imgW="20116800" imgH="11582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1752600"/>
                        <a:ext cx="1874838" cy="1076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82278" name="Object 6"/>
          <p:cNvGraphicFramePr>
            <a:graphicFrameLocks noChangeAspect="1"/>
          </p:cNvGraphicFramePr>
          <p:nvPr/>
        </p:nvGraphicFramePr>
        <p:xfrm>
          <a:off x="2362200" y="2895600"/>
          <a:ext cx="3122613" cy="1076325"/>
        </p:xfrm>
        <a:graphic>
          <a:graphicData uri="http://schemas.openxmlformats.org/presentationml/2006/ole">
            <mc:AlternateContent xmlns:mc="http://schemas.openxmlformats.org/markup-compatibility/2006">
              <mc:Choice xmlns:v="urn:schemas-microsoft-com:vml" Requires="v">
                <p:oleObj spid="_x0000_s41990" name="公式" r:id="rId7" imgW="33528000" imgH="11582400" progId="Equation.3">
                  <p:embed/>
                </p:oleObj>
              </mc:Choice>
              <mc:Fallback>
                <p:oleObj name="公式" r:id="rId7" imgW="33528000" imgH="115824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2895600"/>
                        <a:ext cx="3122613" cy="1076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82279" name="Text Box 7"/>
          <p:cNvSpPr txBox="1">
            <a:spLocks noChangeArrowheads="1"/>
          </p:cNvSpPr>
          <p:nvPr/>
        </p:nvSpPr>
        <p:spPr bwMode="auto">
          <a:xfrm>
            <a:off x="1600200" y="3200400"/>
            <a:ext cx="539750" cy="519113"/>
          </a:xfrm>
          <a:prstGeom prst="rect">
            <a:avLst/>
          </a:prstGeom>
          <a:noFill/>
          <a:ln w="9525">
            <a:noFill/>
            <a:miter lim="800000"/>
            <a:headEnd/>
            <a:tailEnd/>
          </a:ln>
        </p:spPr>
        <p:txBody>
          <a:bodyPr wrap="none">
            <a:spAutoFit/>
          </a:bodyPr>
          <a:lstStyle/>
          <a:p>
            <a:pPr eaLnBrk="1" hangingPunct="1"/>
            <a:r>
              <a:rPr lang="zh-CN" altLang="en-US" sz="2800" b="1"/>
              <a:t>或</a:t>
            </a:r>
            <a:endParaRPr lang="zh-CN" altLang="en-US" b="1"/>
          </a:p>
        </p:txBody>
      </p:sp>
      <p:sp>
        <p:nvSpPr>
          <p:cNvPr id="182280" name="Text Box 8"/>
          <p:cNvSpPr txBox="1">
            <a:spLocks noChangeArrowheads="1"/>
          </p:cNvSpPr>
          <p:nvPr/>
        </p:nvSpPr>
        <p:spPr bwMode="auto">
          <a:xfrm>
            <a:off x="914400" y="3962400"/>
            <a:ext cx="7620000" cy="1482725"/>
          </a:xfrm>
          <a:prstGeom prst="rect">
            <a:avLst/>
          </a:prstGeom>
          <a:noFill/>
          <a:ln w="9525">
            <a:noFill/>
            <a:miter lim="800000"/>
            <a:headEnd/>
            <a:tailEnd/>
          </a:ln>
        </p:spPr>
        <p:txBody>
          <a:bodyPr>
            <a:spAutoFit/>
          </a:bodyPr>
          <a:lstStyle/>
          <a:p>
            <a:pPr>
              <a:lnSpc>
                <a:spcPct val="120000"/>
              </a:lnSpc>
            </a:pPr>
            <a:r>
              <a:rPr lang="en-US" altLang="zh-CN" sz="2800">
                <a:solidFill>
                  <a:srgbClr val="009900"/>
                </a:solidFill>
              </a:rPr>
              <a:t>  </a:t>
            </a:r>
            <a:r>
              <a:rPr lang="zh-CN" altLang="en-US" sz="2800" b="1">
                <a:solidFill>
                  <a:srgbClr val="3333FF"/>
                </a:solidFill>
              </a:rPr>
              <a:t>双端输出时</a:t>
            </a:r>
            <a:r>
              <a:rPr lang="en-US" altLang="zh-CN" sz="2800" b="1" i="1">
                <a:solidFill>
                  <a:srgbClr val="3333FF"/>
                </a:solidFill>
              </a:rPr>
              <a:t>K</a:t>
            </a:r>
            <a:r>
              <a:rPr lang="en-US" altLang="zh-CN" sz="2800" b="1" baseline="-25000">
                <a:solidFill>
                  <a:srgbClr val="3333FF"/>
                </a:solidFill>
              </a:rPr>
              <a:t>CMR</a:t>
            </a:r>
            <a:r>
              <a:rPr lang="zh-CN" altLang="en-US" sz="2800" b="1">
                <a:solidFill>
                  <a:srgbClr val="3333FF"/>
                </a:solidFill>
              </a:rPr>
              <a:t>可认为等于无穷大，</a:t>
            </a:r>
          </a:p>
          <a:p>
            <a:pPr>
              <a:lnSpc>
                <a:spcPct val="120000"/>
              </a:lnSpc>
            </a:pPr>
            <a:r>
              <a:rPr lang="zh-CN" altLang="en-US" sz="2800" b="1">
                <a:solidFill>
                  <a:srgbClr val="3333FF"/>
                </a:solidFill>
              </a:rPr>
              <a:t>  </a:t>
            </a:r>
            <a:r>
              <a:rPr lang="zh-CN" altLang="en-US" sz="2800" b="1"/>
              <a:t>单端输出时共模抑制比：</a:t>
            </a:r>
          </a:p>
          <a:p>
            <a:pPr eaLnBrk="1" hangingPunct="1"/>
            <a:endParaRPr lang="en-US" altLang="zh-CN"/>
          </a:p>
        </p:txBody>
      </p:sp>
      <p:sp>
        <p:nvSpPr>
          <p:cNvPr id="58377" name="Rectangle 9"/>
          <p:cNvSpPr>
            <a:spLocks noChangeArrowheads="1"/>
          </p:cNvSpPr>
          <p:nvPr/>
        </p:nvSpPr>
        <p:spPr bwMode="auto">
          <a:xfrm>
            <a:off x="4343400" y="6248400"/>
            <a:ext cx="4572000" cy="609600"/>
          </a:xfrm>
          <a:prstGeom prst="rect">
            <a:avLst/>
          </a:prstGeom>
          <a:noFill/>
          <a:ln w="9525">
            <a:noFill/>
            <a:miter lim="800000"/>
            <a:headEnd/>
            <a:tailEnd/>
          </a:ln>
        </p:spPr>
        <p:txBody>
          <a:bodyPr anchor="ctr"/>
          <a:lstStyle/>
          <a:p>
            <a:pPr eaLnBrk="1" hangingPunct="1"/>
            <a:endParaRPr lang="zh-CN" altLang="zh-CN" sz="3200" b="1">
              <a:solidFill>
                <a:srgbClr val="FF3300"/>
              </a:solidFill>
              <a:latin typeface="黑体" pitchFamily="49" charset="-122"/>
              <a:ea typeface="黑体" pitchFamily="49" charset="-122"/>
            </a:endParaRPr>
          </a:p>
        </p:txBody>
      </p:sp>
      <p:graphicFrame>
        <p:nvGraphicFramePr>
          <p:cNvPr id="746502" name="Object 9"/>
          <p:cNvGraphicFramePr>
            <a:graphicFrameLocks noChangeAspect="1"/>
          </p:cNvGraphicFramePr>
          <p:nvPr/>
        </p:nvGraphicFramePr>
        <p:xfrm>
          <a:off x="3571875" y="5143500"/>
          <a:ext cx="4300538" cy="1012825"/>
        </p:xfrm>
        <a:graphic>
          <a:graphicData uri="http://schemas.openxmlformats.org/presentationml/2006/ole">
            <mc:AlternateContent xmlns:mc="http://schemas.openxmlformats.org/markup-compatibility/2006">
              <mc:Choice xmlns:v="urn:schemas-microsoft-com:vml" Requires="v">
                <p:oleObj spid="_x0000_s41991" name="公式" r:id="rId9" imgW="42367200" imgH="10363200" progId="Equation.3">
                  <p:embed/>
                </p:oleObj>
              </mc:Choice>
              <mc:Fallback>
                <p:oleObj name="公式" r:id="rId9" imgW="42367200" imgH="10363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71875" y="5143500"/>
                        <a:ext cx="4300538" cy="1012825"/>
                      </a:xfrm>
                      <a:prstGeom prst="rect">
                        <a:avLst/>
                      </a:prstGeom>
                      <a:solidFill>
                        <a:srgbClr val="66FFFF"/>
                      </a:solidFill>
                      <a:ln w="9525">
                        <a:solidFill>
                          <a:srgbClr val="FF3300"/>
                        </a:solidFill>
                        <a:miter lim="800000"/>
                        <a:headEnd/>
                        <a:tailEn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animEffect transition="in" filter="box(out)">
                                      <p:cBhvr>
                                        <p:cTn id="7" dur="500"/>
                                        <p:tgtEl>
                                          <p:spTgt spid="182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82277"/>
                                        </p:tgtEl>
                                        <p:attrNameLst>
                                          <p:attrName>style.visibility</p:attrName>
                                        </p:attrNameLst>
                                      </p:cBhvr>
                                      <p:to>
                                        <p:strVal val="visible"/>
                                      </p:to>
                                    </p:set>
                                    <p:animEffect transition="in" filter="box(out)">
                                      <p:cBhvr>
                                        <p:cTn id="12" dur="500"/>
                                        <p:tgtEl>
                                          <p:spTgt spid="1822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82279"/>
                                        </p:tgtEl>
                                        <p:attrNameLst>
                                          <p:attrName>style.visibility</p:attrName>
                                        </p:attrNameLst>
                                      </p:cBhvr>
                                      <p:to>
                                        <p:strVal val="visible"/>
                                      </p:to>
                                    </p:set>
                                    <p:animEffect transition="in" filter="box(out)">
                                      <p:cBhvr>
                                        <p:cTn id="17" dur="500"/>
                                        <p:tgtEl>
                                          <p:spTgt spid="1822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82278"/>
                                        </p:tgtEl>
                                        <p:attrNameLst>
                                          <p:attrName>style.visibility</p:attrName>
                                        </p:attrNameLst>
                                      </p:cBhvr>
                                      <p:to>
                                        <p:strVal val="visible"/>
                                      </p:to>
                                    </p:set>
                                    <p:animEffect transition="in" filter="box(out)">
                                      <p:cBhvr>
                                        <p:cTn id="22" dur="500"/>
                                        <p:tgtEl>
                                          <p:spTgt spid="1822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82280">
                                            <p:txEl>
                                              <p:pRg st="0" end="0"/>
                                            </p:txEl>
                                          </p:spTgt>
                                        </p:tgtEl>
                                        <p:attrNameLst>
                                          <p:attrName>style.visibility</p:attrName>
                                        </p:attrNameLst>
                                      </p:cBhvr>
                                      <p:to>
                                        <p:strVal val="visible"/>
                                      </p:to>
                                    </p:set>
                                    <p:animEffect transition="in" filter="box(out)">
                                      <p:cBhvr>
                                        <p:cTn id="27" dur="500"/>
                                        <p:tgtEl>
                                          <p:spTgt spid="182280">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82280">
                                            <p:txEl>
                                              <p:pRg st="1" end="1"/>
                                            </p:txEl>
                                          </p:spTgt>
                                        </p:tgtEl>
                                        <p:attrNameLst>
                                          <p:attrName>style.visibility</p:attrName>
                                        </p:attrNameLst>
                                      </p:cBhvr>
                                      <p:to>
                                        <p:strVal val="visible"/>
                                      </p:to>
                                    </p:set>
                                    <p:animEffect transition="in" filter="box(out)">
                                      <p:cBhvr>
                                        <p:cTn id="32" dur="500"/>
                                        <p:tgtEl>
                                          <p:spTgt spid="182280">
                                            <p:txEl>
                                              <p:pRg st="1" end="1"/>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46502"/>
                                        </p:tgtEl>
                                        <p:attrNameLst>
                                          <p:attrName>style.visibility</p:attrName>
                                        </p:attrNameLst>
                                      </p:cBhvr>
                                      <p:to>
                                        <p:strVal val="visible"/>
                                      </p:to>
                                    </p:set>
                                    <p:animEffect transition="in" filter="wipe(left)">
                                      <p:cBhvr>
                                        <p:cTn id="37" dur="500"/>
                                        <p:tgtEl>
                                          <p:spTgt spid="74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autoUpdateAnimBg="0"/>
      <p:bldP spid="182279" grpId="0" autoUpdateAnimBg="0"/>
      <p:bldP spid="182280"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2"/>
          <p:cNvSpPr>
            <a:spLocks noGrp="1" noChangeArrowheads="1"/>
          </p:cNvSpPr>
          <p:nvPr>
            <p:ph type="title"/>
          </p:nvPr>
        </p:nvSpPr>
        <p:spPr>
          <a:xfrm>
            <a:off x="233363" y="1525588"/>
            <a:ext cx="8281987" cy="609600"/>
          </a:xfrm>
        </p:spPr>
        <p:txBody>
          <a:bodyPr/>
          <a:lstStyle/>
          <a:p>
            <a:pPr algn="l"/>
            <a:r>
              <a:rPr lang="zh-CN" altLang="zh-CN" sz="3200" b="1">
                <a:solidFill>
                  <a:schemeClr val="tx1"/>
                </a:solidFill>
                <a:latin typeface="华文行楷" pitchFamily="2" charset="-122"/>
                <a:ea typeface="华文行楷" pitchFamily="2" charset="-122"/>
              </a:rPr>
              <a:t>四种接法的比较</a:t>
            </a:r>
            <a:r>
              <a:rPr lang="zh-CN" altLang="zh-CN" sz="2800" b="1">
                <a:solidFill>
                  <a:schemeClr val="tx1"/>
                </a:solidFill>
              </a:rPr>
              <a:t>：电路</a:t>
            </a:r>
            <a:r>
              <a:rPr lang="zh-CN" altLang="en-US" sz="2800" b="1">
                <a:solidFill>
                  <a:schemeClr val="tx1"/>
                </a:solidFill>
              </a:rPr>
              <a:t>参数</a:t>
            </a:r>
            <a:r>
              <a:rPr lang="zh-CN" altLang="zh-CN" sz="2800" b="1">
                <a:solidFill>
                  <a:schemeClr val="tx1"/>
                </a:solidFill>
              </a:rPr>
              <a:t>理想对称条件下</a:t>
            </a:r>
          </a:p>
        </p:txBody>
      </p:sp>
      <p:sp>
        <p:nvSpPr>
          <p:cNvPr id="60419" name="Text Box 3"/>
          <p:cNvSpPr txBox="1">
            <a:spLocks noChangeArrowheads="1"/>
          </p:cNvSpPr>
          <p:nvPr/>
        </p:nvSpPr>
        <p:spPr bwMode="auto">
          <a:xfrm>
            <a:off x="765175" y="2244725"/>
            <a:ext cx="7924800" cy="936625"/>
          </a:xfrm>
          <a:prstGeom prst="rect">
            <a:avLst/>
          </a:prstGeom>
          <a:noFill/>
          <a:ln w="9525">
            <a:noFill/>
            <a:miter lim="800000"/>
            <a:headEnd/>
            <a:tailEnd/>
          </a:ln>
        </p:spPr>
        <p:txBody>
          <a:bodyPr>
            <a:spAutoFit/>
          </a:bodyPr>
          <a:lstStyle/>
          <a:p>
            <a:pPr algn="ctr" eaLnBrk="1" hangingPunct="1">
              <a:lnSpc>
                <a:spcPct val="120000"/>
              </a:lnSpc>
            </a:pPr>
            <a:r>
              <a:rPr lang="zh-CN" altLang="en-US" b="1"/>
              <a:t>输入方式： </a:t>
            </a:r>
            <a:r>
              <a:rPr lang="en-US" altLang="zh-CN" b="1" i="1"/>
              <a:t>R</a:t>
            </a:r>
            <a:r>
              <a:rPr lang="en-US" altLang="zh-CN" b="1" baseline="-25000"/>
              <a:t>i</a:t>
            </a:r>
            <a:r>
              <a:rPr lang="zh-CN" altLang="en-US" b="1"/>
              <a:t>均为</a:t>
            </a:r>
            <a:r>
              <a:rPr lang="en-US" altLang="zh-CN" b="1"/>
              <a:t>2(</a:t>
            </a:r>
            <a:r>
              <a:rPr lang="en-US" altLang="zh-CN" b="1" i="1"/>
              <a:t>R</a:t>
            </a:r>
            <a:r>
              <a:rPr lang="en-US" altLang="zh-CN" b="1" baseline="-25000"/>
              <a:t>b</a:t>
            </a:r>
            <a:r>
              <a:rPr lang="en-US" altLang="zh-CN" b="1"/>
              <a:t>+</a:t>
            </a:r>
            <a:r>
              <a:rPr lang="en-US" altLang="zh-CN" b="1" i="1"/>
              <a:t>r</a:t>
            </a:r>
            <a:r>
              <a:rPr lang="en-US" altLang="zh-CN" b="1" baseline="-25000"/>
              <a:t>be</a:t>
            </a:r>
            <a:r>
              <a:rPr lang="en-US" altLang="zh-CN" b="1"/>
              <a:t>)</a:t>
            </a:r>
            <a:r>
              <a:rPr lang="zh-CN" altLang="en-US" b="1"/>
              <a:t>；双端输入时无共模信号输入，</a:t>
            </a:r>
            <a:endParaRPr lang="en-US" altLang="zh-CN" b="1"/>
          </a:p>
          <a:p>
            <a:pPr algn="ctr" eaLnBrk="1" hangingPunct="1">
              <a:lnSpc>
                <a:spcPct val="120000"/>
              </a:lnSpc>
            </a:pPr>
            <a:r>
              <a:rPr lang="zh-CN" altLang="en-US" b="1">
                <a:solidFill>
                  <a:srgbClr val="FF0000"/>
                </a:solidFill>
              </a:rPr>
              <a:t>单端输入时有</a:t>
            </a:r>
            <a:r>
              <a:rPr lang="zh-CN" altLang="en-US" b="1" u="sng">
                <a:solidFill>
                  <a:srgbClr val="FF0000"/>
                </a:solidFill>
              </a:rPr>
              <a:t>共模信号输入</a:t>
            </a:r>
            <a:r>
              <a:rPr lang="zh-CN" altLang="en-US" b="1"/>
              <a:t>。</a:t>
            </a:r>
          </a:p>
        </p:txBody>
      </p:sp>
      <p:sp>
        <p:nvSpPr>
          <p:cNvPr id="60420" name="Text Box 4"/>
          <p:cNvSpPr txBox="1">
            <a:spLocks noChangeArrowheads="1"/>
          </p:cNvSpPr>
          <p:nvPr/>
        </p:nvSpPr>
        <p:spPr bwMode="auto">
          <a:xfrm>
            <a:off x="765175" y="3235325"/>
            <a:ext cx="7772400" cy="457200"/>
          </a:xfrm>
          <a:prstGeom prst="rect">
            <a:avLst/>
          </a:prstGeom>
          <a:noFill/>
          <a:ln w="9525">
            <a:noFill/>
            <a:miter lim="800000"/>
            <a:headEnd/>
            <a:tailEnd/>
          </a:ln>
        </p:spPr>
        <p:txBody>
          <a:bodyPr>
            <a:spAutoFit/>
          </a:bodyPr>
          <a:lstStyle/>
          <a:p>
            <a:pPr eaLnBrk="1" hangingPunct="1">
              <a:spcBef>
                <a:spcPct val="50000"/>
              </a:spcBef>
            </a:pPr>
            <a:r>
              <a:rPr lang="zh-CN" altLang="en-US" b="1" dirty="0"/>
              <a:t>输出方式：</a:t>
            </a:r>
            <a:r>
              <a:rPr lang="en-US" altLang="zh-CN" b="1" i="1" dirty="0"/>
              <a:t>Q</a:t>
            </a:r>
            <a:r>
              <a:rPr lang="zh-CN" altLang="zh-CN" b="1" dirty="0"/>
              <a:t>点、</a:t>
            </a:r>
            <a:r>
              <a:rPr lang="en-US" altLang="zh-CN" b="1" i="1" dirty="0"/>
              <a:t>A</a:t>
            </a:r>
            <a:r>
              <a:rPr lang="en-US" altLang="zh-CN" b="1" baseline="-25000" dirty="0"/>
              <a:t>d</a:t>
            </a:r>
            <a:r>
              <a:rPr lang="zh-CN" altLang="en-US" b="1" dirty="0"/>
              <a:t>、 </a:t>
            </a:r>
            <a:r>
              <a:rPr lang="en-US" altLang="zh-CN" b="1" i="1" dirty="0"/>
              <a:t>A</a:t>
            </a:r>
            <a:r>
              <a:rPr lang="en-US" altLang="zh-CN" b="1" baseline="-25000" dirty="0"/>
              <a:t>c</a:t>
            </a:r>
            <a:r>
              <a:rPr lang="zh-CN" altLang="en-US" b="1" dirty="0"/>
              <a:t>、 </a:t>
            </a:r>
            <a:r>
              <a:rPr lang="en-US" altLang="zh-CN" b="1" i="1" dirty="0"/>
              <a:t>K</a:t>
            </a:r>
            <a:r>
              <a:rPr lang="en-US" altLang="zh-CN" b="1" baseline="-25000" dirty="0"/>
              <a:t>CMR</a:t>
            </a:r>
            <a:r>
              <a:rPr lang="zh-CN" altLang="en-US" b="1" dirty="0"/>
              <a:t>、</a:t>
            </a:r>
            <a:r>
              <a:rPr lang="en-US" altLang="zh-CN" b="1" i="1" dirty="0"/>
              <a:t>R</a:t>
            </a:r>
            <a:r>
              <a:rPr lang="en-US" altLang="zh-CN" b="1" baseline="-25000" dirty="0"/>
              <a:t>o</a:t>
            </a:r>
            <a:r>
              <a:rPr lang="zh-CN" altLang="zh-CN" b="1" dirty="0"/>
              <a:t>均与之有关。</a:t>
            </a:r>
            <a:endParaRPr lang="zh-CN" altLang="en-US" b="1" dirty="0"/>
          </a:p>
        </p:txBody>
      </p:sp>
      <p:graphicFrame>
        <p:nvGraphicFramePr>
          <p:cNvPr id="60421" name="Object 5"/>
          <p:cNvGraphicFramePr>
            <a:graphicFrameLocks noChangeAspect="1"/>
          </p:cNvGraphicFramePr>
          <p:nvPr/>
        </p:nvGraphicFramePr>
        <p:xfrm>
          <a:off x="471488" y="4149725"/>
          <a:ext cx="3646487" cy="2528888"/>
        </p:xfrm>
        <a:graphic>
          <a:graphicData uri="http://schemas.openxmlformats.org/presentationml/2006/ole">
            <mc:AlternateContent xmlns:mc="http://schemas.openxmlformats.org/markup-compatibility/2006">
              <mc:Choice xmlns:v="urn:schemas-microsoft-com:vml" Requires="v">
                <p:oleObj spid="_x0000_s43013" name="Equation" r:id="rId3" imgW="44805600" imgH="31089600" progId="Equation.3">
                  <p:embed/>
                </p:oleObj>
              </mc:Choice>
              <mc:Fallback>
                <p:oleObj name="Equation" r:id="rId3" imgW="44805600" imgH="31089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8" y="4149725"/>
                        <a:ext cx="3646487" cy="2528888"/>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60422" name="Object 6"/>
          <p:cNvGraphicFramePr>
            <a:graphicFrameLocks noChangeAspect="1"/>
          </p:cNvGraphicFramePr>
          <p:nvPr/>
        </p:nvGraphicFramePr>
        <p:xfrm>
          <a:off x="4184650" y="3727450"/>
          <a:ext cx="4773613" cy="2994025"/>
        </p:xfrm>
        <a:graphic>
          <a:graphicData uri="http://schemas.openxmlformats.org/presentationml/2006/ole">
            <mc:AlternateContent xmlns:mc="http://schemas.openxmlformats.org/markup-compatibility/2006">
              <mc:Choice xmlns:v="urn:schemas-microsoft-com:vml" Requires="v">
                <p:oleObj spid="_x0000_s43014" name="Equation" r:id="rId5" imgW="59740800" imgH="37490400" progId="Equation.3">
                  <p:embed/>
                </p:oleObj>
              </mc:Choice>
              <mc:Fallback>
                <p:oleObj name="Equation" r:id="rId5" imgW="59740800" imgH="37490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4650" y="3727450"/>
                        <a:ext cx="4773613" cy="2994025"/>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54290" name="Object 18"/>
          <p:cNvGraphicFramePr>
            <a:graphicFrameLocks noChangeAspect="1"/>
          </p:cNvGraphicFramePr>
          <p:nvPr/>
        </p:nvGraphicFramePr>
        <p:xfrm>
          <a:off x="4862513" y="0"/>
          <a:ext cx="4281487" cy="920750"/>
        </p:xfrm>
        <a:graphic>
          <a:graphicData uri="http://schemas.openxmlformats.org/presentationml/2006/ole">
            <mc:AlternateContent xmlns:mc="http://schemas.openxmlformats.org/markup-compatibility/2006">
              <mc:Choice xmlns:v="urn:schemas-microsoft-com:vml" Requires="v">
                <p:oleObj spid="_x0000_s43015" name="公式" r:id="rId7" imgW="57302400" imgH="10668000" progId="Equation.3">
                  <p:embed/>
                </p:oleObj>
              </mc:Choice>
              <mc:Fallback>
                <p:oleObj name="公式" r:id="rId7" imgW="57302400" imgH="106680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2513" y="0"/>
                        <a:ext cx="4281487" cy="9207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8" name="TextBox 21"/>
          <p:cNvSpPr txBox="1"/>
          <p:nvPr/>
        </p:nvSpPr>
        <p:spPr>
          <a:xfrm>
            <a:off x="309563" y="-28575"/>
            <a:ext cx="1812925" cy="1631950"/>
          </a:xfrm>
          <a:prstGeom prst="rect">
            <a:avLst/>
          </a:prstGeom>
          <a:solidFill>
            <a:schemeClr val="accent1">
              <a:lumMod val="20000"/>
              <a:lumOff val="80000"/>
            </a:schemeClr>
          </a:solidFill>
          <a:ln>
            <a:solidFill>
              <a:schemeClr val="accent1"/>
            </a:solidFill>
          </a:ln>
        </p:spPr>
        <p:txBody>
          <a:bodyPr>
            <a:spAutoFit/>
          </a:bodyPr>
          <a:lstStyle/>
          <a:p>
            <a:pPr algn="ctr" eaLnBrk="1" hangingPunct="1">
              <a:defRPr/>
            </a:pPr>
            <a:r>
              <a:rPr lang="zh-CN" altLang="en-US" sz="2000" b="1" dirty="0"/>
              <a:t>无论单端还是双端输出，</a:t>
            </a:r>
            <a:r>
              <a:rPr lang="en-US" altLang="zh-CN" sz="2000" b="1" dirty="0" err="1"/>
              <a:t>Uce</a:t>
            </a:r>
            <a:r>
              <a:rPr lang="en-US" altLang="zh-CN" sz="1600" b="1" dirty="0" err="1"/>
              <a:t>Q</a:t>
            </a:r>
            <a:r>
              <a:rPr lang="zh-CN" altLang="en-US" sz="2000" b="1" dirty="0"/>
              <a:t>都有值，但为什么只讨论单端输出的？</a:t>
            </a:r>
          </a:p>
        </p:txBody>
      </p:sp>
      <p:cxnSp>
        <p:nvCxnSpPr>
          <p:cNvPr id="9" name="直接箭头连接符 8"/>
          <p:cNvCxnSpPr>
            <a:cxnSpLocks noChangeShapeType="1"/>
          </p:cNvCxnSpPr>
          <p:nvPr/>
        </p:nvCxnSpPr>
        <p:spPr bwMode="auto">
          <a:xfrm flipV="1">
            <a:off x="2201863" y="650875"/>
            <a:ext cx="2555875" cy="269875"/>
          </a:xfrm>
          <a:prstGeom prst="straightConnector1">
            <a:avLst/>
          </a:prstGeom>
          <a:noFill/>
          <a:ln w="38100" algn="ctr">
            <a:solidFill>
              <a:srgbClr val="FF0000"/>
            </a:solidFill>
            <a:round/>
            <a:headEnd/>
            <a:tailEnd type="arrow" w="med" len="med"/>
          </a:ln>
        </p:spPr>
      </p:cxnSp>
      <p:sp>
        <p:nvSpPr>
          <p:cNvPr id="12" name="TextBox 20"/>
          <p:cNvSpPr txBox="1"/>
          <p:nvPr/>
        </p:nvSpPr>
        <p:spPr>
          <a:xfrm>
            <a:off x="6702425" y="869950"/>
            <a:ext cx="2441575" cy="400050"/>
          </a:xfrm>
          <a:prstGeom prst="rect">
            <a:avLst/>
          </a:prstGeom>
          <a:solidFill>
            <a:schemeClr val="accent1">
              <a:lumMod val="20000"/>
              <a:lumOff val="80000"/>
            </a:schemeClr>
          </a:solidFill>
          <a:ln>
            <a:solidFill>
              <a:schemeClr val="accent1"/>
            </a:solidFill>
          </a:ln>
        </p:spPr>
        <p:txBody>
          <a:bodyPr>
            <a:spAutoFit/>
          </a:bodyPr>
          <a:lstStyle/>
          <a:p>
            <a:pPr algn="ctr" eaLnBrk="1" hangingPunct="1">
              <a:defRPr/>
            </a:pPr>
            <a:r>
              <a:rPr lang="zh-CN" altLang="en-US" sz="2000" dirty="0"/>
              <a:t>带上负载后</a:t>
            </a:r>
            <a:r>
              <a:rPr lang="en-US" altLang="zh-CN" sz="2000" dirty="0"/>
              <a:t>Q</a:t>
            </a:r>
            <a:r>
              <a:rPr lang="zh-CN" altLang="en-US" sz="2000" dirty="0"/>
              <a:t>变化？</a:t>
            </a:r>
          </a:p>
        </p:txBody>
      </p:sp>
      <p:sp>
        <p:nvSpPr>
          <p:cNvPr id="13" name="Text Box 10"/>
          <p:cNvSpPr txBox="1">
            <a:spLocks noChangeArrowheads="1"/>
          </p:cNvSpPr>
          <p:nvPr/>
        </p:nvSpPr>
        <p:spPr bwMode="auto">
          <a:xfrm>
            <a:off x="2933700" y="1030288"/>
            <a:ext cx="3276600" cy="503237"/>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en-US" altLang="zh-CN" b="1" i="1"/>
              <a:t>u</a:t>
            </a:r>
            <a:r>
              <a:rPr lang="en-US" altLang="zh-CN" b="1" baseline="-25000"/>
              <a:t>O</a:t>
            </a:r>
            <a:r>
              <a:rPr lang="en-US" altLang="zh-CN" b="1"/>
              <a:t>= </a:t>
            </a:r>
            <a:r>
              <a:rPr lang="en-US" altLang="zh-CN" b="1" i="1"/>
              <a:t>A</a:t>
            </a:r>
            <a:r>
              <a:rPr lang="en-US" altLang="zh-CN" b="1" baseline="-25000"/>
              <a:t>d </a:t>
            </a:r>
            <a:r>
              <a:rPr lang="en-US" altLang="zh-CN" b="1" i="1"/>
              <a:t>u</a:t>
            </a:r>
            <a:r>
              <a:rPr lang="en-US" altLang="zh-CN" b="1" baseline="-25000"/>
              <a:t>Id</a:t>
            </a:r>
            <a:r>
              <a:rPr lang="en-US" altLang="zh-CN" b="1"/>
              <a:t>+ </a:t>
            </a:r>
            <a:r>
              <a:rPr lang="en-US" altLang="zh-CN" b="1" i="1"/>
              <a:t>A</a:t>
            </a:r>
            <a:r>
              <a:rPr lang="en-US" altLang="zh-CN" b="1" baseline="-25000"/>
              <a:t>c </a:t>
            </a:r>
            <a:r>
              <a:rPr lang="en-US" altLang="zh-CN" b="1" i="1"/>
              <a:t>u</a:t>
            </a:r>
            <a:r>
              <a:rPr lang="en-US" altLang="zh-CN" b="1" baseline="-25000"/>
              <a:t>Ic</a:t>
            </a:r>
            <a:r>
              <a:rPr lang="en-US" altLang="zh-CN" b="1"/>
              <a:t>+</a:t>
            </a:r>
            <a:r>
              <a:rPr lang="en-US" altLang="zh-CN" b="1" i="1"/>
              <a:t>U</a:t>
            </a:r>
            <a:r>
              <a:rPr lang="en-US" altLang="zh-CN" b="1" baseline="-25000"/>
              <a:t>CQ1</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left)">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wipe(left)">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20">
                                            <p:txEl>
                                              <p:pRg st="0" end="0"/>
                                            </p:txEl>
                                          </p:spTgt>
                                        </p:tgtEl>
                                        <p:attrNameLst>
                                          <p:attrName>style.visibility</p:attrName>
                                        </p:attrNameLst>
                                      </p:cBhvr>
                                      <p:to>
                                        <p:strVal val="visible"/>
                                      </p:to>
                                    </p:set>
                                    <p:animEffect transition="in" filter="wipe(left)">
                                      <p:cBhvr>
                                        <p:cTn id="17" dur="500"/>
                                        <p:tgtEl>
                                          <p:spTgt spid="6042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0421"/>
                                        </p:tgtEl>
                                        <p:attrNameLst>
                                          <p:attrName>style.visibility</p:attrName>
                                        </p:attrNameLst>
                                      </p:cBhvr>
                                      <p:to>
                                        <p:strVal val="visible"/>
                                      </p:to>
                                    </p:set>
                                    <p:animEffect transition="in" filter="wipe(left)">
                                      <p:cBhvr>
                                        <p:cTn id="22" dur="500"/>
                                        <p:tgtEl>
                                          <p:spTgt spid="604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0422"/>
                                        </p:tgtEl>
                                        <p:attrNameLst>
                                          <p:attrName>style.visibility</p:attrName>
                                        </p:attrNameLst>
                                      </p:cBhvr>
                                      <p:to>
                                        <p:strVal val="visible"/>
                                      </p:to>
                                    </p:set>
                                    <p:animEffect transition="in" filter="wipe(left)">
                                      <p:cBhvr>
                                        <p:cTn id="27" dur="500"/>
                                        <p:tgtEl>
                                          <p:spTgt spid="604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4290"/>
                                        </p:tgtEl>
                                        <p:attrNameLst>
                                          <p:attrName>style.visibility</p:attrName>
                                        </p:attrNameLst>
                                      </p:cBhvr>
                                      <p:to>
                                        <p:strVal val="visible"/>
                                      </p:to>
                                    </p:set>
                                    <p:animEffect transition="in" filter="wipe(left)">
                                      <p:cBhvr>
                                        <p:cTn id="32" dur="500"/>
                                        <p:tgtEl>
                                          <p:spTgt spid="54290"/>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6" presetClass="emph" presetSubtype="0" fill="hold" nodeType="clickEffect">
                                  <p:stCondLst>
                                    <p:cond delay="0"/>
                                  </p:stCondLst>
                                  <p:childTnLst>
                                    <p:animScale>
                                      <p:cBhvr>
                                        <p:cTn id="38" dur="2000" fill="hold"/>
                                        <p:tgtEl>
                                          <p:spTgt spid="54290"/>
                                        </p:tgtEl>
                                      </p:cBhvr>
                                      <p:by x="150000" y="150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6" presetClass="emph" presetSubtype="0" fill="hold" nodeType="clickEffect">
                                  <p:stCondLst>
                                    <p:cond delay="0"/>
                                  </p:stCondLst>
                                  <p:childTnLst>
                                    <p:animScale>
                                      <p:cBhvr>
                                        <p:cTn id="42" dur="2000" fill="hold"/>
                                        <p:tgtEl>
                                          <p:spTgt spid="60419">
                                            <p:txEl>
                                              <p:pRg st="1" end="1"/>
                                            </p:txEl>
                                          </p:spTgt>
                                        </p:tgtEl>
                                      </p:cBhvr>
                                      <p:by x="150000" y="150000"/>
                                    </p:animScale>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P spid="60420" grpId="0" build="p" autoUpdateAnimBg="0"/>
      <p:bldP spid="8" grpId="0" animBg="1"/>
      <p:bldP spid="12" grpId="0" animBg="1"/>
      <p:bldP spid="13"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图片 2"/>
          <p:cNvPicPr>
            <a:picLocks noChangeAspect="1" noChangeArrowheads="1"/>
          </p:cNvPicPr>
          <p:nvPr/>
        </p:nvPicPr>
        <p:blipFill>
          <a:blip r:embed="rId2"/>
          <a:srcRect/>
          <a:stretch>
            <a:fillRect/>
          </a:stretch>
        </p:blipFill>
        <p:spPr bwMode="auto">
          <a:xfrm>
            <a:off x="0" y="630354"/>
            <a:ext cx="9144000" cy="5499100"/>
          </a:xfrm>
          <a:prstGeom prst="rect">
            <a:avLst/>
          </a:prstGeom>
          <a:noFill/>
          <a:ln w="9525">
            <a:noFill/>
            <a:miter lim="800000"/>
            <a:headEnd/>
            <a:tailEnd/>
          </a:ln>
        </p:spPr>
      </p:pic>
      <p:pic>
        <p:nvPicPr>
          <p:cNvPr id="131075" name="图片 4"/>
          <p:cNvPicPr>
            <a:picLocks noChangeAspect="1" noChangeArrowheads="1"/>
          </p:cNvPicPr>
          <p:nvPr/>
        </p:nvPicPr>
        <p:blipFill>
          <a:blip r:embed="rId3"/>
          <a:srcRect/>
          <a:stretch>
            <a:fillRect/>
          </a:stretch>
        </p:blipFill>
        <p:spPr bwMode="auto">
          <a:xfrm>
            <a:off x="2076450" y="136525"/>
            <a:ext cx="4724400" cy="542925"/>
          </a:xfrm>
          <a:prstGeom prst="rect">
            <a:avLst/>
          </a:prstGeom>
          <a:noFill/>
          <a:ln w="9525">
            <a:noFill/>
            <a:miter lim="800000"/>
            <a:headEnd/>
            <a:tailEnd/>
          </a:ln>
        </p:spPr>
      </p:pic>
      <p:sp>
        <p:nvSpPr>
          <p:cNvPr id="6" name="椭圆 5"/>
          <p:cNvSpPr/>
          <p:nvPr/>
        </p:nvSpPr>
        <p:spPr>
          <a:xfrm>
            <a:off x="5495925" y="3346450"/>
            <a:ext cx="682625" cy="365125"/>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p:cNvSpPr/>
          <p:nvPr/>
        </p:nvSpPr>
        <p:spPr>
          <a:xfrm>
            <a:off x="7680325" y="3313113"/>
            <a:ext cx="684213" cy="365125"/>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2628900" y="4511675"/>
            <a:ext cx="2147888" cy="788988"/>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椭圆 8"/>
          <p:cNvSpPr/>
          <p:nvPr/>
        </p:nvSpPr>
        <p:spPr>
          <a:xfrm>
            <a:off x="6800850" y="4511675"/>
            <a:ext cx="2147888" cy="788988"/>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Text Box 10"/>
          <p:cNvSpPr txBox="1">
            <a:spLocks noChangeArrowheads="1"/>
          </p:cNvSpPr>
          <p:nvPr/>
        </p:nvSpPr>
        <p:spPr bwMode="auto">
          <a:xfrm>
            <a:off x="2800350" y="6240463"/>
            <a:ext cx="3276600" cy="503237"/>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en-US" altLang="zh-CN" b="1" i="1"/>
              <a:t>u</a:t>
            </a:r>
            <a:r>
              <a:rPr lang="en-US" altLang="zh-CN" b="1" baseline="-25000"/>
              <a:t>O</a:t>
            </a:r>
            <a:r>
              <a:rPr lang="en-US" altLang="zh-CN" b="1"/>
              <a:t>= </a:t>
            </a:r>
            <a:r>
              <a:rPr lang="en-US" altLang="zh-CN" b="1" i="1"/>
              <a:t>A</a:t>
            </a:r>
            <a:r>
              <a:rPr lang="en-US" altLang="zh-CN" b="1" baseline="-25000"/>
              <a:t>d </a:t>
            </a:r>
            <a:r>
              <a:rPr lang="en-US" altLang="zh-CN" b="1" i="1"/>
              <a:t>u</a:t>
            </a:r>
            <a:r>
              <a:rPr lang="en-US" altLang="zh-CN" b="1" baseline="-25000"/>
              <a:t>Id</a:t>
            </a:r>
            <a:r>
              <a:rPr lang="en-US" altLang="zh-CN" b="1"/>
              <a:t>+ </a:t>
            </a:r>
            <a:r>
              <a:rPr lang="en-US" altLang="zh-CN" b="1" i="1"/>
              <a:t>A</a:t>
            </a:r>
            <a:r>
              <a:rPr lang="en-US" altLang="zh-CN" b="1" baseline="-25000"/>
              <a:t>c </a:t>
            </a:r>
            <a:r>
              <a:rPr lang="en-US" altLang="zh-CN" b="1" i="1"/>
              <a:t>u</a:t>
            </a:r>
            <a:r>
              <a:rPr lang="en-US" altLang="zh-CN" b="1" baseline="-25000"/>
              <a:t>Ic</a:t>
            </a:r>
            <a:r>
              <a:rPr lang="en-US" altLang="zh-CN" b="1"/>
              <a:t>+</a:t>
            </a:r>
            <a:r>
              <a:rPr lang="en-US" altLang="zh-CN" b="1" i="1"/>
              <a:t>U</a:t>
            </a:r>
            <a:r>
              <a:rPr lang="en-US" altLang="zh-CN" b="1" baseline="-25000"/>
              <a:t>CQ1</a:t>
            </a:r>
            <a:endParaRPr lang="en-US" altLang="zh-CN" b="1"/>
          </a:p>
        </p:txBody>
      </p:sp>
      <p:sp>
        <p:nvSpPr>
          <p:cNvPr id="2" name="椭圆 1">
            <a:extLst>
              <a:ext uri="{FF2B5EF4-FFF2-40B4-BE49-F238E27FC236}">
                <a16:creationId xmlns:a16="http://schemas.microsoft.com/office/drawing/2014/main" id="{BC04E0FF-D773-5187-B00A-0F25BE38A158}"/>
              </a:ext>
            </a:extLst>
          </p:cNvPr>
          <p:cNvSpPr/>
          <p:nvPr/>
        </p:nvSpPr>
        <p:spPr>
          <a:xfrm>
            <a:off x="2112376" y="79806"/>
            <a:ext cx="2147888" cy="788988"/>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椭圆 2">
            <a:extLst>
              <a:ext uri="{FF2B5EF4-FFF2-40B4-BE49-F238E27FC236}">
                <a16:creationId xmlns:a16="http://schemas.microsoft.com/office/drawing/2014/main" id="{64643A17-BF02-475E-6701-11254FCC432D}"/>
              </a:ext>
            </a:extLst>
          </p:cNvPr>
          <p:cNvSpPr/>
          <p:nvPr/>
        </p:nvSpPr>
        <p:spPr>
          <a:xfrm>
            <a:off x="98191" y="3644156"/>
            <a:ext cx="8677594" cy="365125"/>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autoUpdateAnimBg="0"/>
      <p:bldP spid="2" grpId="0" animBg="1"/>
      <p:bldP spid="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D25042E-080C-D03F-87A0-11FC279C01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006" y="128096"/>
            <a:ext cx="6249797" cy="6731976"/>
          </a:xfrm>
          <a:prstGeom prst="rect">
            <a:avLst/>
          </a:prstGeom>
        </p:spPr>
      </p:pic>
    </p:spTree>
    <p:extLst>
      <p:ext uri="{BB962C8B-B14F-4D97-AF65-F5344CB8AC3E}">
        <p14:creationId xmlns:p14="http://schemas.microsoft.com/office/powerpoint/2010/main" val="7241143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323850" y="908050"/>
            <a:ext cx="7434263" cy="685800"/>
          </a:xfrm>
        </p:spPr>
        <p:txBody>
          <a:bodyPr/>
          <a:lstStyle/>
          <a:p>
            <a:pPr algn="l">
              <a:lnSpc>
                <a:spcPct val="130000"/>
              </a:lnSpc>
            </a:pPr>
            <a:r>
              <a:rPr lang="zh-CN" altLang="en-US" sz="3600" b="1">
                <a:solidFill>
                  <a:schemeClr val="tx1"/>
                </a:solidFill>
                <a:ea typeface="华文行楷" pitchFamily="2" charset="-122"/>
              </a:rPr>
              <a:t>五</a:t>
            </a:r>
            <a:r>
              <a:rPr lang="zh-CN" altLang="zh-CN" sz="3600" b="1">
                <a:solidFill>
                  <a:schemeClr val="tx1"/>
                </a:solidFill>
                <a:ea typeface="华文行楷" pitchFamily="2" charset="-122"/>
              </a:rPr>
              <a:t>、具有恒流源的差分放大电路</a:t>
            </a:r>
            <a:endParaRPr lang="zh-CN" altLang="zh-CN" sz="2800" b="1">
              <a:solidFill>
                <a:schemeClr val="tx1"/>
              </a:solidFill>
              <a:ea typeface="华文行楷" pitchFamily="2" charset="-122"/>
            </a:endParaRPr>
          </a:p>
        </p:txBody>
      </p:sp>
      <p:sp>
        <p:nvSpPr>
          <p:cNvPr id="61443" name="Text Box 3"/>
          <p:cNvSpPr txBox="1">
            <a:spLocks noChangeArrowheads="1"/>
          </p:cNvSpPr>
          <p:nvPr/>
        </p:nvSpPr>
        <p:spPr bwMode="auto">
          <a:xfrm>
            <a:off x="900113" y="1557338"/>
            <a:ext cx="7704137" cy="3681412"/>
          </a:xfrm>
          <a:prstGeom prst="rect">
            <a:avLst/>
          </a:prstGeom>
          <a:noFill/>
          <a:ln w="9525">
            <a:noFill/>
            <a:miter lim="800000"/>
            <a:headEnd/>
            <a:tailEnd/>
          </a:ln>
        </p:spPr>
        <p:txBody>
          <a:bodyPr>
            <a:spAutoFit/>
          </a:bodyPr>
          <a:lstStyle/>
          <a:p>
            <a:pPr eaLnBrk="1" hangingPunct="1">
              <a:lnSpc>
                <a:spcPct val="120000"/>
              </a:lnSpc>
            </a:pPr>
            <a:r>
              <a:rPr lang="en-US" altLang="zh-CN" i="1"/>
              <a:t>      </a:t>
            </a:r>
            <a:r>
              <a:rPr lang="en-US" altLang="zh-CN" sz="2800" b="1" i="1"/>
              <a:t>R</a:t>
            </a:r>
            <a:r>
              <a:rPr lang="en-US" altLang="zh-CN" sz="2800" b="1" baseline="-25000"/>
              <a:t>e </a:t>
            </a:r>
            <a:r>
              <a:rPr lang="zh-CN" altLang="en-US" sz="2800" b="1"/>
              <a:t>越大，每一边的漂移越小，共模负反馈越强，单端输出时的</a:t>
            </a:r>
            <a:r>
              <a:rPr lang="en-US" altLang="zh-CN" sz="2800" b="1" i="1"/>
              <a:t>A</a:t>
            </a:r>
            <a:r>
              <a:rPr lang="en-US" altLang="zh-CN" sz="2800" b="1" baseline="-25000"/>
              <a:t>c</a:t>
            </a:r>
            <a:r>
              <a:rPr lang="zh-CN" altLang="zh-CN" sz="2800" b="1"/>
              <a:t>越小，</a:t>
            </a:r>
            <a:r>
              <a:rPr lang="en-US" altLang="zh-CN" sz="2800" b="1" i="1"/>
              <a:t>K</a:t>
            </a:r>
            <a:r>
              <a:rPr lang="en-US" altLang="zh-CN" sz="2800" b="1" baseline="-25000"/>
              <a:t>CMR</a:t>
            </a:r>
            <a:r>
              <a:rPr lang="zh-CN" altLang="en-US" sz="2800" b="1"/>
              <a:t>越大，差分放大电路的性能越好。</a:t>
            </a:r>
          </a:p>
          <a:p>
            <a:pPr eaLnBrk="1" hangingPunct="1">
              <a:lnSpc>
                <a:spcPct val="120000"/>
              </a:lnSpc>
            </a:pPr>
            <a:r>
              <a:rPr lang="zh-CN" altLang="en-US" sz="2800" b="1"/>
              <a:t>    但为使静态电流不变，</a:t>
            </a:r>
            <a:r>
              <a:rPr lang="en-US" altLang="zh-CN" sz="2800" b="1" i="1"/>
              <a:t>R</a:t>
            </a:r>
            <a:r>
              <a:rPr lang="en-US" altLang="zh-CN" sz="2800" b="1" baseline="-25000"/>
              <a:t>e </a:t>
            </a:r>
            <a:r>
              <a:rPr lang="zh-CN" altLang="zh-CN" sz="2800" b="1"/>
              <a:t>越大，</a:t>
            </a:r>
            <a:r>
              <a:rPr lang="en-US" altLang="zh-CN" sz="2800" b="1" i="1"/>
              <a:t>V</a:t>
            </a:r>
            <a:r>
              <a:rPr lang="en-US" altLang="zh-CN" sz="2800" b="1" baseline="-25000"/>
              <a:t>EE</a:t>
            </a:r>
            <a:r>
              <a:rPr lang="zh-CN" altLang="en-US" sz="2800" b="1"/>
              <a:t>越</a:t>
            </a:r>
            <a:r>
              <a:rPr lang="zh-CN" altLang="zh-CN" sz="2800" b="1"/>
              <a:t>大，以至于</a:t>
            </a:r>
            <a:r>
              <a:rPr lang="en-US" altLang="zh-CN" sz="2800" b="1" i="1"/>
              <a:t>R</a:t>
            </a:r>
            <a:r>
              <a:rPr lang="en-US" altLang="zh-CN" sz="2800" b="1" baseline="-25000"/>
              <a:t>e</a:t>
            </a:r>
            <a:r>
              <a:rPr lang="zh-CN" altLang="en-US" sz="2800" b="1"/>
              <a:t>太大就</a:t>
            </a:r>
            <a:r>
              <a:rPr lang="zh-CN" altLang="zh-CN" sz="2800" b="1"/>
              <a:t>不合理了。</a:t>
            </a:r>
            <a:endParaRPr lang="zh-CN" altLang="en-US" sz="2800" b="1"/>
          </a:p>
          <a:p>
            <a:pPr eaLnBrk="1" hangingPunct="1">
              <a:lnSpc>
                <a:spcPct val="120000"/>
              </a:lnSpc>
            </a:pPr>
            <a:r>
              <a:rPr lang="zh-CN" altLang="en-US" sz="2800" b="1"/>
              <a:t>     </a:t>
            </a:r>
            <a:r>
              <a:rPr lang="zh-CN" altLang="zh-CN" sz="2800" b="1"/>
              <a:t>需在</a:t>
            </a:r>
            <a:r>
              <a:rPr lang="zh-CN" altLang="zh-CN" sz="2800" b="1">
                <a:solidFill>
                  <a:srgbClr val="0000FF"/>
                </a:solidFill>
              </a:rPr>
              <a:t>低电源条件下，</a:t>
            </a:r>
            <a:r>
              <a:rPr lang="zh-CN" altLang="en-US" sz="2800" b="1">
                <a:solidFill>
                  <a:srgbClr val="0000FF"/>
                </a:solidFill>
              </a:rPr>
              <a:t>设置合适的</a:t>
            </a:r>
            <a:r>
              <a:rPr lang="en-US" altLang="zh-CN" sz="2800" b="1" i="1">
                <a:solidFill>
                  <a:srgbClr val="0000FF"/>
                </a:solidFill>
              </a:rPr>
              <a:t>I</a:t>
            </a:r>
            <a:r>
              <a:rPr lang="en-US" altLang="zh-CN" sz="2800" b="1" baseline="-25000">
                <a:solidFill>
                  <a:srgbClr val="0000FF"/>
                </a:solidFill>
              </a:rPr>
              <a:t>EQ</a:t>
            </a:r>
            <a:r>
              <a:rPr lang="zh-CN" altLang="en-US" sz="2800" b="1">
                <a:solidFill>
                  <a:srgbClr val="0000FF"/>
                </a:solidFill>
              </a:rPr>
              <a:t>，并得到</a:t>
            </a:r>
            <a:r>
              <a:rPr lang="zh-CN" altLang="zh-CN" sz="2800" b="1">
                <a:solidFill>
                  <a:srgbClr val="0000FF"/>
                </a:solidFill>
              </a:rPr>
              <a:t>得到趋于无穷大的</a:t>
            </a:r>
            <a:r>
              <a:rPr lang="en-US" altLang="zh-CN" sz="2800" b="1" i="1">
                <a:solidFill>
                  <a:srgbClr val="0000FF"/>
                </a:solidFill>
              </a:rPr>
              <a:t>R</a:t>
            </a:r>
            <a:r>
              <a:rPr lang="en-US" altLang="zh-CN" sz="2800" b="1" baseline="-25000">
                <a:solidFill>
                  <a:srgbClr val="0000FF"/>
                </a:solidFill>
              </a:rPr>
              <a:t>e</a:t>
            </a:r>
            <a:r>
              <a:rPr lang="zh-CN" altLang="en-US" sz="2800" b="1"/>
              <a:t>。</a:t>
            </a:r>
            <a:endParaRPr lang="zh-CN" altLang="en-US" sz="2800" b="1" baseline="-25000"/>
          </a:p>
        </p:txBody>
      </p:sp>
      <p:sp>
        <p:nvSpPr>
          <p:cNvPr id="61444" name="Text Box 4"/>
          <p:cNvSpPr txBox="1">
            <a:spLocks noChangeArrowheads="1"/>
          </p:cNvSpPr>
          <p:nvPr/>
        </p:nvSpPr>
        <p:spPr bwMode="auto">
          <a:xfrm>
            <a:off x="1258888" y="5300663"/>
            <a:ext cx="6985000" cy="604837"/>
          </a:xfrm>
          <a:prstGeom prst="rect">
            <a:avLst/>
          </a:prstGeom>
          <a:noFill/>
          <a:ln w="9525">
            <a:noFill/>
            <a:miter lim="800000"/>
            <a:headEnd/>
            <a:tailEnd/>
          </a:ln>
        </p:spPr>
        <p:txBody>
          <a:bodyPr>
            <a:spAutoFit/>
          </a:bodyPr>
          <a:lstStyle/>
          <a:p>
            <a:pPr algn="ctr" eaLnBrk="1" hangingPunct="1">
              <a:lnSpc>
                <a:spcPct val="120000"/>
              </a:lnSpc>
            </a:pPr>
            <a:r>
              <a:rPr lang="zh-CN" altLang="en-US" sz="2800" b="1">
                <a:solidFill>
                  <a:srgbClr val="A50021"/>
                </a:solidFill>
              </a:rPr>
              <a:t>解决方法：采用电流源取代</a:t>
            </a:r>
            <a:r>
              <a:rPr lang="en-US" altLang="zh-CN" sz="2800" b="1" i="1">
                <a:solidFill>
                  <a:srgbClr val="A50021"/>
                </a:solidFill>
              </a:rPr>
              <a:t>R</a:t>
            </a:r>
            <a:r>
              <a:rPr lang="en-US" altLang="zh-CN" sz="2800" b="1" baseline="-25000">
                <a:solidFill>
                  <a:srgbClr val="A50021"/>
                </a:solidFill>
              </a:rPr>
              <a:t>e</a:t>
            </a:r>
            <a:r>
              <a:rPr lang="zh-CN" altLang="en-US" sz="2800" b="1">
                <a:solidFill>
                  <a:srgbClr val="A50021"/>
                </a:solidFill>
              </a:rPr>
              <a:t>！</a:t>
            </a:r>
            <a:endParaRPr lang="zh-CN" altLang="en-US">
              <a:solidFill>
                <a:srgbClr val="A50021"/>
              </a:solidFill>
            </a:endParaRPr>
          </a:p>
        </p:txBody>
      </p:sp>
      <p:graphicFrame>
        <p:nvGraphicFramePr>
          <p:cNvPr id="754689" name="Object 1"/>
          <p:cNvGraphicFramePr>
            <a:graphicFrameLocks noGrp="1" noChangeAspect="1"/>
          </p:cNvGraphicFramePr>
          <p:nvPr/>
        </p:nvGraphicFramePr>
        <p:xfrm>
          <a:off x="6900863" y="123825"/>
          <a:ext cx="2082800" cy="863600"/>
        </p:xfrm>
        <a:graphic>
          <a:graphicData uri="http://schemas.openxmlformats.org/presentationml/2006/ole">
            <mc:AlternateContent xmlns:mc="http://schemas.openxmlformats.org/markup-compatibility/2006">
              <mc:Choice xmlns:v="urn:schemas-microsoft-com:vml" Requires="v">
                <p:oleObj spid="_x0000_s44035" name="公式" r:id="rId3" imgW="25603200" imgH="10668000" progId="Equation.3">
                  <p:embed/>
                </p:oleObj>
              </mc:Choice>
              <mc:Fallback>
                <p:oleObj name="公式" r:id="rId3" imgW="25603200" imgH="10668000" progId="Equation.3">
                  <p:embed/>
                  <p:pic>
                    <p:nvPicPr>
                      <p:cNvPr id="0" name="Object 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0863" y="123825"/>
                        <a:ext cx="2082800" cy="86360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6" name="Text Box 4"/>
          <p:cNvSpPr txBox="1">
            <a:spLocks noChangeArrowheads="1"/>
          </p:cNvSpPr>
          <p:nvPr/>
        </p:nvSpPr>
        <p:spPr bwMode="auto">
          <a:xfrm>
            <a:off x="439738" y="5883275"/>
            <a:ext cx="8537575" cy="536575"/>
          </a:xfrm>
          <a:prstGeom prst="rect">
            <a:avLst/>
          </a:prstGeom>
          <a:noFill/>
          <a:ln w="9525">
            <a:noFill/>
            <a:miter lim="800000"/>
            <a:headEnd/>
            <a:tailEnd/>
          </a:ln>
        </p:spPr>
        <p:txBody>
          <a:bodyPr>
            <a:spAutoFit/>
          </a:bodyPr>
          <a:lstStyle/>
          <a:p>
            <a:pPr algn="ctr" eaLnBrk="1" hangingPunct="1">
              <a:lnSpc>
                <a:spcPct val="120000"/>
              </a:lnSpc>
            </a:pPr>
            <a:r>
              <a:rPr lang="zh-CN" altLang="en-US" b="1">
                <a:solidFill>
                  <a:srgbClr val="A50021"/>
                </a:solidFill>
                <a:latin typeface="黑体" pitchFamily="49" charset="-122"/>
                <a:ea typeface="黑体" pitchFamily="49" charset="-122"/>
              </a:rPr>
              <a:t>这样即使是单端输出，这个电路的</a:t>
            </a:r>
            <a:r>
              <a:rPr lang="en-US" altLang="zh-CN" b="1">
                <a:solidFill>
                  <a:srgbClr val="A50021"/>
                </a:solidFill>
                <a:latin typeface="黑体" pitchFamily="49" charset="-122"/>
                <a:ea typeface="黑体" pitchFamily="49" charset="-122"/>
              </a:rPr>
              <a:t>Ac</a:t>
            </a:r>
            <a:r>
              <a:rPr lang="zh-CN" altLang="en-US" b="1">
                <a:solidFill>
                  <a:srgbClr val="A50021"/>
                </a:solidFill>
                <a:latin typeface="黑体" pitchFamily="49" charset="-122"/>
                <a:ea typeface="黑体" pitchFamily="49" charset="-122"/>
              </a:rPr>
              <a:t>趋于零，</a:t>
            </a:r>
            <a:r>
              <a:rPr lang="en-US" altLang="zh-CN" b="1">
                <a:solidFill>
                  <a:srgbClr val="A50021"/>
                </a:solidFill>
                <a:latin typeface="黑体" pitchFamily="49" charset="-122"/>
                <a:ea typeface="黑体" pitchFamily="49" charset="-122"/>
              </a:rPr>
              <a:t>K</a:t>
            </a:r>
            <a:r>
              <a:rPr lang="en-US" altLang="zh-CN" sz="1400" b="1">
                <a:solidFill>
                  <a:srgbClr val="A50021"/>
                </a:solidFill>
                <a:latin typeface="黑体" pitchFamily="49" charset="-122"/>
                <a:ea typeface="黑体" pitchFamily="49" charset="-122"/>
              </a:rPr>
              <a:t>CMR</a:t>
            </a:r>
            <a:r>
              <a:rPr lang="zh-CN" altLang="en-US" b="1">
                <a:solidFill>
                  <a:srgbClr val="A50021"/>
                </a:solidFill>
                <a:latin typeface="黑体" pitchFamily="49" charset="-122"/>
                <a:ea typeface="黑体" pitchFamily="49" charset="-122"/>
              </a:rPr>
              <a:t>趋于无穷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wipe(left)">
                                      <p:cBhvr>
                                        <p:cTn id="7" dur="500"/>
                                        <p:tgtEl>
                                          <p:spTgt spid="61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wipe(left)">
                                      <p:cBhvr>
                                        <p:cTn id="12" dur="500"/>
                                        <p:tgtEl>
                                          <p:spTgt spid="61443">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54689"/>
                                        </p:tgtEl>
                                        <p:attrNameLst>
                                          <p:attrName>style.visibility</p:attrName>
                                        </p:attrNameLst>
                                      </p:cBhvr>
                                      <p:to>
                                        <p:strVal val="visible"/>
                                      </p:to>
                                    </p:set>
                                    <p:animEffect transition="in" filter="wipe(left)">
                                      <p:cBhvr>
                                        <p:cTn id="16" dur="500"/>
                                        <p:tgtEl>
                                          <p:spTgt spid="75468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1443">
                                            <p:txEl>
                                              <p:pRg st="2" end="2"/>
                                            </p:txEl>
                                          </p:spTgt>
                                        </p:tgtEl>
                                        <p:attrNameLst>
                                          <p:attrName>style.visibility</p:attrName>
                                        </p:attrNameLst>
                                      </p:cBhvr>
                                      <p:to>
                                        <p:strVal val="visible"/>
                                      </p:to>
                                    </p:set>
                                    <p:animEffect transition="in" filter="wipe(left)">
                                      <p:cBhvr>
                                        <p:cTn id="21" dur="500"/>
                                        <p:tgtEl>
                                          <p:spTgt spid="6144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1444">
                                            <p:txEl>
                                              <p:pRg st="0" end="0"/>
                                            </p:txEl>
                                          </p:spTgt>
                                        </p:tgtEl>
                                        <p:attrNameLst>
                                          <p:attrName>style.visibility</p:attrName>
                                        </p:attrNameLst>
                                      </p:cBhvr>
                                      <p:to>
                                        <p:strVal val="visible"/>
                                      </p:to>
                                    </p:set>
                                    <p:animEffect transition="in" filter="wipe(left)">
                                      <p:cBhvr>
                                        <p:cTn id="26" dur="500"/>
                                        <p:tgtEl>
                                          <p:spTgt spid="61444">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wipe(left)">
                                      <p:cBhvr>
                                        <p:cTn id="3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P spid="61444" grpId="0" build="p" autoUpdateAnimBg="0"/>
      <p:bldP spid="6"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a:xfrm>
            <a:off x="323850" y="836613"/>
            <a:ext cx="7073900" cy="685800"/>
          </a:xfrm>
        </p:spPr>
        <p:txBody>
          <a:bodyPr/>
          <a:lstStyle/>
          <a:p>
            <a:pPr algn="l"/>
            <a:r>
              <a:rPr lang="zh-CN" altLang="zh-CN" sz="3200" b="1">
                <a:solidFill>
                  <a:schemeClr val="tx1"/>
                </a:solidFill>
                <a:ea typeface="华文行楷" pitchFamily="2" charset="-122"/>
              </a:rPr>
              <a:t>具有恒流源差分放大电路的组成</a:t>
            </a:r>
          </a:p>
        </p:txBody>
      </p:sp>
      <p:pic>
        <p:nvPicPr>
          <p:cNvPr id="62467" name="Picture 3" descr="Dz030313"/>
          <p:cNvPicPr>
            <a:picLocks noChangeAspect="1" noChangeArrowheads="1"/>
          </p:cNvPicPr>
          <p:nvPr/>
        </p:nvPicPr>
        <p:blipFill>
          <a:blip r:embed="rId3"/>
          <a:srcRect/>
          <a:stretch>
            <a:fillRect/>
          </a:stretch>
        </p:blipFill>
        <p:spPr bwMode="auto">
          <a:xfrm>
            <a:off x="4500563" y="1557338"/>
            <a:ext cx="3581400" cy="3362325"/>
          </a:xfrm>
          <a:prstGeom prst="rect">
            <a:avLst/>
          </a:prstGeom>
          <a:noFill/>
          <a:ln w="9525">
            <a:noFill/>
            <a:miter lim="800000"/>
            <a:headEnd/>
            <a:tailEnd/>
          </a:ln>
        </p:spPr>
      </p:pic>
      <p:graphicFrame>
        <p:nvGraphicFramePr>
          <p:cNvPr id="62468" name="Object 2"/>
          <p:cNvGraphicFramePr>
            <a:graphicFrameLocks noChangeAspect="1"/>
          </p:cNvGraphicFramePr>
          <p:nvPr/>
        </p:nvGraphicFramePr>
        <p:xfrm>
          <a:off x="1293813" y="5056188"/>
          <a:ext cx="4824412" cy="1338262"/>
        </p:xfrm>
        <a:graphic>
          <a:graphicData uri="http://schemas.openxmlformats.org/presentationml/2006/ole">
            <mc:AlternateContent xmlns:mc="http://schemas.openxmlformats.org/markup-compatibility/2006">
              <mc:Choice xmlns:v="urn:schemas-microsoft-com:vml" Requires="v">
                <p:oleObj spid="_x0000_s45060" name="Equation" r:id="rId4" imgW="56083200" imgH="15544800" progId="Equation.3">
                  <p:embed/>
                </p:oleObj>
              </mc:Choice>
              <mc:Fallback>
                <p:oleObj name="Equation" r:id="rId4" imgW="56083200" imgH="15544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3813" y="5056188"/>
                        <a:ext cx="4824412" cy="1338262"/>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61443" name="Object 3"/>
          <p:cNvGraphicFramePr>
            <a:graphicFrameLocks noChangeAspect="1"/>
          </p:cNvGraphicFramePr>
          <p:nvPr/>
        </p:nvGraphicFramePr>
        <p:xfrm>
          <a:off x="766763" y="1633538"/>
          <a:ext cx="3657600" cy="2781300"/>
        </p:xfrm>
        <a:graphic>
          <a:graphicData uri="http://schemas.openxmlformats.org/presentationml/2006/ole">
            <mc:AlternateContent xmlns:mc="http://schemas.openxmlformats.org/markup-compatibility/2006">
              <mc:Choice xmlns:v="urn:schemas-microsoft-com:vml" Requires="v">
                <p:oleObj spid="_x0000_s45061" name="Photo Editor 照片" r:id="rId6" imgW="12174649" imgH="9259592" progId="">
                  <p:embed/>
                </p:oleObj>
              </mc:Choice>
              <mc:Fallback>
                <p:oleObj name="Photo Editor 照片" r:id="rId6" imgW="12174649" imgH="9259592" progId="">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763" y="1633538"/>
                        <a:ext cx="3657600"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0" name="AutoShape 6"/>
          <p:cNvSpPr>
            <a:spLocks/>
          </p:cNvSpPr>
          <p:nvPr/>
        </p:nvSpPr>
        <p:spPr bwMode="auto">
          <a:xfrm>
            <a:off x="614363" y="4071938"/>
            <a:ext cx="1524000" cy="838200"/>
          </a:xfrm>
          <a:prstGeom prst="borderCallout1">
            <a:avLst>
              <a:gd name="adj1" fmla="val 13634"/>
              <a:gd name="adj2" fmla="val 105000"/>
              <a:gd name="adj3" fmla="val -11551"/>
              <a:gd name="adj4" fmla="val 120315"/>
            </a:avLst>
          </a:prstGeom>
          <a:solidFill>
            <a:srgbClr val="FFFFCC"/>
          </a:solidFill>
          <a:ln w="19050">
            <a:solidFill>
              <a:srgbClr val="FF3300"/>
            </a:solidFill>
            <a:miter lim="800000"/>
            <a:headEnd/>
            <a:tailEnd/>
          </a:ln>
        </p:spPr>
        <p:txBody>
          <a:bodyPr/>
          <a:lstStyle/>
          <a:p>
            <a:pPr algn="ctr" eaLnBrk="1" hangingPunct="1"/>
            <a:r>
              <a:rPr lang="zh-CN" altLang="en-US" b="1"/>
              <a:t>等效电阻为无穷大</a:t>
            </a:r>
          </a:p>
        </p:txBody>
      </p:sp>
      <p:sp>
        <p:nvSpPr>
          <p:cNvPr id="62471" name="AutoShape 7"/>
          <p:cNvSpPr>
            <a:spLocks/>
          </p:cNvSpPr>
          <p:nvPr/>
        </p:nvSpPr>
        <p:spPr bwMode="auto">
          <a:xfrm>
            <a:off x="6862763" y="3843338"/>
            <a:ext cx="1216025" cy="838200"/>
          </a:xfrm>
          <a:prstGeom prst="borderCallout1">
            <a:avLst>
              <a:gd name="adj1" fmla="val 13634"/>
              <a:gd name="adj2" fmla="val -6269"/>
              <a:gd name="adj3" fmla="val 10519"/>
              <a:gd name="adj4" fmla="val -28347"/>
            </a:avLst>
          </a:prstGeom>
          <a:solidFill>
            <a:srgbClr val="FFFFCC"/>
          </a:solidFill>
          <a:ln w="19050">
            <a:solidFill>
              <a:srgbClr val="FF3300"/>
            </a:solidFill>
            <a:miter lim="800000"/>
            <a:headEnd/>
            <a:tailEnd/>
          </a:ln>
        </p:spPr>
        <p:txBody>
          <a:bodyPr/>
          <a:lstStyle/>
          <a:p>
            <a:pPr algn="ctr" eaLnBrk="1" hangingPunct="1"/>
            <a:r>
              <a:rPr lang="zh-CN" altLang="en-US" b="1"/>
              <a:t>近似为</a:t>
            </a:r>
          </a:p>
          <a:p>
            <a:pPr algn="ctr" eaLnBrk="1" hangingPunct="1"/>
            <a:r>
              <a:rPr lang="zh-CN" altLang="en-US" b="1"/>
              <a:t>恒流</a:t>
            </a:r>
          </a:p>
        </p:txBody>
      </p:sp>
      <p:sp>
        <p:nvSpPr>
          <p:cNvPr id="9" name="AutoShape 7"/>
          <p:cNvSpPr>
            <a:spLocks/>
          </p:cNvSpPr>
          <p:nvPr/>
        </p:nvSpPr>
        <p:spPr bwMode="auto">
          <a:xfrm>
            <a:off x="7729538" y="2662238"/>
            <a:ext cx="1414462" cy="1157287"/>
          </a:xfrm>
          <a:prstGeom prst="borderCallout1">
            <a:avLst>
              <a:gd name="adj1" fmla="val 13634"/>
              <a:gd name="adj2" fmla="val -6269"/>
              <a:gd name="adj3" fmla="val 90954"/>
              <a:gd name="adj4" fmla="val -102426"/>
            </a:avLst>
          </a:prstGeom>
          <a:solidFill>
            <a:srgbClr val="FFFFCC"/>
          </a:solidFill>
          <a:ln w="19050">
            <a:solidFill>
              <a:srgbClr val="FF3300"/>
            </a:solidFill>
            <a:miter lim="800000"/>
            <a:headEnd/>
            <a:tailEnd/>
          </a:ln>
        </p:spPr>
        <p:txBody>
          <a:bodyPr/>
          <a:lstStyle/>
          <a:p>
            <a:pPr algn="ctr" eaLnBrk="1" hangingPunct="1"/>
            <a:r>
              <a:rPr lang="en-US" altLang="zh-CN" b="1"/>
              <a:t>T3</a:t>
            </a:r>
            <a:r>
              <a:rPr lang="zh-CN" altLang="en-US" b="1"/>
              <a:t>只在共模输入时作用</a:t>
            </a:r>
          </a:p>
        </p:txBody>
      </p:sp>
      <p:sp>
        <p:nvSpPr>
          <p:cNvPr id="10" name="TextBox 9"/>
          <p:cNvSpPr txBox="1">
            <a:spLocks noChangeArrowheads="1"/>
          </p:cNvSpPr>
          <p:nvPr/>
        </p:nvSpPr>
        <p:spPr bwMode="auto">
          <a:xfrm>
            <a:off x="6129338" y="0"/>
            <a:ext cx="2814637" cy="954088"/>
          </a:xfrm>
          <a:prstGeom prst="rect">
            <a:avLst/>
          </a:prstGeom>
          <a:solidFill>
            <a:schemeClr val="accent1"/>
          </a:solidFill>
          <a:ln w="9525">
            <a:noFill/>
            <a:miter lim="800000"/>
            <a:headEnd/>
            <a:tailEnd/>
          </a:ln>
        </p:spPr>
        <p:txBody>
          <a:bodyPr>
            <a:spAutoFit/>
          </a:bodyPr>
          <a:lstStyle/>
          <a:p>
            <a:pPr algn="ctr" eaLnBrk="1" hangingPunct="1"/>
            <a:r>
              <a:rPr lang="en-US" altLang="zh-CN" sz="2800">
                <a:solidFill>
                  <a:srgbClr val="FF0000"/>
                </a:solidFill>
              </a:rPr>
              <a:t>Q</a:t>
            </a:r>
            <a:r>
              <a:rPr lang="zh-CN" altLang="en-US" sz="2800">
                <a:solidFill>
                  <a:srgbClr val="FF0000"/>
                </a:solidFill>
              </a:rPr>
              <a:t>设置由恒流源确定，</a:t>
            </a:r>
            <a:r>
              <a:rPr lang="en-US" altLang="zh-CN" sz="2800">
                <a:solidFill>
                  <a:srgbClr val="FF0000"/>
                </a:solidFill>
              </a:rPr>
              <a:t>2i</a:t>
            </a:r>
            <a:r>
              <a:rPr lang="en-US" altLang="zh-CN" sz="2800" baseline="-25000">
                <a:solidFill>
                  <a:srgbClr val="FF0000"/>
                </a:solidFill>
              </a:rPr>
              <a:t>E1</a:t>
            </a:r>
            <a:r>
              <a:rPr lang="en-US" altLang="zh-CN" sz="2800">
                <a:solidFill>
                  <a:srgbClr val="FF0000"/>
                </a:solidFill>
              </a:rPr>
              <a:t>=I</a:t>
            </a:r>
            <a:r>
              <a:rPr lang="en-US" altLang="zh-CN" sz="2800" baseline="-25000">
                <a:solidFill>
                  <a:srgbClr val="FF0000"/>
                </a:solidFill>
              </a:rPr>
              <a:t>C3</a:t>
            </a:r>
            <a:endParaRPr lang="zh-CN" altLang="en-US" sz="2800" baseline="-25000">
              <a:solidFill>
                <a:srgbClr val="FF0000"/>
              </a:solidFill>
            </a:endParaRPr>
          </a:p>
        </p:txBody>
      </p:sp>
      <p:sp>
        <p:nvSpPr>
          <p:cNvPr id="11" name="AutoShape 7"/>
          <p:cNvSpPr>
            <a:spLocks/>
          </p:cNvSpPr>
          <p:nvPr/>
        </p:nvSpPr>
        <p:spPr bwMode="auto">
          <a:xfrm>
            <a:off x="7858125" y="1371600"/>
            <a:ext cx="1071563" cy="800100"/>
          </a:xfrm>
          <a:prstGeom prst="borderCallout1">
            <a:avLst>
              <a:gd name="adj1" fmla="val 13634"/>
              <a:gd name="adj2" fmla="val -6269"/>
              <a:gd name="adj3" fmla="val 83810"/>
              <a:gd name="adj4" fmla="val -61519"/>
            </a:avLst>
          </a:prstGeom>
          <a:solidFill>
            <a:srgbClr val="FFFFCC"/>
          </a:solidFill>
          <a:ln w="19050">
            <a:solidFill>
              <a:srgbClr val="FF3300"/>
            </a:solidFill>
            <a:miter lim="800000"/>
            <a:headEnd/>
            <a:tailEnd/>
          </a:ln>
        </p:spPr>
        <p:txBody>
          <a:bodyPr/>
          <a:lstStyle/>
          <a:p>
            <a:pPr algn="ctr" eaLnBrk="1" hangingPunct="1"/>
            <a:r>
              <a:rPr lang="en-US" altLang="zh-CN" b="1"/>
              <a:t>Q</a:t>
            </a:r>
            <a:r>
              <a:rPr lang="zh-CN" altLang="en-US" b="1"/>
              <a:t>如何确定？</a:t>
            </a:r>
          </a:p>
        </p:txBody>
      </p:sp>
      <p:sp>
        <p:nvSpPr>
          <p:cNvPr id="13" name="TextBox 12"/>
          <p:cNvSpPr txBox="1"/>
          <p:nvPr/>
        </p:nvSpPr>
        <p:spPr>
          <a:xfrm>
            <a:off x="6472238" y="5214938"/>
            <a:ext cx="1328737" cy="584200"/>
          </a:xfrm>
          <a:prstGeom prst="rect">
            <a:avLst/>
          </a:prstGeom>
          <a:solidFill>
            <a:schemeClr val="accent5"/>
          </a:solidFill>
        </p:spPr>
        <p:txBody>
          <a:bodyPr>
            <a:spAutoFit/>
          </a:bodyPr>
          <a:lstStyle/>
          <a:p>
            <a:pPr>
              <a:defRPr/>
            </a:pPr>
            <a:r>
              <a:rPr lang="en-US" altLang="zh-CN" sz="3200" dirty="0"/>
              <a:t>Re=</a:t>
            </a:r>
            <a:r>
              <a:rPr lang="zh-CN" altLang="en-US" sz="32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2467"/>
                                        </p:tgtEl>
                                        <p:attrNameLst>
                                          <p:attrName>style.visibility</p:attrName>
                                        </p:attrNameLst>
                                      </p:cBhvr>
                                      <p:to>
                                        <p:strVal val="visible"/>
                                      </p:to>
                                    </p:set>
                                    <p:animEffect transition="in" filter="wipe(left)">
                                      <p:cBhvr>
                                        <p:cTn id="11" dur="500"/>
                                        <p:tgtEl>
                                          <p:spTgt spid="6246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247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62468"/>
                                        </p:tgtEl>
                                        <p:attrNameLst>
                                          <p:attrName>style.visibility</p:attrName>
                                        </p:attrNameLst>
                                      </p:cBhvr>
                                      <p:to>
                                        <p:strVal val="visible"/>
                                      </p:to>
                                    </p:set>
                                    <p:animEffect transition="in" filter="wipe(left)">
                                      <p:cBhvr>
                                        <p:cTn id="20" dur="500"/>
                                        <p:tgtEl>
                                          <p:spTgt spid="624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animBg="1" autoUpdateAnimBg="0"/>
      <p:bldP spid="62471" grpId="0" animBg="1" autoUpdateAnimBg="0"/>
      <p:bldP spid="9" grpId="0" animBg="1" autoUpdateAnimBg="0"/>
      <p:bldP spid="10" grpId="0" animBg="1"/>
      <p:bldP spid="11" grpId="0" animBg="1" autoUpdateAnimBg="0"/>
      <p:bldP spid="1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95B146B-DAF2-4BDE-AD10-FA8DC1FF4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42" y="158621"/>
            <a:ext cx="6067469" cy="2981347"/>
          </a:xfrm>
          <a:prstGeom prst="rect">
            <a:avLst/>
          </a:prstGeom>
        </p:spPr>
      </p:pic>
      <p:graphicFrame>
        <p:nvGraphicFramePr>
          <p:cNvPr id="2" name="对象 1">
            <a:extLst>
              <a:ext uri="{FF2B5EF4-FFF2-40B4-BE49-F238E27FC236}">
                <a16:creationId xmlns:a16="http://schemas.microsoft.com/office/drawing/2014/main" id="{C03FD4D8-FD3D-4D53-9523-119CBD7DF39B}"/>
              </a:ext>
            </a:extLst>
          </p:cNvPr>
          <p:cNvGraphicFramePr>
            <a:graphicFrameLocks noChangeAspect="1"/>
          </p:cNvGraphicFramePr>
          <p:nvPr>
            <p:extLst>
              <p:ext uri="{D42A27DB-BD31-4B8C-83A1-F6EECF244321}">
                <p14:modId xmlns:p14="http://schemas.microsoft.com/office/powerpoint/2010/main" val="815523505"/>
              </p:ext>
            </p:extLst>
          </p:nvPr>
        </p:nvGraphicFramePr>
        <p:xfrm>
          <a:off x="5017924" y="2268177"/>
          <a:ext cx="4126076" cy="3089347"/>
        </p:xfrm>
        <a:graphic>
          <a:graphicData uri="http://schemas.openxmlformats.org/presentationml/2006/ole">
            <mc:AlternateContent xmlns:mc="http://schemas.openxmlformats.org/markup-compatibility/2006">
              <mc:Choice xmlns:v="urn:schemas-microsoft-com:vml" Requires="v">
                <p:oleObj spid="_x0000_s46083" r:id="rId4" imgW="6672311" imgH="4995899" progId="">
                  <p:embed/>
                </p:oleObj>
              </mc:Choice>
              <mc:Fallback>
                <p:oleObj r:id="rId4" imgW="6672311" imgH="4995899"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7924" y="2268177"/>
                        <a:ext cx="4126076" cy="3089347"/>
                      </a:xfrm>
                      <a:prstGeom prst="rect">
                        <a:avLst/>
                      </a:prstGeom>
                      <a:noFill/>
                      <a:ln>
                        <a:noFill/>
                      </a:ln>
                    </p:spPr>
                  </p:pic>
                </p:oleObj>
              </mc:Fallback>
            </mc:AlternateContent>
          </a:graphicData>
        </a:graphic>
      </p:graphicFrame>
      <p:pic>
        <p:nvPicPr>
          <p:cNvPr id="8" name="图片 7">
            <a:extLst>
              <a:ext uri="{FF2B5EF4-FFF2-40B4-BE49-F238E27FC236}">
                <a16:creationId xmlns:a16="http://schemas.microsoft.com/office/drawing/2014/main" id="{21E9990C-3F4B-4B0E-ACA7-9783CDEBCB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41" y="3372440"/>
            <a:ext cx="4834933" cy="1414352"/>
          </a:xfrm>
          <a:prstGeom prst="rect">
            <a:avLst/>
          </a:prstGeom>
        </p:spPr>
      </p:pic>
    </p:spTree>
    <p:extLst>
      <p:ext uri="{BB962C8B-B14F-4D97-AF65-F5344CB8AC3E}">
        <p14:creationId xmlns:p14="http://schemas.microsoft.com/office/powerpoint/2010/main" val="80257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95B146B-DAF2-4BDE-AD10-FA8DC1FF4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42" y="158621"/>
            <a:ext cx="6067469" cy="2981347"/>
          </a:xfrm>
          <a:prstGeom prst="rect">
            <a:avLst/>
          </a:prstGeom>
        </p:spPr>
      </p:pic>
      <p:graphicFrame>
        <p:nvGraphicFramePr>
          <p:cNvPr id="2" name="对象 1">
            <a:extLst>
              <a:ext uri="{FF2B5EF4-FFF2-40B4-BE49-F238E27FC236}">
                <a16:creationId xmlns:a16="http://schemas.microsoft.com/office/drawing/2014/main" id="{C03FD4D8-FD3D-4D53-9523-119CBD7DF39B}"/>
              </a:ext>
            </a:extLst>
          </p:cNvPr>
          <p:cNvGraphicFramePr>
            <a:graphicFrameLocks noChangeAspect="1"/>
          </p:cNvGraphicFramePr>
          <p:nvPr/>
        </p:nvGraphicFramePr>
        <p:xfrm>
          <a:off x="5017924" y="2268177"/>
          <a:ext cx="4126076" cy="3089347"/>
        </p:xfrm>
        <a:graphic>
          <a:graphicData uri="http://schemas.openxmlformats.org/presentationml/2006/ole">
            <mc:AlternateContent xmlns:mc="http://schemas.openxmlformats.org/markup-compatibility/2006">
              <mc:Choice xmlns:v="urn:schemas-microsoft-com:vml" Requires="v">
                <p:oleObj spid="_x0000_s47107" r:id="rId4" imgW="6672311" imgH="4995899" progId="">
                  <p:embed/>
                </p:oleObj>
              </mc:Choice>
              <mc:Fallback>
                <p:oleObj r:id="rId4" imgW="6672311" imgH="4995899" progId="">
                  <p:embed/>
                  <p:pic>
                    <p:nvPicPr>
                      <p:cNvPr id="2" name="对象 1">
                        <a:extLst>
                          <a:ext uri="{FF2B5EF4-FFF2-40B4-BE49-F238E27FC236}">
                            <a16:creationId xmlns:a16="http://schemas.microsoft.com/office/drawing/2014/main" id="{C03FD4D8-FD3D-4D53-9523-119CBD7DF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7924" y="2268177"/>
                        <a:ext cx="4126076" cy="3089347"/>
                      </a:xfrm>
                      <a:prstGeom prst="rect">
                        <a:avLst/>
                      </a:prstGeom>
                      <a:noFill/>
                      <a:ln>
                        <a:noFill/>
                      </a:ln>
                    </p:spPr>
                  </p:pic>
                </p:oleObj>
              </mc:Fallback>
            </mc:AlternateContent>
          </a:graphicData>
        </a:graphic>
      </p:graphicFrame>
      <p:pic>
        <p:nvPicPr>
          <p:cNvPr id="5" name="图片 4">
            <a:extLst>
              <a:ext uri="{FF2B5EF4-FFF2-40B4-BE49-F238E27FC236}">
                <a16:creationId xmlns:a16="http://schemas.microsoft.com/office/drawing/2014/main" id="{2094B4AF-353A-4482-E759-20BBF510DD7B}"/>
              </a:ext>
            </a:extLst>
          </p:cNvPr>
          <p:cNvPicPr>
            <a:picLocks noChangeAspect="1"/>
          </p:cNvPicPr>
          <p:nvPr/>
        </p:nvPicPr>
        <p:blipFill>
          <a:blip r:embed="rId6"/>
          <a:stretch>
            <a:fillRect/>
          </a:stretch>
        </p:blipFill>
        <p:spPr>
          <a:xfrm>
            <a:off x="165314" y="4204999"/>
            <a:ext cx="5143500" cy="2305050"/>
          </a:xfrm>
          <a:prstGeom prst="rect">
            <a:avLst/>
          </a:prstGeom>
        </p:spPr>
      </p:pic>
    </p:spTree>
    <p:extLst>
      <p:ext uri="{BB962C8B-B14F-4D97-AF65-F5344CB8AC3E}">
        <p14:creationId xmlns:p14="http://schemas.microsoft.com/office/powerpoint/2010/main" val="5048259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95B146B-DAF2-4BDE-AD10-FA8DC1FF4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42" y="158621"/>
            <a:ext cx="5543733" cy="2504799"/>
          </a:xfrm>
          <a:prstGeom prst="rect">
            <a:avLst/>
          </a:prstGeom>
        </p:spPr>
      </p:pic>
      <p:graphicFrame>
        <p:nvGraphicFramePr>
          <p:cNvPr id="2" name="对象 1">
            <a:extLst>
              <a:ext uri="{FF2B5EF4-FFF2-40B4-BE49-F238E27FC236}">
                <a16:creationId xmlns:a16="http://schemas.microsoft.com/office/drawing/2014/main" id="{C03FD4D8-FD3D-4D53-9523-119CBD7DF39B}"/>
              </a:ext>
            </a:extLst>
          </p:cNvPr>
          <p:cNvGraphicFramePr>
            <a:graphicFrameLocks noChangeAspect="1"/>
          </p:cNvGraphicFramePr>
          <p:nvPr>
            <p:extLst>
              <p:ext uri="{D42A27DB-BD31-4B8C-83A1-F6EECF244321}">
                <p14:modId xmlns:p14="http://schemas.microsoft.com/office/powerpoint/2010/main" val="3791835445"/>
              </p:ext>
            </p:extLst>
          </p:nvPr>
        </p:nvGraphicFramePr>
        <p:xfrm>
          <a:off x="5446441" y="1138985"/>
          <a:ext cx="3544136" cy="2653627"/>
        </p:xfrm>
        <a:graphic>
          <a:graphicData uri="http://schemas.openxmlformats.org/presentationml/2006/ole">
            <mc:AlternateContent xmlns:mc="http://schemas.openxmlformats.org/markup-compatibility/2006">
              <mc:Choice xmlns:v="urn:schemas-microsoft-com:vml" Requires="v">
                <p:oleObj spid="_x0000_s48131" r:id="rId4" imgW="6672311" imgH="4995899" progId="">
                  <p:embed/>
                </p:oleObj>
              </mc:Choice>
              <mc:Fallback>
                <p:oleObj r:id="rId4" imgW="6672311" imgH="4995899" progId="">
                  <p:embed/>
                  <p:pic>
                    <p:nvPicPr>
                      <p:cNvPr id="2" name="对象 1">
                        <a:extLst>
                          <a:ext uri="{FF2B5EF4-FFF2-40B4-BE49-F238E27FC236}">
                            <a16:creationId xmlns:a16="http://schemas.microsoft.com/office/drawing/2014/main" id="{C03FD4D8-FD3D-4D53-9523-119CBD7DF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6441" y="1138985"/>
                        <a:ext cx="3544136" cy="2653627"/>
                      </a:xfrm>
                      <a:prstGeom prst="rect">
                        <a:avLst/>
                      </a:prstGeom>
                      <a:noFill/>
                      <a:ln>
                        <a:noFill/>
                      </a:ln>
                    </p:spPr>
                  </p:pic>
                </p:oleObj>
              </mc:Fallback>
            </mc:AlternateContent>
          </a:graphicData>
        </a:graphic>
      </p:graphicFrame>
      <p:pic>
        <p:nvPicPr>
          <p:cNvPr id="5" name="图片 4">
            <a:extLst>
              <a:ext uri="{FF2B5EF4-FFF2-40B4-BE49-F238E27FC236}">
                <a16:creationId xmlns:a16="http://schemas.microsoft.com/office/drawing/2014/main" id="{B86EAFB1-B5FA-CE06-BA5D-55FA98857B97}"/>
              </a:ext>
            </a:extLst>
          </p:cNvPr>
          <p:cNvPicPr>
            <a:picLocks noChangeAspect="1"/>
          </p:cNvPicPr>
          <p:nvPr/>
        </p:nvPicPr>
        <p:blipFill>
          <a:blip r:embed="rId6"/>
          <a:stretch>
            <a:fillRect/>
          </a:stretch>
        </p:blipFill>
        <p:spPr>
          <a:xfrm>
            <a:off x="960394" y="2728912"/>
            <a:ext cx="3933825" cy="1400175"/>
          </a:xfrm>
          <a:prstGeom prst="rect">
            <a:avLst/>
          </a:prstGeom>
        </p:spPr>
      </p:pic>
      <p:pic>
        <p:nvPicPr>
          <p:cNvPr id="8" name="图片 7">
            <a:extLst>
              <a:ext uri="{FF2B5EF4-FFF2-40B4-BE49-F238E27FC236}">
                <a16:creationId xmlns:a16="http://schemas.microsoft.com/office/drawing/2014/main" id="{E08D063A-EDC0-29AB-7847-4CFEAABF51B9}"/>
              </a:ext>
            </a:extLst>
          </p:cNvPr>
          <p:cNvPicPr>
            <a:picLocks noChangeAspect="1"/>
          </p:cNvPicPr>
          <p:nvPr/>
        </p:nvPicPr>
        <p:blipFill>
          <a:blip r:embed="rId7"/>
          <a:stretch>
            <a:fillRect/>
          </a:stretch>
        </p:blipFill>
        <p:spPr>
          <a:xfrm>
            <a:off x="960394" y="4194579"/>
            <a:ext cx="4943475" cy="790575"/>
          </a:xfrm>
          <a:prstGeom prst="rect">
            <a:avLst/>
          </a:prstGeom>
        </p:spPr>
      </p:pic>
      <p:pic>
        <p:nvPicPr>
          <p:cNvPr id="10" name="图片 9">
            <a:extLst>
              <a:ext uri="{FF2B5EF4-FFF2-40B4-BE49-F238E27FC236}">
                <a16:creationId xmlns:a16="http://schemas.microsoft.com/office/drawing/2014/main" id="{5568FF74-F4A4-22D1-8827-BCF1CFFF0CB3}"/>
              </a:ext>
            </a:extLst>
          </p:cNvPr>
          <p:cNvPicPr>
            <a:picLocks noChangeAspect="1"/>
          </p:cNvPicPr>
          <p:nvPr/>
        </p:nvPicPr>
        <p:blipFill>
          <a:blip r:embed="rId8"/>
          <a:stretch>
            <a:fillRect/>
          </a:stretch>
        </p:blipFill>
        <p:spPr>
          <a:xfrm>
            <a:off x="960394" y="5050646"/>
            <a:ext cx="3400425" cy="742950"/>
          </a:xfrm>
          <a:prstGeom prst="rect">
            <a:avLst/>
          </a:prstGeom>
        </p:spPr>
      </p:pic>
      <p:pic>
        <p:nvPicPr>
          <p:cNvPr id="12" name="图片 11">
            <a:extLst>
              <a:ext uri="{FF2B5EF4-FFF2-40B4-BE49-F238E27FC236}">
                <a16:creationId xmlns:a16="http://schemas.microsoft.com/office/drawing/2014/main" id="{9C99E478-E041-9ED5-412E-FD886845B4EB}"/>
              </a:ext>
            </a:extLst>
          </p:cNvPr>
          <p:cNvPicPr>
            <a:picLocks noChangeAspect="1"/>
          </p:cNvPicPr>
          <p:nvPr/>
        </p:nvPicPr>
        <p:blipFill>
          <a:blip r:embed="rId9"/>
          <a:stretch>
            <a:fillRect/>
          </a:stretch>
        </p:blipFill>
        <p:spPr>
          <a:xfrm>
            <a:off x="5615275" y="5323771"/>
            <a:ext cx="2143125" cy="390525"/>
          </a:xfrm>
          <a:prstGeom prst="rect">
            <a:avLst/>
          </a:prstGeom>
        </p:spPr>
      </p:pic>
    </p:spTree>
    <p:extLst>
      <p:ext uri="{BB962C8B-B14F-4D97-AF65-F5344CB8AC3E}">
        <p14:creationId xmlns:p14="http://schemas.microsoft.com/office/powerpoint/2010/main" val="24280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1" name="Text Box 2"/>
          <p:cNvSpPr txBox="1">
            <a:spLocks noChangeArrowheads="1"/>
          </p:cNvSpPr>
          <p:nvPr/>
        </p:nvSpPr>
        <p:spPr bwMode="auto">
          <a:xfrm>
            <a:off x="1060450" y="1771650"/>
            <a:ext cx="7051675" cy="587375"/>
          </a:xfrm>
          <a:prstGeom prst="rect">
            <a:avLst/>
          </a:prstGeom>
          <a:noFill/>
          <a:ln w="9525">
            <a:noFill/>
            <a:miter lim="800000"/>
            <a:headEnd/>
            <a:tailEnd/>
          </a:ln>
        </p:spPr>
        <p:txBody>
          <a:bodyPr lIns="90000" tIns="46800" rIns="90000" bIns="46800">
            <a:spAutoFit/>
          </a:bodyPr>
          <a:lstStyle/>
          <a:p>
            <a:pPr algn="ctr" eaLnBrk="1" hangingPunct="1"/>
            <a:r>
              <a:rPr lang="en-US" altLang="zh-CN" sz="3200" b="1"/>
              <a:t>1. </a:t>
            </a:r>
            <a:r>
              <a:rPr lang="zh-CN" altLang="en-US" sz="3200" b="1"/>
              <a:t>恒流源相当于</a:t>
            </a:r>
            <a:r>
              <a:rPr lang="zh-CN" altLang="en-US" sz="3200" b="1">
                <a:solidFill>
                  <a:srgbClr val="FF0000"/>
                </a:solidFill>
              </a:rPr>
              <a:t>阻值很大的电阻</a:t>
            </a:r>
            <a:r>
              <a:rPr lang="zh-CN" altLang="en-US" sz="3200" b="1"/>
              <a:t>。</a:t>
            </a:r>
          </a:p>
        </p:txBody>
      </p:sp>
      <p:sp>
        <p:nvSpPr>
          <p:cNvPr id="375812" name="Text Box 3"/>
          <p:cNvSpPr txBox="1">
            <a:spLocks noChangeArrowheads="1"/>
          </p:cNvSpPr>
          <p:nvPr/>
        </p:nvSpPr>
        <p:spPr bwMode="auto">
          <a:xfrm>
            <a:off x="1073150" y="2628900"/>
            <a:ext cx="7015163" cy="587375"/>
          </a:xfrm>
          <a:prstGeom prst="rect">
            <a:avLst/>
          </a:prstGeom>
          <a:noFill/>
          <a:ln w="9525">
            <a:noFill/>
            <a:miter lim="800000"/>
            <a:headEnd/>
            <a:tailEnd/>
          </a:ln>
        </p:spPr>
        <p:txBody>
          <a:bodyPr lIns="90000" tIns="46800" rIns="90000" bIns="46800">
            <a:spAutoFit/>
          </a:bodyPr>
          <a:lstStyle/>
          <a:p>
            <a:pPr algn="ctr" eaLnBrk="1" hangingPunct="1"/>
            <a:r>
              <a:rPr lang="en-US" altLang="zh-CN" sz="3200" b="1"/>
              <a:t>2. </a:t>
            </a:r>
            <a:r>
              <a:rPr lang="zh-CN" altLang="en-US" sz="3200" b="1"/>
              <a:t>恒流源</a:t>
            </a:r>
            <a:r>
              <a:rPr lang="zh-CN" altLang="en-US" sz="3200" b="1">
                <a:solidFill>
                  <a:srgbClr val="FF0000"/>
                </a:solidFill>
              </a:rPr>
              <a:t>不影响差模放大倍数</a:t>
            </a:r>
            <a:r>
              <a:rPr lang="zh-CN" altLang="en-US" sz="3200" b="1"/>
              <a:t>。</a:t>
            </a:r>
          </a:p>
        </p:txBody>
      </p:sp>
      <p:sp>
        <p:nvSpPr>
          <p:cNvPr id="375813" name="Text Box 4"/>
          <p:cNvSpPr txBox="1">
            <a:spLocks noChangeArrowheads="1"/>
          </p:cNvSpPr>
          <p:nvPr/>
        </p:nvSpPr>
        <p:spPr bwMode="auto">
          <a:xfrm>
            <a:off x="1055688" y="3448050"/>
            <a:ext cx="7086600" cy="2063750"/>
          </a:xfrm>
          <a:prstGeom prst="rect">
            <a:avLst/>
          </a:prstGeom>
          <a:noFill/>
          <a:ln w="9525">
            <a:noFill/>
            <a:miter lim="800000"/>
            <a:headEnd/>
            <a:tailEnd/>
          </a:ln>
        </p:spPr>
        <p:txBody>
          <a:bodyPr lIns="90000" tIns="46800" rIns="90000" bIns="46800">
            <a:spAutoFit/>
          </a:bodyPr>
          <a:lstStyle/>
          <a:p>
            <a:pPr marL="385763" indent="-385763" algn="ctr" eaLnBrk="1" hangingPunct="1"/>
            <a:r>
              <a:rPr lang="en-US" altLang="zh-CN" sz="3200" b="1"/>
              <a:t>3. </a:t>
            </a:r>
            <a:r>
              <a:rPr lang="zh-CN" altLang="en-US" sz="3200" b="1"/>
              <a:t>恒流源</a:t>
            </a:r>
            <a:r>
              <a:rPr lang="zh-CN" altLang="en-US" sz="3200" b="1">
                <a:solidFill>
                  <a:srgbClr val="FF0000"/>
                </a:solidFill>
              </a:rPr>
              <a:t>影响共模放大倍数，使共模放大倍数减小</a:t>
            </a:r>
            <a:r>
              <a:rPr lang="zh-CN" altLang="en-US" sz="3200" b="1"/>
              <a:t>，从而增加共模抑制比，理想的恒流源相当于阻值为无穷的电阻，所以</a:t>
            </a:r>
            <a:r>
              <a:rPr lang="zh-CN" altLang="en-US" sz="3200" b="1">
                <a:solidFill>
                  <a:srgbClr val="FF0000"/>
                </a:solidFill>
              </a:rPr>
              <a:t>共模抑制比是无穷</a:t>
            </a:r>
            <a:r>
              <a:rPr lang="zh-CN" altLang="en-US" sz="3200" b="1"/>
              <a:t>。</a:t>
            </a:r>
          </a:p>
        </p:txBody>
      </p:sp>
      <p:sp>
        <p:nvSpPr>
          <p:cNvPr id="132101" name="Text Box 5"/>
          <p:cNvSpPr txBox="1">
            <a:spLocks noChangeArrowheads="1"/>
          </p:cNvSpPr>
          <p:nvPr/>
        </p:nvSpPr>
        <p:spPr bwMode="auto">
          <a:xfrm>
            <a:off x="1077913" y="660400"/>
            <a:ext cx="3421062" cy="641350"/>
          </a:xfrm>
          <a:prstGeom prst="rect">
            <a:avLst/>
          </a:prstGeom>
          <a:noFill/>
          <a:ln w="9525">
            <a:noFill/>
            <a:miter lim="800000"/>
            <a:headEnd/>
            <a:tailEnd/>
          </a:ln>
        </p:spPr>
        <p:txBody>
          <a:bodyPr lIns="90000" tIns="46800" rIns="90000" bIns="46800">
            <a:spAutoFit/>
          </a:bodyPr>
          <a:lstStyle/>
          <a:p>
            <a:pPr algn="ctr" eaLnBrk="1" hangingPunct="1"/>
            <a:r>
              <a:rPr lang="zh-CN" altLang="en-US" sz="3600">
                <a:solidFill>
                  <a:srgbClr val="FF0000"/>
                </a:solidFill>
              </a:rPr>
              <a:t>恒流源的作用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11"/>
                                        </p:tgtEl>
                                        <p:attrNameLst>
                                          <p:attrName>style.visibility</p:attrName>
                                        </p:attrNameLst>
                                      </p:cBhvr>
                                      <p:to>
                                        <p:strVal val="visible"/>
                                      </p:to>
                                    </p:set>
                                    <p:animEffect transition="in" filter="wipe(left)">
                                      <p:cBhvr>
                                        <p:cTn id="7" dur="500"/>
                                        <p:tgtEl>
                                          <p:spTgt spid="375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5812"/>
                                        </p:tgtEl>
                                        <p:attrNameLst>
                                          <p:attrName>style.visibility</p:attrName>
                                        </p:attrNameLst>
                                      </p:cBhvr>
                                      <p:to>
                                        <p:strVal val="visible"/>
                                      </p:to>
                                    </p:set>
                                    <p:animEffect transition="in" filter="wipe(left)">
                                      <p:cBhvr>
                                        <p:cTn id="12" dur="500"/>
                                        <p:tgtEl>
                                          <p:spTgt spid="3758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5813"/>
                                        </p:tgtEl>
                                        <p:attrNameLst>
                                          <p:attrName>style.visibility</p:attrName>
                                        </p:attrNameLst>
                                      </p:cBhvr>
                                      <p:to>
                                        <p:strVal val="visible"/>
                                      </p:to>
                                    </p:set>
                                    <p:animEffect transition="in" filter="wipe(left)">
                                      <p:cBhvr>
                                        <p:cTn id="17" dur="500"/>
                                        <p:tgtEl>
                                          <p:spTgt spid="375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autoUpdateAnimBg="0"/>
      <p:bldP spid="375812" grpId="0" autoUpdateAnimBg="0"/>
      <p:bldP spid="375813"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Dz030314"/>
          <p:cNvPicPr>
            <a:picLocks noChangeAspect="1" noChangeArrowheads="1"/>
          </p:cNvPicPr>
          <p:nvPr/>
        </p:nvPicPr>
        <p:blipFill>
          <a:blip r:embed="rId3"/>
          <a:srcRect/>
          <a:stretch>
            <a:fillRect/>
          </a:stretch>
        </p:blipFill>
        <p:spPr bwMode="auto">
          <a:xfrm>
            <a:off x="609600" y="2060575"/>
            <a:ext cx="3657600" cy="2781300"/>
          </a:xfrm>
          <a:prstGeom prst="rect">
            <a:avLst/>
          </a:prstGeom>
          <a:noFill/>
          <a:ln w="9525">
            <a:noFill/>
            <a:miter lim="800000"/>
            <a:headEnd/>
            <a:tailEnd/>
          </a:ln>
        </p:spPr>
      </p:pic>
      <p:sp>
        <p:nvSpPr>
          <p:cNvPr id="63491" name="Text Box 3"/>
          <p:cNvSpPr txBox="1">
            <a:spLocks noChangeArrowheads="1"/>
          </p:cNvSpPr>
          <p:nvPr/>
        </p:nvSpPr>
        <p:spPr bwMode="auto">
          <a:xfrm>
            <a:off x="4648200" y="2836863"/>
            <a:ext cx="4495800" cy="1698625"/>
          </a:xfrm>
          <a:prstGeom prst="rect">
            <a:avLst/>
          </a:prstGeom>
          <a:noFill/>
          <a:ln w="9525">
            <a:noFill/>
            <a:miter lim="800000"/>
            <a:headEnd/>
            <a:tailEnd/>
          </a:ln>
        </p:spPr>
        <p:txBody>
          <a:bodyPr>
            <a:spAutoFit/>
          </a:bodyPr>
          <a:lstStyle/>
          <a:p>
            <a:pPr eaLnBrk="1" hangingPunct="1">
              <a:lnSpc>
                <a:spcPct val="110000"/>
              </a:lnSpc>
            </a:pPr>
            <a:r>
              <a:rPr lang="en-US" altLang="zh-CN" b="1"/>
              <a:t>1) </a:t>
            </a:r>
            <a:r>
              <a:rPr lang="en-US" altLang="zh-CN" b="1" i="1"/>
              <a:t>R</a:t>
            </a:r>
            <a:r>
              <a:rPr lang="en-US" altLang="zh-CN" b="1" baseline="-25000"/>
              <a:t>W</a:t>
            </a:r>
            <a:r>
              <a:rPr lang="zh-CN" altLang="en-US" b="1"/>
              <a:t>取值应大些？还是小些？</a:t>
            </a:r>
          </a:p>
          <a:p>
            <a:pPr eaLnBrk="1" hangingPunct="1">
              <a:lnSpc>
                <a:spcPct val="110000"/>
              </a:lnSpc>
            </a:pPr>
            <a:r>
              <a:rPr lang="en-US" altLang="zh-CN" b="1"/>
              <a:t>2) </a:t>
            </a:r>
            <a:r>
              <a:rPr lang="en-US" altLang="zh-CN" b="1" i="1"/>
              <a:t>R</a:t>
            </a:r>
            <a:r>
              <a:rPr lang="en-US" altLang="zh-CN" b="1" baseline="-25000"/>
              <a:t>W</a:t>
            </a:r>
            <a:r>
              <a:rPr lang="zh-CN" altLang="en-US" b="1"/>
              <a:t>对动态参数的影响？</a:t>
            </a:r>
          </a:p>
          <a:p>
            <a:pPr eaLnBrk="1" hangingPunct="1">
              <a:lnSpc>
                <a:spcPct val="110000"/>
              </a:lnSpc>
            </a:pPr>
            <a:r>
              <a:rPr lang="en-US" altLang="zh-CN" b="1"/>
              <a:t>3) </a:t>
            </a:r>
            <a:r>
              <a:rPr lang="zh-CN" altLang="en-US" b="1"/>
              <a:t>若</a:t>
            </a:r>
            <a:r>
              <a:rPr lang="en-US" altLang="zh-CN" b="1" i="1"/>
              <a:t>R</a:t>
            </a:r>
            <a:r>
              <a:rPr lang="en-US" altLang="zh-CN" b="1" baseline="-25000"/>
              <a:t>W</a:t>
            </a:r>
            <a:r>
              <a:rPr lang="zh-CN" altLang="en-US" b="1"/>
              <a:t>滑动端在中点，写出</a:t>
            </a:r>
            <a:r>
              <a:rPr lang="en-US" altLang="zh-CN" b="1" i="1"/>
              <a:t>A</a:t>
            </a:r>
            <a:r>
              <a:rPr lang="en-US" altLang="zh-CN" b="1" baseline="-25000"/>
              <a:t>d</a:t>
            </a:r>
            <a:r>
              <a:rPr lang="zh-CN" altLang="en-US" b="1"/>
              <a:t>、</a:t>
            </a:r>
            <a:r>
              <a:rPr lang="en-US" altLang="zh-CN" b="1" i="1"/>
              <a:t>R</a:t>
            </a:r>
            <a:r>
              <a:rPr lang="en-US" altLang="zh-CN" b="1" baseline="-25000"/>
              <a:t>i</a:t>
            </a:r>
            <a:r>
              <a:rPr lang="zh-CN" altLang="en-US" b="1"/>
              <a:t>的表达式。</a:t>
            </a:r>
          </a:p>
        </p:txBody>
      </p:sp>
      <p:graphicFrame>
        <p:nvGraphicFramePr>
          <p:cNvPr id="63492" name="Object 2"/>
          <p:cNvGraphicFramePr>
            <a:graphicFrameLocks noChangeAspect="1"/>
          </p:cNvGraphicFramePr>
          <p:nvPr/>
        </p:nvGraphicFramePr>
        <p:xfrm>
          <a:off x="914400" y="4811713"/>
          <a:ext cx="3733800" cy="1281112"/>
        </p:xfrm>
        <a:graphic>
          <a:graphicData uri="http://schemas.openxmlformats.org/presentationml/2006/ole">
            <mc:AlternateContent xmlns:mc="http://schemas.openxmlformats.org/markup-compatibility/2006">
              <mc:Choice xmlns:v="urn:schemas-microsoft-com:vml" Requires="v">
                <p:oleObj spid="_x0000_s49156" name="Equation" r:id="rId4" imgW="40843200" imgH="14020800" progId="Equation.3">
                  <p:embed/>
                </p:oleObj>
              </mc:Choice>
              <mc:Fallback>
                <p:oleObj name="Equation" r:id="rId4" imgW="40843200" imgH="14020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811713"/>
                        <a:ext cx="3733800" cy="1281112"/>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63493" name="Object 3"/>
          <p:cNvGraphicFramePr>
            <a:graphicFrameLocks noChangeAspect="1"/>
          </p:cNvGraphicFramePr>
          <p:nvPr/>
        </p:nvGraphicFramePr>
        <p:xfrm>
          <a:off x="4876800" y="5260975"/>
          <a:ext cx="3706813" cy="501650"/>
        </p:xfrm>
        <a:graphic>
          <a:graphicData uri="http://schemas.openxmlformats.org/presentationml/2006/ole">
            <mc:AlternateContent xmlns:mc="http://schemas.openxmlformats.org/markup-compatibility/2006">
              <mc:Choice xmlns:v="urn:schemas-microsoft-com:vml" Requires="v">
                <p:oleObj spid="_x0000_s49157" name="Equation" r:id="rId6" imgW="40538400" imgH="5486400" progId="Equation.3">
                  <p:embed/>
                </p:oleObj>
              </mc:Choice>
              <mc:Fallback>
                <p:oleObj name="Equation" r:id="rId6" imgW="40538400" imgH="5486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5260975"/>
                        <a:ext cx="3706813" cy="5016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62470" name="Rectangle 6"/>
          <p:cNvSpPr>
            <a:spLocks noGrp="1" noChangeArrowheads="1"/>
          </p:cNvSpPr>
          <p:nvPr>
            <p:ph type="title"/>
          </p:nvPr>
        </p:nvSpPr>
        <p:spPr>
          <a:xfrm>
            <a:off x="250825" y="836613"/>
            <a:ext cx="7042150" cy="609600"/>
          </a:xfrm>
        </p:spPr>
        <p:txBody>
          <a:bodyPr/>
          <a:lstStyle/>
          <a:p>
            <a:pPr algn="l"/>
            <a:r>
              <a:rPr lang="zh-CN" altLang="en-US" sz="3200" b="1">
                <a:ea typeface="华文行楷" pitchFamily="2" charset="-122"/>
              </a:rPr>
              <a:t>六、差分放大电路的改进</a:t>
            </a:r>
            <a:endParaRPr lang="zh-CN" altLang="en-US" sz="3200" b="1" baseline="-25000">
              <a:solidFill>
                <a:schemeClr val="tx1"/>
              </a:solidFill>
              <a:ea typeface="华文行楷" pitchFamily="2" charset="-122"/>
            </a:endParaRPr>
          </a:p>
        </p:txBody>
      </p:sp>
      <p:sp>
        <p:nvSpPr>
          <p:cNvPr id="62471" name="Text Box 7"/>
          <p:cNvSpPr txBox="1">
            <a:spLocks noChangeArrowheads="1"/>
          </p:cNvSpPr>
          <p:nvPr/>
        </p:nvSpPr>
        <p:spPr bwMode="auto">
          <a:xfrm>
            <a:off x="0" y="1481138"/>
            <a:ext cx="5308600" cy="523875"/>
          </a:xfrm>
          <a:prstGeom prst="rect">
            <a:avLst/>
          </a:prstGeom>
          <a:noFill/>
          <a:ln w="9525">
            <a:noFill/>
            <a:miter lim="800000"/>
            <a:headEnd/>
            <a:tailEnd/>
          </a:ln>
        </p:spPr>
        <p:txBody>
          <a:bodyPr>
            <a:spAutoFit/>
          </a:bodyPr>
          <a:lstStyle/>
          <a:p>
            <a:pPr algn="ctr" eaLnBrk="1" hangingPunct="1">
              <a:spcBef>
                <a:spcPct val="50000"/>
              </a:spcBef>
            </a:pPr>
            <a:r>
              <a:rPr lang="en-US" altLang="zh-CN" sz="2800" b="1" dirty="0">
                <a:latin typeface="华文行楷" pitchFamily="2" charset="-122"/>
                <a:ea typeface="华文行楷" pitchFamily="2" charset="-122"/>
              </a:rPr>
              <a:t> </a:t>
            </a:r>
            <a:r>
              <a:rPr lang="zh-CN" altLang="en-US" sz="2800" b="1" dirty="0">
                <a:solidFill>
                  <a:srgbClr val="FF0000"/>
                </a:solidFill>
                <a:latin typeface="华文行楷" pitchFamily="2" charset="-122"/>
                <a:ea typeface="华文行楷" pitchFamily="2" charset="-122"/>
              </a:rPr>
              <a:t>不对称</a:t>
            </a:r>
            <a:r>
              <a:rPr lang="en-US" altLang="zh-CN" sz="2800" b="1" dirty="0">
                <a:latin typeface="华文行楷" pitchFamily="2" charset="-122"/>
                <a:ea typeface="华文行楷" pitchFamily="2" charset="-122"/>
              </a:rPr>
              <a:t>-</a:t>
            </a:r>
            <a:r>
              <a:rPr lang="zh-CN" altLang="en-US" sz="2800" b="1" dirty="0">
                <a:latin typeface="华文行楷" pitchFamily="2" charset="-122"/>
                <a:ea typeface="华文行楷" pitchFamily="2" charset="-122"/>
              </a:rPr>
              <a:t>加调零电位器</a:t>
            </a:r>
            <a:r>
              <a:rPr lang="zh-CN" altLang="en-US" sz="2800" dirty="0">
                <a:latin typeface="华文行楷" pitchFamily="2" charset="-122"/>
                <a:ea typeface="华文行楷" pitchFamily="2" charset="-122"/>
              </a:rPr>
              <a:t> </a:t>
            </a:r>
            <a:r>
              <a:rPr lang="en-US" altLang="zh-CN" b="1" i="1" dirty="0"/>
              <a:t>R</a:t>
            </a:r>
            <a:r>
              <a:rPr lang="en-US" altLang="zh-CN" b="1" baseline="-25000" dirty="0"/>
              <a:t>W</a:t>
            </a:r>
          </a:p>
        </p:txBody>
      </p:sp>
      <p:sp>
        <p:nvSpPr>
          <p:cNvPr id="8" name="Rectangle 23"/>
          <p:cNvSpPr>
            <a:spLocks noChangeArrowheads="1"/>
          </p:cNvSpPr>
          <p:nvPr/>
        </p:nvSpPr>
        <p:spPr bwMode="auto">
          <a:xfrm>
            <a:off x="5181600" y="0"/>
            <a:ext cx="3962400" cy="2514600"/>
          </a:xfrm>
          <a:prstGeom prst="rect">
            <a:avLst/>
          </a:prstGeom>
          <a:solidFill>
            <a:schemeClr val="accent1"/>
          </a:solidFill>
          <a:ln w="12700" cap="sq">
            <a:solidFill>
              <a:srgbClr val="FF00FF"/>
            </a:solidFill>
            <a:miter lim="800000"/>
            <a:headEnd type="none" w="sm" len="sm"/>
            <a:tailEnd type="none" w="sm" len="sm"/>
          </a:ln>
        </p:spPr>
        <p:txBody>
          <a:bodyPr>
            <a:spAutoFit/>
          </a:bodyPr>
          <a:lstStyle/>
          <a:p>
            <a:pPr algn="just" eaLnBrk="1" hangingPunct="1">
              <a:lnSpc>
                <a:spcPct val="110000"/>
              </a:lnSpc>
              <a:spcBef>
                <a:spcPct val="20000"/>
              </a:spcBef>
              <a:buClr>
                <a:srgbClr val="0000FF"/>
              </a:buClr>
              <a:buSzPct val="85000"/>
              <a:buFont typeface="Monotype Sorts"/>
              <a:buNone/>
            </a:pPr>
            <a:r>
              <a:rPr lang="en-US" altLang="zh-CN" b="1"/>
              <a:t>     </a:t>
            </a:r>
            <a:r>
              <a:rPr lang="zh-CN" altLang="en-US" b="1"/>
              <a:t>差放电路依靠电路的对称性抑制零漂，当</a:t>
            </a:r>
            <a:r>
              <a:rPr lang="zh-CN" altLang="en-US" b="1">
                <a:solidFill>
                  <a:schemeClr val="accent2"/>
                </a:solidFill>
              </a:rPr>
              <a:t>电路对称性不好时，将产生零漂</a:t>
            </a:r>
            <a:r>
              <a:rPr lang="zh-CN" altLang="en-US" b="1"/>
              <a:t>，故在两管发射极之间增加一阻值很小的</a:t>
            </a:r>
            <a:r>
              <a:rPr lang="zh-CN" altLang="en-US" b="1">
                <a:solidFill>
                  <a:srgbClr val="FF0000"/>
                </a:solidFill>
              </a:rPr>
              <a:t>调零电位器</a:t>
            </a:r>
            <a:r>
              <a:rPr lang="en-US" altLang="zh-CN" b="1" i="1">
                <a:solidFill>
                  <a:srgbClr val="FF0000"/>
                </a:solidFill>
              </a:rPr>
              <a:t>R</a:t>
            </a:r>
            <a:r>
              <a:rPr lang="en-US" altLang="zh-CN" b="1" i="1" baseline="-25000">
                <a:solidFill>
                  <a:srgbClr val="FF0000"/>
                </a:solidFill>
              </a:rPr>
              <a:t>w</a:t>
            </a:r>
            <a:r>
              <a:rPr lang="zh-CN" altLang="en-US" b="1">
                <a:solidFill>
                  <a:srgbClr val="FF0000"/>
                </a:solidFill>
              </a:rPr>
              <a:t>，以使</a:t>
            </a:r>
            <a:r>
              <a:rPr lang="en-US" altLang="zh-CN" b="1" i="1">
                <a:solidFill>
                  <a:srgbClr val="FF0000"/>
                </a:solidFill>
              </a:rPr>
              <a:t>u</a:t>
            </a:r>
            <a:r>
              <a:rPr lang="en-US" altLang="zh-CN" b="1" i="1" baseline="-25000">
                <a:solidFill>
                  <a:srgbClr val="FF0000"/>
                </a:solidFill>
              </a:rPr>
              <a:t>I</a:t>
            </a:r>
            <a:r>
              <a:rPr lang="en-US" altLang="zh-CN" b="1" baseline="-25000">
                <a:solidFill>
                  <a:srgbClr val="FF0000"/>
                </a:solidFill>
              </a:rPr>
              <a:t>1</a:t>
            </a:r>
            <a:r>
              <a:rPr lang="en-US" altLang="zh-CN" b="1">
                <a:solidFill>
                  <a:srgbClr val="FF0000"/>
                </a:solidFill>
              </a:rPr>
              <a:t>= </a:t>
            </a:r>
            <a:r>
              <a:rPr lang="en-US" altLang="zh-CN" b="1" i="1">
                <a:solidFill>
                  <a:srgbClr val="FF0000"/>
                </a:solidFill>
              </a:rPr>
              <a:t>u</a:t>
            </a:r>
            <a:r>
              <a:rPr lang="en-US" altLang="zh-CN" b="1" i="1" baseline="-25000">
                <a:solidFill>
                  <a:srgbClr val="FF0000"/>
                </a:solidFill>
              </a:rPr>
              <a:t>I</a:t>
            </a:r>
            <a:r>
              <a:rPr lang="en-US" altLang="zh-CN" b="1" baseline="-25000">
                <a:solidFill>
                  <a:srgbClr val="FF0000"/>
                </a:solidFill>
              </a:rPr>
              <a:t>2</a:t>
            </a:r>
            <a:r>
              <a:rPr lang="en-US" altLang="zh-CN" b="1">
                <a:solidFill>
                  <a:srgbClr val="FF0000"/>
                </a:solidFill>
              </a:rPr>
              <a:t> =0</a:t>
            </a:r>
            <a:r>
              <a:rPr lang="zh-CN" altLang="en-US" b="1">
                <a:solidFill>
                  <a:srgbClr val="FF0000"/>
                </a:solidFill>
              </a:rPr>
              <a:t>时， </a:t>
            </a:r>
            <a:r>
              <a:rPr lang="en-US" altLang="zh-CN" b="1" i="1">
                <a:solidFill>
                  <a:srgbClr val="FF0000"/>
                </a:solidFill>
              </a:rPr>
              <a:t>u</a:t>
            </a:r>
            <a:r>
              <a:rPr lang="en-US" altLang="zh-CN" b="1" i="1" baseline="-25000">
                <a:solidFill>
                  <a:srgbClr val="FF0000"/>
                </a:solidFill>
              </a:rPr>
              <a:t>O</a:t>
            </a:r>
            <a:r>
              <a:rPr lang="en-US" altLang="zh-CN" b="1">
                <a:solidFill>
                  <a:srgbClr val="FF0000"/>
                </a:solidFill>
              </a:rPr>
              <a:t> =0</a:t>
            </a:r>
            <a:r>
              <a:rPr lang="zh-CN" altLang="en-US" b="1"/>
              <a:t>。</a:t>
            </a:r>
          </a:p>
        </p:txBody>
      </p:sp>
      <p:sp>
        <p:nvSpPr>
          <p:cNvPr id="9" name="椭圆 8"/>
          <p:cNvSpPr>
            <a:spLocks noChangeArrowheads="1"/>
          </p:cNvSpPr>
          <p:nvPr/>
        </p:nvSpPr>
        <p:spPr bwMode="auto">
          <a:xfrm flipH="1" flipV="1">
            <a:off x="2189163" y="3600450"/>
            <a:ext cx="304800" cy="228600"/>
          </a:xfrm>
          <a:prstGeom prst="ellipse">
            <a:avLst/>
          </a:prstGeom>
          <a:noFill/>
          <a:ln w="38100" algn="ctr">
            <a:solidFill>
              <a:srgbClr val="FF0000"/>
            </a:solidFill>
            <a:round/>
            <a:headEnd/>
            <a:tailEnd/>
          </a:ln>
        </p:spPr>
        <p:txBody>
          <a:bodyPr/>
          <a:lstStyle/>
          <a:p>
            <a:pPr algn="ctr" eaLnBrk="1" hangingPunct="1"/>
            <a:endParaRPr lang="zh-CN" altLang="en-US"/>
          </a:p>
        </p:txBody>
      </p:sp>
      <p:cxnSp>
        <p:nvCxnSpPr>
          <p:cNvPr id="10" name="直接箭头连接符 9"/>
          <p:cNvCxnSpPr>
            <a:cxnSpLocks noChangeShapeType="1"/>
            <a:stCxn id="9" idx="1"/>
          </p:cNvCxnSpPr>
          <p:nvPr/>
        </p:nvCxnSpPr>
        <p:spPr bwMode="auto">
          <a:xfrm>
            <a:off x="2449513" y="3795713"/>
            <a:ext cx="1279525" cy="1673225"/>
          </a:xfrm>
          <a:prstGeom prst="straightConnector1">
            <a:avLst/>
          </a:prstGeom>
          <a:noFill/>
          <a:ln w="9525" algn="ctr">
            <a:solidFill>
              <a:srgbClr val="FF0000"/>
            </a:solidFill>
            <a:round/>
            <a:headEnd/>
            <a:tailEnd type="triangle" w="med" len="med"/>
          </a:ln>
        </p:spPr>
      </p:cxnSp>
      <p:sp>
        <p:nvSpPr>
          <p:cNvPr id="3" name="椭圆 2"/>
          <p:cNvSpPr/>
          <p:nvPr/>
        </p:nvSpPr>
        <p:spPr bwMode="auto">
          <a:xfrm>
            <a:off x="4083050" y="5260975"/>
            <a:ext cx="488950" cy="83185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ndParaRPr>
          </a:p>
        </p:txBody>
      </p:sp>
      <p:sp>
        <p:nvSpPr>
          <p:cNvPr id="13" name="椭圆 12"/>
          <p:cNvSpPr/>
          <p:nvPr/>
        </p:nvSpPr>
        <p:spPr bwMode="auto">
          <a:xfrm>
            <a:off x="8094663" y="5129213"/>
            <a:ext cx="488950" cy="765175"/>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dissolve">
                                      <p:cBhvr>
                                        <p:cTn id="7" dur="500"/>
                                        <p:tgtEl>
                                          <p:spTgt spid="63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xEl>
                                              <p:pRg st="0" end="0"/>
                                            </p:txEl>
                                          </p:spTgt>
                                        </p:tgtEl>
                                        <p:attrNameLst>
                                          <p:attrName>style.visibility</p:attrName>
                                        </p:attrNameLst>
                                      </p:cBhvr>
                                      <p:to>
                                        <p:strVal val="visible"/>
                                      </p:to>
                                    </p:set>
                                    <p:animEffect transition="in" filter="wipe(left)">
                                      <p:cBhvr>
                                        <p:cTn id="12" dur="500"/>
                                        <p:tgtEl>
                                          <p:spTgt spid="634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1">
                                            <p:txEl>
                                              <p:pRg st="1" end="1"/>
                                            </p:txEl>
                                          </p:spTgt>
                                        </p:tgtEl>
                                        <p:attrNameLst>
                                          <p:attrName>style.visibility</p:attrName>
                                        </p:attrNameLst>
                                      </p:cBhvr>
                                      <p:to>
                                        <p:strVal val="visible"/>
                                      </p:to>
                                    </p:set>
                                    <p:animEffect transition="in" filter="wipe(left)">
                                      <p:cBhvr>
                                        <p:cTn id="17" dur="500"/>
                                        <p:tgtEl>
                                          <p:spTgt spid="6349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1">
                                            <p:txEl>
                                              <p:pRg st="2" end="2"/>
                                            </p:txEl>
                                          </p:spTgt>
                                        </p:tgtEl>
                                        <p:attrNameLst>
                                          <p:attrName>style.visibility</p:attrName>
                                        </p:attrNameLst>
                                      </p:cBhvr>
                                      <p:to>
                                        <p:strVal val="visible"/>
                                      </p:to>
                                    </p:set>
                                    <p:animEffect transition="in" filter="wipe(left)">
                                      <p:cBhvr>
                                        <p:cTn id="22" dur="500"/>
                                        <p:tgtEl>
                                          <p:spTgt spid="6349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3492"/>
                                        </p:tgtEl>
                                        <p:attrNameLst>
                                          <p:attrName>style.visibility</p:attrName>
                                        </p:attrNameLst>
                                      </p:cBhvr>
                                      <p:to>
                                        <p:strVal val="visible"/>
                                      </p:to>
                                    </p:set>
                                    <p:animEffect transition="in" filter="wipe(left)">
                                      <p:cBhvr>
                                        <p:cTn id="27" dur="500"/>
                                        <p:tgtEl>
                                          <p:spTgt spid="634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3493"/>
                                        </p:tgtEl>
                                        <p:attrNameLst>
                                          <p:attrName>style.visibility</p:attrName>
                                        </p:attrNameLst>
                                      </p:cBhvr>
                                      <p:to>
                                        <p:strVal val="visible"/>
                                      </p:to>
                                    </p:set>
                                    <p:animEffect transition="in" filter="wipe(left)">
                                      <p:cBhvr>
                                        <p:cTn id="32" dur="500"/>
                                        <p:tgtEl>
                                          <p:spTgt spid="6349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P spid="8" grpId="0" animBg="1" autoUpdateAnimBg="0"/>
      <p:bldP spid="9" grpId="0" animBg="1"/>
      <p:bldP spid="3" grpId="0" animBg="1"/>
      <p:bldP spid="1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2"/>
          <p:cNvGraphicFramePr>
            <a:graphicFrameLocks noGrp="1" noChangeAspect="1"/>
          </p:cNvGraphicFramePr>
          <p:nvPr>
            <p:ph idx="1"/>
          </p:nvPr>
        </p:nvGraphicFramePr>
        <p:xfrm>
          <a:off x="1116013" y="1557338"/>
          <a:ext cx="3671887" cy="2654300"/>
        </p:xfrm>
        <a:graphic>
          <a:graphicData uri="http://schemas.openxmlformats.org/presentationml/2006/ole">
            <mc:AlternateContent xmlns:mc="http://schemas.openxmlformats.org/markup-compatibility/2006">
              <mc:Choice xmlns:v="urn:schemas-microsoft-com:vml" Requires="v">
                <p:oleObj spid="_x0000_s50180" name="Photo Editor 照片" r:id="rId4" imgW="12923810" imgH="9345329" progId="">
                  <p:embed/>
                </p:oleObj>
              </mc:Choice>
              <mc:Fallback>
                <p:oleObj name="Photo Editor 照片" r:id="rId4" imgW="12923810" imgH="9345329" progId="">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557338"/>
                        <a:ext cx="3671887"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6" name="Text Box 8"/>
          <p:cNvSpPr txBox="1">
            <a:spLocks noChangeArrowheads="1"/>
          </p:cNvSpPr>
          <p:nvPr/>
        </p:nvSpPr>
        <p:spPr bwMode="auto">
          <a:xfrm>
            <a:off x="4859338" y="2205038"/>
            <a:ext cx="4038600" cy="1296987"/>
          </a:xfrm>
          <a:prstGeom prst="rect">
            <a:avLst/>
          </a:prstGeom>
          <a:noFill/>
          <a:ln w="9525">
            <a:noFill/>
            <a:miter lim="800000"/>
            <a:headEnd/>
            <a:tailEnd/>
          </a:ln>
        </p:spPr>
        <p:txBody>
          <a:bodyPr>
            <a:spAutoFit/>
          </a:bodyPr>
          <a:lstStyle/>
          <a:p>
            <a:pPr algn="ctr" eaLnBrk="1" hangingPunct="1">
              <a:lnSpc>
                <a:spcPct val="110000"/>
              </a:lnSpc>
            </a:pPr>
            <a:r>
              <a:rPr lang="en-US" altLang="zh-CN" b="1"/>
              <a:t>1</a:t>
            </a:r>
            <a:r>
              <a:rPr lang="zh-CN" altLang="en-US" b="1"/>
              <a:t>、</a:t>
            </a:r>
            <a:r>
              <a:rPr lang="en-US" altLang="zh-CN" b="1" i="1"/>
              <a:t>u</a:t>
            </a:r>
            <a:r>
              <a:rPr lang="en-US" altLang="zh-CN" b="1" baseline="-25000"/>
              <a:t>I</a:t>
            </a:r>
            <a:r>
              <a:rPr lang="en-US" altLang="zh-CN" b="1"/>
              <a:t>=10mV</a:t>
            </a:r>
            <a:r>
              <a:rPr lang="zh-CN" altLang="en-US" b="1"/>
              <a:t>，则</a:t>
            </a:r>
            <a:r>
              <a:rPr lang="en-US" altLang="zh-CN" b="1" i="1"/>
              <a:t>u</a:t>
            </a:r>
            <a:r>
              <a:rPr lang="en-US" altLang="zh-CN" b="1" baseline="-25000"/>
              <a:t>Id</a:t>
            </a:r>
            <a:r>
              <a:rPr lang="en-US" altLang="zh-CN" b="1"/>
              <a:t>=? </a:t>
            </a:r>
            <a:r>
              <a:rPr lang="en-US" altLang="zh-CN" b="1" i="1"/>
              <a:t>u</a:t>
            </a:r>
            <a:r>
              <a:rPr lang="en-US" altLang="zh-CN" b="1" baseline="-25000"/>
              <a:t>Ic</a:t>
            </a:r>
            <a:r>
              <a:rPr lang="en-US" altLang="zh-CN" b="1"/>
              <a:t>=? </a:t>
            </a:r>
          </a:p>
          <a:p>
            <a:pPr algn="ctr" eaLnBrk="1" hangingPunct="1">
              <a:lnSpc>
                <a:spcPct val="110000"/>
              </a:lnSpc>
            </a:pPr>
            <a:r>
              <a:rPr lang="en-US" altLang="zh-CN" b="1"/>
              <a:t>2</a:t>
            </a:r>
            <a:r>
              <a:rPr lang="zh-CN" altLang="en-US" b="1"/>
              <a:t>、若</a:t>
            </a:r>
            <a:r>
              <a:rPr lang="en-US" altLang="zh-CN" b="1" i="1"/>
              <a:t>A</a:t>
            </a:r>
            <a:r>
              <a:rPr lang="en-US" altLang="zh-CN" b="1" baseline="-25000"/>
              <a:t>d</a:t>
            </a:r>
            <a:r>
              <a:rPr lang="en-US" altLang="zh-CN" b="1"/>
              <a:t>=</a:t>
            </a:r>
            <a:r>
              <a:rPr lang="zh-CN" altLang="en-US" b="1"/>
              <a:t>－</a:t>
            </a:r>
            <a:r>
              <a:rPr lang="en-US" altLang="zh-CN" b="1"/>
              <a:t>10</a:t>
            </a:r>
            <a:r>
              <a:rPr lang="en-US" altLang="zh-CN" b="1" baseline="30000"/>
              <a:t>2</a:t>
            </a:r>
            <a:r>
              <a:rPr lang="zh-CN" altLang="en-US" b="1"/>
              <a:t>、</a:t>
            </a:r>
            <a:r>
              <a:rPr lang="en-US" altLang="zh-CN" b="1" i="1"/>
              <a:t>K</a:t>
            </a:r>
            <a:r>
              <a:rPr lang="en-US" altLang="zh-CN" b="1" baseline="-25000"/>
              <a:t>CMR</a:t>
            </a:r>
            <a:r>
              <a:rPr lang="zh-CN" altLang="en-US" b="1"/>
              <a:t>＝</a:t>
            </a:r>
            <a:r>
              <a:rPr lang="en-US" altLang="zh-CN" b="1"/>
              <a:t>10</a:t>
            </a:r>
            <a:r>
              <a:rPr lang="en-US" altLang="zh-CN" b="1" baseline="30000"/>
              <a:t>3</a:t>
            </a:r>
            <a:r>
              <a:rPr lang="zh-CN" altLang="en-US" b="1"/>
              <a:t>用直流表测</a:t>
            </a:r>
            <a:r>
              <a:rPr lang="en-US" altLang="zh-CN" b="1" i="1"/>
              <a:t>u</a:t>
            </a:r>
            <a:r>
              <a:rPr lang="en-US" altLang="zh-CN" b="1" baseline="-25000"/>
              <a:t>O</a:t>
            </a:r>
            <a:r>
              <a:rPr lang="en-US" altLang="zh-CN" b="1"/>
              <a:t> </a:t>
            </a:r>
            <a:r>
              <a:rPr lang="zh-CN" altLang="en-US" b="1"/>
              <a:t>，</a:t>
            </a:r>
            <a:r>
              <a:rPr lang="en-US" altLang="zh-CN" b="1" i="1"/>
              <a:t>u</a:t>
            </a:r>
            <a:r>
              <a:rPr lang="en-US" altLang="zh-CN" b="1" baseline="-25000"/>
              <a:t>O</a:t>
            </a:r>
            <a:r>
              <a:rPr lang="en-US" altLang="zh-CN" b="1"/>
              <a:t>=?</a:t>
            </a:r>
          </a:p>
        </p:txBody>
      </p:sp>
      <p:sp>
        <p:nvSpPr>
          <p:cNvPr id="65545" name="Text Box 9"/>
          <p:cNvSpPr txBox="1">
            <a:spLocks noChangeArrowheads="1"/>
          </p:cNvSpPr>
          <p:nvPr/>
        </p:nvSpPr>
        <p:spPr bwMode="auto">
          <a:xfrm>
            <a:off x="3276600" y="4437063"/>
            <a:ext cx="3200400" cy="466725"/>
          </a:xfrm>
          <a:prstGeom prst="rect">
            <a:avLst/>
          </a:prstGeom>
          <a:solidFill>
            <a:srgbClr val="66FFFF"/>
          </a:solidFill>
          <a:ln w="9525">
            <a:solidFill>
              <a:srgbClr val="FF3300"/>
            </a:solidFill>
            <a:miter lim="800000"/>
            <a:headEnd/>
            <a:tailEnd/>
          </a:ln>
        </p:spPr>
        <p:txBody>
          <a:bodyPr>
            <a:spAutoFit/>
          </a:bodyPr>
          <a:lstStyle/>
          <a:p>
            <a:pPr algn="ctr" eaLnBrk="1" hangingPunct="1">
              <a:spcBef>
                <a:spcPct val="50000"/>
              </a:spcBef>
            </a:pPr>
            <a:r>
              <a:rPr lang="en-US" altLang="zh-CN" b="1" i="1"/>
              <a:t>u</a:t>
            </a:r>
            <a:r>
              <a:rPr lang="en-US" altLang="zh-CN" b="1" baseline="-25000"/>
              <a:t>Id</a:t>
            </a:r>
            <a:r>
              <a:rPr lang="en-US" altLang="zh-CN" b="1"/>
              <a:t>=10mV </a:t>
            </a:r>
            <a:r>
              <a:rPr lang="zh-CN" altLang="en-US" b="1"/>
              <a:t>，</a:t>
            </a:r>
            <a:r>
              <a:rPr lang="en-US" altLang="zh-CN" b="1" i="1"/>
              <a:t>u</a:t>
            </a:r>
            <a:r>
              <a:rPr lang="en-US" altLang="zh-CN" b="1" baseline="-25000"/>
              <a:t>Ic</a:t>
            </a:r>
            <a:r>
              <a:rPr lang="en-US" altLang="zh-CN" b="1"/>
              <a:t>=5mV</a:t>
            </a:r>
          </a:p>
        </p:txBody>
      </p:sp>
      <p:sp>
        <p:nvSpPr>
          <p:cNvPr id="65546" name="Text Box 10"/>
          <p:cNvSpPr txBox="1">
            <a:spLocks noChangeArrowheads="1"/>
          </p:cNvSpPr>
          <p:nvPr/>
        </p:nvSpPr>
        <p:spPr bwMode="auto">
          <a:xfrm>
            <a:off x="3276600" y="5013325"/>
            <a:ext cx="3276600" cy="503238"/>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en-US" altLang="zh-CN" b="1" i="1"/>
              <a:t>u</a:t>
            </a:r>
            <a:r>
              <a:rPr lang="en-US" altLang="zh-CN" b="1" baseline="-25000"/>
              <a:t>O</a:t>
            </a:r>
            <a:r>
              <a:rPr lang="en-US" altLang="zh-CN" b="1"/>
              <a:t>= </a:t>
            </a:r>
            <a:r>
              <a:rPr lang="en-US" altLang="zh-CN" b="1" i="1"/>
              <a:t>A</a:t>
            </a:r>
            <a:r>
              <a:rPr lang="en-US" altLang="zh-CN" b="1" baseline="-25000"/>
              <a:t>d </a:t>
            </a:r>
            <a:r>
              <a:rPr lang="en-US" altLang="zh-CN" b="1" i="1"/>
              <a:t>u</a:t>
            </a:r>
            <a:r>
              <a:rPr lang="en-US" altLang="zh-CN" b="1" baseline="-25000"/>
              <a:t>Id</a:t>
            </a:r>
            <a:r>
              <a:rPr lang="en-US" altLang="zh-CN" b="1"/>
              <a:t>+ </a:t>
            </a:r>
            <a:r>
              <a:rPr lang="en-US" altLang="zh-CN" b="1" i="1"/>
              <a:t>A</a:t>
            </a:r>
            <a:r>
              <a:rPr lang="en-US" altLang="zh-CN" b="1" baseline="-25000"/>
              <a:t>c </a:t>
            </a:r>
            <a:r>
              <a:rPr lang="en-US" altLang="zh-CN" b="1" i="1"/>
              <a:t>u</a:t>
            </a:r>
            <a:r>
              <a:rPr lang="en-US" altLang="zh-CN" b="1" baseline="-25000"/>
              <a:t>Ic</a:t>
            </a:r>
            <a:r>
              <a:rPr lang="en-US" altLang="zh-CN" b="1"/>
              <a:t>+</a:t>
            </a:r>
            <a:r>
              <a:rPr lang="en-US" altLang="zh-CN" b="1" i="1"/>
              <a:t>U</a:t>
            </a:r>
            <a:r>
              <a:rPr lang="en-US" altLang="zh-CN" b="1" baseline="-25000"/>
              <a:t>CQ1</a:t>
            </a:r>
            <a:endParaRPr lang="en-US" altLang="zh-CN" b="1"/>
          </a:p>
        </p:txBody>
      </p:sp>
      <p:sp>
        <p:nvSpPr>
          <p:cNvPr id="65547" name="AutoShape 11"/>
          <p:cNvSpPr>
            <a:spLocks/>
          </p:cNvSpPr>
          <p:nvPr/>
        </p:nvSpPr>
        <p:spPr bwMode="auto">
          <a:xfrm>
            <a:off x="3708400" y="5805488"/>
            <a:ext cx="762000" cy="484187"/>
          </a:xfrm>
          <a:prstGeom prst="borderCallout1">
            <a:avLst>
              <a:gd name="adj1" fmla="val 23606"/>
              <a:gd name="adj2" fmla="val 110000"/>
              <a:gd name="adj3" fmla="val -74755"/>
              <a:gd name="adj4" fmla="val 166875"/>
            </a:avLst>
          </a:prstGeom>
          <a:solidFill>
            <a:srgbClr val="FFFFCC"/>
          </a:solidFill>
          <a:ln w="19050">
            <a:solidFill>
              <a:srgbClr val="FF3300"/>
            </a:solidFill>
            <a:miter lim="800000"/>
            <a:headEnd/>
            <a:tailEnd/>
          </a:ln>
        </p:spPr>
        <p:txBody>
          <a:bodyPr/>
          <a:lstStyle/>
          <a:p>
            <a:pPr algn="ctr" eaLnBrk="1" hangingPunct="1"/>
            <a:r>
              <a:rPr lang="en-US" altLang="zh-CN" b="1"/>
              <a:t>=?</a:t>
            </a:r>
          </a:p>
        </p:txBody>
      </p:sp>
      <p:sp>
        <p:nvSpPr>
          <p:cNvPr id="65548" name="AutoShape 12"/>
          <p:cNvSpPr>
            <a:spLocks/>
          </p:cNvSpPr>
          <p:nvPr/>
        </p:nvSpPr>
        <p:spPr bwMode="auto">
          <a:xfrm>
            <a:off x="2484438" y="5805488"/>
            <a:ext cx="762000" cy="484187"/>
          </a:xfrm>
          <a:prstGeom prst="borderCallout1">
            <a:avLst>
              <a:gd name="adj1" fmla="val 23606"/>
              <a:gd name="adj2" fmla="val 110000"/>
              <a:gd name="adj3" fmla="val -69509"/>
              <a:gd name="adj4" fmla="val 195625"/>
            </a:avLst>
          </a:prstGeom>
          <a:solidFill>
            <a:srgbClr val="FFFFCC"/>
          </a:solidFill>
          <a:ln w="19050">
            <a:solidFill>
              <a:srgbClr val="FF3300"/>
            </a:solidFill>
            <a:miter lim="800000"/>
            <a:headEnd/>
            <a:tailEnd/>
          </a:ln>
        </p:spPr>
        <p:txBody>
          <a:bodyPr/>
          <a:lstStyle/>
          <a:p>
            <a:pPr algn="ctr" eaLnBrk="1" hangingPunct="1"/>
            <a:r>
              <a:rPr lang="en-US" altLang="zh-CN" b="1"/>
              <a:t>=?</a:t>
            </a:r>
          </a:p>
        </p:txBody>
      </p:sp>
      <p:sp>
        <p:nvSpPr>
          <p:cNvPr id="65549" name="AutoShape 13"/>
          <p:cNvSpPr>
            <a:spLocks/>
          </p:cNvSpPr>
          <p:nvPr/>
        </p:nvSpPr>
        <p:spPr bwMode="auto">
          <a:xfrm>
            <a:off x="4787900" y="5805488"/>
            <a:ext cx="762000" cy="484187"/>
          </a:xfrm>
          <a:prstGeom prst="borderCallout1">
            <a:avLst>
              <a:gd name="adj1" fmla="val 23606"/>
              <a:gd name="adj2" fmla="val 110000"/>
              <a:gd name="adj3" fmla="val -77051"/>
              <a:gd name="adj4" fmla="val 164583"/>
            </a:avLst>
          </a:prstGeom>
          <a:solidFill>
            <a:srgbClr val="FFFFCC"/>
          </a:solidFill>
          <a:ln w="19050">
            <a:solidFill>
              <a:srgbClr val="FF3300"/>
            </a:solidFill>
            <a:miter lim="800000"/>
            <a:headEnd/>
            <a:tailEnd/>
          </a:ln>
        </p:spPr>
        <p:txBody>
          <a:bodyPr/>
          <a:lstStyle/>
          <a:p>
            <a:pPr algn="ctr" eaLnBrk="1" hangingPunct="1"/>
            <a:r>
              <a:rPr lang="en-US" altLang="zh-CN" b="1"/>
              <a:t>=?</a:t>
            </a:r>
          </a:p>
        </p:txBody>
      </p:sp>
      <p:sp>
        <p:nvSpPr>
          <p:cNvPr id="64522" name="Rectangle 15"/>
          <p:cNvSpPr>
            <a:spLocks noGrp="1" noChangeArrowheads="1"/>
          </p:cNvSpPr>
          <p:nvPr>
            <p:ph type="title"/>
          </p:nvPr>
        </p:nvSpPr>
        <p:spPr>
          <a:xfrm>
            <a:off x="395288" y="981075"/>
            <a:ext cx="2027237" cy="706438"/>
          </a:xfrm>
        </p:spPr>
        <p:txBody>
          <a:bodyPr/>
          <a:lstStyle/>
          <a:p>
            <a:pPr algn="l"/>
            <a:r>
              <a:rPr lang="zh-CN" altLang="en-US" sz="3600" b="1">
                <a:solidFill>
                  <a:schemeClr val="tx1"/>
                </a:solidFill>
                <a:ea typeface="华文行楷" pitchFamily="2" charset="-122"/>
              </a:rPr>
              <a:t>讨论二</a:t>
            </a:r>
          </a:p>
        </p:txBody>
      </p:sp>
      <p:graphicFrame>
        <p:nvGraphicFramePr>
          <p:cNvPr id="59402" name="Object 10"/>
          <p:cNvGraphicFramePr>
            <a:graphicFrameLocks noChangeAspect="1"/>
          </p:cNvGraphicFramePr>
          <p:nvPr/>
        </p:nvGraphicFramePr>
        <p:xfrm>
          <a:off x="4862513" y="0"/>
          <a:ext cx="4281487" cy="920750"/>
        </p:xfrm>
        <a:graphic>
          <a:graphicData uri="http://schemas.openxmlformats.org/presentationml/2006/ole">
            <mc:AlternateContent xmlns:mc="http://schemas.openxmlformats.org/markup-compatibility/2006">
              <mc:Choice xmlns:v="urn:schemas-microsoft-com:vml" Requires="v">
                <p:oleObj spid="_x0000_s50181" name="公式" r:id="rId6" imgW="57302400" imgH="10668000" progId="Equation.3">
                  <p:embed/>
                </p:oleObj>
              </mc:Choice>
              <mc:Fallback>
                <p:oleObj name="公式" r:id="rId6" imgW="57302400" imgH="106680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2513" y="0"/>
                        <a:ext cx="4281487" cy="920750"/>
                      </a:xfrm>
                      <a:prstGeom prst="rect">
                        <a:avLst/>
                      </a:prstGeom>
                      <a:solidFill>
                        <a:srgbClr val="66FFFF"/>
                      </a:solidFill>
                      <a:ln w="9525">
                        <a:solidFill>
                          <a:srgbClr val="FF3300"/>
                        </a:solidFill>
                        <a:miter lim="800000"/>
                        <a:headEnd/>
                        <a:tailEnd/>
                      </a:ln>
                    </p:spPr>
                  </p:pic>
                </p:oleObj>
              </mc:Fallback>
            </mc:AlternateContent>
          </a:graphicData>
        </a:graphic>
      </p:graphicFrame>
      <p:sp>
        <p:nvSpPr>
          <p:cNvPr id="2" name="文本框 1"/>
          <p:cNvSpPr txBox="1"/>
          <p:nvPr/>
        </p:nvSpPr>
        <p:spPr>
          <a:xfrm>
            <a:off x="976313" y="519113"/>
            <a:ext cx="1508125" cy="461962"/>
          </a:xfrm>
          <a:prstGeom prst="rect">
            <a:avLst/>
          </a:prstGeom>
          <a:solidFill>
            <a:schemeClr val="accent5"/>
          </a:solidFill>
        </p:spPr>
        <p:txBody>
          <a:bodyPr>
            <a:spAutoFit/>
          </a:bodyPr>
          <a:lstStyle/>
          <a:p>
            <a:pPr>
              <a:defRPr/>
            </a:pPr>
            <a:r>
              <a:rPr lang="zh-CN" altLang="en-US" dirty="0"/>
              <a:t>单入单出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45"/>
                                        </p:tgtEl>
                                        <p:attrNameLst>
                                          <p:attrName>style.visibility</p:attrName>
                                        </p:attrNameLst>
                                      </p:cBhvr>
                                      <p:to>
                                        <p:strVal val="visible"/>
                                      </p:to>
                                    </p:set>
                                    <p:animEffect transition="in" filter="wipe(left)">
                                      <p:cBhvr>
                                        <p:cTn id="7" dur="500"/>
                                        <p:tgtEl>
                                          <p:spTgt spid="655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46"/>
                                        </p:tgtEl>
                                        <p:attrNameLst>
                                          <p:attrName>style.visibility</p:attrName>
                                        </p:attrNameLst>
                                      </p:cBhvr>
                                      <p:to>
                                        <p:strVal val="visible"/>
                                      </p:to>
                                    </p:set>
                                    <p:animEffect transition="in" filter="wipe(left)">
                                      <p:cBhvr>
                                        <p:cTn id="12" dur="500"/>
                                        <p:tgtEl>
                                          <p:spTgt spid="655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5547"/>
                                        </p:tgtEl>
                                        <p:attrNameLst>
                                          <p:attrName>style.visibility</p:attrName>
                                        </p:attrNameLst>
                                      </p:cBhvr>
                                      <p:to>
                                        <p:strVal val="visible"/>
                                      </p:to>
                                    </p:set>
                                    <p:animEffect transition="in" filter="wipe(up)">
                                      <p:cBhvr>
                                        <p:cTn id="17" dur="500"/>
                                        <p:tgtEl>
                                          <p:spTgt spid="6554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65548"/>
                                        </p:tgtEl>
                                        <p:attrNameLst>
                                          <p:attrName>style.visibility</p:attrName>
                                        </p:attrNameLst>
                                      </p:cBhvr>
                                      <p:to>
                                        <p:strVal val="visible"/>
                                      </p:to>
                                    </p:set>
                                    <p:animEffect transition="in" filter="wipe(up)">
                                      <p:cBhvr>
                                        <p:cTn id="20" dur="500"/>
                                        <p:tgtEl>
                                          <p:spTgt spid="65548"/>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65549"/>
                                        </p:tgtEl>
                                        <p:attrNameLst>
                                          <p:attrName>style.visibility</p:attrName>
                                        </p:attrNameLst>
                                      </p:cBhvr>
                                      <p:to>
                                        <p:strVal val="visible"/>
                                      </p:to>
                                    </p:set>
                                    <p:animEffect transition="in" filter="wipe(up)">
                                      <p:cBhvr>
                                        <p:cTn id="23" dur="500"/>
                                        <p:tgtEl>
                                          <p:spTgt spid="6554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9402"/>
                                        </p:tgtEl>
                                        <p:attrNameLst>
                                          <p:attrName>style.visibility</p:attrName>
                                        </p:attrNameLst>
                                      </p:cBhvr>
                                      <p:to>
                                        <p:strVal val="visible"/>
                                      </p:to>
                                    </p:set>
                                    <p:animEffect transition="in" filter="wipe(left)">
                                      <p:cBhvr>
                                        <p:cTn id="28" dur="500"/>
                                        <p:tgtEl>
                                          <p:spTgt spid="5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5" grpId="0" animBg="1" autoUpdateAnimBg="0"/>
      <p:bldP spid="65546" grpId="0" animBg="1" autoUpdateAnimBg="0"/>
      <p:bldP spid="65547" grpId="0" animBg="1"/>
      <p:bldP spid="65548" grpId="0" animBg="1"/>
      <p:bldP spid="6554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灯片编号占位符 4"/>
          <p:cNvSpPr>
            <a:spLocks noGrp="1" noChangeArrowheads="1"/>
          </p:cNvSpPr>
          <p:nvPr>
            <p:ph type="sldNum" sz="quarter" idx="12"/>
          </p:nvPr>
        </p:nvSpPr>
        <p:spPr>
          <a:noFill/>
          <a:ln>
            <a:miter lim="800000"/>
            <a:headEnd/>
            <a:tailEnd/>
          </a:ln>
        </p:spPr>
        <p:txBody>
          <a:bodyPr/>
          <a:lstStyle/>
          <a:p>
            <a:r>
              <a:rPr lang="zh-CN" altLang="en-US"/>
              <a:t>第</a:t>
            </a:r>
            <a:fld id="{A36667D4-0728-4F4D-BD6B-2033279777CD}" type="slidenum">
              <a:rPr lang="zh-CN" altLang="en-US"/>
              <a:pPr/>
              <a:t>89</a:t>
            </a:fld>
            <a:r>
              <a:rPr lang="zh-CN" altLang="en-US"/>
              <a:t>页</a:t>
            </a:r>
          </a:p>
        </p:txBody>
      </p:sp>
      <p:sp>
        <p:nvSpPr>
          <p:cNvPr id="65540" name="Text Box 2"/>
          <p:cNvSpPr txBox="1">
            <a:spLocks noChangeArrowheads="1"/>
          </p:cNvSpPr>
          <p:nvPr/>
        </p:nvSpPr>
        <p:spPr bwMode="auto">
          <a:xfrm>
            <a:off x="0" y="328613"/>
            <a:ext cx="8642350" cy="2216150"/>
          </a:xfrm>
          <a:prstGeom prst="rect">
            <a:avLst/>
          </a:prstGeom>
          <a:solidFill>
            <a:schemeClr val="bg1"/>
          </a:solidFill>
          <a:ln w="9525">
            <a:noFill/>
            <a:miter lim="800000"/>
            <a:headEnd/>
            <a:tailEnd/>
          </a:ln>
        </p:spPr>
        <p:txBody>
          <a:bodyPr>
            <a:spAutoFit/>
          </a:bodyPr>
          <a:lstStyle/>
          <a:p>
            <a:pPr eaLnBrk="1" hangingPunct="1">
              <a:lnSpc>
                <a:spcPct val="110000"/>
              </a:lnSpc>
              <a:spcBef>
                <a:spcPct val="10000"/>
              </a:spcBef>
            </a:pPr>
            <a:r>
              <a:rPr lang="en-US" altLang="zh-CN" sz="2000" b="1">
                <a:solidFill>
                  <a:srgbClr val="0000FF"/>
                </a:solidFill>
                <a:ea typeface="楷体_GB2312" pitchFamily="49" charset="-122"/>
              </a:rPr>
              <a:t>【</a:t>
            </a:r>
            <a:r>
              <a:rPr lang="zh-CN" altLang="en-US" sz="2000" b="1">
                <a:solidFill>
                  <a:srgbClr val="0000FF"/>
                </a:solidFill>
                <a:ea typeface="楷体_GB2312" pitchFamily="49" charset="-122"/>
              </a:rPr>
              <a:t>例</a:t>
            </a:r>
            <a:r>
              <a:rPr lang="en-US" altLang="zh-CN" sz="2000" b="1">
                <a:solidFill>
                  <a:srgbClr val="0000FF"/>
                </a:solidFill>
                <a:ea typeface="楷体_GB2312" pitchFamily="49" charset="-122"/>
              </a:rPr>
              <a:t>1】</a:t>
            </a:r>
            <a:r>
              <a:rPr lang="zh-CN" altLang="en-US" sz="2000" b="1">
                <a:ea typeface="楷体_GB2312" pitchFamily="49" charset="-122"/>
              </a:rPr>
              <a:t>已知</a:t>
            </a:r>
            <a:r>
              <a:rPr lang="en-US" altLang="zh-CN" sz="2000" b="1">
                <a:ea typeface="楷体_GB2312" pitchFamily="49" charset="-122"/>
              </a:rPr>
              <a:t>R</a:t>
            </a:r>
            <a:r>
              <a:rPr lang="en-US" altLang="zh-CN" sz="2000" b="1" baseline="-25000">
                <a:ea typeface="楷体_GB2312" pitchFamily="49" charset="-122"/>
              </a:rPr>
              <a:t>b</a:t>
            </a:r>
            <a:r>
              <a:rPr lang="en-US" altLang="zh-CN" sz="2000" b="1">
                <a:ea typeface="楷体_GB2312" pitchFamily="49" charset="-122"/>
              </a:rPr>
              <a:t>=1k</a:t>
            </a:r>
            <a:r>
              <a:rPr lang="el-GR" altLang="zh-CN" sz="2000" b="1">
                <a:ea typeface="楷体_GB2312" pitchFamily="49" charset="-122"/>
                <a:cs typeface="Arial" pitchFamily="34" charset="0"/>
              </a:rPr>
              <a:t>Ω</a:t>
            </a:r>
            <a:r>
              <a:rPr lang="zh-CN" altLang="en-US" sz="2000" b="1">
                <a:ea typeface="楷体_GB2312" pitchFamily="49" charset="-122"/>
                <a:cs typeface="Arial" pitchFamily="34" charset="0"/>
              </a:rPr>
              <a:t>，</a:t>
            </a:r>
            <a:r>
              <a:rPr lang="en-US" altLang="zh-CN" sz="2000" b="1">
                <a:ea typeface="楷体_GB2312" pitchFamily="49" charset="-122"/>
                <a:cs typeface="Arial" pitchFamily="34" charset="0"/>
              </a:rPr>
              <a:t>R</a:t>
            </a:r>
            <a:r>
              <a:rPr lang="en-US" altLang="zh-CN" sz="2000" b="1" baseline="-25000">
                <a:ea typeface="楷体_GB2312" pitchFamily="49" charset="-122"/>
                <a:cs typeface="Arial" pitchFamily="34" charset="0"/>
              </a:rPr>
              <a:t>C</a:t>
            </a:r>
            <a:r>
              <a:rPr lang="en-US" altLang="zh-CN" sz="2000" b="1">
                <a:ea typeface="楷体_GB2312" pitchFamily="49" charset="-122"/>
                <a:cs typeface="Arial" pitchFamily="34" charset="0"/>
              </a:rPr>
              <a:t>=10 </a:t>
            </a:r>
            <a:r>
              <a:rPr lang="en-US" altLang="zh-CN" sz="2000" b="1">
                <a:ea typeface="楷体_GB2312" pitchFamily="49" charset="-122"/>
              </a:rPr>
              <a:t>k</a:t>
            </a:r>
            <a:r>
              <a:rPr lang="el-GR" altLang="zh-CN" sz="2000" b="1">
                <a:ea typeface="楷体_GB2312" pitchFamily="49" charset="-122"/>
              </a:rPr>
              <a:t>Ω</a:t>
            </a:r>
            <a:r>
              <a:rPr lang="zh-CN" altLang="en-US" sz="2000" b="1">
                <a:ea typeface="楷体_GB2312" pitchFamily="49" charset="-122"/>
              </a:rPr>
              <a:t>，</a:t>
            </a:r>
            <a:r>
              <a:rPr lang="en-US" altLang="zh-CN" sz="2000" b="1">
                <a:ea typeface="楷体_GB2312" pitchFamily="49" charset="-122"/>
              </a:rPr>
              <a:t>R</a:t>
            </a:r>
            <a:r>
              <a:rPr lang="en-US" altLang="zh-CN" sz="2000" b="1" baseline="-25000">
                <a:ea typeface="楷体_GB2312" pitchFamily="49" charset="-122"/>
              </a:rPr>
              <a:t>L</a:t>
            </a:r>
            <a:r>
              <a:rPr lang="en-US" altLang="zh-CN" sz="2000" b="1">
                <a:ea typeface="楷体_GB2312" pitchFamily="49" charset="-122"/>
              </a:rPr>
              <a:t>=5.1 k</a:t>
            </a:r>
            <a:r>
              <a:rPr lang="el-GR" altLang="zh-CN" sz="2000" b="1">
                <a:ea typeface="楷体_GB2312" pitchFamily="49" charset="-122"/>
              </a:rPr>
              <a:t>Ω</a:t>
            </a:r>
            <a:r>
              <a:rPr lang="zh-CN" altLang="en-US" sz="2000" b="1">
                <a:ea typeface="楷体_GB2312" pitchFamily="49" charset="-122"/>
              </a:rPr>
              <a:t>，</a:t>
            </a:r>
            <a:r>
              <a:rPr lang="en-US" altLang="zh-CN" sz="2000" b="1">
                <a:ea typeface="楷体_GB2312" pitchFamily="49" charset="-122"/>
              </a:rPr>
              <a:t>V</a:t>
            </a:r>
            <a:r>
              <a:rPr lang="en-US" altLang="zh-CN" sz="2000" b="1" baseline="-25000">
                <a:ea typeface="楷体_GB2312" pitchFamily="49" charset="-122"/>
              </a:rPr>
              <a:t>CC</a:t>
            </a:r>
            <a:r>
              <a:rPr lang="en-US" altLang="zh-CN" sz="2000" b="1">
                <a:ea typeface="楷体_GB2312" pitchFamily="49" charset="-122"/>
              </a:rPr>
              <a:t>=12V</a:t>
            </a:r>
            <a:r>
              <a:rPr lang="zh-CN" altLang="en-US" sz="2000" b="1">
                <a:ea typeface="楷体_GB2312" pitchFamily="49" charset="-122"/>
              </a:rPr>
              <a:t>，</a:t>
            </a:r>
            <a:r>
              <a:rPr lang="en-US" altLang="zh-CN" sz="2000" b="1">
                <a:ea typeface="楷体_GB2312" pitchFamily="49" charset="-122"/>
              </a:rPr>
              <a:t>V</a:t>
            </a:r>
            <a:r>
              <a:rPr lang="en-US" altLang="zh-CN" sz="2000" b="1" baseline="-25000">
                <a:ea typeface="楷体_GB2312" pitchFamily="49" charset="-122"/>
              </a:rPr>
              <a:t>EE</a:t>
            </a:r>
            <a:r>
              <a:rPr lang="en-US" altLang="zh-CN" sz="2000" b="1">
                <a:ea typeface="楷体_GB2312" pitchFamily="49" charset="-122"/>
              </a:rPr>
              <a:t>=-6V;</a:t>
            </a:r>
            <a:r>
              <a:rPr lang="zh-CN" altLang="en-US" sz="2000" b="1">
                <a:ea typeface="楷体_GB2312" pitchFamily="49" charset="-122"/>
              </a:rPr>
              <a:t>晶体管的</a:t>
            </a:r>
            <a:r>
              <a:rPr lang="el-GR" altLang="zh-CN" sz="2000" b="1">
                <a:ea typeface="楷体_GB2312" pitchFamily="49" charset="-122"/>
              </a:rPr>
              <a:t>β</a:t>
            </a:r>
            <a:r>
              <a:rPr lang="en-US" altLang="zh-CN" sz="2000" b="1">
                <a:ea typeface="楷体_GB2312" pitchFamily="49" charset="-122"/>
              </a:rPr>
              <a:t>=100</a:t>
            </a:r>
            <a:r>
              <a:rPr lang="zh-CN" altLang="en-US" sz="2000" b="1">
                <a:ea typeface="楷体_GB2312" pitchFamily="49" charset="-122"/>
              </a:rPr>
              <a:t>，</a:t>
            </a:r>
            <a:r>
              <a:rPr lang="en-US" altLang="zh-CN" sz="2000" b="1">
                <a:ea typeface="楷体_GB2312" pitchFamily="49" charset="-122"/>
              </a:rPr>
              <a:t>r</a:t>
            </a:r>
            <a:r>
              <a:rPr lang="en-US" altLang="zh-CN" sz="2000" b="1" baseline="-25000">
                <a:ea typeface="楷体_GB2312" pitchFamily="49" charset="-122"/>
              </a:rPr>
              <a:t>be</a:t>
            </a:r>
            <a:r>
              <a:rPr lang="en-US" altLang="zh-CN" sz="2000" b="1">
                <a:ea typeface="楷体_GB2312" pitchFamily="49" charset="-122"/>
              </a:rPr>
              <a:t>=2 k</a:t>
            </a:r>
            <a:r>
              <a:rPr lang="el-GR" altLang="zh-CN" sz="2000" b="1">
                <a:ea typeface="楷体_GB2312" pitchFamily="49" charset="-122"/>
              </a:rPr>
              <a:t>Ω</a:t>
            </a:r>
            <a:r>
              <a:rPr lang="zh-CN" altLang="en-US" sz="2000" b="1">
                <a:ea typeface="楷体_GB2312" pitchFamily="49" charset="-122"/>
              </a:rPr>
              <a:t>，</a:t>
            </a:r>
            <a:r>
              <a:rPr lang="en-US" altLang="zh-CN" sz="2000" b="1">
                <a:ea typeface="楷体_GB2312" pitchFamily="49" charset="-122"/>
              </a:rPr>
              <a:t>U</a:t>
            </a:r>
            <a:r>
              <a:rPr lang="en-US" altLang="zh-CN" sz="2000" b="1" baseline="-25000">
                <a:ea typeface="楷体_GB2312" pitchFamily="49" charset="-122"/>
              </a:rPr>
              <a:t>BEQ</a:t>
            </a:r>
            <a:r>
              <a:rPr lang="en-US" altLang="zh-CN" sz="2000" b="1">
                <a:ea typeface="楷体_GB2312" pitchFamily="49" charset="-122"/>
              </a:rPr>
              <a:t>=0.7V</a:t>
            </a:r>
            <a:r>
              <a:rPr lang="zh-CN" altLang="en-US" sz="2000" b="1">
                <a:ea typeface="楷体_GB2312" pitchFamily="49" charset="-122"/>
              </a:rPr>
              <a:t>；</a:t>
            </a:r>
            <a:r>
              <a:rPr lang="en-US" altLang="zh-CN" sz="2000" b="1">
                <a:ea typeface="楷体_GB2312" pitchFamily="49" charset="-122"/>
              </a:rPr>
              <a:t>T</a:t>
            </a:r>
            <a:r>
              <a:rPr lang="en-US" altLang="zh-CN" sz="2000" b="1" baseline="-25000">
                <a:ea typeface="楷体_GB2312" pitchFamily="49" charset="-122"/>
              </a:rPr>
              <a:t>1</a:t>
            </a:r>
            <a:r>
              <a:rPr lang="zh-CN" altLang="en-US" sz="2000" b="1">
                <a:ea typeface="楷体_GB2312" pitchFamily="49" charset="-122"/>
              </a:rPr>
              <a:t>和</a:t>
            </a:r>
            <a:r>
              <a:rPr lang="en-US" altLang="zh-CN" sz="2000" b="1">
                <a:ea typeface="楷体_GB2312" pitchFamily="49" charset="-122"/>
              </a:rPr>
              <a:t>T</a:t>
            </a:r>
            <a:r>
              <a:rPr lang="en-US" altLang="zh-CN" sz="2000" b="1" baseline="-25000">
                <a:ea typeface="楷体_GB2312" pitchFamily="49" charset="-122"/>
              </a:rPr>
              <a:t>2</a:t>
            </a:r>
            <a:r>
              <a:rPr lang="zh-CN" altLang="en-US" sz="2000" b="1">
                <a:ea typeface="楷体_GB2312" pitchFamily="49" charset="-122"/>
              </a:rPr>
              <a:t>的发射极静态电流均为</a:t>
            </a:r>
            <a:r>
              <a:rPr lang="en-US" altLang="zh-CN" sz="2000" b="1">
                <a:ea typeface="楷体_GB2312" pitchFamily="49" charset="-122"/>
              </a:rPr>
              <a:t>0.5mA</a:t>
            </a:r>
            <a:r>
              <a:rPr lang="zh-CN" altLang="en-US" sz="2000" b="1">
                <a:ea typeface="楷体_GB2312" pitchFamily="49" charset="-122"/>
              </a:rPr>
              <a:t>。</a:t>
            </a:r>
          </a:p>
          <a:p>
            <a:pPr eaLnBrk="1" hangingPunct="1">
              <a:lnSpc>
                <a:spcPct val="110000"/>
              </a:lnSpc>
              <a:spcBef>
                <a:spcPct val="10000"/>
              </a:spcBef>
            </a:pPr>
            <a:r>
              <a:rPr lang="zh-CN" altLang="en-US" sz="2000" b="1">
                <a:ea typeface="楷体_GB2312" pitchFamily="49" charset="-122"/>
              </a:rPr>
              <a:t>（</a:t>
            </a:r>
            <a:r>
              <a:rPr lang="en-US" altLang="zh-CN" sz="2000" b="1">
                <a:ea typeface="楷体_GB2312" pitchFamily="49" charset="-122"/>
              </a:rPr>
              <a:t>1</a:t>
            </a:r>
            <a:r>
              <a:rPr lang="zh-CN" altLang="en-US" sz="2000" b="1">
                <a:ea typeface="楷体_GB2312" pitchFamily="49" charset="-122"/>
              </a:rPr>
              <a:t>）</a:t>
            </a:r>
            <a:r>
              <a:rPr lang="en-US" altLang="zh-CN" sz="2000" b="1">
                <a:ea typeface="楷体_GB2312" pitchFamily="49" charset="-122"/>
              </a:rPr>
              <a:t>R</a:t>
            </a:r>
            <a:r>
              <a:rPr lang="en-US" altLang="zh-CN" sz="2000" b="1" baseline="-25000">
                <a:ea typeface="楷体_GB2312" pitchFamily="49" charset="-122"/>
              </a:rPr>
              <a:t>e </a:t>
            </a:r>
            <a:r>
              <a:rPr lang="zh-CN" altLang="en-US" sz="2000" b="1">
                <a:ea typeface="楷体_GB2312" pitchFamily="49" charset="-122"/>
              </a:rPr>
              <a:t>的取值应为多少？</a:t>
            </a:r>
            <a:r>
              <a:rPr lang="en-US" altLang="zh-CN" sz="2000" b="1">
                <a:ea typeface="楷体_GB2312" pitchFamily="49" charset="-122"/>
              </a:rPr>
              <a:t>T</a:t>
            </a:r>
            <a:r>
              <a:rPr lang="en-US" altLang="zh-CN" sz="2000" b="1" baseline="-25000">
                <a:ea typeface="楷体_GB2312" pitchFamily="49" charset="-122"/>
              </a:rPr>
              <a:t>1</a:t>
            </a:r>
            <a:r>
              <a:rPr lang="zh-CN" altLang="en-US" sz="2000" b="1">
                <a:ea typeface="楷体_GB2312" pitchFamily="49" charset="-122"/>
              </a:rPr>
              <a:t>和</a:t>
            </a:r>
            <a:r>
              <a:rPr lang="en-US" altLang="zh-CN" sz="2000" b="1">
                <a:ea typeface="楷体_GB2312" pitchFamily="49" charset="-122"/>
              </a:rPr>
              <a:t>T</a:t>
            </a:r>
            <a:r>
              <a:rPr lang="en-US" altLang="zh-CN" sz="2000" b="1" baseline="-25000">
                <a:ea typeface="楷体_GB2312" pitchFamily="49" charset="-122"/>
              </a:rPr>
              <a:t>2</a:t>
            </a:r>
            <a:r>
              <a:rPr lang="zh-CN" altLang="en-US" sz="2000" b="1">
                <a:ea typeface="楷体_GB2312" pitchFamily="49" charset="-122"/>
              </a:rPr>
              <a:t>管的管压降</a:t>
            </a:r>
            <a:r>
              <a:rPr lang="en-US" altLang="zh-CN" sz="2000" b="1">
                <a:ea typeface="楷体_GB2312" pitchFamily="49" charset="-122"/>
              </a:rPr>
              <a:t>U</a:t>
            </a:r>
            <a:r>
              <a:rPr lang="en-US" altLang="zh-CN" sz="2000" b="1" baseline="-25000">
                <a:ea typeface="楷体_GB2312" pitchFamily="49" charset="-122"/>
              </a:rPr>
              <a:t>CEQ</a:t>
            </a:r>
            <a:r>
              <a:rPr lang="zh-CN" altLang="en-US" sz="2000" b="1">
                <a:ea typeface="楷体_GB2312" pitchFamily="49" charset="-122"/>
              </a:rPr>
              <a:t>等于多少？</a:t>
            </a:r>
          </a:p>
          <a:p>
            <a:pPr eaLnBrk="1" hangingPunct="1">
              <a:lnSpc>
                <a:spcPct val="110000"/>
              </a:lnSpc>
              <a:spcBef>
                <a:spcPct val="10000"/>
              </a:spcBef>
            </a:pPr>
            <a:r>
              <a:rPr lang="zh-CN" altLang="en-US" sz="2000" b="1">
                <a:ea typeface="楷体_GB2312" pitchFamily="49" charset="-122"/>
              </a:rPr>
              <a:t>（</a:t>
            </a:r>
            <a:r>
              <a:rPr lang="en-US" altLang="zh-CN" sz="2000" b="1">
                <a:ea typeface="楷体_GB2312" pitchFamily="49" charset="-122"/>
              </a:rPr>
              <a:t>2</a:t>
            </a:r>
            <a:r>
              <a:rPr lang="zh-CN" altLang="en-US" sz="2000" b="1">
                <a:ea typeface="楷体_GB2312" pitchFamily="49" charset="-122"/>
              </a:rPr>
              <a:t>）计算</a:t>
            </a:r>
            <a:r>
              <a:rPr lang="en-US" altLang="zh-CN" sz="2000" b="1">
                <a:ea typeface="楷体_GB2312" pitchFamily="49" charset="-122"/>
              </a:rPr>
              <a:t>A</a:t>
            </a:r>
            <a:r>
              <a:rPr lang="en-US" altLang="zh-CN" sz="2000" b="1" baseline="-25000">
                <a:ea typeface="楷体_GB2312" pitchFamily="49" charset="-122"/>
              </a:rPr>
              <a:t>u</a:t>
            </a:r>
            <a:r>
              <a:rPr lang="en-US" altLang="zh-CN" sz="2000" b="1">
                <a:ea typeface="楷体_GB2312" pitchFamily="49" charset="-122"/>
              </a:rPr>
              <a:t>(A</a:t>
            </a:r>
            <a:r>
              <a:rPr lang="en-US" altLang="zh-CN" sz="2000" b="1" baseline="-25000">
                <a:ea typeface="楷体_GB2312" pitchFamily="49" charset="-122"/>
              </a:rPr>
              <a:t>d</a:t>
            </a:r>
            <a:r>
              <a:rPr lang="en-US" altLang="zh-CN" sz="2000" b="1">
                <a:ea typeface="楷体_GB2312" pitchFamily="49" charset="-122"/>
              </a:rPr>
              <a:t>)</a:t>
            </a:r>
            <a:r>
              <a:rPr lang="zh-CN" altLang="en-US" sz="2000" b="1">
                <a:ea typeface="楷体_GB2312" pitchFamily="49" charset="-122"/>
              </a:rPr>
              <a:t>、</a:t>
            </a:r>
            <a:r>
              <a:rPr lang="en-US" altLang="zh-CN" sz="2000" b="1">
                <a:ea typeface="楷体_GB2312" pitchFamily="49" charset="-122"/>
              </a:rPr>
              <a:t>R</a:t>
            </a:r>
            <a:r>
              <a:rPr lang="en-US" altLang="zh-CN" sz="2000" b="1" baseline="-25000">
                <a:ea typeface="楷体_GB2312" pitchFamily="49" charset="-122"/>
              </a:rPr>
              <a:t>i</a:t>
            </a:r>
            <a:r>
              <a:rPr lang="zh-CN" altLang="en-US" sz="2000" b="1">
                <a:ea typeface="楷体_GB2312" pitchFamily="49" charset="-122"/>
              </a:rPr>
              <a:t>和</a:t>
            </a:r>
            <a:r>
              <a:rPr lang="en-US" altLang="zh-CN" sz="2000" b="1">
                <a:ea typeface="楷体_GB2312" pitchFamily="49" charset="-122"/>
              </a:rPr>
              <a:t>R</a:t>
            </a:r>
            <a:r>
              <a:rPr lang="en-US" altLang="zh-CN" sz="2000" b="1" baseline="-25000">
                <a:ea typeface="楷体_GB2312" pitchFamily="49" charset="-122"/>
              </a:rPr>
              <a:t>o</a:t>
            </a:r>
            <a:r>
              <a:rPr lang="zh-CN" altLang="en-US" sz="2000" b="1">
                <a:ea typeface="楷体_GB2312" pitchFamily="49" charset="-122"/>
              </a:rPr>
              <a:t>；</a:t>
            </a:r>
          </a:p>
          <a:p>
            <a:pPr eaLnBrk="1" hangingPunct="1">
              <a:lnSpc>
                <a:spcPct val="110000"/>
              </a:lnSpc>
              <a:spcBef>
                <a:spcPct val="10000"/>
              </a:spcBef>
            </a:pPr>
            <a:r>
              <a:rPr lang="zh-CN" altLang="en-US" sz="2000" b="1">
                <a:ea typeface="楷体_GB2312" pitchFamily="49" charset="-122"/>
              </a:rPr>
              <a:t>（</a:t>
            </a:r>
            <a:r>
              <a:rPr lang="en-US" altLang="zh-CN" sz="2000" b="1">
                <a:ea typeface="楷体_GB2312" pitchFamily="49" charset="-122"/>
              </a:rPr>
              <a:t>3</a:t>
            </a:r>
            <a:r>
              <a:rPr lang="zh-CN" altLang="en-US" sz="2000" b="1">
                <a:ea typeface="楷体_GB2312" pitchFamily="49" charset="-122"/>
              </a:rPr>
              <a:t>）若将电路改成单端输出，用直流表测得输出电压</a:t>
            </a:r>
            <a:r>
              <a:rPr lang="en-US" altLang="zh-CN" sz="2000" b="1">
                <a:ea typeface="楷体_GB2312" pitchFamily="49" charset="-122"/>
              </a:rPr>
              <a:t>u</a:t>
            </a:r>
            <a:r>
              <a:rPr lang="en-US" altLang="zh-CN" sz="2000" b="1" baseline="-25000">
                <a:ea typeface="楷体_GB2312" pitchFamily="49" charset="-122"/>
              </a:rPr>
              <a:t>o</a:t>
            </a:r>
            <a:r>
              <a:rPr lang="en-US" altLang="zh-CN" sz="2000" b="1">
                <a:ea typeface="楷体_GB2312" pitchFamily="49" charset="-122"/>
              </a:rPr>
              <a:t>=3V</a:t>
            </a:r>
            <a:r>
              <a:rPr lang="zh-CN" altLang="en-US" sz="2000" b="1">
                <a:ea typeface="楷体_GB2312" pitchFamily="49" charset="-122"/>
              </a:rPr>
              <a:t>，试问输入电压</a:t>
            </a:r>
            <a:r>
              <a:rPr lang="en-US" altLang="zh-CN" sz="2000" b="1">
                <a:ea typeface="楷体_GB2312" pitchFamily="49" charset="-122"/>
              </a:rPr>
              <a:t>u</a:t>
            </a:r>
            <a:r>
              <a:rPr lang="en-US" altLang="zh-CN" sz="2000" b="1" baseline="-25000">
                <a:ea typeface="楷体_GB2312" pitchFamily="49" charset="-122"/>
              </a:rPr>
              <a:t>i</a:t>
            </a:r>
            <a:r>
              <a:rPr lang="zh-CN" altLang="en-US" sz="2000" b="1">
                <a:ea typeface="楷体_GB2312" pitchFamily="49" charset="-122"/>
              </a:rPr>
              <a:t>约为多少？</a:t>
            </a:r>
            <a:r>
              <a:rPr lang="zh-CN" altLang="en-US" sz="2000" b="1">
                <a:solidFill>
                  <a:srgbClr val="0000FF"/>
                </a:solidFill>
                <a:ea typeface="楷体_GB2312" pitchFamily="49" charset="-122"/>
              </a:rPr>
              <a:t>设共模电压可忽略不计</a:t>
            </a:r>
            <a:r>
              <a:rPr lang="zh-CN" altLang="en-US" sz="2000" b="1">
                <a:ea typeface="楷体_GB2312" pitchFamily="49" charset="-122"/>
              </a:rPr>
              <a:t>。</a:t>
            </a:r>
            <a:endParaRPr lang="zh-CN" altLang="el-GR" sz="2000" b="1">
              <a:ea typeface="楷体_GB2312" pitchFamily="49" charset="-122"/>
            </a:endParaRPr>
          </a:p>
        </p:txBody>
      </p:sp>
      <p:pic>
        <p:nvPicPr>
          <p:cNvPr id="65541" name="Picture 3" descr="Dz030305"/>
          <p:cNvPicPr>
            <a:picLocks noChangeAspect="1" noChangeArrowheads="1"/>
          </p:cNvPicPr>
          <p:nvPr/>
        </p:nvPicPr>
        <p:blipFill>
          <a:blip r:embed="rId3"/>
          <a:srcRect r="59166" b="11702"/>
          <a:stretch>
            <a:fillRect/>
          </a:stretch>
        </p:blipFill>
        <p:spPr bwMode="auto">
          <a:xfrm>
            <a:off x="250825" y="2924175"/>
            <a:ext cx="4321175" cy="3168650"/>
          </a:xfrm>
          <a:prstGeom prst="rect">
            <a:avLst/>
          </a:prstGeom>
          <a:noFill/>
          <a:ln w="9525">
            <a:noFill/>
            <a:miter lim="800000"/>
            <a:headEnd/>
            <a:tailEnd/>
          </a:ln>
        </p:spPr>
      </p:pic>
      <p:graphicFrame>
        <p:nvGraphicFramePr>
          <p:cNvPr id="65538" name="Object 4"/>
          <p:cNvGraphicFramePr>
            <a:graphicFrameLocks noGrp="1" noChangeAspect="1"/>
          </p:cNvGraphicFramePr>
          <p:nvPr>
            <p:ph/>
          </p:nvPr>
        </p:nvGraphicFramePr>
        <p:xfrm>
          <a:off x="4787900" y="2852738"/>
          <a:ext cx="3949700" cy="3240087"/>
        </p:xfrm>
        <a:graphic>
          <a:graphicData uri="http://schemas.openxmlformats.org/presentationml/2006/ole">
            <mc:AlternateContent xmlns:mc="http://schemas.openxmlformats.org/markup-compatibility/2006">
              <mc:Choice xmlns:v="urn:schemas-microsoft-com:vml" Requires="v">
                <p:oleObj spid="_x0000_s51203" name="Photo Editor 照片" r:id="rId4" imgW="12161905" imgH="8849960" progId="">
                  <p:embed/>
                </p:oleObj>
              </mc:Choice>
              <mc:Fallback>
                <p:oleObj name="Photo Editor 照片" r:id="rId4" imgW="12161905" imgH="8849960" progId="">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2852738"/>
                        <a:ext cx="3949700" cy="324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0882" name="Object 2"/>
          <p:cNvGraphicFramePr>
            <a:graphicFrameLocks noChangeAspect="1"/>
          </p:cNvGraphicFramePr>
          <p:nvPr/>
        </p:nvGraphicFramePr>
        <p:xfrm>
          <a:off x="4679950" y="620713"/>
          <a:ext cx="2736850" cy="863600"/>
        </p:xfrm>
        <a:graphic>
          <a:graphicData uri="http://schemas.openxmlformats.org/presentationml/2006/ole">
            <mc:AlternateContent xmlns:mc="http://schemas.openxmlformats.org/markup-compatibility/2006">
              <mc:Choice xmlns:v="urn:schemas-microsoft-com:vml" Requires="v">
                <p:oleObj spid="_x0000_s52234" name="Equation" r:id="rId3" imgW="25908000" imgH="10668000" progId="">
                  <p:embed/>
                </p:oleObj>
              </mc:Choice>
              <mc:Fallback>
                <p:oleObj name="Equation" r:id="rId3" imgW="25908000" imgH="106680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950" y="620713"/>
                        <a:ext cx="273685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0" name="Rectangle 3"/>
          <p:cNvSpPr>
            <a:spLocks noChangeArrowheads="1"/>
          </p:cNvSpPr>
          <p:nvPr/>
        </p:nvSpPr>
        <p:spPr bwMode="auto">
          <a:xfrm>
            <a:off x="684213" y="2976563"/>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sp>
        <p:nvSpPr>
          <p:cNvPr id="66571" name="Text Box 4"/>
          <p:cNvSpPr txBox="1">
            <a:spLocks noChangeArrowheads="1"/>
          </p:cNvSpPr>
          <p:nvPr/>
        </p:nvSpPr>
        <p:spPr bwMode="auto">
          <a:xfrm>
            <a:off x="1027113" y="787400"/>
            <a:ext cx="6119812" cy="457200"/>
          </a:xfrm>
          <a:prstGeom prst="rect">
            <a:avLst/>
          </a:prstGeom>
          <a:noFill/>
          <a:ln w="9525">
            <a:noFill/>
            <a:miter lim="800000"/>
            <a:headEnd/>
            <a:tailEnd/>
          </a:ln>
        </p:spPr>
        <p:txBody>
          <a:bodyPr>
            <a:spAutoFit/>
          </a:bodyPr>
          <a:lstStyle/>
          <a:p>
            <a:pPr eaLnBrk="1" hangingPunct="1">
              <a:spcBef>
                <a:spcPct val="50000"/>
              </a:spcBef>
            </a:pPr>
            <a:r>
              <a:rPr lang="en-US" altLang="zh-CN" b="1">
                <a:solidFill>
                  <a:srgbClr val="0000FF"/>
                </a:solidFill>
                <a:ea typeface="楷体_GB2312" pitchFamily="49" charset="-122"/>
              </a:rPr>
              <a:t>【</a:t>
            </a:r>
            <a:r>
              <a:rPr lang="zh-CN" altLang="en-US" b="1">
                <a:solidFill>
                  <a:srgbClr val="0000FF"/>
                </a:solidFill>
                <a:ea typeface="楷体_GB2312" pitchFamily="49" charset="-122"/>
              </a:rPr>
              <a:t>解</a:t>
            </a:r>
            <a:r>
              <a:rPr lang="en-US" altLang="zh-CN" b="1">
                <a:solidFill>
                  <a:srgbClr val="0000FF"/>
                </a:solidFill>
                <a:ea typeface="楷体_GB2312" pitchFamily="49" charset="-122"/>
              </a:rPr>
              <a:t>】</a:t>
            </a:r>
            <a:r>
              <a:rPr lang="zh-CN" altLang="en-US" b="1">
                <a:ea typeface="楷体_GB2312" pitchFamily="49" charset="-122"/>
              </a:rPr>
              <a:t>（</a:t>
            </a:r>
            <a:r>
              <a:rPr lang="en-US" altLang="zh-CN" b="1">
                <a:ea typeface="楷体_GB2312" pitchFamily="49" charset="-122"/>
              </a:rPr>
              <a:t>1</a:t>
            </a:r>
            <a:r>
              <a:rPr lang="zh-CN" altLang="en-US" b="1">
                <a:ea typeface="楷体_GB2312" pitchFamily="49" charset="-122"/>
              </a:rPr>
              <a:t>）根据公式</a:t>
            </a:r>
          </a:p>
        </p:txBody>
      </p:sp>
      <p:sp>
        <p:nvSpPr>
          <p:cNvPr id="66572" name="Rectangle 5"/>
          <p:cNvSpPr>
            <a:spLocks noChangeArrowheads="1"/>
          </p:cNvSpPr>
          <p:nvPr/>
        </p:nvSpPr>
        <p:spPr bwMode="auto">
          <a:xfrm>
            <a:off x="684213" y="3200400"/>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grpSp>
        <p:nvGrpSpPr>
          <p:cNvPr id="2" name="Group 6"/>
          <p:cNvGrpSpPr>
            <a:grpSpLocks/>
          </p:cNvGrpSpPr>
          <p:nvPr/>
        </p:nvGrpSpPr>
        <p:grpSpPr bwMode="auto">
          <a:xfrm>
            <a:off x="2303463" y="1412875"/>
            <a:ext cx="6481762" cy="817563"/>
            <a:chOff x="1020" y="935"/>
            <a:chExt cx="4083" cy="515"/>
          </a:xfrm>
        </p:grpSpPr>
        <p:graphicFrame>
          <p:nvGraphicFramePr>
            <p:cNvPr id="66569" name="Object 7"/>
            <p:cNvGraphicFramePr>
              <a:graphicFrameLocks noChangeAspect="1"/>
            </p:cNvGraphicFramePr>
            <p:nvPr/>
          </p:nvGraphicFramePr>
          <p:xfrm>
            <a:off x="2426" y="935"/>
            <a:ext cx="2677" cy="515"/>
          </p:xfrm>
          <a:graphic>
            <a:graphicData uri="http://schemas.openxmlformats.org/presentationml/2006/ole">
              <mc:AlternateContent xmlns:mc="http://schemas.openxmlformats.org/markup-compatibility/2006">
                <mc:Choice xmlns:v="urn:schemas-microsoft-com:vml" Requires="v">
                  <p:oleObj spid="_x0000_s52235" name="Equation" r:id="rId5" imgW="56388000" imgH="10972800" progId="">
                    <p:embed/>
                  </p:oleObj>
                </mc:Choice>
                <mc:Fallback>
                  <p:oleObj name="Equation" r:id="rId5" imgW="56388000" imgH="10972800"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6" y="935"/>
                          <a:ext cx="2677"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88" name="Text Box 8"/>
            <p:cNvSpPr txBox="1">
              <a:spLocks noChangeArrowheads="1"/>
            </p:cNvSpPr>
            <p:nvPr/>
          </p:nvSpPr>
          <p:spPr bwMode="auto">
            <a:xfrm>
              <a:off x="1020" y="1026"/>
              <a:ext cx="1224" cy="288"/>
            </a:xfrm>
            <a:prstGeom prst="rect">
              <a:avLst/>
            </a:prstGeom>
            <a:noFill/>
            <a:ln w="9525">
              <a:noFill/>
              <a:miter lim="800000"/>
              <a:headEnd/>
              <a:tailEnd/>
            </a:ln>
          </p:spPr>
          <p:txBody>
            <a:bodyPr>
              <a:spAutoFit/>
            </a:bodyPr>
            <a:lstStyle/>
            <a:p>
              <a:pPr algn="r" eaLnBrk="1" hangingPunct="1">
                <a:spcBef>
                  <a:spcPct val="50000"/>
                </a:spcBef>
              </a:pPr>
              <a:r>
                <a:rPr lang="zh-CN" altLang="en-US" b="1">
                  <a:ea typeface="楷体_GB2312" pitchFamily="49" charset="-122"/>
                </a:rPr>
                <a:t>可以得到</a:t>
              </a:r>
              <a:r>
                <a:rPr lang="en-US" altLang="zh-CN" b="1">
                  <a:ea typeface="楷体_GB2312" pitchFamily="49" charset="-122"/>
                </a:rPr>
                <a:t>R</a:t>
              </a:r>
              <a:r>
                <a:rPr lang="en-US" altLang="zh-CN" b="1" baseline="-25000">
                  <a:ea typeface="楷体_GB2312" pitchFamily="49" charset="-122"/>
                </a:rPr>
                <a:t>e</a:t>
              </a:r>
            </a:p>
          </p:txBody>
        </p:sp>
      </p:grpSp>
      <p:graphicFrame>
        <p:nvGraphicFramePr>
          <p:cNvPr id="250889" name="Object 9"/>
          <p:cNvGraphicFramePr>
            <a:graphicFrameLocks noChangeAspect="1"/>
          </p:cNvGraphicFramePr>
          <p:nvPr/>
        </p:nvGraphicFramePr>
        <p:xfrm>
          <a:off x="3311525" y="3068638"/>
          <a:ext cx="5689600" cy="504825"/>
        </p:xfrm>
        <a:graphic>
          <a:graphicData uri="http://schemas.openxmlformats.org/presentationml/2006/ole">
            <mc:AlternateContent xmlns:mc="http://schemas.openxmlformats.org/markup-compatibility/2006">
              <mc:Choice xmlns:v="urn:schemas-microsoft-com:vml" Requires="v">
                <p:oleObj spid="_x0000_s52236" name="Equation" r:id="rId7" imgW="56692800" imgH="5791200" progId="">
                  <p:embed/>
                </p:oleObj>
              </mc:Choice>
              <mc:Fallback>
                <p:oleObj name="Equation" r:id="rId7" imgW="56692800" imgH="5791200"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1525" y="3068638"/>
                        <a:ext cx="56896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4" name="Rectangle 10"/>
          <p:cNvSpPr>
            <a:spLocks noChangeArrowheads="1"/>
          </p:cNvSpPr>
          <p:nvPr/>
        </p:nvSpPr>
        <p:spPr bwMode="auto">
          <a:xfrm>
            <a:off x="684213" y="3429000"/>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grpSp>
        <p:nvGrpSpPr>
          <p:cNvPr id="3" name="Group 11"/>
          <p:cNvGrpSpPr>
            <a:grpSpLocks/>
          </p:cNvGrpSpPr>
          <p:nvPr/>
        </p:nvGrpSpPr>
        <p:grpSpPr bwMode="auto">
          <a:xfrm>
            <a:off x="2447925" y="2276475"/>
            <a:ext cx="6696075" cy="598488"/>
            <a:chOff x="1111" y="1570"/>
            <a:chExt cx="4218" cy="377"/>
          </a:xfrm>
        </p:grpSpPr>
        <p:graphicFrame>
          <p:nvGraphicFramePr>
            <p:cNvPr id="66568" name="Object 12"/>
            <p:cNvGraphicFramePr>
              <a:graphicFrameLocks noChangeAspect="1"/>
            </p:cNvGraphicFramePr>
            <p:nvPr/>
          </p:nvGraphicFramePr>
          <p:xfrm>
            <a:off x="2018" y="1616"/>
            <a:ext cx="3311" cy="331"/>
          </p:xfrm>
          <a:graphic>
            <a:graphicData uri="http://schemas.openxmlformats.org/presentationml/2006/ole">
              <mc:AlternateContent xmlns:mc="http://schemas.openxmlformats.org/markup-compatibility/2006">
                <mc:Choice xmlns:v="urn:schemas-microsoft-com:vml" Requires="v">
                  <p:oleObj spid="_x0000_s52237" name="Equation" r:id="rId9" imgW="62484000" imgH="5791200" progId="">
                    <p:embed/>
                  </p:oleObj>
                </mc:Choice>
                <mc:Fallback>
                  <p:oleObj name="Equation" r:id="rId9" imgW="62484000" imgH="5791200" progId="">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18" y="1616"/>
                          <a:ext cx="3311"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87" name="Text Box 13"/>
            <p:cNvSpPr txBox="1">
              <a:spLocks noChangeArrowheads="1"/>
            </p:cNvSpPr>
            <p:nvPr/>
          </p:nvSpPr>
          <p:spPr bwMode="auto">
            <a:xfrm>
              <a:off x="1111" y="1570"/>
              <a:ext cx="1180" cy="288"/>
            </a:xfrm>
            <a:prstGeom prst="rect">
              <a:avLst/>
            </a:prstGeom>
            <a:noFill/>
            <a:ln w="9525">
              <a:noFill/>
              <a:miter lim="800000"/>
              <a:headEnd/>
              <a:tailEnd/>
            </a:ln>
          </p:spPr>
          <p:txBody>
            <a:bodyPr>
              <a:spAutoFit/>
            </a:bodyPr>
            <a:lstStyle/>
            <a:p>
              <a:pPr algn="ctr" eaLnBrk="1" hangingPunct="1">
                <a:spcBef>
                  <a:spcPct val="50000"/>
                </a:spcBef>
              </a:pPr>
              <a:r>
                <a:rPr lang="zh-CN" altLang="en-US" b="1">
                  <a:ea typeface="楷体_GB2312" pitchFamily="49" charset="-122"/>
                </a:rPr>
                <a:t>求</a:t>
              </a:r>
              <a:r>
                <a:rPr lang="en-US" altLang="zh-CN" b="1">
                  <a:ea typeface="楷体_GB2312" pitchFamily="49" charset="-122"/>
                </a:rPr>
                <a:t>U</a:t>
              </a:r>
              <a:r>
                <a:rPr lang="en-US" altLang="zh-CN" b="1" baseline="-25000">
                  <a:ea typeface="楷体_GB2312" pitchFamily="49" charset="-122"/>
                </a:rPr>
                <a:t>CQ</a:t>
              </a:r>
            </a:p>
          </p:txBody>
        </p:sp>
      </p:grpSp>
      <p:sp>
        <p:nvSpPr>
          <p:cNvPr id="250894" name="Text Box 14"/>
          <p:cNvSpPr txBox="1">
            <a:spLocks noChangeArrowheads="1"/>
          </p:cNvSpPr>
          <p:nvPr/>
        </p:nvSpPr>
        <p:spPr bwMode="auto">
          <a:xfrm>
            <a:off x="1511300" y="3644900"/>
            <a:ext cx="2592388" cy="457200"/>
          </a:xfrm>
          <a:prstGeom prst="rect">
            <a:avLst/>
          </a:prstGeom>
          <a:noFill/>
          <a:ln w="9525">
            <a:noFill/>
            <a:miter lim="800000"/>
            <a:headEnd/>
            <a:tailEnd/>
          </a:ln>
        </p:spPr>
        <p:txBody>
          <a:bodyPr>
            <a:spAutoFit/>
          </a:bodyPr>
          <a:lstStyle/>
          <a:p>
            <a:pPr algn="ctr" eaLnBrk="1" hangingPunct="1">
              <a:spcBef>
                <a:spcPct val="50000"/>
              </a:spcBef>
            </a:pPr>
            <a:r>
              <a:rPr lang="zh-CN" altLang="en-US" b="1">
                <a:ea typeface="楷体_GB2312" pitchFamily="49" charset="-122"/>
              </a:rPr>
              <a:t>（</a:t>
            </a:r>
            <a:r>
              <a:rPr lang="en-US" altLang="zh-CN" b="1">
                <a:ea typeface="楷体_GB2312" pitchFamily="49" charset="-122"/>
              </a:rPr>
              <a:t>2</a:t>
            </a:r>
            <a:r>
              <a:rPr lang="zh-CN" altLang="en-US" b="1">
                <a:ea typeface="楷体_GB2312" pitchFamily="49" charset="-122"/>
              </a:rPr>
              <a:t>）动态参数</a:t>
            </a:r>
          </a:p>
        </p:txBody>
      </p:sp>
      <p:graphicFrame>
        <p:nvGraphicFramePr>
          <p:cNvPr id="250895" name="Object 15"/>
          <p:cNvGraphicFramePr>
            <a:graphicFrameLocks noChangeAspect="1"/>
          </p:cNvGraphicFramePr>
          <p:nvPr/>
        </p:nvGraphicFramePr>
        <p:xfrm>
          <a:off x="3095625" y="3933825"/>
          <a:ext cx="5832475" cy="1079500"/>
        </p:xfrm>
        <a:graphic>
          <a:graphicData uri="http://schemas.openxmlformats.org/presentationml/2006/ole">
            <mc:AlternateContent xmlns:mc="http://schemas.openxmlformats.org/markup-compatibility/2006">
              <mc:Choice xmlns:v="urn:schemas-microsoft-com:vml" Requires="v">
                <p:oleObj spid="_x0000_s52238" name="Equation" r:id="rId11" imgW="65836800" imgH="14630400" progId="">
                  <p:embed/>
                </p:oleObj>
              </mc:Choice>
              <mc:Fallback>
                <p:oleObj name="Equation" r:id="rId11" imgW="65836800" imgH="14630400" progId="">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95625" y="3933825"/>
                        <a:ext cx="5832475"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0896" name="Object 16"/>
          <p:cNvGraphicFramePr>
            <a:graphicFrameLocks noChangeAspect="1"/>
          </p:cNvGraphicFramePr>
          <p:nvPr/>
        </p:nvGraphicFramePr>
        <p:xfrm>
          <a:off x="3168650" y="5084763"/>
          <a:ext cx="3167063" cy="444500"/>
        </p:xfrm>
        <a:graphic>
          <a:graphicData uri="http://schemas.openxmlformats.org/presentationml/2006/ole">
            <mc:AlternateContent xmlns:mc="http://schemas.openxmlformats.org/markup-compatibility/2006">
              <mc:Choice xmlns:v="urn:schemas-microsoft-com:vml" Requires="v">
                <p:oleObj spid="_x0000_s52239" name="Equation" r:id="rId13" imgW="33223200" imgH="5486400" progId="">
                  <p:embed/>
                </p:oleObj>
              </mc:Choice>
              <mc:Fallback>
                <p:oleObj name="Equation" r:id="rId13" imgW="33223200" imgH="5486400" progId="">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8650" y="5084763"/>
                        <a:ext cx="316706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0897" name="Object 17"/>
          <p:cNvGraphicFramePr>
            <a:graphicFrameLocks noChangeAspect="1"/>
          </p:cNvGraphicFramePr>
          <p:nvPr/>
        </p:nvGraphicFramePr>
        <p:xfrm>
          <a:off x="3168650" y="5661025"/>
          <a:ext cx="2592388" cy="490538"/>
        </p:xfrm>
        <a:graphic>
          <a:graphicData uri="http://schemas.openxmlformats.org/presentationml/2006/ole">
            <mc:AlternateContent xmlns:mc="http://schemas.openxmlformats.org/markup-compatibility/2006">
              <mc:Choice xmlns:v="urn:schemas-microsoft-com:vml" Requires="v">
                <p:oleObj spid="_x0000_s52240" name="Equation" r:id="rId15" imgW="25908000" imgH="5486400" progId="">
                  <p:embed/>
                </p:oleObj>
              </mc:Choice>
              <mc:Fallback>
                <p:oleObj name="Equation" r:id="rId15" imgW="25908000" imgH="5486400" progId="">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8650" y="5661025"/>
                        <a:ext cx="2592388"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7" name="Rectangle 18"/>
          <p:cNvSpPr>
            <a:spLocks noChangeArrowheads="1"/>
          </p:cNvSpPr>
          <p:nvPr/>
        </p:nvSpPr>
        <p:spPr bwMode="auto">
          <a:xfrm>
            <a:off x="684213" y="2895600"/>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sp>
        <p:nvSpPr>
          <p:cNvPr id="66578" name="Rectangle 19"/>
          <p:cNvSpPr>
            <a:spLocks noChangeArrowheads="1"/>
          </p:cNvSpPr>
          <p:nvPr/>
        </p:nvSpPr>
        <p:spPr bwMode="auto">
          <a:xfrm>
            <a:off x="684213" y="3213100"/>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sp>
        <p:nvSpPr>
          <p:cNvPr id="66579" name="Rectangle 20"/>
          <p:cNvSpPr>
            <a:spLocks noChangeArrowheads="1"/>
          </p:cNvSpPr>
          <p:nvPr/>
        </p:nvSpPr>
        <p:spPr bwMode="auto">
          <a:xfrm>
            <a:off x="684213" y="3733800"/>
            <a:ext cx="9144000" cy="0"/>
          </a:xfrm>
          <a:prstGeom prst="rect">
            <a:avLst/>
          </a:prstGeom>
          <a:noFill/>
          <a:ln w="9525">
            <a:noFill/>
            <a:miter lim="800000"/>
            <a:headEnd/>
            <a:tailEnd/>
          </a:ln>
        </p:spPr>
        <p:txBody>
          <a:bodyPr wrap="none" anchor="ctr">
            <a:spAutoFit/>
          </a:bodyPr>
          <a:lstStyle/>
          <a:p>
            <a:pPr algn="ctr" eaLnBrk="1" hangingPunct="1"/>
            <a:endParaRPr lang="zh-CN" altLang="en-US"/>
          </a:p>
        </p:txBody>
      </p:sp>
      <p:graphicFrame>
        <p:nvGraphicFramePr>
          <p:cNvPr id="66567" name="Object 58"/>
          <p:cNvGraphicFramePr>
            <a:graphicFrameLocks noChangeAspect="1"/>
          </p:cNvGraphicFramePr>
          <p:nvPr/>
        </p:nvGraphicFramePr>
        <p:xfrm>
          <a:off x="0" y="1517650"/>
          <a:ext cx="2605088" cy="1928813"/>
        </p:xfrm>
        <a:graphic>
          <a:graphicData uri="http://schemas.openxmlformats.org/presentationml/2006/ole">
            <mc:AlternateContent xmlns:mc="http://schemas.openxmlformats.org/markup-compatibility/2006">
              <mc:Choice xmlns:v="urn:schemas-microsoft-com:vml" Requires="v">
                <p:oleObj spid="_x0000_s52241" name="Photo Editor 照片" r:id="rId17" imgW="12317544" imgH="9135750" progId="">
                  <p:embed/>
                </p:oleObj>
              </mc:Choice>
              <mc:Fallback>
                <p:oleObj name="Photo Editor 照片" r:id="rId17" imgW="12317544" imgH="9135750" progId="">
                  <p:embed/>
                  <p:pic>
                    <p:nvPicPr>
                      <p:cNvPr id="0" name="Object 5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1517650"/>
                        <a:ext cx="2605088"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8"/>
          <p:cNvGrpSpPr>
            <a:grpSpLocks/>
          </p:cNvGrpSpPr>
          <p:nvPr/>
        </p:nvGrpSpPr>
        <p:grpSpPr bwMode="auto">
          <a:xfrm>
            <a:off x="0" y="2524125"/>
            <a:ext cx="2619375" cy="254000"/>
            <a:chOff x="494" y="2256"/>
            <a:chExt cx="2422" cy="240"/>
          </a:xfrm>
        </p:grpSpPr>
        <p:grpSp>
          <p:nvGrpSpPr>
            <p:cNvPr id="66581" name="Group 9"/>
            <p:cNvGrpSpPr>
              <a:grpSpLocks/>
            </p:cNvGrpSpPr>
            <p:nvPr/>
          </p:nvGrpSpPr>
          <p:grpSpPr bwMode="auto">
            <a:xfrm>
              <a:off x="494" y="2256"/>
              <a:ext cx="192" cy="240"/>
              <a:chOff x="480" y="2064"/>
              <a:chExt cx="192" cy="240"/>
            </a:xfrm>
          </p:grpSpPr>
          <p:sp>
            <p:nvSpPr>
              <p:cNvPr id="66585" name="Line 10"/>
              <p:cNvSpPr>
                <a:spLocks noChangeShapeType="1"/>
              </p:cNvSpPr>
              <p:nvPr/>
            </p:nvSpPr>
            <p:spPr bwMode="auto">
              <a:xfrm>
                <a:off x="576" y="2064"/>
                <a:ext cx="0" cy="240"/>
              </a:xfrm>
              <a:prstGeom prst="line">
                <a:avLst/>
              </a:prstGeom>
              <a:noFill/>
              <a:ln w="19050">
                <a:solidFill>
                  <a:srgbClr val="FF3300"/>
                </a:solidFill>
                <a:round/>
                <a:headEnd/>
                <a:tailEnd/>
              </a:ln>
            </p:spPr>
            <p:txBody>
              <a:bodyPr/>
              <a:lstStyle/>
              <a:p>
                <a:endParaRPr lang="zh-CN" altLang="en-US"/>
              </a:p>
            </p:txBody>
          </p:sp>
          <p:sp>
            <p:nvSpPr>
              <p:cNvPr id="66586" name="Line 11"/>
              <p:cNvSpPr>
                <a:spLocks noChangeShapeType="1"/>
              </p:cNvSpPr>
              <p:nvPr/>
            </p:nvSpPr>
            <p:spPr bwMode="auto">
              <a:xfrm>
                <a:off x="480" y="2304"/>
                <a:ext cx="192" cy="0"/>
              </a:xfrm>
              <a:prstGeom prst="line">
                <a:avLst/>
              </a:prstGeom>
              <a:noFill/>
              <a:ln w="28575">
                <a:solidFill>
                  <a:srgbClr val="FF3300"/>
                </a:solidFill>
                <a:round/>
                <a:headEnd/>
                <a:tailEnd/>
              </a:ln>
            </p:spPr>
            <p:txBody>
              <a:bodyPr/>
              <a:lstStyle/>
              <a:p>
                <a:endParaRPr lang="zh-CN" altLang="en-US"/>
              </a:p>
            </p:txBody>
          </p:sp>
        </p:grpSp>
        <p:grpSp>
          <p:nvGrpSpPr>
            <p:cNvPr id="66582" name="Group 12"/>
            <p:cNvGrpSpPr>
              <a:grpSpLocks/>
            </p:cNvGrpSpPr>
            <p:nvPr/>
          </p:nvGrpSpPr>
          <p:grpSpPr bwMode="auto">
            <a:xfrm>
              <a:off x="2724" y="2256"/>
              <a:ext cx="192" cy="240"/>
              <a:chOff x="480" y="2064"/>
              <a:chExt cx="192" cy="240"/>
            </a:xfrm>
          </p:grpSpPr>
          <p:sp>
            <p:nvSpPr>
              <p:cNvPr id="66583" name="Line 13"/>
              <p:cNvSpPr>
                <a:spLocks noChangeShapeType="1"/>
              </p:cNvSpPr>
              <p:nvPr/>
            </p:nvSpPr>
            <p:spPr bwMode="auto">
              <a:xfrm>
                <a:off x="576" y="2064"/>
                <a:ext cx="0" cy="240"/>
              </a:xfrm>
              <a:prstGeom prst="line">
                <a:avLst/>
              </a:prstGeom>
              <a:noFill/>
              <a:ln w="19050">
                <a:solidFill>
                  <a:srgbClr val="FF3300"/>
                </a:solidFill>
                <a:round/>
                <a:headEnd/>
                <a:tailEnd/>
              </a:ln>
            </p:spPr>
            <p:txBody>
              <a:bodyPr/>
              <a:lstStyle/>
              <a:p>
                <a:endParaRPr lang="zh-CN" altLang="en-US"/>
              </a:p>
            </p:txBody>
          </p:sp>
          <p:sp>
            <p:nvSpPr>
              <p:cNvPr id="66584" name="Line 14"/>
              <p:cNvSpPr>
                <a:spLocks noChangeShapeType="1"/>
              </p:cNvSpPr>
              <p:nvPr/>
            </p:nvSpPr>
            <p:spPr bwMode="auto">
              <a:xfrm>
                <a:off x="480" y="2304"/>
                <a:ext cx="192" cy="0"/>
              </a:xfrm>
              <a:prstGeom prst="line">
                <a:avLst/>
              </a:prstGeom>
              <a:noFill/>
              <a:ln w="28575">
                <a:solidFill>
                  <a:srgbClr val="FF3300"/>
                </a:solidFill>
                <a:round/>
                <a:headEnd/>
                <a:tailEn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0882"/>
                                        </p:tgtEl>
                                        <p:attrNameLst>
                                          <p:attrName>style.visibility</p:attrName>
                                        </p:attrNameLst>
                                      </p:cBhvr>
                                      <p:to>
                                        <p:strVal val="visible"/>
                                      </p:to>
                                    </p:set>
                                    <p:animEffect transition="in" filter="blinds(horizontal)">
                                      <p:cBhvr>
                                        <p:cTn id="12" dur="500"/>
                                        <p:tgtEl>
                                          <p:spTgt spid="2508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50889"/>
                                        </p:tgtEl>
                                        <p:attrNameLst>
                                          <p:attrName>style.visibility</p:attrName>
                                        </p:attrNameLst>
                                      </p:cBhvr>
                                      <p:to>
                                        <p:strVal val="visible"/>
                                      </p:to>
                                    </p:set>
                                    <p:animEffect transition="in" filter="wipe(down)">
                                      <p:cBhvr>
                                        <p:cTn id="27" dur="500"/>
                                        <p:tgtEl>
                                          <p:spTgt spid="2508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0894"/>
                                        </p:tgtEl>
                                        <p:attrNameLst>
                                          <p:attrName>style.visibility</p:attrName>
                                        </p:attrNameLst>
                                      </p:cBhvr>
                                      <p:to>
                                        <p:strVal val="visible"/>
                                      </p:to>
                                    </p:set>
                                    <p:animEffect transition="in" filter="blinds(horizontal)">
                                      <p:cBhvr>
                                        <p:cTn id="32" dur="500"/>
                                        <p:tgtEl>
                                          <p:spTgt spid="2508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50895"/>
                                        </p:tgtEl>
                                        <p:attrNameLst>
                                          <p:attrName>style.visibility</p:attrName>
                                        </p:attrNameLst>
                                      </p:cBhvr>
                                      <p:to>
                                        <p:strVal val="visible"/>
                                      </p:to>
                                    </p:set>
                                    <p:animEffect transition="in" filter="wipe(down)">
                                      <p:cBhvr>
                                        <p:cTn id="37" dur="500"/>
                                        <p:tgtEl>
                                          <p:spTgt spid="25089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50896"/>
                                        </p:tgtEl>
                                        <p:attrNameLst>
                                          <p:attrName>style.visibility</p:attrName>
                                        </p:attrNameLst>
                                      </p:cBhvr>
                                      <p:to>
                                        <p:strVal val="visible"/>
                                      </p:to>
                                    </p:set>
                                    <p:animEffect transition="in" filter="wipe(down)">
                                      <p:cBhvr>
                                        <p:cTn id="42" dur="500"/>
                                        <p:tgtEl>
                                          <p:spTgt spid="25089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50897"/>
                                        </p:tgtEl>
                                        <p:attrNameLst>
                                          <p:attrName>style.visibility</p:attrName>
                                        </p:attrNameLst>
                                      </p:cBhvr>
                                      <p:to>
                                        <p:strVal val="visible"/>
                                      </p:to>
                                    </p:set>
                                    <p:animEffect transition="in" filter="wipe(down)">
                                      <p:cBhvr>
                                        <p:cTn id="47" dur="500"/>
                                        <p:tgtEl>
                                          <p:spTgt spid="250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9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Text Box 2"/>
          <p:cNvSpPr txBox="1">
            <a:spLocks noChangeArrowheads="1"/>
          </p:cNvSpPr>
          <p:nvPr/>
        </p:nvSpPr>
        <p:spPr bwMode="auto">
          <a:xfrm>
            <a:off x="395288" y="549275"/>
            <a:ext cx="4537075" cy="457200"/>
          </a:xfrm>
          <a:prstGeom prst="rect">
            <a:avLst/>
          </a:prstGeom>
          <a:noFill/>
          <a:ln w="9525">
            <a:noFill/>
            <a:miter lim="800000"/>
            <a:headEnd/>
            <a:tailEnd/>
          </a:ln>
        </p:spPr>
        <p:txBody>
          <a:bodyPr>
            <a:spAutoFit/>
          </a:bodyPr>
          <a:lstStyle/>
          <a:p>
            <a:pPr eaLnBrk="1" hangingPunct="1">
              <a:spcBef>
                <a:spcPct val="50000"/>
              </a:spcBef>
            </a:pPr>
            <a:r>
              <a:rPr lang="zh-CN" altLang="en-US" b="1">
                <a:ea typeface="楷体_GB2312" pitchFamily="49" charset="-122"/>
              </a:rPr>
              <a:t>（</a:t>
            </a:r>
            <a:r>
              <a:rPr lang="en-US" altLang="zh-CN" b="1">
                <a:ea typeface="楷体_GB2312" pitchFamily="49" charset="-122"/>
              </a:rPr>
              <a:t>3</a:t>
            </a:r>
            <a:r>
              <a:rPr lang="zh-CN" altLang="en-US" b="1">
                <a:ea typeface="楷体_GB2312" pitchFamily="49" charset="-122"/>
              </a:rPr>
              <a:t>）单端输出</a:t>
            </a:r>
          </a:p>
        </p:txBody>
      </p:sp>
      <p:sp>
        <p:nvSpPr>
          <p:cNvPr id="67591" name="Text Box 3"/>
          <p:cNvSpPr txBox="1">
            <a:spLocks noChangeArrowheads="1"/>
          </p:cNvSpPr>
          <p:nvPr/>
        </p:nvSpPr>
        <p:spPr bwMode="auto">
          <a:xfrm>
            <a:off x="827088" y="1052513"/>
            <a:ext cx="7561262" cy="457200"/>
          </a:xfrm>
          <a:prstGeom prst="rect">
            <a:avLst/>
          </a:prstGeom>
          <a:noFill/>
          <a:ln w="9525">
            <a:noFill/>
            <a:miter lim="800000"/>
            <a:headEnd/>
            <a:tailEnd/>
          </a:ln>
        </p:spPr>
        <p:txBody>
          <a:bodyPr>
            <a:spAutoFit/>
          </a:bodyPr>
          <a:lstStyle/>
          <a:p>
            <a:pPr eaLnBrk="1" hangingPunct="1">
              <a:spcBef>
                <a:spcPct val="50000"/>
              </a:spcBef>
            </a:pPr>
            <a:r>
              <a:rPr lang="zh-CN" altLang="en-US">
                <a:ea typeface="楷体_GB2312" pitchFamily="49" charset="-122"/>
              </a:rPr>
              <a:t>直流表得到的结果包含</a:t>
            </a:r>
            <a:r>
              <a:rPr lang="zh-CN" altLang="en-US" b="1" u="sng">
                <a:solidFill>
                  <a:schemeClr val="accent2"/>
                </a:solidFill>
                <a:ea typeface="楷体_GB2312" pitchFamily="49" charset="-122"/>
              </a:rPr>
              <a:t>直流（静态）量和变化量。</a:t>
            </a:r>
          </a:p>
        </p:txBody>
      </p:sp>
      <p:sp>
        <p:nvSpPr>
          <p:cNvPr id="67592" name="Text Box 4"/>
          <p:cNvSpPr txBox="1">
            <a:spLocks noChangeArrowheads="1"/>
          </p:cNvSpPr>
          <p:nvPr/>
        </p:nvSpPr>
        <p:spPr bwMode="auto">
          <a:xfrm>
            <a:off x="827088" y="1557338"/>
            <a:ext cx="5616575" cy="457200"/>
          </a:xfrm>
          <a:prstGeom prst="rect">
            <a:avLst/>
          </a:prstGeom>
          <a:noFill/>
          <a:ln w="9525">
            <a:noFill/>
            <a:miter lim="800000"/>
            <a:headEnd/>
            <a:tailEnd/>
          </a:ln>
        </p:spPr>
        <p:txBody>
          <a:bodyPr>
            <a:spAutoFit/>
          </a:bodyPr>
          <a:lstStyle/>
          <a:p>
            <a:pPr eaLnBrk="1" hangingPunct="1">
              <a:spcBef>
                <a:spcPct val="50000"/>
              </a:spcBef>
            </a:pPr>
            <a:r>
              <a:rPr lang="zh-CN" altLang="en-US" b="1">
                <a:ea typeface="楷体_GB2312" pitchFamily="49" charset="-122"/>
              </a:rPr>
              <a:t>静态时，</a:t>
            </a:r>
            <a:r>
              <a:rPr lang="en-US" altLang="zh-CN" b="1">
                <a:ea typeface="楷体_GB2312" pitchFamily="49" charset="-122"/>
              </a:rPr>
              <a:t>T1</a:t>
            </a:r>
            <a:r>
              <a:rPr lang="zh-CN" altLang="en-US" b="1">
                <a:ea typeface="楷体_GB2312" pitchFamily="49" charset="-122"/>
              </a:rPr>
              <a:t>管的集电极电位为：</a:t>
            </a:r>
          </a:p>
        </p:txBody>
      </p:sp>
      <p:sp>
        <p:nvSpPr>
          <p:cNvPr id="67593" name="Rectangle 5"/>
          <p:cNvSpPr>
            <a:spLocks noChangeArrowheads="1"/>
          </p:cNvSpPr>
          <p:nvPr/>
        </p:nvSpPr>
        <p:spPr bwMode="auto">
          <a:xfrm>
            <a:off x="0" y="3214688"/>
            <a:ext cx="184150" cy="46196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251910" name="Object 6"/>
          <p:cNvGraphicFramePr>
            <a:graphicFrameLocks noChangeAspect="1"/>
          </p:cNvGraphicFramePr>
          <p:nvPr/>
        </p:nvGraphicFramePr>
        <p:xfrm>
          <a:off x="1403350" y="2060575"/>
          <a:ext cx="5689600" cy="863600"/>
        </p:xfrm>
        <a:graphic>
          <a:graphicData uri="http://schemas.openxmlformats.org/presentationml/2006/ole">
            <mc:AlternateContent xmlns:mc="http://schemas.openxmlformats.org/markup-compatibility/2006">
              <mc:Choice xmlns:v="urn:schemas-microsoft-com:vml" Requires="v">
                <p:oleObj spid="_x0000_s53254" name="Equation" r:id="rId3" imgW="65532000" imgH="10363200" progId="">
                  <p:embed/>
                </p:oleObj>
              </mc:Choice>
              <mc:Fallback>
                <p:oleObj name="Equation" r:id="rId3" imgW="65532000" imgH="10363200"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060575"/>
                        <a:ext cx="56896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4" name="Rectangle 7"/>
          <p:cNvSpPr>
            <a:spLocks noChangeArrowheads="1"/>
          </p:cNvSpPr>
          <p:nvPr/>
        </p:nvSpPr>
        <p:spPr bwMode="auto">
          <a:xfrm>
            <a:off x="0" y="3309938"/>
            <a:ext cx="184150" cy="461962"/>
          </a:xfrm>
          <a:prstGeom prst="rect">
            <a:avLst/>
          </a:prstGeom>
          <a:noFill/>
          <a:ln w="9525">
            <a:noFill/>
            <a:miter lim="800000"/>
            <a:headEnd/>
            <a:tailEnd/>
          </a:ln>
        </p:spPr>
        <p:txBody>
          <a:bodyPr wrap="none" anchor="ctr">
            <a:spAutoFit/>
          </a:bodyPr>
          <a:lstStyle/>
          <a:p>
            <a:pPr eaLnBrk="1" hangingPunct="1"/>
            <a:endParaRPr lang="zh-CN" altLang="en-US"/>
          </a:p>
        </p:txBody>
      </p:sp>
      <p:grpSp>
        <p:nvGrpSpPr>
          <p:cNvPr id="2" name="Group 8"/>
          <p:cNvGrpSpPr>
            <a:grpSpLocks/>
          </p:cNvGrpSpPr>
          <p:nvPr/>
        </p:nvGrpSpPr>
        <p:grpSpPr bwMode="auto">
          <a:xfrm>
            <a:off x="1042988" y="2997200"/>
            <a:ext cx="7273925" cy="503238"/>
            <a:chOff x="657" y="1888"/>
            <a:chExt cx="4582" cy="317"/>
          </a:xfrm>
        </p:grpSpPr>
        <p:sp>
          <p:nvSpPr>
            <p:cNvPr id="67601" name="Text Box 9"/>
            <p:cNvSpPr txBox="1">
              <a:spLocks noChangeArrowheads="1"/>
            </p:cNvSpPr>
            <p:nvPr/>
          </p:nvSpPr>
          <p:spPr bwMode="auto">
            <a:xfrm>
              <a:off x="657" y="1888"/>
              <a:ext cx="1134" cy="288"/>
            </a:xfrm>
            <a:prstGeom prst="rect">
              <a:avLst/>
            </a:prstGeom>
            <a:noFill/>
            <a:ln w="9525">
              <a:noFill/>
              <a:miter lim="800000"/>
              <a:headEnd/>
              <a:tailEnd/>
            </a:ln>
          </p:spPr>
          <p:txBody>
            <a:bodyPr>
              <a:spAutoFit/>
            </a:bodyPr>
            <a:lstStyle/>
            <a:p>
              <a:pPr eaLnBrk="1" hangingPunct="1">
                <a:spcBef>
                  <a:spcPct val="50000"/>
                </a:spcBef>
              </a:pPr>
              <a:r>
                <a:rPr lang="zh-CN" altLang="en-US" b="1">
                  <a:ea typeface="楷体_GB2312" pitchFamily="49" charset="-122"/>
                </a:rPr>
                <a:t>动态电压</a:t>
              </a:r>
            </a:p>
          </p:txBody>
        </p:sp>
        <p:graphicFrame>
          <p:nvGraphicFramePr>
            <p:cNvPr id="67589" name="Object 10"/>
            <p:cNvGraphicFramePr>
              <a:graphicFrameLocks noChangeAspect="1"/>
            </p:cNvGraphicFramePr>
            <p:nvPr/>
          </p:nvGraphicFramePr>
          <p:xfrm>
            <a:off x="1791" y="1888"/>
            <a:ext cx="3448" cy="317"/>
          </p:xfrm>
          <a:graphic>
            <a:graphicData uri="http://schemas.openxmlformats.org/presentationml/2006/ole">
              <mc:AlternateContent xmlns:mc="http://schemas.openxmlformats.org/markup-compatibility/2006">
                <mc:Choice xmlns:v="urn:schemas-microsoft-com:vml" Requires="v">
                  <p:oleObj spid="_x0000_s53255" name="Equation" r:id="rId5" imgW="56692800" imgH="5791200" progId="">
                    <p:embed/>
                  </p:oleObj>
                </mc:Choice>
                <mc:Fallback>
                  <p:oleObj name="Equation" r:id="rId5" imgW="56692800" imgH="5791200" progId="">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1" y="1888"/>
                          <a:ext cx="3448"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7596" name="Rectangle 11"/>
          <p:cNvSpPr>
            <a:spLocks noChangeArrowheads="1"/>
          </p:cNvSpPr>
          <p:nvPr/>
        </p:nvSpPr>
        <p:spPr bwMode="auto">
          <a:xfrm>
            <a:off x="0" y="3124200"/>
            <a:ext cx="184150" cy="461963"/>
          </a:xfrm>
          <a:prstGeom prst="rect">
            <a:avLst/>
          </a:prstGeom>
          <a:noFill/>
          <a:ln w="9525">
            <a:noFill/>
            <a:miter lim="800000"/>
            <a:headEnd/>
            <a:tailEnd/>
          </a:ln>
        </p:spPr>
        <p:txBody>
          <a:bodyPr wrap="none" anchor="ctr">
            <a:spAutoFit/>
          </a:bodyPr>
          <a:lstStyle/>
          <a:p>
            <a:pPr eaLnBrk="1" hangingPunct="1"/>
            <a:endParaRPr lang="zh-CN" altLang="en-US"/>
          </a:p>
        </p:txBody>
      </p:sp>
      <p:sp>
        <p:nvSpPr>
          <p:cNvPr id="251916" name="Text Box 12"/>
          <p:cNvSpPr txBox="1">
            <a:spLocks noChangeArrowheads="1"/>
          </p:cNvSpPr>
          <p:nvPr/>
        </p:nvSpPr>
        <p:spPr bwMode="auto">
          <a:xfrm>
            <a:off x="971550" y="3500438"/>
            <a:ext cx="2879725" cy="457200"/>
          </a:xfrm>
          <a:prstGeom prst="rect">
            <a:avLst/>
          </a:prstGeom>
          <a:noFill/>
          <a:ln w="9525">
            <a:noFill/>
            <a:miter lim="800000"/>
            <a:headEnd/>
            <a:tailEnd/>
          </a:ln>
        </p:spPr>
        <p:txBody>
          <a:bodyPr>
            <a:spAutoFit/>
          </a:bodyPr>
          <a:lstStyle/>
          <a:p>
            <a:pPr eaLnBrk="1" hangingPunct="1">
              <a:spcBef>
                <a:spcPct val="50000"/>
              </a:spcBef>
            </a:pPr>
            <a:r>
              <a:rPr lang="zh-CN" altLang="en-US" b="1">
                <a:ea typeface="楷体_GB2312" pitchFamily="49" charset="-122"/>
              </a:rPr>
              <a:t>差模电压放大倍数</a:t>
            </a:r>
          </a:p>
        </p:txBody>
      </p:sp>
      <p:sp>
        <p:nvSpPr>
          <p:cNvPr id="251917" name="Text Box 13"/>
          <p:cNvSpPr txBox="1">
            <a:spLocks noChangeArrowheads="1"/>
          </p:cNvSpPr>
          <p:nvPr/>
        </p:nvSpPr>
        <p:spPr bwMode="auto">
          <a:xfrm>
            <a:off x="1042988" y="4797425"/>
            <a:ext cx="2520950" cy="457200"/>
          </a:xfrm>
          <a:prstGeom prst="rect">
            <a:avLst/>
          </a:prstGeom>
          <a:noFill/>
          <a:ln w="9525">
            <a:noFill/>
            <a:miter lim="800000"/>
            <a:headEnd/>
            <a:tailEnd/>
          </a:ln>
        </p:spPr>
        <p:txBody>
          <a:bodyPr>
            <a:spAutoFit/>
          </a:bodyPr>
          <a:lstStyle/>
          <a:p>
            <a:pPr eaLnBrk="1" hangingPunct="1">
              <a:spcBef>
                <a:spcPct val="50000"/>
              </a:spcBef>
            </a:pPr>
            <a:r>
              <a:rPr lang="zh-CN" altLang="en-US" b="1">
                <a:solidFill>
                  <a:schemeClr val="accent2"/>
                </a:solidFill>
                <a:ea typeface="楷体_GB2312" pitchFamily="49" charset="-122"/>
              </a:rPr>
              <a:t>输入电压</a:t>
            </a:r>
          </a:p>
        </p:txBody>
      </p:sp>
      <p:graphicFrame>
        <p:nvGraphicFramePr>
          <p:cNvPr id="251918" name="Object 14"/>
          <p:cNvGraphicFramePr>
            <a:graphicFrameLocks noChangeAspect="1"/>
          </p:cNvGraphicFramePr>
          <p:nvPr/>
        </p:nvGraphicFramePr>
        <p:xfrm>
          <a:off x="2627313" y="3789363"/>
          <a:ext cx="5545137" cy="1081087"/>
        </p:xfrm>
        <a:graphic>
          <a:graphicData uri="http://schemas.openxmlformats.org/presentationml/2006/ole">
            <mc:AlternateContent xmlns:mc="http://schemas.openxmlformats.org/markup-compatibility/2006">
              <mc:Choice xmlns:v="urn:schemas-microsoft-com:vml" Requires="v">
                <p:oleObj spid="_x0000_s53256" name="Equation" r:id="rId7" imgW="72237600" imgH="14630400" progId="">
                  <p:embed/>
                </p:oleObj>
              </mc:Choice>
              <mc:Fallback>
                <p:oleObj name="Equation" r:id="rId7" imgW="72237600" imgH="14630400" progId="">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3789363"/>
                        <a:ext cx="5545137" cy="1081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1919" name="Object 15"/>
          <p:cNvGraphicFramePr>
            <a:graphicFrameLocks noChangeAspect="1"/>
          </p:cNvGraphicFramePr>
          <p:nvPr/>
        </p:nvGraphicFramePr>
        <p:xfrm>
          <a:off x="2555875" y="5300663"/>
          <a:ext cx="4824413" cy="717550"/>
        </p:xfrm>
        <a:graphic>
          <a:graphicData uri="http://schemas.openxmlformats.org/presentationml/2006/ole">
            <mc:AlternateContent xmlns:mc="http://schemas.openxmlformats.org/markup-compatibility/2006">
              <mc:Choice xmlns:v="urn:schemas-microsoft-com:vml" Requires="v">
                <p:oleObj spid="_x0000_s53257" name="Equation" r:id="rId9" imgW="52425600" imgH="10363200" progId="">
                  <p:embed/>
                </p:oleObj>
              </mc:Choice>
              <mc:Fallback>
                <p:oleObj name="Equation" r:id="rId9" imgW="52425600" imgH="10363200" progId="">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5300663"/>
                        <a:ext cx="4824413"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9" name="Rectangle 16"/>
          <p:cNvSpPr>
            <a:spLocks noChangeArrowheads="1"/>
          </p:cNvSpPr>
          <p:nvPr/>
        </p:nvSpPr>
        <p:spPr bwMode="auto">
          <a:xfrm>
            <a:off x="0" y="2909888"/>
            <a:ext cx="184150" cy="461962"/>
          </a:xfrm>
          <a:prstGeom prst="rect">
            <a:avLst/>
          </a:prstGeom>
          <a:noFill/>
          <a:ln w="9525">
            <a:noFill/>
            <a:miter lim="800000"/>
            <a:headEnd/>
            <a:tailEnd/>
          </a:ln>
        </p:spPr>
        <p:txBody>
          <a:bodyPr wrap="none" anchor="ctr">
            <a:spAutoFit/>
          </a:bodyPr>
          <a:lstStyle/>
          <a:p>
            <a:pPr eaLnBrk="1" hangingPunct="1"/>
            <a:endParaRPr lang="zh-CN" altLang="en-US"/>
          </a:p>
        </p:txBody>
      </p:sp>
      <p:sp>
        <p:nvSpPr>
          <p:cNvPr id="67600" name="Rectangle 17"/>
          <p:cNvSpPr>
            <a:spLocks noChangeArrowheads="1"/>
          </p:cNvSpPr>
          <p:nvPr/>
        </p:nvSpPr>
        <p:spPr bwMode="auto">
          <a:xfrm>
            <a:off x="0" y="3519488"/>
            <a:ext cx="184150" cy="461962"/>
          </a:xfrm>
          <a:prstGeom prst="rect">
            <a:avLst/>
          </a:prstGeom>
          <a:noFill/>
          <a:ln w="9525">
            <a:noFill/>
            <a:miter lim="800000"/>
            <a:headEnd/>
            <a:tailEnd/>
          </a:ln>
        </p:spPr>
        <p:txBody>
          <a:bodyPr wrap="none" anchor="ctr">
            <a:spAutoFit/>
          </a:body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51910"/>
                                        </p:tgtEl>
                                        <p:attrNameLst>
                                          <p:attrName>style.visibility</p:attrName>
                                        </p:attrNameLst>
                                      </p:cBhvr>
                                      <p:to>
                                        <p:strVal val="visible"/>
                                      </p:to>
                                    </p:set>
                                    <p:animEffect transition="in" filter="wipe(down)">
                                      <p:cBhvr>
                                        <p:cTn id="7" dur="500"/>
                                        <p:tgtEl>
                                          <p:spTgt spid="2519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51916"/>
                                        </p:tgtEl>
                                        <p:attrNameLst>
                                          <p:attrName>style.visibility</p:attrName>
                                        </p:attrNameLst>
                                      </p:cBhvr>
                                      <p:to>
                                        <p:strVal val="visible"/>
                                      </p:to>
                                    </p:set>
                                    <p:animEffect transition="in" filter="wipe(down)">
                                      <p:cBhvr>
                                        <p:cTn id="17" dur="500"/>
                                        <p:tgtEl>
                                          <p:spTgt spid="251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51918"/>
                                        </p:tgtEl>
                                        <p:attrNameLst>
                                          <p:attrName>style.visibility</p:attrName>
                                        </p:attrNameLst>
                                      </p:cBhvr>
                                      <p:to>
                                        <p:strVal val="visible"/>
                                      </p:to>
                                    </p:set>
                                    <p:animEffect transition="in" filter="wipe(down)">
                                      <p:cBhvr>
                                        <p:cTn id="22" dur="500"/>
                                        <p:tgtEl>
                                          <p:spTgt spid="2519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51917"/>
                                        </p:tgtEl>
                                        <p:attrNameLst>
                                          <p:attrName>style.visibility</p:attrName>
                                        </p:attrNameLst>
                                      </p:cBhvr>
                                      <p:to>
                                        <p:strVal val="visible"/>
                                      </p:to>
                                    </p:set>
                                    <p:animEffect transition="in" filter="wipe(down)">
                                      <p:cBhvr>
                                        <p:cTn id="27" dur="500"/>
                                        <p:tgtEl>
                                          <p:spTgt spid="2519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51919"/>
                                        </p:tgtEl>
                                        <p:attrNameLst>
                                          <p:attrName>style.visibility</p:attrName>
                                        </p:attrNameLst>
                                      </p:cBhvr>
                                      <p:to>
                                        <p:strVal val="visible"/>
                                      </p:to>
                                    </p:set>
                                    <p:animEffect transition="in" filter="wipe(down)">
                                      <p:cBhvr>
                                        <p:cTn id="32" dur="500"/>
                                        <p:tgtEl>
                                          <p:spTgt spid="251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6" grpId="0"/>
      <p:bldP spid="25191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srcRect/>
          <a:stretch>
            <a:fillRect/>
          </a:stretch>
        </p:blipFill>
        <p:spPr bwMode="auto">
          <a:xfrm>
            <a:off x="163513" y="638175"/>
            <a:ext cx="8980487" cy="1498600"/>
          </a:xfrm>
          <a:prstGeom prst="rect">
            <a:avLst/>
          </a:prstGeom>
          <a:noFill/>
          <a:ln w="9525">
            <a:noFill/>
            <a:miter lim="800000"/>
            <a:headEnd/>
            <a:tailEnd/>
          </a:ln>
        </p:spPr>
      </p:pic>
      <p:pic>
        <p:nvPicPr>
          <p:cNvPr id="134147" name="Picture 3"/>
          <p:cNvPicPr>
            <a:picLocks noChangeAspect="1" noChangeArrowheads="1"/>
          </p:cNvPicPr>
          <p:nvPr/>
        </p:nvPicPr>
        <p:blipFill>
          <a:blip r:embed="rId3"/>
          <a:srcRect/>
          <a:stretch>
            <a:fillRect/>
          </a:stretch>
        </p:blipFill>
        <p:spPr bwMode="auto">
          <a:xfrm>
            <a:off x="1670050" y="2233613"/>
            <a:ext cx="5321300" cy="3440112"/>
          </a:xfrm>
          <a:prstGeom prst="rect">
            <a:avLst/>
          </a:prstGeom>
          <a:noFill/>
          <a:ln w="9525">
            <a:noFill/>
            <a:miter lim="800000"/>
            <a:headEnd/>
            <a:tailEnd/>
          </a:ln>
        </p:spPr>
      </p:pic>
      <p:cxnSp>
        <p:nvCxnSpPr>
          <p:cNvPr id="5" name="直接连接符 4"/>
          <p:cNvCxnSpPr>
            <a:cxnSpLocks noChangeShapeType="1"/>
          </p:cNvCxnSpPr>
          <p:nvPr/>
        </p:nvCxnSpPr>
        <p:spPr bwMode="auto">
          <a:xfrm rot="16200000" flipH="1">
            <a:off x="2543175" y="3886201"/>
            <a:ext cx="3430587" cy="144462"/>
          </a:xfrm>
          <a:prstGeom prst="line">
            <a:avLst/>
          </a:prstGeom>
          <a:noFill/>
          <a:ln w="9525" algn="ctr">
            <a:solidFill>
              <a:schemeClr val="tx1"/>
            </a:solidFill>
            <a:prstDash val="dash"/>
            <a:round/>
            <a:headEnd/>
            <a:tailEnd/>
          </a:ln>
        </p:spPr>
      </p:cxnSp>
      <p:cxnSp>
        <p:nvCxnSpPr>
          <p:cNvPr id="6" name="直接连接符 5"/>
          <p:cNvCxnSpPr>
            <a:cxnSpLocks noChangeShapeType="1"/>
          </p:cNvCxnSpPr>
          <p:nvPr/>
        </p:nvCxnSpPr>
        <p:spPr bwMode="auto">
          <a:xfrm rot="16200000" flipH="1">
            <a:off x="3424238" y="3881437"/>
            <a:ext cx="3430588" cy="144463"/>
          </a:xfrm>
          <a:prstGeom prst="line">
            <a:avLst/>
          </a:prstGeom>
          <a:noFill/>
          <a:ln w="9525" algn="ctr">
            <a:solidFill>
              <a:schemeClr val="tx1"/>
            </a:solidFill>
            <a:prstDash val="dash"/>
            <a:round/>
            <a:headEnd/>
            <a:tailEnd/>
          </a:ln>
        </p:spPr>
      </p:cxnSp>
      <p:sp>
        <p:nvSpPr>
          <p:cNvPr id="7" name="Text Box 12"/>
          <p:cNvSpPr txBox="1">
            <a:spLocks noChangeArrowheads="1"/>
          </p:cNvSpPr>
          <p:nvPr/>
        </p:nvSpPr>
        <p:spPr bwMode="auto">
          <a:xfrm>
            <a:off x="1885950" y="3430588"/>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8" name="Text Box 12"/>
          <p:cNvSpPr txBox="1">
            <a:spLocks noChangeArrowheads="1"/>
          </p:cNvSpPr>
          <p:nvPr/>
        </p:nvSpPr>
        <p:spPr bwMode="auto">
          <a:xfrm>
            <a:off x="2886075" y="3044825"/>
            <a:ext cx="381000" cy="584200"/>
          </a:xfrm>
          <a:prstGeom prst="rect">
            <a:avLst/>
          </a:prstGeom>
          <a:noFill/>
          <a:ln w="9525">
            <a:noFill/>
            <a:miter lim="800000"/>
            <a:headEnd/>
            <a:tailEnd/>
          </a:ln>
        </p:spPr>
        <p:txBody>
          <a:bodyPr>
            <a:spAutoFit/>
          </a:bodyPr>
          <a:lstStyle/>
          <a:p>
            <a:pPr algn="ctr" eaLnBrk="1" hangingPunct="1">
              <a:spcBef>
                <a:spcPct val="50000"/>
              </a:spcBef>
            </a:pPr>
            <a:r>
              <a:rPr lang="en-US" altLang="zh-CN" sz="3200" b="1">
                <a:solidFill>
                  <a:srgbClr val="FF3300"/>
                </a:solidFill>
                <a:ea typeface="黑体" pitchFamily="49" charset="-122"/>
              </a:rPr>
              <a:t>-</a:t>
            </a:r>
            <a:endParaRPr lang="zh-CN" altLang="en-US" sz="3200" b="1">
              <a:solidFill>
                <a:srgbClr val="FF3300"/>
              </a:solidFill>
              <a:ea typeface="黑体" pitchFamily="49" charset="-122"/>
            </a:endParaRPr>
          </a:p>
        </p:txBody>
      </p:sp>
      <p:sp>
        <p:nvSpPr>
          <p:cNvPr id="9" name="Text Box 12"/>
          <p:cNvSpPr txBox="1">
            <a:spLocks noChangeArrowheads="1"/>
          </p:cNvSpPr>
          <p:nvPr/>
        </p:nvSpPr>
        <p:spPr bwMode="auto">
          <a:xfrm>
            <a:off x="4371975" y="3787775"/>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10" name="Text Box 12"/>
          <p:cNvSpPr txBox="1">
            <a:spLocks noChangeArrowheads="1"/>
          </p:cNvSpPr>
          <p:nvPr/>
        </p:nvSpPr>
        <p:spPr bwMode="auto">
          <a:xfrm>
            <a:off x="5815013" y="4344988"/>
            <a:ext cx="381000" cy="396875"/>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2" name="文本框 1"/>
          <p:cNvSpPr txBox="1"/>
          <p:nvPr/>
        </p:nvSpPr>
        <p:spPr>
          <a:xfrm>
            <a:off x="4252913" y="1757363"/>
            <a:ext cx="4349750" cy="400050"/>
          </a:xfrm>
          <a:prstGeom prst="rect">
            <a:avLst/>
          </a:prstGeom>
          <a:solidFill>
            <a:schemeClr val="accent5"/>
          </a:solidFill>
        </p:spPr>
        <p:txBody>
          <a:bodyPr>
            <a:spAutoFit/>
          </a:bodyPr>
          <a:lstStyle/>
          <a:p>
            <a:pPr>
              <a:defRPr/>
            </a:pPr>
            <a:r>
              <a:rPr lang="zh-CN" altLang="en-US" sz="2000" b="1" dirty="0">
                <a:latin typeface="黑体" panose="02010609060101010101" pitchFamily="49" charset="-122"/>
                <a:ea typeface="黑体" panose="02010609060101010101" pitchFamily="49" charset="-122"/>
              </a:rPr>
              <a:t>一般的动态分析，主要研究</a:t>
            </a:r>
            <a:r>
              <a:rPr lang="zh-CN" altLang="en-US" sz="2000" b="1" dirty="0">
                <a:solidFill>
                  <a:srgbClr val="0000FF"/>
                </a:solidFill>
                <a:latin typeface="黑体" panose="02010609060101010101" pitchFamily="49" charset="-122"/>
                <a:ea typeface="黑体" panose="02010609060101010101" pitchFamily="49" charset="-122"/>
              </a:rPr>
              <a:t>差模信号</a:t>
            </a:r>
          </a:p>
        </p:txBody>
      </p:sp>
      <p:sp>
        <p:nvSpPr>
          <p:cNvPr id="3" name="文本框 2"/>
          <p:cNvSpPr txBox="1">
            <a:spLocks noChangeArrowheads="1"/>
          </p:cNvSpPr>
          <p:nvPr/>
        </p:nvSpPr>
        <p:spPr bwMode="auto">
          <a:xfrm>
            <a:off x="1589088" y="5908675"/>
            <a:ext cx="4811712" cy="458788"/>
          </a:xfrm>
          <a:prstGeom prst="rect">
            <a:avLst/>
          </a:prstGeom>
          <a:solidFill>
            <a:schemeClr val="accent1"/>
          </a:solidFill>
          <a:ln w="9525">
            <a:noFill/>
            <a:miter lim="800000"/>
            <a:headEnd/>
            <a:tailEnd/>
          </a:ln>
        </p:spPr>
        <p:txBody>
          <a:bodyPr>
            <a:spAutoFit/>
          </a:bodyPr>
          <a:lstStyle/>
          <a:p>
            <a:r>
              <a:rPr lang="zh-CN" altLang="en-US" b="1"/>
              <a:t>给出三级放大电路的接法和特点？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linds(horizontal)">
                                      <p:cBhvr>
                                        <p:cTn id="36" dur="500"/>
                                        <p:tgtEl>
                                          <p:spTgt spid="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2" grpId="0" animBg="1"/>
      <p:bldP spid="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noChangeArrowheads="1"/>
          </p:cNvPicPr>
          <p:nvPr/>
        </p:nvPicPr>
        <p:blipFill>
          <a:blip r:embed="rId2"/>
          <a:srcRect/>
          <a:stretch>
            <a:fillRect/>
          </a:stretch>
        </p:blipFill>
        <p:spPr bwMode="auto">
          <a:xfrm>
            <a:off x="188913" y="3357563"/>
            <a:ext cx="2659062" cy="2992437"/>
          </a:xfrm>
          <a:prstGeom prst="rect">
            <a:avLst/>
          </a:prstGeom>
          <a:noFill/>
          <a:ln w="9525">
            <a:noFill/>
            <a:miter lim="800000"/>
            <a:headEnd/>
            <a:tailEnd/>
          </a:ln>
        </p:spPr>
      </p:pic>
      <p:pic>
        <p:nvPicPr>
          <p:cNvPr id="135171" name="Picture 2"/>
          <p:cNvPicPr>
            <a:picLocks noChangeAspect="1" noChangeArrowheads="1"/>
          </p:cNvPicPr>
          <p:nvPr/>
        </p:nvPicPr>
        <p:blipFill>
          <a:blip r:embed="rId3"/>
          <a:srcRect/>
          <a:stretch>
            <a:fillRect/>
          </a:stretch>
        </p:blipFill>
        <p:spPr bwMode="auto">
          <a:xfrm>
            <a:off x="0" y="0"/>
            <a:ext cx="8883650" cy="768350"/>
          </a:xfrm>
          <a:prstGeom prst="rect">
            <a:avLst/>
          </a:prstGeom>
          <a:noFill/>
          <a:ln w="9525">
            <a:noFill/>
            <a:miter lim="800000"/>
            <a:headEnd/>
            <a:tailEnd/>
          </a:ln>
        </p:spPr>
      </p:pic>
      <p:pic>
        <p:nvPicPr>
          <p:cNvPr id="135172" name="Picture 3"/>
          <p:cNvPicPr>
            <a:picLocks noChangeAspect="1" noChangeArrowheads="1"/>
          </p:cNvPicPr>
          <p:nvPr/>
        </p:nvPicPr>
        <p:blipFill>
          <a:blip r:embed="rId4"/>
          <a:srcRect/>
          <a:stretch>
            <a:fillRect/>
          </a:stretch>
        </p:blipFill>
        <p:spPr bwMode="auto">
          <a:xfrm>
            <a:off x="769938" y="763588"/>
            <a:ext cx="3600450" cy="2327275"/>
          </a:xfrm>
          <a:prstGeom prst="rect">
            <a:avLst/>
          </a:prstGeom>
          <a:noFill/>
          <a:ln w="9525">
            <a:noFill/>
            <a:miter lim="800000"/>
            <a:headEnd/>
            <a:tailEnd/>
          </a:ln>
        </p:spPr>
      </p:pic>
      <p:pic>
        <p:nvPicPr>
          <p:cNvPr id="785410" name="Picture 2"/>
          <p:cNvPicPr>
            <a:picLocks noChangeAspect="1" noChangeArrowheads="1"/>
          </p:cNvPicPr>
          <p:nvPr/>
        </p:nvPicPr>
        <p:blipFill>
          <a:blip r:embed="rId5"/>
          <a:srcRect/>
          <a:stretch>
            <a:fillRect/>
          </a:stretch>
        </p:blipFill>
        <p:spPr bwMode="auto">
          <a:xfrm>
            <a:off x="2838450" y="3181350"/>
            <a:ext cx="2152650" cy="3209925"/>
          </a:xfrm>
          <a:prstGeom prst="rect">
            <a:avLst/>
          </a:prstGeom>
          <a:noFill/>
          <a:ln w="9525">
            <a:noFill/>
            <a:miter lim="800000"/>
            <a:headEnd/>
            <a:tailEnd/>
          </a:ln>
        </p:spPr>
      </p:pic>
      <p:pic>
        <p:nvPicPr>
          <p:cNvPr id="785411" name="Picture 3"/>
          <p:cNvPicPr>
            <a:picLocks noChangeAspect="1" noChangeArrowheads="1"/>
          </p:cNvPicPr>
          <p:nvPr/>
        </p:nvPicPr>
        <p:blipFill>
          <a:blip r:embed="rId6"/>
          <a:srcRect/>
          <a:stretch>
            <a:fillRect/>
          </a:stretch>
        </p:blipFill>
        <p:spPr bwMode="auto">
          <a:xfrm>
            <a:off x="4986338" y="3181350"/>
            <a:ext cx="3086100" cy="3267075"/>
          </a:xfrm>
          <a:prstGeom prst="rect">
            <a:avLst/>
          </a:prstGeom>
          <a:noFill/>
          <a:ln w="9525">
            <a:noFill/>
            <a:miter lim="800000"/>
            <a:headEnd/>
            <a:tailEnd/>
          </a:ln>
        </p:spPr>
      </p:pic>
      <p:sp>
        <p:nvSpPr>
          <p:cNvPr id="2" name="椭圆 1"/>
          <p:cNvSpPr>
            <a:spLocks noChangeArrowheads="1"/>
          </p:cNvSpPr>
          <p:nvPr/>
        </p:nvSpPr>
        <p:spPr bwMode="auto">
          <a:xfrm>
            <a:off x="523875" y="3429000"/>
            <a:ext cx="547688" cy="636588"/>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4" name="文本框 3"/>
          <p:cNvSpPr txBox="1">
            <a:spLocks noChangeArrowheads="1"/>
          </p:cNvSpPr>
          <p:nvPr/>
        </p:nvSpPr>
        <p:spPr bwMode="auto">
          <a:xfrm>
            <a:off x="5235575" y="2386013"/>
            <a:ext cx="3551238" cy="831850"/>
          </a:xfrm>
          <a:prstGeom prst="rect">
            <a:avLst/>
          </a:prstGeom>
          <a:solidFill>
            <a:schemeClr val="accent1"/>
          </a:solidFill>
          <a:ln w="9525">
            <a:noFill/>
            <a:miter lim="800000"/>
            <a:headEnd/>
            <a:tailEnd/>
          </a:ln>
        </p:spPr>
        <p:txBody>
          <a:bodyPr>
            <a:spAutoFit/>
          </a:bodyPr>
          <a:lstStyle/>
          <a:p>
            <a:r>
              <a:rPr lang="zh-CN" altLang="en-US" b="1">
                <a:solidFill>
                  <a:srgbClr val="0000FF"/>
                </a:solidFill>
              </a:rPr>
              <a:t>注意电流方向，以第一级</a:t>
            </a:r>
            <a:r>
              <a:rPr lang="en-US" altLang="zh-CN" b="1">
                <a:solidFill>
                  <a:srgbClr val="0000FF"/>
                </a:solidFill>
              </a:rPr>
              <a:t>i</a:t>
            </a:r>
            <a:r>
              <a:rPr lang="en-US" altLang="zh-CN" b="1" baseline="-25000">
                <a:solidFill>
                  <a:srgbClr val="0000FF"/>
                </a:solidFill>
              </a:rPr>
              <a:t>b1</a:t>
            </a:r>
            <a:r>
              <a:rPr lang="zh-CN" altLang="en-US" b="1">
                <a:solidFill>
                  <a:srgbClr val="0000FF"/>
                </a:solidFill>
              </a:rPr>
              <a:t>方向为参考依据！</a:t>
            </a:r>
          </a:p>
        </p:txBody>
      </p:sp>
      <p:sp>
        <p:nvSpPr>
          <p:cNvPr id="9" name="椭圆 8"/>
          <p:cNvSpPr>
            <a:spLocks noChangeArrowheads="1"/>
          </p:cNvSpPr>
          <p:nvPr/>
        </p:nvSpPr>
        <p:spPr bwMode="auto">
          <a:xfrm>
            <a:off x="1314450" y="3756025"/>
            <a:ext cx="639763" cy="900113"/>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10" name="椭圆 9"/>
          <p:cNvSpPr>
            <a:spLocks noChangeArrowheads="1"/>
          </p:cNvSpPr>
          <p:nvPr/>
        </p:nvSpPr>
        <p:spPr bwMode="auto">
          <a:xfrm>
            <a:off x="2867025" y="3535363"/>
            <a:ext cx="547688" cy="638175"/>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11" name="椭圆 10"/>
          <p:cNvSpPr>
            <a:spLocks noChangeArrowheads="1"/>
          </p:cNvSpPr>
          <p:nvPr/>
        </p:nvSpPr>
        <p:spPr bwMode="auto">
          <a:xfrm>
            <a:off x="3652838" y="3568700"/>
            <a:ext cx="547687" cy="636588"/>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12" name="椭圆 11"/>
          <p:cNvSpPr>
            <a:spLocks noChangeArrowheads="1"/>
          </p:cNvSpPr>
          <p:nvPr/>
        </p:nvSpPr>
        <p:spPr bwMode="auto">
          <a:xfrm>
            <a:off x="5068888" y="3217863"/>
            <a:ext cx="547687" cy="636587"/>
          </a:xfrm>
          <a:prstGeom prst="ellipse">
            <a:avLst/>
          </a:prstGeom>
          <a:noFill/>
          <a:ln w="9525" algn="ctr">
            <a:solidFill>
              <a:srgbClr val="FF0000"/>
            </a:solidFill>
            <a:round/>
            <a:headEnd/>
            <a:tailEnd/>
          </a:ln>
        </p:spPr>
        <p:txBody>
          <a:bodyPr/>
          <a:lstStyle/>
          <a:p>
            <a:pPr algn="ctr" eaLnBrk="1" hangingPunct="1"/>
            <a:endParaRPr lang="zh-CN" altLang="en-US"/>
          </a:p>
        </p:txBody>
      </p:sp>
      <p:sp>
        <p:nvSpPr>
          <p:cNvPr id="13" name="椭圆 12"/>
          <p:cNvSpPr>
            <a:spLocks noChangeArrowheads="1"/>
          </p:cNvSpPr>
          <p:nvPr/>
        </p:nvSpPr>
        <p:spPr bwMode="auto">
          <a:xfrm>
            <a:off x="6127750" y="3322638"/>
            <a:ext cx="549275" cy="636587"/>
          </a:xfrm>
          <a:prstGeom prst="ellipse">
            <a:avLst/>
          </a:prstGeom>
          <a:noFill/>
          <a:ln w="9525" algn="ctr">
            <a:solidFill>
              <a:srgbClr val="FF0000"/>
            </a:solidFill>
            <a:round/>
            <a:headEnd/>
            <a:tailEnd/>
          </a:ln>
        </p:spPr>
        <p:txBody>
          <a:bodyPr/>
          <a:lstStyle/>
          <a:p>
            <a:pPr algn="ctr" eaLnBrk="1" hangingPunct="1"/>
            <a:endParaRPr lang="zh-CN" altLang="en-US"/>
          </a:p>
        </p:txBody>
      </p:sp>
      <p:cxnSp>
        <p:nvCxnSpPr>
          <p:cNvPr id="135182" name="直接连接符 13"/>
          <p:cNvCxnSpPr>
            <a:cxnSpLocks noChangeShapeType="1"/>
          </p:cNvCxnSpPr>
          <p:nvPr/>
        </p:nvCxnSpPr>
        <p:spPr bwMode="auto">
          <a:xfrm flipH="1">
            <a:off x="2530475" y="887413"/>
            <a:ext cx="0" cy="2289175"/>
          </a:xfrm>
          <a:prstGeom prst="line">
            <a:avLst/>
          </a:prstGeom>
          <a:noFill/>
          <a:ln w="9525" algn="ctr">
            <a:solidFill>
              <a:schemeClr val="tx1"/>
            </a:solidFill>
            <a:prstDash val="dash"/>
            <a:round/>
            <a:headEnd/>
            <a:tailEnd/>
          </a:ln>
        </p:spPr>
      </p:cxnSp>
      <p:cxnSp>
        <p:nvCxnSpPr>
          <p:cNvPr id="135183" name="直接连接符 14"/>
          <p:cNvCxnSpPr>
            <a:cxnSpLocks noChangeShapeType="1"/>
          </p:cNvCxnSpPr>
          <p:nvPr/>
        </p:nvCxnSpPr>
        <p:spPr bwMode="auto">
          <a:xfrm>
            <a:off x="3087688" y="842963"/>
            <a:ext cx="0" cy="2190750"/>
          </a:xfrm>
          <a:prstGeom prst="line">
            <a:avLst/>
          </a:prstGeom>
          <a:noFill/>
          <a:ln w="9525" algn="ctr">
            <a:solidFill>
              <a:schemeClr val="tx1"/>
            </a:solidFill>
            <a:prstDash val="dash"/>
            <a:round/>
            <a:headEnd/>
            <a:tailEnd/>
          </a:ln>
        </p:spPr>
      </p:cxnSp>
      <p:cxnSp>
        <p:nvCxnSpPr>
          <p:cNvPr id="16" name="连接符: 肘形 15"/>
          <p:cNvCxnSpPr>
            <a:cxnSpLocks/>
          </p:cNvCxnSpPr>
          <p:nvPr/>
        </p:nvCxnSpPr>
        <p:spPr>
          <a:xfrm>
            <a:off x="985838" y="2095500"/>
            <a:ext cx="1228725" cy="95250"/>
          </a:xfrm>
          <a:prstGeom prst="bentConnector3">
            <a:avLst>
              <a:gd name="adj1" fmla="val 2688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箭头: 右弧形 7"/>
          <p:cNvSpPr>
            <a:spLocks noChangeArrowheads="1"/>
          </p:cNvSpPr>
          <p:nvPr/>
        </p:nvSpPr>
        <p:spPr bwMode="auto">
          <a:xfrm>
            <a:off x="338138" y="4205288"/>
            <a:ext cx="361950" cy="1120775"/>
          </a:xfrm>
          <a:prstGeom prst="curvedLeftArrow">
            <a:avLst>
              <a:gd name="adj1" fmla="val 24987"/>
              <a:gd name="adj2" fmla="val 49988"/>
              <a:gd name="adj3" fmla="val 25000"/>
            </a:avLst>
          </a:prstGeom>
          <a:solidFill>
            <a:schemeClr val="accent1"/>
          </a:solidFill>
          <a:ln w="9525" algn="ctr">
            <a:solidFill>
              <a:schemeClr val="tx1"/>
            </a:solidFill>
            <a:round/>
            <a:headEnd/>
            <a:tailEnd/>
          </a:ln>
        </p:spPr>
        <p:txBody>
          <a:bodyPr/>
          <a:lstStyle/>
          <a:p>
            <a:pPr algn="ctr" eaLnBrk="1" hangingPunct="1"/>
            <a:endParaRPr lang="zh-CN" altLang="en-US"/>
          </a:p>
        </p:txBody>
      </p:sp>
      <p:sp>
        <p:nvSpPr>
          <p:cNvPr id="14" name="椭圆 13"/>
          <p:cNvSpPr>
            <a:spLocks noChangeArrowheads="1"/>
          </p:cNvSpPr>
          <p:nvPr/>
        </p:nvSpPr>
        <p:spPr bwMode="auto">
          <a:xfrm>
            <a:off x="1314450" y="1092200"/>
            <a:ext cx="350838" cy="439738"/>
          </a:xfrm>
          <a:prstGeom prst="ellipse">
            <a:avLst/>
          </a:prstGeom>
          <a:noFill/>
          <a:ln w="19050" algn="ctr">
            <a:solidFill>
              <a:srgbClr val="FF0000"/>
            </a:solidFill>
            <a:prstDash val="sysDot"/>
            <a:round/>
            <a:headEnd/>
            <a:tailEnd/>
          </a:ln>
        </p:spPr>
        <p:txBody>
          <a:bodyPr/>
          <a:lstStyle/>
          <a:p>
            <a:pPr algn="ctr" eaLnBrk="1" hangingPunct="1"/>
            <a:endParaRPr lang="zh-CN" altLang="en-US"/>
          </a:p>
        </p:txBody>
      </p:sp>
      <p:sp>
        <p:nvSpPr>
          <p:cNvPr id="23" name="椭圆 22"/>
          <p:cNvSpPr>
            <a:spLocks noChangeArrowheads="1"/>
          </p:cNvSpPr>
          <p:nvPr/>
        </p:nvSpPr>
        <p:spPr bwMode="auto">
          <a:xfrm>
            <a:off x="2211388" y="4065588"/>
            <a:ext cx="431800" cy="439737"/>
          </a:xfrm>
          <a:prstGeom prst="ellipse">
            <a:avLst/>
          </a:prstGeom>
          <a:noFill/>
          <a:ln w="19050" algn="ctr">
            <a:solidFill>
              <a:srgbClr val="FF0000"/>
            </a:solidFill>
            <a:prstDash val="sysDot"/>
            <a:round/>
            <a:headEnd/>
            <a:tailEnd/>
          </a:ln>
        </p:spPr>
        <p:txBody>
          <a:body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85410"/>
                                        </p:tgtEl>
                                        <p:attrNameLst>
                                          <p:attrName>style.visibility</p:attrName>
                                        </p:attrNameLst>
                                      </p:cBhvr>
                                      <p:to>
                                        <p:strVal val="visible"/>
                                      </p:to>
                                    </p:set>
                                    <p:animEffect transition="in" filter="blinds(horizontal)">
                                      <p:cBhvr>
                                        <p:cTn id="25" dur="500"/>
                                        <p:tgtEl>
                                          <p:spTgt spid="7854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785411"/>
                                        </p:tgtEl>
                                        <p:attrNameLst>
                                          <p:attrName>style.visibility</p:attrName>
                                        </p:attrNameLst>
                                      </p:cBhvr>
                                      <p:to>
                                        <p:strVal val="visible"/>
                                      </p:to>
                                    </p:set>
                                    <p:animEffect transition="in" filter="blinds(horizontal)">
                                      <p:cBhvr>
                                        <p:cTn id="30" dur="500"/>
                                        <p:tgtEl>
                                          <p:spTgt spid="78541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9" grpId="0" animBg="1"/>
      <p:bldP spid="10" grpId="0" animBg="1"/>
      <p:bldP spid="11" grpId="0" animBg="1"/>
      <p:bldP spid="12" grpId="0" animBg="1"/>
      <p:bldP spid="13" grpId="0" animBg="1"/>
      <p:bldP spid="8" grpId="0" animBg="1"/>
      <p:bldP spid="14" grpId="0" animBg="1"/>
      <p:bldP spid="2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8226" name="Picture 2"/>
          <p:cNvPicPr>
            <a:picLocks noChangeAspect="1" noChangeArrowheads="1"/>
          </p:cNvPicPr>
          <p:nvPr/>
        </p:nvPicPr>
        <p:blipFill>
          <a:blip r:embed="rId2"/>
          <a:srcRect/>
          <a:stretch>
            <a:fillRect/>
          </a:stretch>
        </p:blipFill>
        <p:spPr bwMode="auto">
          <a:xfrm>
            <a:off x="246063" y="3182938"/>
            <a:ext cx="3851275" cy="512762"/>
          </a:xfrm>
          <a:prstGeom prst="rect">
            <a:avLst/>
          </a:prstGeom>
          <a:noFill/>
          <a:ln w="9525">
            <a:noFill/>
            <a:miter lim="800000"/>
            <a:headEnd/>
            <a:tailEnd/>
          </a:ln>
        </p:spPr>
      </p:pic>
      <p:pic>
        <p:nvPicPr>
          <p:cNvPr id="136195" name="Picture 3"/>
          <p:cNvPicPr>
            <a:picLocks noChangeAspect="1" noChangeArrowheads="1"/>
          </p:cNvPicPr>
          <p:nvPr/>
        </p:nvPicPr>
        <p:blipFill>
          <a:blip r:embed="rId3"/>
          <a:srcRect/>
          <a:stretch>
            <a:fillRect/>
          </a:stretch>
        </p:blipFill>
        <p:spPr bwMode="auto">
          <a:xfrm>
            <a:off x="561975" y="0"/>
            <a:ext cx="7548563" cy="3216275"/>
          </a:xfrm>
          <a:prstGeom prst="rect">
            <a:avLst/>
          </a:prstGeom>
          <a:noFill/>
          <a:ln w="9525">
            <a:noFill/>
            <a:miter lim="800000"/>
            <a:headEnd/>
            <a:tailEnd/>
          </a:ln>
        </p:spPr>
      </p:pic>
      <p:pic>
        <p:nvPicPr>
          <p:cNvPr id="948227" name="Picture 3"/>
          <p:cNvPicPr>
            <a:picLocks noChangeAspect="1" noChangeArrowheads="1"/>
          </p:cNvPicPr>
          <p:nvPr/>
        </p:nvPicPr>
        <p:blipFill>
          <a:blip r:embed="rId4"/>
          <a:srcRect/>
          <a:stretch>
            <a:fillRect/>
          </a:stretch>
        </p:blipFill>
        <p:spPr bwMode="auto">
          <a:xfrm>
            <a:off x="676275" y="3633788"/>
            <a:ext cx="5046663" cy="855662"/>
          </a:xfrm>
          <a:prstGeom prst="rect">
            <a:avLst/>
          </a:prstGeom>
          <a:noFill/>
          <a:ln w="9525">
            <a:noFill/>
            <a:miter lim="800000"/>
            <a:headEnd/>
            <a:tailEnd/>
          </a:ln>
        </p:spPr>
      </p:pic>
      <p:pic>
        <p:nvPicPr>
          <p:cNvPr id="948228" name="Picture 4"/>
          <p:cNvPicPr>
            <a:picLocks noChangeAspect="1" noChangeArrowheads="1"/>
          </p:cNvPicPr>
          <p:nvPr/>
        </p:nvPicPr>
        <p:blipFill>
          <a:blip r:embed="rId5"/>
          <a:srcRect/>
          <a:stretch>
            <a:fillRect/>
          </a:stretch>
        </p:blipFill>
        <p:spPr bwMode="auto">
          <a:xfrm>
            <a:off x="695325" y="4518025"/>
            <a:ext cx="5124450" cy="863600"/>
          </a:xfrm>
          <a:prstGeom prst="rect">
            <a:avLst/>
          </a:prstGeom>
          <a:noFill/>
          <a:ln w="9525">
            <a:noFill/>
            <a:miter lim="800000"/>
            <a:headEnd/>
            <a:tailEnd/>
          </a:ln>
        </p:spPr>
      </p:pic>
      <p:pic>
        <p:nvPicPr>
          <p:cNvPr id="948229" name="Picture 5"/>
          <p:cNvPicPr>
            <a:picLocks noChangeAspect="1" noChangeArrowheads="1"/>
          </p:cNvPicPr>
          <p:nvPr/>
        </p:nvPicPr>
        <p:blipFill>
          <a:blip r:embed="rId6"/>
          <a:srcRect/>
          <a:stretch>
            <a:fillRect/>
          </a:stretch>
        </p:blipFill>
        <p:spPr bwMode="auto">
          <a:xfrm>
            <a:off x="790575" y="5445125"/>
            <a:ext cx="3519488" cy="996950"/>
          </a:xfrm>
          <a:prstGeom prst="rect">
            <a:avLst/>
          </a:prstGeom>
          <a:noFill/>
          <a:ln w="9525">
            <a:noFill/>
            <a:miter lim="800000"/>
            <a:headEnd/>
            <a:tailEnd/>
          </a:ln>
        </p:spPr>
      </p:pic>
      <p:pic>
        <p:nvPicPr>
          <p:cNvPr id="948230" name="Picture 6"/>
          <p:cNvPicPr>
            <a:picLocks noChangeAspect="1" noChangeArrowheads="1"/>
          </p:cNvPicPr>
          <p:nvPr/>
        </p:nvPicPr>
        <p:blipFill>
          <a:blip r:embed="rId7"/>
          <a:srcRect/>
          <a:stretch>
            <a:fillRect/>
          </a:stretch>
        </p:blipFill>
        <p:spPr bwMode="auto">
          <a:xfrm>
            <a:off x="6348413" y="3289300"/>
            <a:ext cx="2357437" cy="401638"/>
          </a:xfrm>
          <a:prstGeom prst="rect">
            <a:avLst/>
          </a:prstGeom>
          <a:noFill/>
          <a:ln w="9525">
            <a:noFill/>
            <a:miter lim="800000"/>
            <a:headEnd/>
            <a:tailEnd/>
          </a:ln>
        </p:spPr>
      </p:pic>
      <p:pic>
        <p:nvPicPr>
          <p:cNvPr id="948231" name="Picture 7"/>
          <p:cNvPicPr>
            <a:picLocks noChangeAspect="1" noChangeArrowheads="1"/>
          </p:cNvPicPr>
          <p:nvPr/>
        </p:nvPicPr>
        <p:blipFill>
          <a:blip r:embed="rId8"/>
          <a:srcRect/>
          <a:stretch>
            <a:fillRect/>
          </a:stretch>
        </p:blipFill>
        <p:spPr bwMode="auto">
          <a:xfrm>
            <a:off x="6418263" y="4189413"/>
            <a:ext cx="2003425" cy="1035050"/>
          </a:xfrm>
          <a:prstGeom prst="rect">
            <a:avLst/>
          </a:prstGeom>
          <a:noFill/>
          <a:ln w="9525">
            <a:noFill/>
            <a:miter lim="800000"/>
            <a:headEnd/>
            <a:tailEnd/>
          </a:ln>
        </p:spPr>
      </p:pic>
      <p:sp>
        <p:nvSpPr>
          <p:cNvPr id="136201" name="Freeform 364"/>
          <p:cNvSpPr>
            <a:spLocks/>
          </p:cNvSpPr>
          <p:nvPr/>
        </p:nvSpPr>
        <p:spPr bwMode="auto">
          <a:xfrm>
            <a:off x="3082925" y="1590675"/>
            <a:ext cx="381000" cy="762000"/>
          </a:xfrm>
          <a:custGeom>
            <a:avLst/>
            <a:gdLst>
              <a:gd name="T0" fmla="*/ 0 w 240"/>
              <a:gd name="T1" fmla="*/ 2147483647 h 384"/>
              <a:gd name="T2" fmla="*/ 0 w 240"/>
              <a:gd name="T3" fmla="*/ 0 h 384"/>
              <a:gd name="T4" fmla="*/ 2147483647 w 240"/>
              <a:gd name="T5" fmla="*/ 0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0" y="384"/>
                </a:moveTo>
                <a:lnTo>
                  <a:pt x="0" y="0"/>
                </a:lnTo>
                <a:lnTo>
                  <a:pt x="240" y="0"/>
                </a:lnTo>
              </a:path>
            </a:pathLst>
          </a:custGeom>
          <a:noFill/>
          <a:ln w="38100">
            <a:solidFill>
              <a:schemeClr val="accent2"/>
            </a:solidFill>
            <a:round/>
            <a:headEnd/>
            <a:tailEnd type="triangle" w="sm" len="lg"/>
          </a:ln>
        </p:spPr>
        <p:txBody>
          <a:bodyPr/>
          <a:lstStyle/>
          <a:p>
            <a:endParaRPr lang="zh-CN" altLang="en-US"/>
          </a:p>
        </p:txBody>
      </p:sp>
      <p:sp>
        <p:nvSpPr>
          <p:cNvPr id="136202" name="Text Box 365"/>
          <p:cNvSpPr txBox="1">
            <a:spLocks noChangeArrowheads="1"/>
          </p:cNvSpPr>
          <p:nvPr/>
        </p:nvSpPr>
        <p:spPr bwMode="auto">
          <a:xfrm>
            <a:off x="3036888" y="1881188"/>
            <a:ext cx="838200" cy="461962"/>
          </a:xfrm>
          <a:prstGeom prst="rect">
            <a:avLst/>
          </a:prstGeom>
          <a:noFill/>
          <a:ln w="38100">
            <a:noFill/>
            <a:miter lim="800000"/>
            <a:headEnd/>
            <a:tailEnd type="none" w="sm" len="lg"/>
          </a:ln>
        </p:spPr>
        <p:txBody>
          <a:bodyPr>
            <a:spAutoFit/>
          </a:bodyPr>
          <a:lstStyle/>
          <a:p>
            <a:pPr eaLnBrk="1" hangingPunct="1">
              <a:spcBef>
                <a:spcPct val="50000"/>
              </a:spcBef>
            </a:pPr>
            <a:r>
              <a:rPr lang="en-US" altLang="zh-CN" i="1" dirty="0">
                <a:solidFill>
                  <a:schemeClr val="accent2"/>
                </a:solidFill>
              </a:rPr>
              <a:t>R</a:t>
            </a:r>
            <a:r>
              <a:rPr lang="en-US" altLang="zh-CN" baseline="-25000" dirty="0">
                <a:solidFill>
                  <a:schemeClr val="accent2"/>
                </a:solidFill>
              </a:rPr>
              <a:t>i2</a:t>
            </a:r>
          </a:p>
        </p:txBody>
      </p:sp>
      <p:sp>
        <p:nvSpPr>
          <p:cNvPr id="136203" name="Freeform 364"/>
          <p:cNvSpPr>
            <a:spLocks/>
          </p:cNvSpPr>
          <p:nvPr/>
        </p:nvSpPr>
        <p:spPr bwMode="auto">
          <a:xfrm>
            <a:off x="5446713" y="1577975"/>
            <a:ext cx="381000" cy="762000"/>
          </a:xfrm>
          <a:custGeom>
            <a:avLst/>
            <a:gdLst>
              <a:gd name="T0" fmla="*/ 0 w 240"/>
              <a:gd name="T1" fmla="*/ 2147483647 h 384"/>
              <a:gd name="T2" fmla="*/ 0 w 240"/>
              <a:gd name="T3" fmla="*/ 0 h 384"/>
              <a:gd name="T4" fmla="*/ 2147483647 w 240"/>
              <a:gd name="T5" fmla="*/ 0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0" y="384"/>
                </a:moveTo>
                <a:lnTo>
                  <a:pt x="0" y="0"/>
                </a:lnTo>
                <a:lnTo>
                  <a:pt x="240" y="0"/>
                </a:lnTo>
              </a:path>
            </a:pathLst>
          </a:custGeom>
          <a:noFill/>
          <a:ln w="38100">
            <a:solidFill>
              <a:schemeClr val="accent2"/>
            </a:solidFill>
            <a:round/>
            <a:headEnd/>
            <a:tailEnd type="triangle" w="sm" len="lg"/>
          </a:ln>
        </p:spPr>
        <p:txBody>
          <a:bodyPr/>
          <a:lstStyle/>
          <a:p>
            <a:endParaRPr lang="zh-CN" altLang="en-US"/>
          </a:p>
        </p:txBody>
      </p:sp>
      <p:sp>
        <p:nvSpPr>
          <p:cNvPr id="136204" name="Text Box 365"/>
          <p:cNvSpPr txBox="1">
            <a:spLocks noChangeArrowheads="1"/>
          </p:cNvSpPr>
          <p:nvPr/>
        </p:nvSpPr>
        <p:spPr bwMode="auto">
          <a:xfrm>
            <a:off x="5400675" y="1868488"/>
            <a:ext cx="838200" cy="461962"/>
          </a:xfrm>
          <a:prstGeom prst="rect">
            <a:avLst/>
          </a:prstGeom>
          <a:noFill/>
          <a:ln w="38100">
            <a:noFill/>
            <a:miter lim="800000"/>
            <a:headEnd/>
            <a:tailEnd type="none" w="sm" len="lg"/>
          </a:ln>
        </p:spPr>
        <p:txBody>
          <a:bodyPr>
            <a:spAutoFit/>
          </a:bodyPr>
          <a:lstStyle/>
          <a:p>
            <a:pPr eaLnBrk="1" hangingPunct="1">
              <a:spcBef>
                <a:spcPct val="50000"/>
              </a:spcBef>
            </a:pPr>
            <a:r>
              <a:rPr lang="en-US" altLang="zh-CN" i="1">
                <a:solidFill>
                  <a:schemeClr val="accent2"/>
                </a:solidFill>
              </a:rPr>
              <a:t>R</a:t>
            </a:r>
            <a:r>
              <a:rPr lang="en-US" altLang="zh-CN" baseline="-25000">
                <a:solidFill>
                  <a:schemeClr val="accent2"/>
                </a:solidFill>
              </a:rPr>
              <a:t>i3</a:t>
            </a:r>
          </a:p>
        </p:txBody>
      </p:sp>
      <p:sp>
        <p:nvSpPr>
          <p:cNvPr id="2" name="文本框 1"/>
          <p:cNvSpPr txBox="1">
            <a:spLocks noChangeArrowheads="1"/>
          </p:cNvSpPr>
          <p:nvPr/>
        </p:nvSpPr>
        <p:spPr bwMode="auto">
          <a:xfrm>
            <a:off x="5216525" y="5780088"/>
            <a:ext cx="3489325" cy="461962"/>
          </a:xfrm>
          <a:prstGeom prst="rect">
            <a:avLst/>
          </a:prstGeom>
          <a:solidFill>
            <a:schemeClr val="accent1"/>
          </a:solidFill>
          <a:ln w="9525">
            <a:noFill/>
            <a:miter lim="800000"/>
            <a:headEnd/>
            <a:tailEnd/>
          </a:ln>
        </p:spPr>
        <p:txBody>
          <a:bodyPr>
            <a:spAutoFit/>
          </a:bodyPr>
          <a:lstStyle/>
          <a:p>
            <a:r>
              <a:rPr lang="zh-CN" altLang="en-US" dirty="0"/>
              <a:t>需要求出</a:t>
            </a:r>
            <a:r>
              <a:rPr lang="en-US" altLang="zh-CN" dirty="0">
                <a:solidFill>
                  <a:srgbClr val="FF0000"/>
                </a:solidFill>
              </a:rPr>
              <a:t>R</a:t>
            </a:r>
            <a:r>
              <a:rPr lang="en-US" altLang="zh-CN" baseline="-25000" dirty="0">
                <a:solidFill>
                  <a:srgbClr val="FF0000"/>
                </a:solidFill>
              </a:rPr>
              <a:t>i2</a:t>
            </a:r>
            <a:r>
              <a:rPr lang="zh-CN" altLang="en-US" dirty="0">
                <a:solidFill>
                  <a:srgbClr val="FF0000"/>
                </a:solidFill>
              </a:rPr>
              <a:t>和</a:t>
            </a:r>
            <a:r>
              <a:rPr lang="en-US" altLang="zh-CN" dirty="0">
                <a:solidFill>
                  <a:srgbClr val="FF0000"/>
                </a:solidFill>
              </a:rPr>
              <a:t>R</a:t>
            </a:r>
            <a:r>
              <a:rPr lang="en-US" altLang="zh-CN" baseline="-25000" dirty="0">
                <a:solidFill>
                  <a:srgbClr val="FF0000"/>
                </a:solidFill>
              </a:rPr>
              <a:t>i3</a:t>
            </a:r>
            <a:r>
              <a:rPr lang="zh-CN" altLang="en-US" dirty="0">
                <a:solidFill>
                  <a:srgbClr val="FF0000"/>
                </a:solidFill>
              </a:rPr>
              <a:t>，</a:t>
            </a:r>
            <a:r>
              <a:rPr lang="en-US" altLang="zh-CN" dirty="0">
                <a:solidFill>
                  <a:srgbClr val="FF0000"/>
                </a:solidFill>
              </a:rPr>
              <a:t>R</a:t>
            </a:r>
            <a:r>
              <a:rPr lang="en-US" altLang="zh-CN" baseline="-25000" dirty="0">
                <a:solidFill>
                  <a:srgbClr val="FF0000"/>
                </a:solidFill>
              </a:rPr>
              <a:t>o2</a:t>
            </a:r>
          </a:p>
        </p:txBody>
      </p:sp>
      <p:sp>
        <p:nvSpPr>
          <p:cNvPr id="14" name="椭圆 13"/>
          <p:cNvSpPr>
            <a:spLocks noChangeArrowheads="1"/>
          </p:cNvSpPr>
          <p:nvPr/>
        </p:nvSpPr>
        <p:spPr bwMode="auto">
          <a:xfrm>
            <a:off x="3463925" y="3616325"/>
            <a:ext cx="1982788" cy="439738"/>
          </a:xfrm>
          <a:prstGeom prst="ellipse">
            <a:avLst/>
          </a:prstGeom>
          <a:noFill/>
          <a:ln w="19050" algn="ctr">
            <a:solidFill>
              <a:srgbClr val="FF0000"/>
            </a:solidFill>
            <a:prstDash val="sysDot"/>
            <a:round/>
            <a:headEnd/>
            <a:tailEnd/>
          </a:ln>
        </p:spPr>
        <p:txBody>
          <a:bodyPr/>
          <a:lstStyle/>
          <a:p>
            <a:pPr algn="ctr" eaLnBrk="1" hangingPunct="1"/>
            <a:endParaRPr lang="zh-CN" altLang="en-US"/>
          </a:p>
        </p:txBody>
      </p:sp>
      <p:sp>
        <p:nvSpPr>
          <p:cNvPr id="15" name="椭圆 14"/>
          <p:cNvSpPr>
            <a:spLocks noChangeArrowheads="1"/>
          </p:cNvSpPr>
          <p:nvPr/>
        </p:nvSpPr>
        <p:spPr bwMode="auto">
          <a:xfrm>
            <a:off x="3495675" y="4486275"/>
            <a:ext cx="1982788" cy="441325"/>
          </a:xfrm>
          <a:prstGeom prst="ellipse">
            <a:avLst/>
          </a:prstGeom>
          <a:noFill/>
          <a:ln w="19050" algn="ctr">
            <a:solidFill>
              <a:srgbClr val="FF0000"/>
            </a:solidFill>
            <a:prstDash val="sysDot"/>
            <a:round/>
            <a:headEnd/>
            <a:tailEnd/>
          </a:ln>
        </p:spPr>
        <p:txBody>
          <a:bodyPr/>
          <a:lstStyle/>
          <a:p>
            <a:pPr algn="ctr" eaLnBrk="1" hangingPunct="1"/>
            <a:endParaRPr lang="zh-CN" altLang="en-US"/>
          </a:p>
        </p:txBody>
      </p:sp>
      <p:sp>
        <p:nvSpPr>
          <p:cNvPr id="16" name="椭圆 15"/>
          <p:cNvSpPr>
            <a:spLocks noChangeArrowheads="1"/>
          </p:cNvSpPr>
          <p:nvPr/>
        </p:nvSpPr>
        <p:spPr bwMode="auto">
          <a:xfrm flipH="1">
            <a:off x="8132763" y="4486275"/>
            <a:ext cx="228600" cy="441325"/>
          </a:xfrm>
          <a:prstGeom prst="ellipse">
            <a:avLst/>
          </a:prstGeom>
          <a:noFill/>
          <a:ln w="19050" algn="ctr">
            <a:solidFill>
              <a:srgbClr val="FF0000"/>
            </a:solidFill>
            <a:prstDash val="sysDot"/>
            <a:round/>
            <a:headEnd/>
            <a:tailEnd/>
          </a:ln>
        </p:spPr>
        <p:txBody>
          <a:bodyPr/>
          <a:lstStyle/>
          <a:p>
            <a:pPr algn="ctr" eaLnBrk="1" hangingPunct="1"/>
            <a:endParaRPr lang="zh-CN" altLang="en-US"/>
          </a:p>
        </p:txBody>
      </p:sp>
      <p:pic>
        <p:nvPicPr>
          <p:cNvPr id="4" name="图片 3">
            <a:extLst>
              <a:ext uri="{FF2B5EF4-FFF2-40B4-BE49-F238E27FC236}">
                <a16:creationId xmlns:a16="http://schemas.microsoft.com/office/drawing/2014/main" id="{EBFE77CA-2872-1AB4-1134-99DF4B244B98}"/>
              </a:ext>
            </a:extLst>
          </p:cNvPr>
          <p:cNvPicPr>
            <a:picLocks noChangeAspect="1"/>
          </p:cNvPicPr>
          <p:nvPr/>
        </p:nvPicPr>
        <p:blipFill>
          <a:blip r:embed="rId9"/>
          <a:stretch>
            <a:fillRect/>
          </a:stretch>
        </p:blipFill>
        <p:spPr>
          <a:xfrm>
            <a:off x="3121025" y="2403045"/>
            <a:ext cx="1895475" cy="314325"/>
          </a:xfrm>
          <a:prstGeom prst="rect">
            <a:avLst/>
          </a:prstGeom>
        </p:spPr>
      </p:pic>
      <p:pic>
        <p:nvPicPr>
          <p:cNvPr id="6" name="图片 5">
            <a:extLst>
              <a:ext uri="{FF2B5EF4-FFF2-40B4-BE49-F238E27FC236}">
                <a16:creationId xmlns:a16="http://schemas.microsoft.com/office/drawing/2014/main" id="{F1679A74-FE9B-9AE3-91D7-EFDED5F54364}"/>
              </a:ext>
            </a:extLst>
          </p:cNvPr>
          <p:cNvPicPr>
            <a:picLocks noChangeAspect="1"/>
          </p:cNvPicPr>
          <p:nvPr/>
        </p:nvPicPr>
        <p:blipFill>
          <a:blip r:embed="rId10"/>
          <a:stretch>
            <a:fillRect/>
          </a:stretch>
        </p:blipFill>
        <p:spPr>
          <a:xfrm>
            <a:off x="5965824" y="2344684"/>
            <a:ext cx="1990725" cy="400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2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62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620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620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48226"/>
                                        </p:tgtEl>
                                        <p:attrNameLst>
                                          <p:attrName>style.visibility</p:attrName>
                                        </p:attrNameLst>
                                      </p:cBhvr>
                                      <p:to>
                                        <p:strVal val="visible"/>
                                      </p:to>
                                    </p:set>
                                    <p:animEffect transition="in" filter="blinds(horizontal)">
                                      <p:cBhvr>
                                        <p:cTn id="33" dur="500"/>
                                        <p:tgtEl>
                                          <p:spTgt spid="94822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948227"/>
                                        </p:tgtEl>
                                        <p:attrNameLst>
                                          <p:attrName>style.visibility</p:attrName>
                                        </p:attrNameLst>
                                      </p:cBhvr>
                                      <p:to>
                                        <p:strVal val="visible"/>
                                      </p:to>
                                    </p:set>
                                    <p:animEffect transition="in" filter="blinds(horizontal)">
                                      <p:cBhvr>
                                        <p:cTn id="38" dur="500"/>
                                        <p:tgtEl>
                                          <p:spTgt spid="94822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948228"/>
                                        </p:tgtEl>
                                        <p:attrNameLst>
                                          <p:attrName>style.visibility</p:attrName>
                                        </p:attrNameLst>
                                      </p:cBhvr>
                                      <p:to>
                                        <p:strVal val="visible"/>
                                      </p:to>
                                    </p:set>
                                    <p:animEffect transition="in" filter="blinds(horizontal)">
                                      <p:cBhvr>
                                        <p:cTn id="43" dur="500"/>
                                        <p:tgtEl>
                                          <p:spTgt spid="948228"/>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948229"/>
                                        </p:tgtEl>
                                        <p:attrNameLst>
                                          <p:attrName>style.visibility</p:attrName>
                                        </p:attrNameLst>
                                      </p:cBhvr>
                                      <p:to>
                                        <p:strVal val="visible"/>
                                      </p:to>
                                    </p:set>
                                    <p:animEffect transition="in" filter="blinds(horizontal)">
                                      <p:cBhvr>
                                        <p:cTn id="48" dur="500"/>
                                        <p:tgtEl>
                                          <p:spTgt spid="94822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948230"/>
                                        </p:tgtEl>
                                        <p:attrNameLst>
                                          <p:attrName>style.visibility</p:attrName>
                                        </p:attrNameLst>
                                      </p:cBhvr>
                                      <p:to>
                                        <p:strVal val="visible"/>
                                      </p:to>
                                    </p:set>
                                    <p:animEffect transition="in" filter="blinds(horizontal)">
                                      <p:cBhvr>
                                        <p:cTn id="53" dur="500"/>
                                        <p:tgtEl>
                                          <p:spTgt spid="948230"/>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948231"/>
                                        </p:tgtEl>
                                        <p:attrNameLst>
                                          <p:attrName>style.visibility</p:attrName>
                                        </p:attrNameLst>
                                      </p:cBhvr>
                                      <p:to>
                                        <p:strVal val="visible"/>
                                      </p:to>
                                    </p:set>
                                    <p:animEffect transition="in" filter="blinds(horizontal)">
                                      <p:cBhvr>
                                        <p:cTn id="58" dur="500"/>
                                        <p:tgtEl>
                                          <p:spTgt spid="94823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1" grpId="0" animBg="1"/>
      <p:bldP spid="136202" grpId="0"/>
      <p:bldP spid="136203" grpId="0" animBg="1"/>
      <p:bldP spid="136204" grpId="0"/>
      <p:bldP spid="2" grpId="0" animBg="1"/>
      <p:bldP spid="14" grpId="0" animBg="1"/>
      <p:bldP spid="15" grpId="0" animBg="1"/>
      <p:bldP spid="1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ctrTitle"/>
          </p:nvPr>
        </p:nvSpPr>
        <p:spPr>
          <a:xfrm>
            <a:off x="685800" y="1905000"/>
            <a:ext cx="7772400" cy="609600"/>
          </a:xfrm>
        </p:spPr>
        <p:txBody>
          <a:bodyPr/>
          <a:lstStyle/>
          <a:p>
            <a:r>
              <a:rPr lang="en-US" altLang="zh-CN" sz="4000" b="1" dirty="0">
                <a:latin typeface="华文行楷" pitchFamily="2" charset="-122"/>
                <a:ea typeface="华文行楷" pitchFamily="2" charset="-122"/>
                <a:cs typeface="Times New Roman" pitchFamily="18" charset="0"/>
              </a:rPr>
              <a:t>§3.4 </a:t>
            </a:r>
            <a:r>
              <a:rPr lang="zh-CN" altLang="en-US" sz="4000" b="1" dirty="0">
                <a:latin typeface="华文行楷" pitchFamily="2" charset="-122"/>
                <a:ea typeface="华文行楷" pitchFamily="2" charset="-122"/>
                <a:cs typeface="Times New Roman" pitchFamily="18" charset="0"/>
              </a:rPr>
              <a:t>互补输出级</a:t>
            </a:r>
          </a:p>
        </p:txBody>
      </p:sp>
      <p:sp>
        <p:nvSpPr>
          <p:cNvPr id="137219" name="Text Box 3">
            <a:hlinkClick r:id="rId3" action="ppaction://hlinksldjump"/>
          </p:cNvPr>
          <p:cNvSpPr txBox="1">
            <a:spLocks noChangeArrowheads="1"/>
          </p:cNvSpPr>
          <p:nvPr/>
        </p:nvSpPr>
        <p:spPr bwMode="auto">
          <a:xfrm>
            <a:off x="1908175" y="3357563"/>
            <a:ext cx="2879725" cy="519112"/>
          </a:xfrm>
          <a:prstGeom prst="rect">
            <a:avLst/>
          </a:prstGeom>
          <a:noFill/>
          <a:ln w="9525">
            <a:noFill/>
            <a:miter lim="800000"/>
            <a:headEnd/>
            <a:tailEnd/>
          </a:ln>
        </p:spPr>
        <p:txBody>
          <a:bodyPr>
            <a:spAutoFit/>
          </a:bodyPr>
          <a:lstStyle/>
          <a:p>
            <a:pPr algn="ctr" eaLnBrk="1" hangingPunct="1">
              <a:spcBef>
                <a:spcPct val="50000"/>
              </a:spcBef>
            </a:pPr>
            <a:r>
              <a:rPr lang="zh-CN" altLang="en-US" sz="2800" b="1">
                <a:ea typeface="华文楷体" pitchFamily="2" charset="-122"/>
              </a:rPr>
              <a:t>二、基本电路</a:t>
            </a:r>
          </a:p>
        </p:txBody>
      </p:sp>
      <p:sp>
        <p:nvSpPr>
          <p:cNvPr id="137220" name="Text Box 4"/>
          <p:cNvSpPr txBox="1">
            <a:spLocks noChangeArrowheads="1"/>
          </p:cNvSpPr>
          <p:nvPr/>
        </p:nvSpPr>
        <p:spPr bwMode="auto">
          <a:xfrm>
            <a:off x="1908175" y="3933825"/>
            <a:ext cx="5400675" cy="519113"/>
          </a:xfrm>
          <a:prstGeom prst="rect">
            <a:avLst/>
          </a:prstGeom>
          <a:noFill/>
          <a:ln w="9525">
            <a:noFill/>
            <a:miter lim="800000"/>
            <a:headEnd/>
            <a:tailEnd/>
          </a:ln>
        </p:spPr>
        <p:txBody>
          <a:bodyPr>
            <a:spAutoFit/>
          </a:bodyPr>
          <a:lstStyle/>
          <a:p>
            <a:pPr algn="ctr" eaLnBrk="1" hangingPunct="1">
              <a:spcBef>
                <a:spcPct val="50000"/>
              </a:spcBef>
            </a:pPr>
            <a:r>
              <a:rPr lang="zh-CN" altLang="en-US" sz="2800" b="1">
                <a:ea typeface="华文楷体" pitchFamily="2" charset="-122"/>
              </a:rPr>
              <a:t>三、消除交越失真的互补输出级</a:t>
            </a:r>
          </a:p>
        </p:txBody>
      </p:sp>
      <p:sp>
        <p:nvSpPr>
          <p:cNvPr id="137221" name="Text Box 5"/>
          <p:cNvSpPr txBox="1">
            <a:spLocks noChangeArrowheads="1"/>
          </p:cNvSpPr>
          <p:nvPr/>
        </p:nvSpPr>
        <p:spPr bwMode="auto">
          <a:xfrm>
            <a:off x="1908175" y="4508500"/>
            <a:ext cx="3527425" cy="519113"/>
          </a:xfrm>
          <a:prstGeom prst="rect">
            <a:avLst/>
          </a:prstGeom>
          <a:noFill/>
          <a:ln w="9525">
            <a:noFill/>
            <a:miter lim="800000"/>
            <a:headEnd/>
            <a:tailEnd/>
          </a:ln>
        </p:spPr>
        <p:txBody>
          <a:bodyPr>
            <a:spAutoFit/>
          </a:bodyPr>
          <a:lstStyle/>
          <a:p>
            <a:pPr algn="ctr" eaLnBrk="1" hangingPunct="1">
              <a:spcBef>
                <a:spcPct val="50000"/>
              </a:spcBef>
            </a:pPr>
            <a:r>
              <a:rPr lang="zh-CN" altLang="en-US" sz="2800" b="1">
                <a:ea typeface="华文楷体" pitchFamily="2" charset="-122"/>
              </a:rPr>
              <a:t>四、准互补输出级</a:t>
            </a:r>
          </a:p>
        </p:txBody>
      </p:sp>
      <p:sp>
        <p:nvSpPr>
          <p:cNvPr id="137222" name="Text Box 7">
            <a:hlinkClick r:id="rId4" action="ppaction://hlinksldjump"/>
          </p:cNvPr>
          <p:cNvSpPr txBox="1">
            <a:spLocks noChangeArrowheads="1"/>
          </p:cNvSpPr>
          <p:nvPr/>
        </p:nvSpPr>
        <p:spPr bwMode="auto">
          <a:xfrm>
            <a:off x="1908175" y="2781300"/>
            <a:ext cx="3743325" cy="519113"/>
          </a:xfrm>
          <a:prstGeom prst="rect">
            <a:avLst/>
          </a:prstGeom>
          <a:noFill/>
          <a:ln w="9525">
            <a:noFill/>
            <a:miter lim="800000"/>
            <a:headEnd/>
            <a:tailEnd/>
          </a:ln>
        </p:spPr>
        <p:txBody>
          <a:bodyPr>
            <a:spAutoFit/>
          </a:bodyPr>
          <a:lstStyle/>
          <a:p>
            <a:pPr algn="ctr" eaLnBrk="1" hangingPunct="1">
              <a:spcBef>
                <a:spcPct val="50000"/>
              </a:spcBef>
            </a:pPr>
            <a:r>
              <a:rPr lang="zh-CN" altLang="en-US" sz="2800" b="1">
                <a:ea typeface="华文楷体" pitchFamily="2" charset="-122"/>
              </a:rPr>
              <a:t>一、对输出级的要求</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2"/>
          <p:cNvGraphicFramePr>
            <a:graphicFrameLocks noGrp="1" noChangeAspect="1"/>
          </p:cNvGraphicFramePr>
          <p:nvPr>
            <p:ph idx="1"/>
          </p:nvPr>
        </p:nvGraphicFramePr>
        <p:xfrm>
          <a:off x="755650" y="3644900"/>
          <a:ext cx="3476625" cy="2713038"/>
        </p:xfrm>
        <a:graphic>
          <a:graphicData uri="http://schemas.openxmlformats.org/presentationml/2006/ole">
            <mc:AlternateContent xmlns:mc="http://schemas.openxmlformats.org/markup-compatibility/2006">
              <mc:Choice xmlns:v="urn:schemas-microsoft-com:vml" Requires="v">
                <p:oleObj spid="_x0000_s54275" name="Photo Editor 照片" r:id="rId3" imgW="10488489" imgH="8183117" progId="">
                  <p:embed/>
                </p:oleObj>
              </mc:Choice>
              <mc:Fallback>
                <p:oleObj name="Photo Editor 照片" r:id="rId3" imgW="10488489" imgH="8183117" progId="">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644900"/>
                        <a:ext cx="3476625" cy="2713038"/>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35" name="Text Box 3"/>
          <p:cNvSpPr txBox="1">
            <a:spLocks noChangeArrowheads="1"/>
          </p:cNvSpPr>
          <p:nvPr/>
        </p:nvSpPr>
        <p:spPr bwMode="auto">
          <a:xfrm>
            <a:off x="533400" y="1371600"/>
            <a:ext cx="8305800" cy="2143125"/>
          </a:xfrm>
          <a:prstGeom prst="rect">
            <a:avLst/>
          </a:prstGeom>
          <a:noFill/>
          <a:ln w="9525">
            <a:noFill/>
            <a:miter lim="800000"/>
            <a:headEnd/>
            <a:tailEnd/>
          </a:ln>
        </p:spPr>
        <p:txBody>
          <a:bodyPr>
            <a:spAutoFit/>
          </a:bodyPr>
          <a:lstStyle/>
          <a:p>
            <a:pPr algn="ctr" eaLnBrk="1" hangingPunct="1">
              <a:lnSpc>
                <a:spcPct val="120000"/>
              </a:lnSpc>
            </a:pPr>
            <a:r>
              <a:rPr lang="en-US" altLang="zh-CN" sz="2800" b="1">
                <a:latin typeface="宋体" pitchFamily="2" charset="-122"/>
              </a:rPr>
              <a:t>  </a:t>
            </a:r>
            <a:r>
              <a:rPr lang="zh-CN" altLang="en-US" sz="2800" b="1">
                <a:latin typeface="宋体" pitchFamily="2" charset="-122"/>
              </a:rPr>
              <a:t>互补输出级是直接耦合的功率放大电路。</a:t>
            </a:r>
          </a:p>
          <a:p>
            <a:pPr eaLnBrk="1" hangingPunct="1">
              <a:lnSpc>
                <a:spcPct val="120000"/>
              </a:lnSpc>
            </a:pPr>
            <a:r>
              <a:rPr lang="zh-CN" altLang="en-US" sz="2800" b="1">
                <a:latin typeface="宋体" pitchFamily="2" charset="-122"/>
              </a:rPr>
              <a:t>  对输出级的要求：带负载能力强；直流功耗小；负载电阻上无直流功耗；</a:t>
            </a:r>
          </a:p>
          <a:p>
            <a:pPr eaLnBrk="1" hangingPunct="1">
              <a:lnSpc>
                <a:spcPct val="120000"/>
              </a:lnSpc>
            </a:pPr>
            <a:r>
              <a:rPr lang="zh-CN" altLang="en-US" sz="2800" b="1">
                <a:latin typeface="宋体" pitchFamily="2" charset="-122"/>
              </a:rPr>
              <a:t>最大不失真输出电压最大。</a:t>
            </a:r>
          </a:p>
        </p:txBody>
      </p:sp>
      <p:sp>
        <p:nvSpPr>
          <p:cNvPr id="72708" name="Rectangle 4"/>
          <p:cNvSpPr>
            <a:spLocks noGrp="1" noChangeArrowheads="1"/>
          </p:cNvSpPr>
          <p:nvPr>
            <p:ph type="title"/>
          </p:nvPr>
        </p:nvSpPr>
        <p:spPr>
          <a:xfrm>
            <a:off x="179388" y="836613"/>
            <a:ext cx="4535487" cy="566737"/>
          </a:xfrm>
        </p:spPr>
        <p:txBody>
          <a:bodyPr/>
          <a:lstStyle/>
          <a:p>
            <a:pPr algn="l">
              <a:spcBef>
                <a:spcPct val="45000"/>
              </a:spcBef>
            </a:pPr>
            <a:r>
              <a:rPr lang="zh-CN" altLang="en-US" sz="3200" b="1">
                <a:solidFill>
                  <a:schemeClr val="tx1"/>
                </a:solidFill>
                <a:latin typeface="华文行楷" pitchFamily="2" charset="-122"/>
                <a:ea typeface="华文行楷" pitchFamily="2" charset="-122"/>
              </a:rPr>
              <a:t>一、对输出级的要求</a:t>
            </a:r>
          </a:p>
        </p:txBody>
      </p:sp>
      <p:grpSp>
        <p:nvGrpSpPr>
          <p:cNvPr id="2" name="Group 5"/>
          <p:cNvGrpSpPr>
            <a:grpSpLocks/>
          </p:cNvGrpSpPr>
          <p:nvPr/>
        </p:nvGrpSpPr>
        <p:grpSpPr bwMode="auto">
          <a:xfrm>
            <a:off x="3962400" y="2474913"/>
            <a:ext cx="3217863" cy="725487"/>
            <a:chOff x="2496" y="1559"/>
            <a:chExt cx="2027" cy="457"/>
          </a:xfrm>
        </p:grpSpPr>
        <p:sp>
          <p:nvSpPr>
            <p:cNvPr id="72721" name="AutoShape 6"/>
            <p:cNvSpPr>
              <a:spLocks/>
            </p:cNvSpPr>
            <p:nvPr/>
          </p:nvSpPr>
          <p:spPr bwMode="auto">
            <a:xfrm>
              <a:off x="3120" y="1680"/>
              <a:ext cx="1403" cy="336"/>
            </a:xfrm>
            <a:prstGeom prst="borderCallout1">
              <a:avLst>
                <a:gd name="adj1" fmla="val 21431"/>
                <a:gd name="adj2" fmla="val -3421"/>
                <a:gd name="adj3" fmla="val -33630"/>
                <a:gd name="adj4" fmla="val -14824"/>
              </a:avLst>
            </a:prstGeom>
            <a:solidFill>
              <a:srgbClr val="00FFFF"/>
            </a:solidFill>
            <a:ln w="19050">
              <a:solidFill>
                <a:srgbClr val="FF0000"/>
              </a:solidFill>
              <a:miter lim="800000"/>
              <a:headEnd/>
              <a:tailEnd/>
            </a:ln>
          </p:spPr>
          <p:txBody>
            <a:bodyPr/>
            <a:lstStyle/>
            <a:p>
              <a:pPr algn="ctr" eaLnBrk="1" hangingPunct="1"/>
              <a:r>
                <a:rPr lang="zh-CN" altLang="en-US" b="1"/>
                <a:t>射极输出形式</a:t>
              </a:r>
            </a:p>
          </p:txBody>
        </p:sp>
        <p:sp>
          <p:nvSpPr>
            <p:cNvPr id="72722" name="Line 7"/>
            <p:cNvSpPr>
              <a:spLocks noChangeShapeType="1"/>
            </p:cNvSpPr>
            <p:nvPr/>
          </p:nvSpPr>
          <p:spPr bwMode="auto">
            <a:xfrm>
              <a:off x="2496" y="1559"/>
              <a:ext cx="1248" cy="0"/>
            </a:xfrm>
            <a:prstGeom prst="line">
              <a:avLst/>
            </a:prstGeom>
            <a:noFill/>
            <a:ln w="28575">
              <a:solidFill>
                <a:srgbClr val="FF0000"/>
              </a:solidFill>
              <a:round/>
              <a:headEnd/>
              <a:tailEnd/>
            </a:ln>
          </p:spPr>
          <p:txBody>
            <a:bodyPr/>
            <a:lstStyle/>
            <a:p>
              <a:endParaRPr lang="zh-CN" altLang="en-US"/>
            </a:p>
          </p:txBody>
        </p:sp>
      </p:grpSp>
      <p:grpSp>
        <p:nvGrpSpPr>
          <p:cNvPr id="3" name="Group 8"/>
          <p:cNvGrpSpPr>
            <a:grpSpLocks/>
          </p:cNvGrpSpPr>
          <p:nvPr/>
        </p:nvGrpSpPr>
        <p:grpSpPr bwMode="auto">
          <a:xfrm>
            <a:off x="4932363" y="2492375"/>
            <a:ext cx="3124200" cy="1331913"/>
            <a:chOff x="3120" y="1561"/>
            <a:chExt cx="1968" cy="839"/>
          </a:xfrm>
        </p:grpSpPr>
        <p:sp>
          <p:nvSpPr>
            <p:cNvPr id="72719" name="AutoShape 9"/>
            <p:cNvSpPr>
              <a:spLocks/>
            </p:cNvSpPr>
            <p:nvPr/>
          </p:nvSpPr>
          <p:spPr bwMode="auto">
            <a:xfrm>
              <a:off x="3120" y="2064"/>
              <a:ext cx="1566" cy="336"/>
            </a:xfrm>
            <a:prstGeom prst="borderCallout1">
              <a:avLst>
                <a:gd name="adj1" fmla="val 21431"/>
                <a:gd name="adj2" fmla="val 103065"/>
                <a:gd name="adj3" fmla="val -150000"/>
                <a:gd name="adj4" fmla="val 104407"/>
              </a:avLst>
            </a:prstGeom>
            <a:solidFill>
              <a:srgbClr val="00FFFF"/>
            </a:solidFill>
            <a:ln w="19050">
              <a:solidFill>
                <a:srgbClr val="FF0000"/>
              </a:solidFill>
              <a:miter lim="800000"/>
              <a:headEnd/>
              <a:tailEnd/>
            </a:ln>
          </p:spPr>
          <p:txBody>
            <a:bodyPr/>
            <a:lstStyle/>
            <a:p>
              <a:pPr algn="ctr" eaLnBrk="1" hangingPunct="1"/>
              <a:r>
                <a:rPr lang="zh-CN" altLang="en-US" b="1"/>
                <a:t>静态工作电流小</a:t>
              </a:r>
            </a:p>
          </p:txBody>
        </p:sp>
        <p:sp>
          <p:nvSpPr>
            <p:cNvPr id="72720" name="Line 10"/>
            <p:cNvSpPr>
              <a:spLocks noChangeShapeType="1"/>
            </p:cNvSpPr>
            <p:nvPr/>
          </p:nvSpPr>
          <p:spPr bwMode="auto">
            <a:xfrm>
              <a:off x="4032" y="1561"/>
              <a:ext cx="1056" cy="0"/>
            </a:xfrm>
            <a:prstGeom prst="line">
              <a:avLst/>
            </a:prstGeom>
            <a:noFill/>
            <a:ln w="28575">
              <a:solidFill>
                <a:srgbClr val="FF0000"/>
              </a:solidFill>
              <a:round/>
              <a:headEnd/>
              <a:tailEnd/>
            </a:ln>
          </p:spPr>
          <p:txBody>
            <a:bodyPr/>
            <a:lstStyle/>
            <a:p>
              <a:endParaRPr lang="zh-CN" altLang="en-US"/>
            </a:p>
          </p:txBody>
        </p:sp>
      </p:grpSp>
      <p:grpSp>
        <p:nvGrpSpPr>
          <p:cNvPr id="4" name="Group 11"/>
          <p:cNvGrpSpPr>
            <a:grpSpLocks/>
          </p:cNvGrpSpPr>
          <p:nvPr/>
        </p:nvGrpSpPr>
        <p:grpSpPr bwMode="auto">
          <a:xfrm>
            <a:off x="2411413" y="2997200"/>
            <a:ext cx="5638800" cy="1447800"/>
            <a:chOff x="1584" y="1872"/>
            <a:chExt cx="3552" cy="912"/>
          </a:xfrm>
        </p:grpSpPr>
        <p:sp>
          <p:nvSpPr>
            <p:cNvPr id="72717" name="AutoShape 12"/>
            <p:cNvSpPr>
              <a:spLocks/>
            </p:cNvSpPr>
            <p:nvPr/>
          </p:nvSpPr>
          <p:spPr bwMode="auto">
            <a:xfrm>
              <a:off x="3168" y="2448"/>
              <a:ext cx="1968" cy="336"/>
            </a:xfrm>
            <a:prstGeom prst="borderCallout1">
              <a:avLst>
                <a:gd name="adj1" fmla="val 21431"/>
                <a:gd name="adj2" fmla="val -2440"/>
                <a:gd name="adj3" fmla="val -172023"/>
                <a:gd name="adj4" fmla="val -41972"/>
              </a:avLst>
            </a:prstGeom>
            <a:solidFill>
              <a:srgbClr val="00FFFF"/>
            </a:solidFill>
            <a:ln w="19050">
              <a:solidFill>
                <a:srgbClr val="FF0000"/>
              </a:solidFill>
              <a:miter lim="800000"/>
              <a:headEnd/>
              <a:tailEnd/>
            </a:ln>
          </p:spPr>
          <p:txBody>
            <a:bodyPr/>
            <a:lstStyle/>
            <a:p>
              <a:pPr algn="ctr" eaLnBrk="1" hangingPunct="1"/>
              <a:r>
                <a:rPr lang="zh-CN" altLang="en-US" b="1"/>
                <a:t>输入为零时输出为零</a:t>
              </a:r>
            </a:p>
          </p:txBody>
        </p:sp>
        <p:sp>
          <p:nvSpPr>
            <p:cNvPr id="72718" name="Line 13"/>
            <p:cNvSpPr>
              <a:spLocks noChangeShapeType="1"/>
            </p:cNvSpPr>
            <p:nvPr/>
          </p:nvSpPr>
          <p:spPr bwMode="auto">
            <a:xfrm>
              <a:off x="1584" y="1872"/>
              <a:ext cx="1056" cy="0"/>
            </a:xfrm>
            <a:prstGeom prst="line">
              <a:avLst/>
            </a:prstGeom>
            <a:noFill/>
            <a:ln w="28575">
              <a:solidFill>
                <a:srgbClr val="FF0000"/>
              </a:solidFill>
              <a:round/>
              <a:headEnd/>
              <a:tailEnd/>
            </a:ln>
          </p:spPr>
          <p:txBody>
            <a:bodyPr/>
            <a:lstStyle/>
            <a:p>
              <a:endParaRPr lang="zh-CN" altLang="en-US"/>
            </a:p>
          </p:txBody>
        </p:sp>
      </p:grpSp>
      <p:grpSp>
        <p:nvGrpSpPr>
          <p:cNvPr id="5" name="Group 14"/>
          <p:cNvGrpSpPr>
            <a:grpSpLocks/>
          </p:cNvGrpSpPr>
          <p:nvPr/>
        </p:nvGrpSpPr>
        <p:grpSpPr bwMode="auto">
          <a:xfrm>
            <a:off x="684213" y="3500438"/>
            <a:ext cx="7829550" cy="2725737"/>
            <a:chOff x="431" y="2205"/>
            <a:chExt cx="4932" cy="1717"/>
          </a:xfrm>
        </p:grpSpPr>
        <p:sp>
          <p:nvSpPr>
            <p:cNvPr id="72714" name="Text Box 15"/>
            <p:cNvSpPr txBox="1">
              <a:spLocks noChangeArrowheads="1"/>
            </p:cNvSpPr>
            <p:nvPr/>
          </p:nvSpPr>
          <p:spPr bwMode="auto">
            <a:xfrm>
              <a:off x="3107" y="2840"/>
              <a:ext cx="2256" cy="1082"/>
            </a:xfrm>
            <a:prstGeom prst="rect">
              <a:avLst/>
            </a:prstGeom>
            <a:solidFill>
              <a:srgbClr val="00FFFF"/>
            </a:solidFill>
            <a:ln w="19050">
              <a:solidFill>
                <a:srgbClr val="FF0000"/>
              </a:solidFill>
              <a:miter lim="800000"/>
              <a:headEnd/>
              <a:tailEnd/>
            </a:ln>
          </p:spPr>
          <p:txBody>
            <a:bodyPr>
              <a:spAutoFit/>
            </a:bodyPr>
            <a:lstStyle/>
            <a:p>
              <a:pPr algn="ctr" eaLnBrk="1" hangingPunct="1">
                <a:lnSpc>
                  <a:spcPct val="110000"/>
                </a:lnSpc>
              </a:pPr>
              <a:r>
                <a:rPr lang="en-US" altLang="zh-CN" b="1"/>
                <a:t>    </a:t>
              </a:r>
              <a:r>
                <a:rPr lang="zh-CN" altLang="en-US" b="1"/>
                <a:t>双电源供电时</a:t>
              </a:r>
              <a:r>
                <a:rPr lang="en-US" altLang="zh-CN" b="1" i="1"/>
                <a:t>U</a:t>
              </a:r>
              <a:r>
                <a:rPr lang="en-US" altLang="zh-CN" b="1" baseline="-25000"/>
                <a:t>om</a:t>
              </a:r>
              <a:r>
                <a:rPr lang="zh-CN" altLang="en-US" b="1"/>
                <a:t>的峰值接近电源电压。</a:t>
              </a:r>
            </a:p>
            <a:p>
              <a:pPr algn="ctr" eaLnBrk="1" hangingPunct="1">
                <a:lnSpc>
                  <a:spcPct val="110000"/>
                </a:lnSpc>
              </a:pPr>
              <a:r>
                <a:rPr lang="zh-CN" altLang="en-US" b="1"/>
                <a:t>    单电源供电</a:t>
              </a:r>
              <a:r>
                <a:rPr lang="en-US" altLang="zh-CN" b="1" i="1"/>
                <a:t>U</a:t>
              </a:r>
              <a:r>
                <a:rPr lang="en-US" altLang="zh-CN" b="1" baseline="-25000"/>
                <a:t>om</a:t>
              </a:r>
              <a:r>
                <a:rPr lang="zh-CN" altLang="en-US" b="1"/>
                <a:t>的峰值接近二分之一电源电压。</a:t>
              </a:r>
              <a:endParaRPr lang="zh-CN" altLang="en-US"/>
            </a:p>
          </p:txBody>
        </p:sp>
        <p:sp>
          <p:nvSpPr>
            <p:cNvPr id="72715" name="Line 16"/>
            <p:cNvSpPr>
              <a:spLocks noChangeShapeType="1"/>
            </p:cNvSpPr>
            <p:nvPr/>
          </p:nvSpPr>
          <p:spPr bwMode="auto">
            <a:xfrm>
              <a:off x="431" y="2205"/>
              <a:ext cx="2400" cy="0"/>
            </a:xfrm>
            <a:prstGeom prst="line">
              <a:avLst/>
            </a:prstGeom>
            <a:noFill/>
            <a:ln w="28575">
              <a:solidFill>
                <a:srgbClr val="FF3300"/>
              </a:solidFill>
              <a:round/>
              <a:headEnd/>
              <a:tailEnd/>
            </a:ln>
          </p:spPr>
          <p:txBody>
            <a:bodyPr/>
            <a:lstStyle/>
            <a:p>
              <a:endParaRPr lang="zh-CN" altLang="en-US"/>
            </a:p>
          </p:txBody>
        </p:sp>
        <p:sp>
          <p:nvSpPr>
            <p:cNvPr id="72716" name="Line 17"/>
            <p:cNvSpPr>
              <a:spLocks noChangeShapeType="1"/>
            </p:cNvSpPr>
            <p:nvPr/>
          </p:nvSpPr>
          <p:spPr bwMode="auto">
            <a:xfrm>
              <a:off x="1583" y="2205"/>
              <a:ext cx="1524" cy="726"/>
            </a:xfrm>
            <a:prstGeom prst="line">
              <a:avLst/>
            </a:prstGeom>
            <a:noFill/>
            <a:ln w="19050">
              <a:solidFill>
                <a:srgbClr val="FF0000"/>
              </a:solidFill>
              <a:round/>
              <a:headEnd/>
              <a:tailEnd/>
            </a:ln>
          </p:spPr>
          <p:txBody>
            <a:bodyPr/>
            <a:lstStyle/>
            <a:p>
              <a:endParaRPr lang="zh-CN" altLang="en-US"/>
            </a:p>
          </p:txBody>
        </p:sp>
      </p:grpSp>
      <p:sp>
        <p:nvSpPr>
          <p:cNvPr id="69654" name="Text Box 22"/>
          <p:cNvSpPr txBox="1">
            <a:spLocks noChangeArrowheads="1"/>
          </p:cNvSpPr>
          <p:nvPr/>
        </p:nvSpPr>
        <p:spPr bwMode="auto">
          <a:xfrm>
            <a:off x="755650" y="3716338"/>
            <a:ext cx="1296988" cy="822325"/>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A50021"/>
                </a:solidFill>
              </a:rPr>
              <a:t>不符合要求！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Effect transition="in" filter="wipe(left)">
                                      <p:cBhvr>
                                        <p:cTn id="7" dur="500"/>
                                        <p:tgtEl>
                                          <p:spTgt spid="69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635">
                                            <p:txEl>
                                              <p:pRg st="1" end="1"/>
                                            </p:txEl>
                                          </p:spTgt>
                                        </p:tgtEl>
                                        <p:attrNameLst>
                                          <p:attrName>style.visibility</p:attrName>
                                        </p:attrNameLst>
                                      </p:cBhvr>
                                      <p:to>
                                        <p:strVal val="visible"/>
                                      </p:to>
                                    </p:set>
                                    <p:animEffect transition="in" filter="wipe(left)">
                                      <p:cBhvr>
                                        <p:cTn id="12" dur="500"/>
                                        <p:tgtEl>
                                          <p:spTgt spid="696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635">
                                            <p:txEl>
                                              <p:pRg st="2" end="2"/>
                                            </p:txEl>
                                          </p:spTgt>
                                        </p:tgtEl>
                                        <p:attrNameLst>
                                          <p:attrName>style.visibility</p:attrName>
                                        </p:attrNameLst>
                                      </p:cBhvr>
                                      <p:to>
                                        <p:strVal val="visible"/>
                                      </p:to>
                                    </p:set>
                                    <p:animEffect transition="in" filter="wipe(left)">
                                      <p:cBhvr>
                                        <p:cTn id="17" dur="500"/>
                                        <p:tgtEl>
                                          <p:spTgt spid="696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nodeType="clickEffect">
                                  <p:stCondLst>
                                    <p:cond delay="0"/>
                                  </p:stCondLst>
                                  <p:childTnLst>
                                    <p:set>
                                      <p:cBhvr>
                                        <p:cTn id="41" dur="1" fill="hold">
                                          <p:stCondLst>
                                            <p:cond delay="0"/>
                                          </p:stCondLst>
                                        </p:cTn>
                                        <p:tgtEl>
                                          <p:spTgt spid="69634"/>
                                        </p:tgtEl>
                                        <p:attrNameLst>
                                          <p:attrName>style.visibility</p:attrName>
                                        </p:attrNameLst>
                                      </p:cBhvr>
                                      <p:to>
                                        <p:strVal val="visible"/>
                                      </p:to>
                                    </p:set>
                                    <p:anim calcmode="lin" valueType="num">
                                      <p:cBhvr>
                                        <p:cTn id="42" dur="500" fill="hold"/>
                                        <p:tgtEl>
                                          <p:spTgt spid="69634"/>
                                        </p:tgtEl>
                                        <p:attrNameLst>
                                          <p:attrName>ppt_w</p:attrName>
                                        </p:attrNameLst>
                                      </p:cBhvr>
                                      <p:tavLst>
                                        <p:tav tm="0">
                                          <p:val>
                                            <p:fltVal val="0"/>
                                          </p:val>
                                        </p:tav>
                                        <p:tav tm="100000">
                                          <p:val>
                                            <p:strVal val="#ppt_w"/>
                                          </p:val>
                                        </p:tav>
                                      </p:tavLst>
                                    </p:anim>
                                    <p:anim calcmode="lin" valueType="num">
                                      <p:cBhvr>
                                        <p:cTn id="43" dur="500" fill="hold"/>
                                        <p:tgtEl>
                                          <p:spTgt spid="69634"/>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childTnLst>
                                    <p:set>
                                      <p:cBhvr>
                                        <p:cTn id="47" dur="1" fill="hold">
                                          <p:stCondLst>
                                            <p:cond delay="0"/>
                                          </p:stCondLst>
                                        </p:cTn>
                                        <p:tgtEl>
                                          <p:spTgt spid="69654"/>
                                        </p:tgtEl>
                                        <p:attrNameLst>
                                          <p:attrName>style.visibility</p:attrName>
                                        </p:attrNameLst>
                                      </p:cBhvr>
                                      <p:to>
                                        <p:strVal val="visible"/>
                                      </p:to>
                                    </p:set>
                                    <p:anim calcmode="lin" valueType="num">
                                      <p:cBhvr>
                                        <p:cTn id="48" dur="500" fill="hold"/>
                                        <p:tgtEl>
                                          <p:spTgt spid="69654"/>
                                        </p:tgtEl>
                                        <p:attrNameLst>
                                          <p:attrName>ppt_w</p:attrName>
                                        </p:attrNameLst>
                                      </p:cBhvr>
                                      <p:tavLst>
                                        <p:tav tm="0">
                                          <p:val>
                                            <p:fltVal val="0"/>
                                          </p:val>
                                        </p:tav>
                                        <p:tav tm="100000">
                                          <p:val>
                                            <p:strVal val="#ppt_w"/>
                                          </p:val>
                                        </p:tav>
                                      </p:tavLst>
                                    </p:anim>
                                    <p:anim calcmode="lin" valueType="num">
                                      <p:cBhvr>
                                        <p:cTn id="49" dur="500" fill="hold"/>
                                        <p:tgtEl>
                                          <p:spTgt spid="696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P spid="6965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Object 4">
            <a:extLst>
              <a:ext uri="{FF2B5EF4-FFF2-40B4-BE49-F238E27FC236}">
                <a16:creationId xmlns:a16="http://schemas.microsoft.com/office/drawing/2014/main" id="{A7BF6932-E624-388B-6312-E699CE79CB57}"/>
              </a:ext>
            </a:extLst>
          </p:cNvPr>
          <p:cNvGraphicFramePr>
            <a:graphicFrameLocks noChangeAspect="1"/>
          </p:cNvGraphicFramePr>
          <p:nvPr>
            <p:extLst>
              <p:ext uri="{D42A27DB-BD31-4B8C-83A1-F6EECF244321}">
                <p14:modId xmlns:p14="http://schemas.microsoft.com/office/powerpoint/2010/main" val="2167011604"/>
              </p:ext>
            </p:extLst>
          </p:nvPr>
        </p:nvGraphicFramePr>
        <p:xfrm>
          <a:off x="4249738" y="738188"/>
          <a:ext cx="4038600" cy="2746375"/>
        </p:xfrm>
        <a:graphic>
          <a:graphicData uri="http://schemas.openxmlformats.org/presentationml/2006/ole">
            <mc:AlternateContent xmlns:mc="http://schemas.openxmlformats.org/markup-compatibility/2006">
              <mc:Choice xmlns:v="urn:schemas-microsoft-com:vml" Requires="v">
                <p:oleObj spid="_x0000_s55301" name="Photo Editor 照片" r:id="rId3" imgW="12200000" imgH="8333333" progId="">
                  <p:embed/>
                </p:oleObj>
              </mc:Choice>
              <mc:Fallback>
                <p:oleObj name="Photo Editor 照片" r:id="rId3" imgW="12200000" imgH="8333333" progId="">
                  <p:embed/>
                  <p:pic>
                    <p:nvPicPr>
                      <p:cNvPr id="67590" name="Object 4">
                        <a:extLst>
                          <a:ext uri="{FF2B5EF4-FFF2-40B4-BE49-F238E27FC236}">
                            <a16:creationId xmlns:a16="http://schemas.microsoft.com/office/drawing/2014/main" id="{E2C0BB05-BD1C-8910-5BD4-823923D7F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9738" y="738188"/>
                        <a:ext cx="4038600" cy="274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4" name="Object 2"/>
          <p:cNvGraphicFramePr>
            <a:graphicFrameLocks noGrp="1" noChangeAspect="1"/>
          </p:cNvGraphicFramePr>
          <p:nvPr>
            <p:ph idx="1"/>
            <p:extLst>
              <p:ext uri="{D42A27DB-BD31-4B8C-83A1-F6EECF244321}">
                <p14:modId xmlns:p14="http://schemas.microsoft.com/office/powerpoint/2010/main" val="507474222"/>
              </p:ext>
            </p:extLst>
          </p:nvPr>
        </p:nvGraphicFramePr>
        <p:xfrm>
          <a:off x="283108" y="834194"/>
          <a:ext cx="3476625" cy="2713038"/>
        </p:xfrm>
        <a:graphic>
          <a:graphicData uri="http://schemas.openxmlformats.org/presentationml/2006/ole">
            <mc:AlternateContent xmlns:mc="http://schemas.openxmlformats.org/markup-compatibility/2006">
              <mc:Choice xmlns:v="urn:schemas-microsoft-com:vml" Requires="v">
                <p:oleObj spid="_x0000_s55302" name="Photo Editor 照片" r:id="rId5" imgW="10488489" imgH="8183117" progId="">
                  <p:embed/>
                </p:oleObj>
              </mc:Choice>
              <mc:Fallback>
                <p:oleObj name="Photo Editor 照片" r:id="rId5" imgW="10488489" imgH="8183117" progId="">
                  <p:embed/>
                  <p:pic>
                    <p:nvPicPr>
                      <p:cNvPr id="69634" name="Object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108" y="834194"/>
                        <a:ext cx="3476625" cy="2713038"/>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3">
            <a:extLst>
              <a:ext uri="{FF2B5EF4-FFF2-40B4-BE49-F238E27FC236}">
                <a16:creationId xmlns:a16="http://schemas.microsoft.com/office/drawing/2014/main" id="{9F9F38AF-3A37-6BAC-18A5-EB1C6531B11C}"/>
              </a:ext>
            </a:extLst>
          </p:cNvPr>
          <p:cNvGraphicFramePr>
            <a:graphicFrameLocks noChangeAspect="1"/>
          </p:cNvGraphicFramePr>
          <p:nvPr>
            <p:extLst>
              <p:ext uri="{D42A27DB-BD31-4B8C-83A1-F6EECF244321}">
                <p14:modId xmlns:p14="http://schemas.microsoft.com/office/powerpoint/2010/main" val="769327132"/>
              </p:ext>
            </p:extLst>
          </p:nvPr>
        </p:nvGraphicFramePr>
        <p:xfrm>
          <a:off x="5484574" y="3548742"/>
          <a:ext cx="1447800" cy="936625"/>
        </p:xfrm>
        <a:graphic>
          <a:graphicData uri="http://schemas.openxmlformats.org/presentationml/2006/ole">
            <mc:AlternateContent xmlns:mc="http://schemas.openxmlformats.org/markup-compatibility/2006">
              <mc:Choice xmlns:v="urn:schemas-microsoft-com:vml" Requires="v">
                <p:oleObj spid="_x0000_s55303" name="Photo Editor 照片" r:id="rId7" imgW="2523810" imgH="4772691" progId="">
                  <p:embed/>
                </p:oleObj>
              </mc:Choice>
              <mc:Fallback>
                <p:oleObj name="Photo Editor 照片" r:id="rId7" imgW="2523810" imgH="4772691" progId="">
                  <p:embed/>
                  <p:pic>
                    <p:nvPicPr>
                      <p:cNvPr id="23561" name="Object 3">
                        <a:extLst>
                          <a:ext uri="{FF2B5EF4-FFF2-40B4-BE49-F238E27FC236}">
                            <a16:creationId xmlns:a16="http://schemas.microsoft.com/office/drawing/2014/main" id="{CBD99C35-5831-B23B-2BBD-ECDADF26C2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4574" y="3548742"/>
                        <a:ext cx="14478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 name="Line 9">
            <a:extLst>
              <a:ext uri="{FF2B5EF4-FFF2-40B4-BE49-F238E27FC236}">
                <a16:creationId xmlns:a16="http://schemas.microsoft.com/office/drawing/2014/main" id="{D9234B51-DD3D-DD33-E756-942F42E171FA}"/>
              </a:ext>
            </a:extLst>
          </p:cNvPr>
          <p:cNvSpPr>
            <a:spLocks noChangeShapeType="1"/>
          </p:cNvSpPr>
          <p:nvPr/>
        </p:nvSpPr>
        <p:spPr bwMode="auto">
          <a:xfrm flipH="1" flipV="1">
            <a:off x="4953703" y="1180001"/>
            <a:ext cx="2743200" cy="2057400"/>
          </a:xfrm>
          <a:prstGeom prst="line">
            <a:avLst/>
          </a:prstGeom>
          <a:noFill/>
          <a:ln w="28575">
            <a:solidFill>
              <a:srgbClr val="FF3300"/>
            </a:solidFill>
            <a:miter lim="800000"/>
            <a:headEnd/>
            <a:tailEnd/>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47" name="Text Box 19">
            <a:extLst>
              <a:ext uri="{FF2B5EF4-FFF2-40B4-BE49-F238E27FC236}">
                <a16:creationId xmlns:a16="http://schemas.microsoft.com/office/drawing/2014/main" id="{4CAC40C1-618E-8691-5590-7EB25BBDA620}"/>
              </a:ext>
            </a:extLst>
          </p:cNvPr>
          <p:cNvSpPr txBox="1">
            <a:spLocks noChangeArrowheads="1"/>
          </p:cNvSpPr>
          <p:nvPr/>
        </p:nvSpPr>
        <p:spPr bwMode="auto">
          <a:xfrm>
            <a:off x="7544503" y="1789601"/>
            <a:ext cx="533400" cy="366712"/>
          </a:xfrm>
          <a:prstGeom prst="rect">
            <a:avLst/>
          </a:prstGeom>
          <a:noFill/>
          <a:ln w="9525">
            <a:noFill/>
            <a:miter lim="800000"/>
            <a:headEnd/>
            <a:tailEnd/>
          </a:ln>
          <a:effectLst/>
        </p:spPr>
        <p:txBody>
          <a:bodyPr>
            <a:spAutoFit/>
          </a:bodyPr>
          <a:lstStyle/>
          <a:p>
            <a:pPr eaLnBrk="1" hangingPunct="1">
              <a:spcBef>
                <a:spcPct val="50000"/>
              </a:spcBef>
              <a:defRPr/>
            </a:pPr>
            <a:r>
              <a:rPr lang="en-US" altLang="zh-CN" sz="1800" i="1">
                <a:solidFill>
                  <a:srgbClr val="CC0066"/>
                </a:solidFill>
                <a:effectLst>
                  <a:outerShdw blurRad="38100" dist="38100" dir="2700000" algn="tl">
                    <a:srgbClr val="000000">
                      <a:alpha val="43137"/>
                    </a:srgbClr>
                  </a:outerShdw>
                </a:effectLst>
              </a:rPr>
              <a:t>I</a:t>
            </a:r>
            <a:r>
              <a:rPr lang="en-US" altLang="zh-CN" sz="1800" baseline="-25000">
                <a:solidFill>
                  <a:srgbClr val="CC0066"/>
                </a:solidFill>
                <a:effectLst>
                  <a:outerShdw blurRad="38100" dist="38100" dir="2700000" algn="tl">
                    <a:srgbClr val="000000">
                      <a:alpha val="43137"/>
                    </a:srgbClr>
                  </a:outerShdw>
                </a:effectLst>
              </a:rPr>
              <a:t>BQ</a:t>
            </a:r>
            <a:endParaRPr lang="en-US" altLang="zh-CN" sz="1800">
              <a:solidFill>
                <a:srgbClr val="CC0066"/>
              </a:solidFill>
              <a:effectLst>
                <a:outerShdw blurRad="38100" dist="38100" dir="2700000" algn="tl">
                  <a:srgbClr val="000000">
                    <a:alpha val="43137"/>
                  </a:srgbClr>
                </a:outerShdw>
              </a:effectLst>
            </a:endParaRPr>
          </a:p>
        </p:txBody>
      </p:sp>
      <p:grpSp>
        <p:nvGrpSpPr>
          <p:cNvPr id="48" name="Group 20">
            <a:extLst>
              <a:ext uri="{FF2B5EF4-FFF2-40B4-BE49-F238E27FC236}">
                <a16:creationId xmlns:a16="http://schemas.microsoft.com/office/drawing/2014/main" id="{8B4EAF2E-DFB6-DDA5-9600-797BE21E98E1}"/>
              </a:ext>
            </a:extLst>
          </p:cNvPr>
          <p:cNvGrpSpPr>
            <a:grpSpLocks/>
          </p:cNvGrpSpPr>
          <p:nvPr/>
        </p:nvGrpSpPr>
        <p:grpSpPr bwMode="auto">
          <a:xfrm>
            <a:off x="4420303" y="1713401"/>
            <a:ext cx="2133600" cy="1890712"/>
            <a:chOff x="2970" y="2898"/>
            <a:chExt cx="1344" cy="1191"/>
          </a:xfrm>
        </p:grpSpPr>
        <p:grpSp>
          <p:nvGrpSpPr>
            <p:cNvPr id="49" name="Group 21">
              <a:extLst>
                <a:ext uri="{FF2B5EF4-FFF2-40B4-BE49-F238E27FC236}">
                  <a16:creationId xmlns:a16="http://schemas.microsoft.com/office/drawing/2014/main" id="{FCFE4D55-11BC-637B-CFE1-3F420F8AA306}"/>
                </a:ext>
              </a:extLst>
            </p:cNvPr>
            <p:cNvGrpSpPr>
              <a:grpSpLocks/>
            </p:cNvGrpSpPr>
            <p:nvPr/>
          </p:nvGrpSpPr>
          <p:grpSpPr bwMode="auto">
            <a:xfrm>
              <a:off x="3258" y="3138"/>
              <a:ext cx="866" cy="720"/>
              <a:chOff x="3360" y="2784"/>
              <a:chExt cx="816" cy="720"/>
            </a:xfrm>
          </p:grpSpPr>
          <p:sp>
            <p:nvSpPr>
              <p:cNvPr id="54" name="Line 22">
                <a:extLst>
                  <a:ext uri="{FF2B5EF4-FFF2-40B4-BE49-F238E27FC236}">
                    <a16:creationId xmlns:a16="http://schemas.microsoft.com/office/drawing/2014/main" id="{22B2363D-C0E2-C913-C6DA-862E755B2D5B}"/>
                  </a:ext>
                </a:extLst>
              </p:cNvPr>
              <p:cNvSpPr>
                <a:spLocks noChangeShapeType="1"/>
              </p:cNvSpPr>
              <p:nvPr/>
            </p:nvSpPr>
            <p:spPr bwMode="auto">
              <a:xfrm flipH="1">
                <a:off x="3360" y="2808"/>
                <a:ext cx="816" cy="0"/>
              </a:xfrm>
              <a:prstGeom prst="line">
                <a:avLst/>
              </a:prstGeom>
              <a:noFill/>
              <a:ln w="19050">
                <a:solidFill>
                  <a:schemeClr val="tx2"/>
                </a:solidFill>
                <a:prstDash val="lgDash"/>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55" name="Line 23">
                <a:extLst>
                  <a:ext uri="{FF2B5EF4-FFF2-40B4-BE49-F238E27FC236}">
                    <a16:creationId xmlns:a16="http://schemas.microsoft.com/office/drawing/2014/main" id="{A9CA4FAC-731B-D686-C36D-16AD76E2E2FC}"/>
                  </a:ext>
                </a:extLst>
              </p:cNvPr>
              <p:cNvSpPr>
                <a:spLocks noChangeShapeType="1"/>
              </p:cNvSpPr>
              <p:nvPr/>
            </p:nvSpPr>
            <p:spPr bwMode="auto">
              <a:xfrm>
                <a:off x="4150" y="2784"/>
                <a:ext cx="0" cy="720"/>
              </a:xfrm>
              <a:prstGeom prst="line">
                <a:avLst/>
              </a:prstGeom>
              <a:noFill/>
              <a:ln w="19050">
                <a:solidFill>
                  <a:schemeClr val="tx2"/>
                </a:solidFill>
                <a:prstDash val="lgDash"/>
                <a:round/>
                <a:headEnd/>
                <a:tailEn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grpSp>
        <p:sp>
          <p:nvSpPr>
            <p:cNvPr id="50" name="Oval 24">
              <a:extLst>
                <a:ext uri="{FF2B5EF4-FFF2-40B4-BE49-F238E27FC236}">
                  <a16:creationId xmlns:a16="http://schemas.microsoft.com/office/drawing/2014/main" id="{F5441184-99DC-42F9-1557-F58957BA3848}"/>
                </a:ext>
              </a:extLst>
            </p:cNvPr>
            <p:cNvSpPr>
              <a:spLocks noChangeArrowheads="1"/>
            </p:cNvSpPr>
            <p:nvPr/>
          </p:nvSpPr>
          <p:spPr bwMode="auto">
            <a:xfrm>
              <a:off x="4051" y="3115"/>
              <a:ext cx="96" cy="96"/>
            </a:xfrm>
            <a:prstGeom prst="ellipse">
              <a:avLst/>
            </a:prstGeom>
            <a:solidFill>
              <a:schemeClr val="tx2"/>
            </a:solidFill>
            <a:ln w="9525">
              <a:solidFill>
                <a:schemeClr val="tx2"/>
              </a:solidFill>
              <a:round/>
              <a:headEnd/>
              <a:tailEnd/>
            </a:ln>
            <a:effectLst/>
          </p:spPr>
          <p:txBody>
            <a:bodyPr wrap="none" anchor="ctr"/>
            <a:lstStyle/>
            <a:p>
              <a:pPr algn="ctr" eaLnBrk="1" hangingPunct="1">
                <a:defRPr/>
              </a:pPr>
              <a:endParaRPr lang="zh-CN" altLang="en-US">
                <a:effectLst>
                  <a:outerShdw blurRad="38100" dist="38100" dir="2700000" algn="tl">
                    <a:srgbClr val="000000">
                      <a:alpha val="43137"/>
                    </a:srgbClr>
                  </a:outerShdw>
                </a:effectLst>
              </a:endParaRPr>
            </a:p>
          </p:txBody>
        </p:sp>
        <p:sp>
          <p:nvSpPr>
            <p:cNvPr id="51" name="Text Box 25">
              <a:extLst>
                <a:ext uri="{FF2B5EF4-FFF2-40B4-BE49-F238E27FC236}">
                  <a16:creationId xmlns:a16="http://schemas.microsoft.com/office/drawing/2014/main" id="{916BBFA7-D589-1066-3619-93B4608B1167}"/>
                </a:ext>
              </a:extLst>
            </p:cNvPr>
            <p:cNvSpPr txBox="1">
              <a:spLocks noChangeArrowheads="1"/>
            </p:cNvSpPr>
            <p:nvPr/>
          </p:nvSpPr>
          <p:spPr bwMode="auto">
            <a:xfrm>
              <a:off x="4026" y="2898"/>
              <a:ext cx="288" cy="231"/>
            </a:xfrm>
            <a:prstGeom prst="rect">
              <a:avLst/>
            </a:prstGeom>
            <a:noFill/>
            <a:ln w="9525">
              <a:noFill/>
              <a:miter lim="800000"/>
              <a:headEnd/>
              <a:tailEnd/>
            </a:ln>
            <a:effec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sz="1800" i="1">
                  <a:solidFill>
                    <a:srgbClr val="CC0066"/>
                  </a:solidFill>
                  <a:effectLst>
                    <a:outerShdw blurRad="38100" dist="38100" dir="2700000" algn="tl">
                      <a:srgbClr val="C0C0C0"/>
                    </a:outerShdw>
                  </a:effectLst>
                </a:rPr>
                <a:t>Q</a:t>
              </a:r>
            </a:p>
          </p:txBody>
        </p:sp>
        <p:sp>
          <p:nvSpPr>
            <p:cNvPr id="52" name="Text Box 26">
              <a:extLst>
                <a:ext uri="{FF2B5EF4-FFF2-40B4-BE49-F238E27FC236}">
                  <a16:creationId xmlns:a16="http://schemas.microsoft.com/office/drawing/2014/main" id="{38112569-C58C-3C94-8CC9-4C1358E92426}"/>
                </a:ext>
              </a:extLst>
            </p:cNvPr>
            <p:cNvSpPr txBox="1">
              <a:spLocks noChangeArrowheads="1"/>
            </p:cNvSpPr>
            <p:nvPr/>
          </p:nvSpPr>
          <p:spPr bwMode="auto">
            <a:xfrm>
              <a:off x="2970" y="2994"/>
              <a:ext cx="336" cy="233"/>
            </a:xfrm>
            <a:prstGeom prst="rect">
              <a:avLst/>
            </a:prstGeom>
            <a:noFill/>
            <a:ln w="9525">
              <a:noFill/>
              <a:miter lim="800000"/>
              <a:headEnd/>
              <a:tailEnd/>
            </a:ln>
            <a:effectLst/>
          </p:spPr>
          <p:txBody>
            <a:bodyPr>
              <a:spAutoFit/>
            </a:bodyPr>
            <a:lstStyle/>
            <a:p>
              <a:pPr eaLnBrk="1" hangingPunct="1">
                <a:spcBef>
                  <a:spcPct val="50000"/>
                </a:spcBef>
                <a:defRPr/>
              </a:pPr>
              <a:r>
                <a:rPr lang="en-US" altLang="zh-CN" sz="1800" i="1" dirty="0">
                  <a:solidFill>
                    <a:srgbClr val="CC0066"/>
                  </a:solidFill>
                  <a:effectLst>
                    <a:outerShdw blurRad="38100" dist="38100" dir="2700000" algn="tl">
                      <a:srgbClr val="000000">
                        <a:alpha val="43137"/>
                      </a:srgbClr>
                    </a:outerShdw>
                  </a:effectLst>
                </a:rPr>
                <a:t>I</a:t>
              </a:r>
              <a:r>
                <a:rPr lang="en-US" altLang="zh-CN" sz="1800" baseline="-25000" dirty="0">
                  <a:solidFill>
                    <a:srgbClr val="CC0066"/>
                  </a:solidFill>
                  <a:effectLst>
                    <a:outerShdw blurRad="38100" dist="38100" dir="2700000" algn="tl">
                      <a:srgbClr val="000000">
                        <a:alpha val="43137"/>
                      </a:srgbClr>
                    </a:outerShdw>
                  </a:effectLst>
                </a:rPr>
                <a:t>EQ</a:t>
              </a:r>
              <a:endParaRPr lang="en-US" altLang="zh-CN" sz="1800" dirty="0">
                <a:solidFill>
                  <a:srgbClr val="CC0066"/>
                </a:solidFill>
                <a:effectLst>
                  <a:outerShdw blurRad="38100" dist="38100" dir="2700000" algn="tl">
                    <a:srgbClr val="000000">
                      <a:alpha val="43137"/>
                    </a:srgbClr>
                  </a:outerShdw>
                </a:effectLst>
              </a:endParaRPr>
            </a:p>
          </p:txBody>
        </p:sp>
        <p:sp>
          <p:nvSpPr>
            <p:cNvPr id="53" name="Text Box 27">
              <a:extLst>
                <a:ext uri="{FF2B5EF4-FFF2-40B4-BE49-F238E27FC236}">
                  <a16:creationId xmlns:a16="http://schemas.microsoft.com/office/drawing/2014/main" id="{6CF7643C-C44B-D18E-4BDD-86A39DF5D58A}"/>
                </a:ext>
              </a:extLst>
            </p:cNvPr>
            <p:cNvSpPr txBox="1">
              <a:spLocks noChangeArrowheads="1"/>
            </p:cNvSpPr>
            <p:nvPr/>
          </p:nvSpPr>
          <p:spPr bwMode="auto">
            <a:xfrm>
              <a:off x="3738" y="3858"/>
              <a:ext cx="480" cy="231"/>
            </a:xfrm>
            <a:prstGeom prst="rect">
              <a:avLst/>
            </a:prstGeom>
            <a:solidFill>
              <a:schemeClr val="accent5"/>
            </a:solidFill>
            <a:ln w="9525">
              <a:noFill/>
              <a:miter lim="800000"/>
              <a:headEnd/>
              <a:tailEnd/>
            </a:ln>
            <a:effectLst/>
          </p:spPr>
          <p:txBody>
            <a:bodyPr>
              <a:spAutoFit/>
            </a:bodyPr>
            <a:lstStyle/>
            <a:p>
              <a:pPr eaLnBrk="1" hangingPunct="1">
                <a:spcBef>
                  <a:spcPct val="50000"/>
                </a:spcBef>
                <a:defRPr/>
              </a:pPr>
              <a:r>
                <a:rPr lang="en-US" altLang="zh-CN" sz="1800" i="1" dirty="0">
                  <a:solidFill>
                    <a:srgbClr val="CC0066"/>
                  </a:solidFill>
                  <a:effectLst>
                    <a:outerShdw blurRad="38100" dist="38100" dir="2700000" algn="tl">
                      <a:srgbClr val="000000">
                        <a:alpha val="43137"/>
                      </a:srgbClr>
                    </a:outerShdw>
                  </a:effectLst>
                </a:rPr>
                <a:t>U</a:t>
              </a:r>
              <a:r>
                <a:rPr lang="en-US" altLang="zh-CN" sz="1800" baseline="-25000" dirty="0">
                  <a:solidFill>
                    <a:srgbClr val="CC0066"/>
                  </a:solidFill>
                  <a:effectLst>
                    <a:outerShdw blurRad="38100" dist="38100" dir="2700000" algn="tl">
                      <a:srgbClr val="000000">
                        <a:alpha val="43137"/>
                      </a:srgbClr>
                    </a:outerShdw>
                  </a:effectLst>
                </a:rPr>
                <a:t>CEQ</a:t>
              </a:r>
              <a:endParaRPr lang="en-US" altLang="zh-CN" sz="1800" dirty="0">
                <a:solidFill>
                  <a:srgbClr val="CC0066"/>
                </a:solidFill>
                <a:effectLst>
                  <a:outerShdw blurRad="38100" dist="38100" dir="2700000" algn="tl">
                    <a:srgbClr val="000000">
                      <a:alpha val="43137"/>
                    </a:srgbClr>
                  </a:outerShdw>
                </a:effectLst>
              </a:endParaRPr>
            </a:p>
          </p:txBody>
        </p:sp>
      </p:grpSp>
      <p:sp>
        <p:nvSpPr>
          <p:cNvPr id="57" name="椭圆 56">
            <a:extLst>
              <a:ext uri="{FF2B5EF4-FFF2-40B4-BE49-F238E27FC236}">
                <a16:creationId xmlns:a16="http://schemas.microsoft.com/office/drawing/2014/main" id="{29A25CC7-F450-758E-CFF2-DFB1EF9BC0A9}"/>
              </a:ext>
            </a:extLst>
          </p:cNvPr>
          <p:cNvSpPr/>
          <p:nvPr/>
        </p:nvSpPr>
        <p:spPr bwMode="auto">
          <a:xfrm>
            <a:off x="4864803" y="1122851"/>
            <a:ext cx="100013" cy="114300"/>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58" name="椭圆 57">
            <a:extLst>
              <a:ext uri="{FF2B5EF4-FFF2-40B4-BE49-F238E27FC236}">
                <a16:creationId xmlns:a16="http://schemas.microsoft.com/office/drawing/2014/main" id="{7B21F6C6-499B-5CFD-8F0C-C84C0BA985BD}"/>
              </a:ext>
            </a:extLst>
          </p:cNvPr>
          <p:cNvSpPr/>
          <p:nvPr/>
        </p:nvSpPr>
        <p:spPr bwMode="auto">
          <a:xfrm>
            <a:off x="7617528" y="3140563"/>
            <a:ext cx="100013" cy="114300"/>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a:lstStyle/>
          <a:p>
            <a:pPr algn="ctr" eaLnBrk="1" hangingPunct="1">
              <a:defRPr/>
            </a:pPr>
            <a:endParaRPr lang="zh-CN" altLang="en-US">
              <a:effectLst>
                <a:outerShdw blurRad="38100" dist="38100" dir="2700000" algn="tl">
                  <a:srgbClr val="000000">
                    <a:alpha val="43137"/>
                  </a:srgbClr>
                </a:outerShdw>
              </a:effectLst>
            </a:endParaRPr>
          </a:p>
        </p:txBody>
      </p:sp>
      <p:sp>
        <p:nvSpPr>
          <p:cNvPr id="59" name="文本框 58">
            <a:extLst>
              <a:ext uri="{FF2B5EF4-FFF2-40B4-BE49-F238E27FC236}">
                <a16:creationId xmlns:a16="http://schemas.microsoft.com/office/drawing/2014/main" id="{DCB81BDB-EDC7-C561-A758-2B7EED4A93E6}"/>
              </a:ext>
            </a:extLst>
          </p:cNvPr>
          <p:cNvSpPr txBox="1"/>
          <p:nvPr/>
        </p:nvSpPr>
        <p:spPr>
          <a:xfrm>
            <a:off x="283108" y="3751263"/>
            <a:ext cx="4670595" cy="830997"/>
          </a:xfrm>
          <a:prstGeom prst="rect">
            <a:avLst/>
          </a:prstGeom>
          <a:solidFill>
            <a:schemeClr val="accent5"/>
          </a:solidFill>
        </p:spPr>
        <p:txBody>
          <a:bodyPr wrap="square" rtlCol="0">
            <a:spAutoFit/>
          </a:bodyPr>
          <a:lstStyle/>
          <a:p>
            <a:r>
              <a:rPr lang="zh-CN" altLang="en-US" b="1" dirty="0"/>
              <a:t>无论有无信号加入，三极管</a:t>
            </a:r>
            <a:r>
              <a:rPr lang="en-US" altLang="zh-CN" b="1" dirty="0"/>
              <a:t>T</a:t>
            </a:r>
            <a:r>
              <a:rPr lang="zh-CN" altLang="en-US" b="1" dirty="0"/>
              <a:t>都有管压降</a:t>
            </a:r>
            <a:r>
              <a:rPr lang="en-US" altLang="zh-CN" b="1" dirty="0"/>
              <a:t>U</a:t>
            </a:r>
            <a:r>
              <a:rPr lang="en-US" altLang="zh-CN" sz="1400" b="1" dirty="0"/>
              <a:t>CEQ</a:t>
            </a:r>
            <a:r>
              <a:rPr lang="zh-CN" altLang="en-US" b="1" dirty="0"/>
              <a:t>，三极管</a:t>
            </a:r>
            <a:r>
              <a:rPr lang="en-US" altLang="zh-CN" b="1" dirty="0"/>
              <a:t>T</a:t>
            </a:r>
            <a:r>
              <a:rPr lang="zh-CN" altLang="en-US" b="1" dirty="0"/>
              <a:t>有功耗</a:t>
            </a:r>
          </a:p>
        </p:txBody>
      </p:sp>
      <p:sp>
        <p:nvSpPr>
          <p:cNvPr id="60" name="文本框 59">
            <a:extLst>
              <a:ext uri="{FF2B5EF4-FFF2-40B4-BE49-F238E27FC236}">
                <a16:creationId xmlns:a16="http://schemas.microsoft.com/office/drawing/2014/main" id="{7B79579E-8920-A409-25DF-43DCC75BBD95}"/>
              </a:ext>
            </a:extLst>
          </p:cNvPr>
          <p:cNvSpPr txBox="1"/>
          <p:nvPr/>
        </p:nvSpPr>
        <p:spPr>
          <a:xfrm>
            <a:off x="998491" y="4629688"/>
            <a:ext cx="4486083" cy="830997"/>
          </a:xfrm>
          <a:prstGeom prst="rect">
            <a:avLst/>
          </a:prstGeom>
          <a:solidFill>
            <a:schemeClr val="accent5"/>
          </a:solidFill>
        </p:spPr>
        <p:txBody>
          <a:bodyPr wrap="square" rtlCol="0">
            <a:spAutoFit/>
          </a:bodyPr>
          <a:lstStyle/>
          <a:p>
            <a:r>
              <a:rPr lang="zh-CN" altLang="en-US" b="1" dirty="0"/>
              <a:t>能否想办法，没有信号输入时，三极管</a:t>
            </a:r>
            <a:r>
              <a:rPr lang="en-US" altLang="zh-CN" b="1" dirty="0"/>
              <a:t>T</a:t>
            </a:r>
            <a:r>
              <a:rPr lang="zh-CN" altLang="en-US" b="1" dirty="0"/>
              <a:t>都有管压降</a:t>
            </a:r>
            <a:r>
              <a:rPr lang="en-US" altLang="zh-CN" b="1" dirty="0"/>
              <a:t>U</a:t>
            </a:r>
            <a:r>
              <a:rPr lang="en-US" altLang="zh-CN" sz="1400" b="1" dirty="0"/>
              <a:t>CEQ</a:t>
            </a:r>
            <a:r>
              <a:rPr lang="zh-CN" altLang="en-US" b="1" dirty="0"/>
              <a:t>为零？</a:t>
            </a:r>
          </a:p>
        </p:txBody>
      </p:sp>
      <p:sp>
        <p:nvSpPr>
          <p:cNvPr id="61" name="文本框 60">
            <a:extLst>
              <a:ext uri="{FF2B5EF4-FFF2-40B4-BE49-F238E27FC236}">
                <a16:creationId xmlns:a16="http://schemas.microsoft.com/office/drawing/2014/main" id="{4602ED5F-4329-7F6B-0B00-A23E36E7413C}"/>
              </a:ext>
            </a:extLst>
          </p:cNvPr>
          <p:cNvSpPr txBox="1"/>
          <p:nvPr/>
        </p:nvSpPr>
        <p:spPr>
          <a:xfrm>
            <a:off x="2546820" y="5508113"/>
            <a:ext cx="6216692" cy="830997"/>
          </a:xfrm>
          <a:prstGeom prst="rect">
            <a:avLst/>
          </a:prstGeom>
          <a:solidFill>
            <a:schemeClr val="accent5"/>
          </a:solidFill>
        </p:spPr>
        <p:txBody>
          <a:bodyPr wrap="square" rtlCol="0">
            <a:spAutoFit/>
          </a:bodyPr>
          <a:lstStyle/>
          <a:p>
            <a:r>
              <a:rPr lang="zh-CN" altLang="en-US" b="1" dirty="0"/>
              <a:t>没有信号输入时，三极管</a:t>
            </a:r>
            <a:r>
              <a:rPr lang="en-US" altLang="zh-CN" b="1" dirty="0"/>
              <a:t>T</a:t>
            </a:r>
            <a:r>
              <a:rPr lang="zh-CN" altLang="en-US" b="1" dirty="0"/>
              <a:t>截止（</a:t>
            </a:r>
            <a:r>
              <a:rPr lang="en-US" altLang="zh-CN" b="1" dirty="0"/>
              <a:t>Q</a:t>
            </a:r>
            <a:r>
              <a:rPr lang="zh-CN" altLang="en-US" b="1" dirty="0"/>
              <a:t>点</a:t>
            </a:r>
            <a:r>
              <a:rPr lang="zh-CN" altLang="en-US" b="1"/>
              <a:t>右移）但</a:t>
            </a:r>
            <a:r>
              <a:rPr lang="zh-CN" altLang="en-US" b="1" dirty="0"/>
              <a:t>只能放大一半波形！</a:t>
            </a:r>
          </a:p>
        </p:txBody>
      </p:sp>
    </p:spTree>
    <p:extLst>
      <p:ext uri="{BB962C8B-B14F-4D97-AF65-F5344CB8AC3E}">
        <p14:creationId xmlns:p14="http://schemas.microsoft.com/office/powerpoint/2010/main" val="4025345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p:cTn id="7" dur="500" fill="hold"/>
                                        <p:tgtEl>
                                          <p:spTgt spid="69634"/>
                                        </p:tgtEl>
                                        <p:attrNameLst>
                                          <p:attrName>ppt_w</p:attrName>
                                        </p:attrNameLst>
                                      </p:cBhvr>
                                      <p:tavLst>
                                        <p:tav tm="0">
                                          <p:val>
                                            <p:fltVal val="0"/>
                                          </p:val>
                                        </p:tav>
                                        <p:tav tm="100000">
                                          <p:val>
                                            <p:strVal val="#ppt_w"/>
                                          </p:val>
                                        </p:tav>
                                      </p:tavLst>
                                    </p:anim>
                                    <p:anim calcmode="lin" valueType="num">
                                      <p:cBhvr>
                                        <p:cTn id="8" dur="500" fill="hold"/>
                                        <p:tgtEl>
                                          <p:spTgt spid="6963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dissolve">
                                      <p:cBhvr>
                                        <p:cTn id="18" dur="500"/>
                                        <p:tgtEl>
                                          <p:spTgt spid="4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blinds(horizontal)">
                                      <p:cBhvr>
                                        <p:cTn id="23" dur="500"/>
                                        <p:tgtEl>
                                          <p:spTgt spid="5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blinds(horizontal)">
                                      <p:cBhvr>
                                        <p:cTn id="28" dur="500"/>
                                        <p:tgtEl>
                                          <p:spTgt spid="5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up)">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4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up)">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utoUpdateAnimBg="0"/>
      <p:bldP spid="57" grpId="0" animBg="1"/>
      <p:bldP spid="58" grpId="0" animBg="1"/>
      <p:bldP spid="59" grpId="0" animBg="1"/>
      <p:bldP spid="60" grpId="0" animBg="1"/>
      <p:bldP spid="61"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8" name="Object 2"/>
          <p:cNvGraphicFramePr>
            <a:graphicFrameLocks noChangeAspect="1"/>
          </p:cNvGraphicFramePr>
          <p:nvPr/>
        </p:nvGraphicFramePr>
        <p:xfrm>
          <a:off x="5148263" y="2852738"/>
          <a:ext cx="3200400" cy="2465387"/>
        </p:xfrm>
        <a:graphic>
          <a:graphicData uri="http://schemas.openxmlformats.org/presentationml/2006/ole">
            <mc:AlternateContent xmlns:mc="http://schemas.openxmlformats.org/markup-compatibility/2006">
              <mc:Choice xmlns:v="urn:schemas-microsoft-com:vml" Requires="v">
                <p:oleObj spid="_x0000_s56324" name="Photo Editor 照片" r:id="rId3" imgW="10447619" imgH="8047619" progId="">
                  <p:embed/>
                </p:oleObj>
              </mc:Choice>
              <mc:Fallback>
                <p:oleObj name="Photo Editor 照片" r:id="rId3" imgW="10447619" imgH="8047619"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2852738"/>
                        <a:ext cx="3200400"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2" name="Rectangle 3"/>
          <p:cNvSpPr>
            <a:spLocks noGrp="1" noChangeArrowheads="1"/>
          </p:cNvSpPr>
          <p:nvPr>
            <p:ph type="title"/>
          </p:nvPr>
        </p:nvSpPr>
        <p:spPr>
          <a:xfrm>
            <a:off x="250825" y="836613"/>
            <a:ext cx="6915150" cy="533400"/>
          </a:xfrm>
        </p:spPr>
        <p:txBody>
          <a:bodyPr/>
          <a:lstStyle/>
          <a:p>
            <a:pPr algn="l">
              <a:spcBef>
                <a:spcPct val="45000"/>
              </a:spcBef>
            </a:pPr>
            <a:r>
              <a:rPr lang="zh-CN" altLang="en-US" sz="3200" b="1">
                <a:solidFill>
                  <a:schemeClr val="tx1"/>
                </a:solidFill>
                <a:latin typeface="华文行楷" pitchFamily="2" charset="-122"/>
                <a:ea typeface="华文行楷" pitchFamily="2" charset="-122"/>
              </a:rPr>
              <a:t>二、基本电路</a:t>
            </a:r>
          </a:p>
        </p:txBody>
      </p:sp>
      <p:sp>
        <p:nvSpPr>
          <p:cNvPr id="70660" name="Text Box 4"/>
          <p:cNvSpPr txBox="1">
            <a:spLocks noChangeArrowheads="1"/>
          </p:cNvSpPr>
          <p:nvPr/>
        </p:nvSpPr>
        <p:spPr bwMode="auto">
          <a:xfrm>
            <a:off x="1258888" y="5661025"/>
            <a:ext cx="6781800" cy="519113"/>
          </a:xfrm>
          <a:prstGeom prst="rect">
            <a:avLst/>
          </a:prstGeom>
          <a:noFill/>
          <a:ln w="9525">
            <a:noFill/>
            <a:miter lim="800000"/>
            <a:headEnd/>
            <a:tailEnd/>
          </a:ln>
        </p:spPr>
        <p:txBody>
          <a:bodyPr>
            <a:spAutoFit/>
          </a:bodyPr>
          <a:lstStyle/>
          <a:p>
            <a:pPr algn="ctr" eaLnBrk="1" hangingPunct="1">
              <a:spcBef>
                <a:spcPct val="50000"/>
              </a:spcBef>
            </a:pPr>
            <a:r>
              <a:rPr lang="zh-CN" altLang="zh-CN" sz="2800" b="1"/>
              <a:t>静态时</a:t>
            </a:r>
            <a:r>
              <a:rPr lang="en-US" altLang="zh-CN" sz="2800" b="1"/>
              <a:t>T</a:t>
            </a:r>
            <a:r>
              <a:rPr lang="en-US" altLang="zh-CN" sz="2800" b="1" baseline="-25000"/>
              <a:t>1</a:t>
            </a:r>
            <a:r>
              <a:rPr lang="zh-CN" altLang="en-US" sz="2800" b="1"/>
              <a:t>、</a:t>
            </a:r>
            <a:r>
              <a:rPr lang="en-US" altLang="zh-CN" sz="2800" b="1"/>
              <a:t>T</a:t>
            </a:r>
            <a:r>
              <a:rPr lang="en-US" altLang="zh-CN" sz="2800" b="1" baseline="-25000"/>
              <a:t>2</a:t>
            </a:r>
            <a:r>
              <a:rPr lang="zh-CN" altLang="zh-CN" sz="2800" b="1"/>
              <a:t>均截止，</a:t>
            </a:r>
            <a:r>
              <a:rPr lang="en-US" altLang="zh-CN" sz="2800" b="1" i="1"/>
              <a:t>U</a:t>
            </a:r>
            <a:r>
              <a:rPr lang="en-US" altLang="zh-CN" sz="2800" b="1" baseline="-25000"/>
              <a:t>B</a:t>
            </a:r>
            <a:r>
              <a:rPr lang="en-US" altLang="zh-CN" sz="2800" b="1"/>
              <a:t>= </a:t>
            </a:r>
            <a:r>
              <a:rPr lang="en-US" altLang="zh-CN" sz="2800" b="1" i="1"/>
              <a:t>U</a:t>
            </a:r>
            <a:r>
              <a:rPr lang="en-US" altLang="zh-CN" sz="2800" b="1" baseline="-25000"/>
              <a:t>E</a:t>
            </a:r>
            <a:r>
              <a:rPr lang="en-US" altLang="zh-CN" sz="2800" b="1"/>
              <a:t>=0</a:t>
            </a:r>
          </a:p>
        </p:txBody>
      </p:sp>
      <p:graphicFrame>
        <p:nvGraphicFramePr>
          <p:cNvPr id="73731" name="Object 3"/>
          <p:cNvGraphicFramePr>
            <a:graphicFrameLocks noChangeAspect="1"/>
          </p:cNvGraphicFramePr>
          <p:nvPr/>
        </p:nvGraphicFramePr>
        <p:xfrm>
          <a:off x="1116013" y="2492375"/>
          <a:ext cx="3429000" cy="3051175"/>
        </p:xfrm>
        <a:graphic>
          <a:graphicData uri="http://schemas.openxmlformats.org/presentationml/2006/ole">
            <mc:AlternateContent xmlns:mc="http://schemas.openxmlformats.org/markup-compatibility/2006">
              <mc:Choice xmlns:v="urn:schemas-microsoft-com:vml" Requires="v">
                <p:oleObj spid="_x0000_s56325" name="Photo Editor 照片" r:id="rId5" imgW="11133333" imgH="9914286" progId="">
                  <p:embed/>
                </p:oleObj>
              </mc:Choice>
              <mc:Fallback>
                <p:oleObj name="Photo Editor 照片" r:id="rId5" imgW="11133333" imgH="9914286"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2492375"/>
                        <a:ext cx="3429000" cy="305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62" name="Text Box 6"/>
          <p:cNvSpPr txBox="1">
            <a:spLocks noChangeArrowheads="1"/>
          </p:cNvSpPr>
          <p:nvPr/>
        </p:nvSpPr>
        <p:spPr bwMode="auto">
          <a:xfrm>
            <a:off x="684213" y="1341438"/>
            <a:ext cx="7772400" cy="579437"/>
          </a:xfrm>
          <a:prstGeom prst="rect">
            <a:avLst/>
          </a:prstGeom>
          <a:noFill/>
          <a:ln w="9525">
            <a:noFill/>
            <a:miter lim="800000"/>
            <a:headEnd/>
            <a:tailEnd/>
          </a:ln>
        </p:spPr>
        <p:txBody>
          <a:bodyPr>
            <a:spAutoFit/>
          </a:bodyPr>
          <a:lstStyle/>
          <a:p>
            <a:pPr algn="ctr" eaLnBrk="1" hangingPunct="1">
              <a:spcBef>
                <a:spcPct val="50000"/>
              </a:spcBef>
            </a:pPr>
            <a:r>
              <a:rPr lang="en-US" altLang="zh-CN" sz="3200" b="1">
                <a:latin typeface="华文行楷" pitchFamily="2" charset="-122"/>
                <a:ea typeface="华文行楷" pitchFamily="2" charset="-122"/>
              </a:rPr>
              <a:t>1.  </a:t>
            </a:r>
            <a:r>
              <a:rPr lang="zh-CN" altLang="en-US" sz="3200" b="1">
                <a:latin typeface="华文行楷" pitchFamily="2" charset="-122"/>
                <a:ea typeface="华文行楷" pitchFamily="2" charset="-122"/>
              </a:rPr>
              <a:t>特征</a:t>
            </a:r>
            <a:r>
              <a:rPr lang="zh-CN" altLang="en-US" sz="2800" b="1"/>
              <a:t>：</a:t>
            </a:r>
            <a:r>
              <a:rPr lang="en-US" altLang="zh-CN" sz="2800" b="1"/>
              <a:t>T</a:t>
            </a:r>
            <a:r>
              <a:rPr lang="en-US" altLang="zh-CN" sz="2800" b="1" baseline="-25000"/>
              <a:t>1</a:t>
            </a:r>
            <a:r>
              <a:rPr lang="zh-CN" altLang="en-US" sz="2800" b="1"/>
              <a:t>、</a:t>
            </a:r>
            <a:r>
              <a:rPr lang="en-US" altLang="zh-CN" sz="2800" b="1"/>
              <a:t>T</a:t>
            </a:r>
            <a:r>
              <a:rPr lang="en-US" altLang="zh-CN" sz="2800" b="1" baseline="-25000"/>
              <a:t>2</a:t>
            </a:r>
            <a:r>
              <a:rPr lang="zh-CN" altLang="zh-CN" sz="2800" b="1"/>
              <a:t>特性理想对称。</a:t>
            </a:r>
            <a:endParaRPr lang="zh-CN" altLang="en-US" sz="2800"/>
          </a:p>
        </p:txBody>
      </p:sp>
      <p:sp>
        <p:nvSpPr>
          <p:cNvPr id="70663" name="Text Box 7"/>
          <p:cNvSpPr txBox="1">
            <a:spLocks noChangeArrowheads="1"/>
          </p:cNvSpPr>
          <p:nvPr/>
        </p:nvSpPr>
        <p:spPr bwMode="auto">
          <a:xfrm>
            <a:off x="611188" y="1844675"/>
            <a:ext cx="6096000" cy="579438"/>
          </a:xfrm>
          <a:prstGeom prst="rect">
            <a:avLst/>
          </a:prstGeom>
          <a:noFill/>
          <a:ln w="9525">
            <a:noFill/>
            <a:miter lim="800000"/>
            <a:headEnd/>
            <a:tailEnd/>
          </a:ln>
        </p:spPr>
        <p:txBody>
          <a:bodyPr>
            <a:spAutoFit/>
          </a:bodyPr>
          <a:lstStyle/>
          <a:p>
            <a:pPr algn="ctr" eaLnBrk="1" hangingPunct="1">
              <a:spcBef>
                <a:spcPct val="50000"/>
              </a:spcBef>
            </a:pPr>
            <a:r>
              <a:rPr lang="en-US" altLang="zh-CN" sz="3200" b="1">
                <a:latin typeface="华文行楷" pitchFamily="2" charset="-122"/>
                <a:ea typeface="华文行楷" pitchFamily="2" charset="-122"/>
              </a:rPr>
              <a:t>2.  </a:t>
            </a:r>
            <a:r>
              <a:rPr lang="zh-CN" altLang="en-US" sz="3200" b="1">
                <a:latin typeface="华文行楷" pitchFamily="2" charset="-122"/>
                <a:ea typeface="华文行楷" pitchFamily="2" charset="-122"/>
              </a:rPr>
              <a:t>静态分析</a:t>
            </a:r>
          </a:p>
        </p:txBody>
      </p:sp>
      <p:sp>
        <p:nvSpPr>
          <p:cNvPr id="70664" name="Text Box 8"/>
          <p:cNvSpPr txBox="1">
            <a:spLocks noChangeArrowheads="1"/>
          </p:cNvSpPr>
          <p:nvPr/>
        </p:nvSpPr>
        <p:spPr bwMode="auto">
          <a:xfrm>
            <a:off x="4995863" y="2395538"/>
            <a:ext cx="2819400" cy="457200"/>
          </a:xfrm>
          <a:prstGeom prst="rect">
            <a:avLst/>
          </a:prstGeom>
          <a:noFill/>
          <a:ln w="9525">
            <a:noFill/>
            <a:miter lim="800000"/>
            <a:headEnd/>
            <a:tailEnd/>
          </a:ln>
        </p:spPr>
        <p:txBody>
          <a:bodyPr>
            <a:spAutoFit/>
          </a:bodyPr>
          <a:lstStyle/>
          <a:p>
            <a:pPr algn="ctr" eaLnBrk="1" hangingPunct="1">
              <a:spcBef>
                <a:spcPct val="50000"/>
              </a:spcBef>
            </a:pPr>
            <a:r>
              <a:rPr lang="en-US" altLang="zh-CN" b="1"/>
              <a:t>T</a:t>
            </a:r>
            <a:r>
              <a:rPr lang="en-US" altLang="zh-CN" b="1" baseline="-25000"/>
              <a:t>1</a:t>
            </a:r>
            <a:r>
              <a:rPr lang="zh-CN" altLang="en-US" b="1"/>
              <a:t>的输入特性</a:t>
            </a:r>
          </a:p>
        </p:txBody>
      </p:sp>
      <p:grpSp>
        <p:nvGrpSpPr>
          <p:cNvPr id="2" name="Group 9"/>
          <p:cNvGrpSpPr>
            <a:grpSpLocks/>
          </p:cNvGrpSpPr>
          <p:nvPr/>
        </p:nvGrpSpPr>
        <p:grpSpPr bwMode="auto">
          <a:xfrm>
            <a:off x="4691063" y="3233738"/>
            <a:ext cx="2124075" cy="1766887"/>
            <a:chOff x="2831" y="1831"/>
            <a:chExt cx="1338" cy="1113"/>
          </a:xfrm>
        </p:grpSpPr>
        <p:grpSp>
          <p:nvGrpSpPr>
            <p:cNvPr id="73738" name="Group 10"/>
            <p:cNvGrpSpPr>
              <a:grpSpLocks/>
            </p:cNvGrpSpPr>
            <p:nvPr/>
          </p:nvGrpSpPr>
          <p:grpSpPr bwMode="auto">
            <a:xfrm>
              <a:off x="3401" y="1831"/>
              <a:ext cx="768" cy="1113"/>
              <a:chOff x="3402" y="1728"/>
              <a:chExt cx="768" cy="1113"/>
            </a:xfrm>
          </p:grpSpPr>
          <p:sp>
            <p:nvSpPr>
              <p:cNvPr id="73740" name="Line 11"/>
              <p:cNvSpPr>
                <a:spLocks noChangeShapeType="1"/>
              </p:cNvSpPr>
              <p:nvPr/>
            </p:nvSpPr>
            <p:spPr bwMode="auto">
              <a:xfrm>
                <a:off x="3402" y="2841"/>
                <a:ext cx="768" cy="0"/>
              </a:xfrm>
              <a:prstGeom prst="line">
                <a:avLst/>
              </a:prstGeom>
              <a:noFill/>
              <a:ln w="28575">
                <a:solidFill>
                  <a:srgbClr val="FF0000"/>
                </a:solidFill>
                <a:round/>
                <a:headEnd/>
                <a:tailEnd/>
              </a:ln>
            </p:spPr>
            <p:txBody>
              <a:bodyPr/>
              <a:lstStyle/>
              <a:p>
                <a:endParaRPr lang="zh-CN" altLang="en-US"/>
              </a:p>
            </p:txBody>
          </p:sp>
          <p:sp>
            <p:nvSpPr>
              <p:cNvPr id="73741" name="Line 12"/>
              <p:cNvSpPr>
                <a:spLocks noChangeShapeType="1"/>
              </p:cNvSpPr>
              <p:nvPr/>
            </p:nvSpPr>
            <p:spPr bwMode="auto">
              <a:xfrm flipV="1">
                <a:off x="4168" y="1728"/>
                <a:ext cx="0" cy="1104"/>
              </a:xfrm>
              <a:prstGeom prst="line">
                <a:avLst/>
              </a:prstGeom>
              <a:noFill/>
              <a:ln w="28575">
                <a:solidFill>
                  <a:srgbClr val="FF0000"/>
                </a:solidFill>
                <a:round/>
                <a:headEnd/>
                <a:tailEnd/>
              </a:ln>
            </p:spPr>
            <p:txBody>
              <a:bodyPr/>
              <a:lstStyle/>
              <a:p>
                <a:endParaRPr lang="zh-CN" altLang="en-US"/>
              </a:p>
            </p:txBody>
          </p:sp>
        </p:grpSp>
        <p:sp>
          <p:nvSpPr>
            <p:cNvPr id="73739" name="AutoShape 13"/>
            <p:cNvSpPr>
              <a:spLocks/>
            </p:cNvSpPr>
            <p:nvPr/>
          </p:nvSpPr>
          <p:spPr bwMode="auto">
            <a:xfrm>
              <a:off x="2831" y="1831"/>
              <a:ext cx="1074" cy="269"/>
            </a:xfrm>
            <a:prstGeom prst="borderCallout1">
              <a:avLst>
                <a:gd name="adj1" fmla="val 26764"/>
                <a:gd name="adj2" fmla="val 104468"/>
                <a:gd name="adj3" fmla="val 148699"/>
                <a:gd name="adj4" fmla="val 124116"/>
              </a:avLst>
            </a:prstGeom>
            <a:solidFill>
              <a:srgbClr val="00FFFF"/>
            </a:solidFill>
            <a:ln w="19050">
              <a:solidFill>
                <a:srgbClr val="FF3300"/>
              </a:solidFill>
              <a:miter lim="800000"/>
              <a:headEnd/>
              <a:tailEnd/>
            </a:ln>
          </p:spPr>
          <p:txBody>
            <a:bodyPr/>
            <a:lstStyle/>
            <a:p>
              <a:pPr algn="ctr" eaLnBrk="1" hangingPunct="1"/>
              <a:r>
                <a:rPr lang="zh-CN" altLang="en-US" sz="2000" b="1"/>
                <a:t>理想化特性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2">
                                            <p:txEl>
                                              <p:pRg st="0" end="0"/>
                                            </p:txEl>
                                          </p:spTgt>
                                        </p:tgtEl>
                                        <p:attrNameLst>
                                          <p:attrName>style.visibility</p:attrName>
                                        </p:attrNameLst>
                                      </p:cBhvr>
                                      <p:to>
                                        <p:strVal val="visible"/>
                                      </p:to>
                                    </p:set>
                                    <p:animEffect transition="in" filter="wipe(left)">
                                      <p:cBhvr>
                                        <p:cTn id="7" dur="500"/>
                                        <p:tgtEl>
                                          <p:spTgt spid="706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3">
                                            <p:txEl>
                                              <p:pRg st="0" end="0"/>
                                            </p:txEl>
                                          </p:spTgt>
                                        </p:tgtEl>
                                        <p:attrNameLst>
                                          <p:attrName>style.visibility</p:attrName>
                                        </p:attrNameLst>
                                      </p:cBhvr>
                                      <p:to>
                                        <p:strVal val="visible"/>
                                      </p:to>
                                    </p:set>
                                    <p:animEffect transition="in" filter="wipe(left)">
                                      <p:cBhvr>
                                        <p:cTn id="12" dur="500"/>
                                        <p:tgtEl>
                                          <p:spTgt spid="706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664">
                                            <p:txEl>
                                              <p:pRg st="0" end="0"/>
                                            </p:txEl>
                                          </p:spTgt>
                                        </p:tgtEl>
                                        <p:attrNameLst>
                                          <p:attrName>style.visibility</p:attrName>
                                        </p:attrNameLst>
                                      </p:cBhvr>
                                      <p:to>
                                        <p:strVal val="visible"/>
                                      </p:to>
                                    </p:set>
                                    <p:animEffect transition="in" filter="wipe(left)">
                                      <p:cBhvr>
                                        <p:cTn id="17" dur="500"/>
                                        <p:tgtEl>
                                          <p:spTgt spid="7066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0658"/>
                                        </p:tgtEl>
                                        <p:attrNameLst>
                                          <p:attrName>style.visibility</p:attrName>
                                        </p:attrNameLst>
                                      </p:cBhvr>
                                      <p:to>
                                        <p:strVal val="visible"/>
                                      </p:to>
                                    </p:set>
                                    <p:animEffect transition="in" filter="wipe(left)">
                                      <p:cBhvr>
                                        <p:cTn id="22" dur="500"/>
                                        <p:tgtEl>
                                          <p:spTgt spid="706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660">
                                            <p:txEl>
                                              <p:pRg st="0" end="0"/>
                                            </p:txEl>
                                          </p:spTgt>
                                        </p:tgtEl>
                                        <p:attrNameLst>
                                          <p:attrName>style.visibility</p:attrName>
                                        </p:attrNameLst>
                                      </p:cBhvr>
                                      <p:to>
                                        <p:strVal val="visible"/>
                                      </p:to>
                                    </p:set>
                                    <p:animEffect transition="in" filter="wipe(left)">
                                      <p:cBhvr>
                                        <p:cTn id="32" dur="500"/>
                                        <p:tgtEl>
                                          <p:spTgt spid="706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p" autoUpdateAnimBg="0"/>
      <p:bldP spid="70662" grpId="0" build="p" autoUpdateAnimBg="0"/>
      <p:bldP spid="70663" grpId="0" build="p" autoUpdateAnimBg="0"/>
      <p:bldP spid="70664"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4" name="Object 2"/>
          <p:cNvGraphicFramePr>
            <a:graphicFrameLocks noChangeAspect="1"/>
          </p:cNvGraphicFramePr>
          <p:nvPr/>
        </p:nvGraphicFramePr>
        <p:xfrm>
          <a:off x="1116013" y="1773238"/>
          <a:ext cx="3200400" cy="2830512"/>
        </p:xfrm>
        <a:graphic>
          <a:graphicData uri="http://schemas.openxmlformats.org/presentationml/2006/ole">
            <mc:AlternateContent xmlns:mc="http://schemas.openxmlformats.org/markup-compatibility/2006">
              <mc:Choice xmlns:v="urn:schemas-microsoft-com:vml" Requires="v">
                <p:oleObj spid="_x0000_s57348" name="Photo Editor 照片" r:id="rId3" imgW="11228571" imgH="9933333" progId="">
                  <p:embed/>
                </p:oleObj>
              </mc:Choice>
              <mc:Fallback>
                <p:oleObj name="Photo Editor 照片" r:id="rId3" imgW="11228571" imgH="9933333"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73238"/>
                        <a:ext cx="3200400" cy="283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56" name="Rectangle 3"/>
          <p:cNvSpPr>
            <a:spLocks noGrp="1" noChangeArrowheads="1"/>
          </p:cNvSpPr>
          <p:nvPr>
            <p:ph type="title"/>
          </p:nvPr>
        </p:nvSpPr>
        <p:spPr>
          <a:xfrm>
            <a:off x="323850" y="908050"/>
            <a:ext cx="7150100" cy="519113"/>
          </a:xfrm>
        </p:spPr>
        <p:txBody>
          <a:bodyPr/>
          <a:lstStyle/>
          <a:p>
            <a:pPr algn="l"/>
            <a:r>
              <a:rPr lang="en-US" altLang="zh-CN" sz="3200" b="1">
                <a:solidFill>
                  <a:schemeClr val="tx1"/>
                </a:solidFill>
                <a:latin typeface="华文行楷" pitchFamily="2" charset="-122"/>
                <a:ea typeface="华文行楷" pitchFamily="2" charset="-122"/>
              </a:rPr>
              <a:t>3.  </a:t>
            </a:r>
            <a:r>
              <a:rPr lang="zh-CN" altLang="en-US" sz="3200" b="1">
                <a:solidFill>
                  <a:schemeClr val="tx1"/>
                </a:solidFill>
                <a:latin typeface="华文行楷" pitchFamily="2" charset="-122"/>
                <a:ea typeface="华文行楷" pitchFamily="2" charset="-122"/>
              </a:rPr>
              <a:t>动态分析</a:t>
            </a:r>
          </a:p>
        </p:txBody>
      </p:sp>
      <p:sp>
        <p:nvSpPr>
          <p:cNvPr id="71684" name="Text Box 4"/>
          <p:cNvSpPr txBox="1">
            <a:spLocks noChangeArrowheads="1"/>
          </p:cNvSpPr>
          <p:nvPr/>
        </p:nvSpPr>
        <p:spPr bwMode="auto">
          <a:xfrm>
            <a:off x="4545013" y="1697038"/>
            <a:ext cx="3429000" cy="1296987"/>
          </a:xfrm>
          <a:prstGeom prst="rect">
            <a:avLst/>
          </a:prstGeom>
          <a:noFill/>
          <a:ln w="9525">
            <a:noFill/>
            <a:miter lim="800000"/>
            <a:headEnd/>
            <a:tailEnd/>
          </a:ln>
        </p:spPr>
        <p:txBody>
          <a:bodyPr>
            <a:spAutoFit/>
          </a:bodyPr>
          <a:lstStyle/>
          <a:p>
            <a:pPr algn="ctr" eaLnBrk="1" hangingPunct="1">
              <a:lnSpc>
                <a:spcPct val="110000"/>
              </a:lnSpc>
              <a:spcAft>
                <a:spcPct val="20000"/>
              </a:spcAft>
            </a:pPr>
            <a:r>
              <a:rPr lang="en-US" altLang="zh-CN" b="1" i="1"/>
              <a:t>u</a:t>
            </a:r>
            <a:r>
              <a:rPr lang="en-US" altLang="zh-CN" b="1" baseline="-25000"/>
              <a:t>i</a:t>
            </a:r>
            <a:r>
              <a:rPr lang="zh-CN" altLang="zh-CN" b="1"/>
              <a:t>正半周，电流通路为</a:t>
            </a:r>
            <a:r>
              <a:rPr lang="zh-CN" altLang="en-US" b="1"/>
              <a:t>  </a:t>
            </a:r>
            <a:r>
              <a:rPr lang="zh-CN" altLang="zh-CN" b="1"/>
              <a:t>    </a:t>
            </a:r>
            <a:r>
              <a:rPr lang="zh-CN" altLang="en-US" b="1"/>
              <a:t>   </a:t>
            </a:r>
            <a:r>
              <a:rPr lang="zh-CN" altLang="zh-CN" b="1"/>
              <a:t>+</a:t>
            </a:r>
            <a:r>
              <a:rPr lang="en-US" altLang="zh-CN" b="1" i="1"/>
              <a:t>V</a:t>
            </a:r>
            <a:r>
              <a:rPr lang="en-US" altLang="zh-CN" b="1" baseline="-25000"/>
              <a:t>CC</a:t>
            </a:r>
            <a:r>
              <a:rPr lang="en-US" altLang="zh-CN" b="1"/>
              <a:t>→T</a:t>
            </a:r>
            <a:r>
              <a:rPr lang="en-US" altLang="zh-CN" b="1" baseline="-25000"/>
              <a:t>1</a:t>
            </a:r>
            <a:r>
              <a:rPr lang="en-US" altLang="zh-CN" b="1"/>
              <a:t>→</a:t>
            </a:r>
            <a:r>
              <a:rPr lang="en-US" altLang="zh-CN" b="1" i="1"/>
              <a:t>R</a:t>
            </a:r>
            <a:r>
              <a:rPr lang="en-US" altLang="zh-CN" b="1" baseline="-25000"/>
              <a:t>L</a:t>
            </a:r>
            <a:r>
              <a:rPr lang="en-US" altLang="zh-CN" b="1"/>
              <a:t>→</a:t>
            </a:r>
            <a:r>
              <a:rPr lang="zh-CN" altLang="zh-CN" b="1"/>
              <a:t>地，</a:t>
            </a:r>
            <a:r>
              <a:rPr lang="zh-CN" altLang="en-US" b="1"/>
              <a:t>   </a:t>
            </a:r>
            <a:r>
              <a:rPr lang="zh-CN" altLang="zh-CN" b="1"/>
              <a:t> </a:t>
            </a:r>
            <a:r>
              <a:rPr lang="en-US" altLang="zh-CN" b="1" i="1"/>
              <a:t>u</a:t>
            </a:r>
            <a:r>
              <a:rPr lang="en-US" altLang="zh-CN" b="1" baseline="-25000"/>
              <a:t>o </a:t>
            </a:r>
            <a:r>
              <a:rPr lang="en-US" altLang="zh-CN" b="1"/>
              <a:t>= </a:t>
            </a:r>
            <a:r>
              <a:rPr lang="en-US" altLang="zh-CN" b="1" i="1"/>
              <a:t>u</a:t>
            </a:r>
            <a:r>
              <a:rPr lang="en-US" altLang="zh-CN" b="1" baseline="-25000"/>
              <a:t>i</a:t>
            </a:r>
            <a:endParaRPr lang="en-US" altLang="zh-CN" b="1"/>
          </a:p>
        </p:txBody>
      </p:sp>
      <p:sp>
        <p:nvSpPr>
          <p:cNvPr id="71685" name="Text Box 5"/>
          <p:cNvSpPr txBox="1">
            <a:spLocks noChangeArrowheads="1"/>
          </p:cNvSpPr>
          <p:nvPr/>
        </p:nvSpPr>
        <p:spPr bwMode="auto">
          <a:xfrm>
            <a:off x="1420813" y="4973638"/>
            <a:ext cx="6629400" cy="946150"/>
          </a:xfrm>
          <a:prstGeom prst="rect">
            <a:avLst/>
          </a:prstGeom>
          <a:noFill/>
          <a:ln w="9525">
            <a:noFill/>
            <a:miter lim="800000"/>
            <a:headEnd/>
            <a:tailEnd/>
          </a:ln>
        </p:spPr>
        <p:txBody>
          <a:bodyPr>
            <a:spAutoFit/>
          </a:bodyPr>
          <a:lstStyle/>
          <a:p>
            <a:pPr algn="ctr" eaLnBrk="1" hangingPunct="1">
              <a:spcBef>
                <a:spcPct val="50000"/>
              </a:spcBef>
            </a:pPr>
            <a:r>
              <a:rPr lang="en-US" altLang="zh-CN" sz="2800" b="1">
                <a:solidFill>
                  <a:srgbClr val="D60093"/>
                </a:solidFill>
              </a:rPr>
              <a:t>    </a:t>
            </a:r>
            <a:r>
              <a:rPr lang="zh-CN" altLang="en-US" sz="2800" b="1">
                <a:solidFill>
                  <a:srgbClr val="A50021"/>
                </a:solidFill>
              </a:rPr>
              <a:t>两只管子交替工作，两路电源交替供电，双向跟随。</a:t>
            </a:r>
          </a:p>
        </p:txBody>
      </p:sp>
      <p:sp>
        <p:nvSpPr>
          <p:cNvPr id="71686" name="Freeform 6"/>
          <p:cNvSpPr>
            <a:spLocks/>
          </p:cNvSpPr>
          <p:nvPr/>
        </p:nvSpPr>
        <p:spPr bwMode="auto">
          <a:xfrm>
            <a:off x="2868613" y="2001838"/>
            <a:ext cx="1143000" cy="2057400"/>
          </a:xfrm>
          <a:custGeom>
            <a:avLst/>
            <a:gdLst>
              <a:gd name="T0" fmla="*/ 2147483647 w 720"/>
              <a:gd name="T1" fmla="*/ 0 h 1296"/>
              <a:gd name="T2" fmla="*/ 2147483647 w 720"/>
              <a:gd name="T3" fmla="*/ 2147483647 h 1296"/>
              <a:gd name="T4" fmla="*/ 2147483647 w 720"/>
              <a:gd name="T5" fmla="*/ 2147483647 h 1296"/>
              <a:gd name="T6" fmla="*/ 2147483647 w 720"/>
              <a:gd name="T7" fmla="*/ 2147483647 h 1296"/>
              <a:gd name="T8" fmla="*/ 2147483647 w 720"/>
              <a:gd name="T9" fmla="*/ 2147483647 h 1296"/>
              <a:gd name="T10" fmla="*/ 2147483647 w 720"/>
              <a:gd name="T11" fmla="*/ 2147483647 h 1296"/>
              <a:gd name="T12" fmla="*/ 0 60000 65536"/>
              <a:gd name="T13" fmla="*/ 0 60000 65536"/>
              <a:gd name="T14" fmla="*/ 0 60000 65536"/>
              <a:gd name="T15" fmla="*/ 0 60000 65536"/>
              <a:gd name="T16" fmla="*/ 0 60000 65536"/>
              <a:gd name="T17" fmla="*/ 0 60000 65536"/>
              <a:gd name="T18" fmla="*/ 0 w 720"/>
              <a:gd name="T19" fmla="*/ 0 h 1296"/>
              <a:gd name="T20" fmla="*/ 720 w 720"/>
              <a:gd name="T21" fmla="*/ 1296 h 1296"/>
            </a:gdLst>
            <a:ahLst/>
            <a:cxnLst>
              <a:cxn ang="T12">
                <a:pos x="T0" y="T1"/>
              </a:cxn>
              <a:cxn ang="T13">
                <a:pos x="T2" y="T3"/>
              </a:cxn>
              <a:cxn ang="T14">
                <a:pos x="T4" y="T5"/>
              </a:cxn>
              <a:cxn ang="T15">
                <a:pos x="T6" y="T7"/>
              </a:cxn>
              <a:cxn ang="T16">
                <a:pos x="T8" y="T9"/>
              </a:cxn>
              <a:cxn ang="T17">
                <a:pos x="T10" y="T11"/>
              </a:cxn>
            </a:cxnLst>
            <a:rect l="T18" t="T19" r="T20" b="T21"/>
            <a:pathLst>
              <a:path w="720" h="1296">
                <a:moveTo>
                  <a:pt x="32" y="0"/>
                </a:moveTo>
                <a:cubicBezTo>
                  <a:pt x="16" y="188"/>
                  <a:pt x="0" y="376"/>
                  <a:pt x="32" y="480"/>
                </a:cubicBezTo>
                <a:cubicBezTo>
                  <a:pt x="64" y="584"/>
                  <a:pt x="128" y="600"/>
                  <a:pt x="224" y="624"/>
                </a:cubicBezTo>
                <a:cubicBezTo>
                  <a:pt x="320" y="648"/>
                  <a:pt x="528" y="592"/>
                  <a:pt x="608" y="624"/>
                </a:cubicBezTo>
                <a:cubicBezTo>
                  <a:pt x="688" y="656"/>
                  <a:pt x="688" y="704"/>
                  <a:pt x="704" y="816"/>
                </a:cubicBezTo>
                <a:cubicBezTo>
                  <a:pt x="720" y="928"/>
                  <a:pt x="704" y="1216"/>
                  <a:pt x="704" y="1296"/>
                </a:cubicBezTo>
              </a:path>
            </a:pathLst>
          </a:custGeom>
          <a:noFill/>
          <a:ln w="19050">
            <a:solidFill>
              <a:srgbClr val="FF3300"/>
            </a:solidFill>
            <a:round/>
            <a:headEnd/>
            <a:tailEnd type="triangle" w="med" len="med"/>
          </a:ln>
        </p:spPr>
        <p:txBody>
          <a:bodyPr wrap="none"/>
          <a:lstStyle/>
          <a:p>
            <a:endParaRPr lang="zh-CN" altLang="en-US"/>
          </a:p>
        </p:txBody>
      </p:sp>
      <p:sp>
        <p:nvSpPr>
          <p:cNvPr id="71687" name="Freeform 7"/>
          <p:cNvSpPr>
            <a:spLocks/>
          </p:cNvSpPr>
          <p:nvPr/>
        </p:nvSpPr>
        <p:spPr bwMode="auto">
          <a:xfrm>
            <a:off x="2944813" y="3259138"/>
            <a:ext cx="685800" cy="952500"/>
          </a:xfrm>
          <a:custGeom>
            <a:avLst/>
            <a:gdLst>
              <a:gd name="T0" fmla="*/ 2147483647 w 400"/>
              <a:gd name="T1" fmla="*/ 2147483647 h 600"/>
              <a:gd name="T2" fmla="*/ 2147483647 w 400"/>
              <a:gd name="T3" fmla="*/ 2147483647 h 600"/>
              <a:gd name="T4" fmla="*/ 2147483647 w 400"/>
              <a:gd name="T5" fmla="*/ 2147483647 h 600"/>
              <a:gd name="T6" fmla="*/ 2147483647 w 400"/>
              <a:gd name="T7" fmla="*/ 2147483647 h 600"/>
              <a:gd name="T8" fmla="*/ 2147483647 w 400"/>
              <a:gd name="T9" fmla="*/ 2147483647 h 600"/>
              <a:gd name="T10" fmla="*/ 2147483647 w 400"/>
              <a:gd name="T11" fmla="*/ 2147483647 h 600"/>
              <a:gd name="T12" fmla="*/ 0 60000 65536"/>
              <a:gd name="T13" fmla="*/ 0 60000 65536"/>
              <a:gd name="T14" fmla="*/ 0 60000 65536"/>
              <a:gd name="T15" fmla="*/ 0 60000 65536"/>
              <a:gd name="T16" fmla="*/ 0 60000 65536"/>
              <a:gd name="T17" fmla="*/ 0 60000 65536"/>
              <a:gd name="T18" fmla="*/ 0 w 400"/>
              <a:gd name="T19" fmla="*/ 0 h 600"/>
              <a:gd name="T20" fmla="*/ 400 w 400"/>
              <a:gd name="T21" fmla="*/ 600 h 600"/>
            </a:gdLst>
            <a:ahLst/>
            <a:cxnLst>
              <a:cxn ang="T12">
                <a:pos x="T0" y="T1"/>
              </a:cxn>
              <a:cxn ang="T13">
                <a:pos x="T2" y="T3"/>
              </a:cxn>
              <a:cxn ang="T14">
                <a:pos x="T4" y="T5"/>
              </a:cxn>
              <a:cxn ang="T15">
                <a:pos x="T6" y="T7"/>
              </a:cxn>
              <a:cxn ang="T16">
                <a:pos x="T8" y="T9"/>
              </a:cxn>
              <a:cxn ang="T17">
                <a:pos x="T10" y="T11"/>
              </a:cxn>
            </a:cxnLst>
            <a:rect l="T18" t="T19" r="T20" b="T21"/>
            <a:pathLst>
              <a:path w="400" h="600">
                <a:moveTo>
                  <a:pt x="392" y="408"/>
                </a:moveTo>
                <a:cubicBezTo>
                  <a:pt x="396" y="296"/>
                  <a:pt x="400" y="184"/>
                  <a:pt x="392" y="120"/>
                </a:cubicBezTo>
                <a:cubicBezTo>
                  <a:pt x="384" y="56"/>
                  <a:pt x="400" y="40"/>
                  <a:pt x="344" y="24"/>
                </a:cubicBezTo>
                <a:cubicBezTo>
                  <a:pt x="288" y="8"/>
                  <a:pt x="112" y="0"/>
                  <a:pt x="56" y="24"/>
                </a:cubicBezTo>
                <a:cubicBezTo>
                  <a:pt x="0" y="48"/>
                  <a:pt x="16" y="72"/>
                  <a:pt x="8" y="168"/>
                </a:cubicBezTo>
                <a:cubicBezTo>
                  <a:pt x="0" y="264"/>
                  <a:pt x="8" y="528"/>
                  <a:pt x="8" y="600"/>
                </a:cubicBezTo>
              </a:path>
            </a:pathLst>
          </a:custGeom>
          <a:noFill/>
          <a:ln w="19050">
            <a:solidFill>
              <a:srgbClr val="0066FF"/>
            </a:solidFill>
            <a:round/>
            <a:headEnd/>
            <a:tailEnd type="triangle" w="med" len="med"/>
          </a:ln>
        </p:spPr>
        <p:txBody>
          <a:bodyPr wrap="none"/>
          <a:lstStyle/>
          <a:p>
            <a:endParaRPr lang="zh-CN" altLang="en-US"/>
          </a:p>
        </p:txBody>
      </p:sp>
      <p:graphicFrame>
        <p:nvGraphicFramePr>
          <p:cNvPr id="71688" name="Object 3"/>
          <p:cNvGraphicFramePr>
            <a:graphicFrameLocks noChangeAspect="1"/>
          </p:cNvGraphicFramePr>
          <p:nvPr/>
        </p:nvGraphicFramePr>
        <p:xfrm>
          <a:off x="1268413" y="2763838"/>
          <a:ext cx="236537" cy="254000"/>
        </p:xfrm>
        <a:graphic>
          <a:graphicData uri="http://schemas.openxmlformats.org/presentationml/2006/ole">
            <mc:AlternateContent xmlns:mc="http://schemas.openxmlformats.org/markup-compatibility/2006">
              <mc:Choice xmlns:v="urn:schemas-microsoft-com:vml" Requires="v">
                <p:oleObj spid="_x0000_s57349" name="Equation" r:id="rId5" imgW="3962400" imgH="4267200" progId="Equation.3">
                  <p:embed/>
                </p:oleObj>
              </mc:Choice>
              <mc:Fallback>
                <p:oleObj name="Equation" r:id="rId5" imgW="3962400" imgH="4267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8413" y="2763838"/>
                        <a:ext cx="236537" cy="254000"/>
                      </a:xfrm>
                      <a:prstGeom prst="rect">
                        <a:avLst/>
                      </a:prstGeom>
                      <a:solidFill>
                        <a:srgbClr val="FF6600"/>
                      </a:solidFill>
                    </p:spPr>
                  </p:pic>
                </p:oleObj>
              </mc:Fallback>
            </mc:AlternateContent>
          </a:graphicData>
        </a:graphic>
      </p:graphicFrame>
      <p:sp>
        <p:nvSpPr>
          <p:cNvPr id="71690" name="Text Box 10"/>
          <p:cNvSpPr txBox="1">
            <a:spLocks noChangeArrowheads="1"/>
          </p:cNvSpPr>
          <p:nvPr/>
        </p:nvSpPr>
        <p:spPr bwMode="auto">
          <a:xfrm>
            <a:off x="4545013" y="3221038"/>
            <a:ext cx="3581400" cy="1296987"/>
          </a:xfrm>
          <a:prstGeom prst="rect">
            <a:avLst/>
          </a:prstGeom>
          <a:noFill/>
          <a:ln w="9525">
            <a:noFill/>
            <a:miter lim="800000"/>
            <a:headEnd/>
            <a:tailEnd/>
          </a:ln>
        </p:spPr>
        <p:txBody>
          <a:bodyPr>
            <a:spAutoFit/>
          </a:bodyPr>
          <a:lstStyle/>
          <a:p>
            <a:pPr algn="ctr" eaLnBrk="1" hangingPunct="1">
              <a:lnSpc>
                <a:spcPct val="110000"/>
              </a:lnSpc>
              <a:spcAft>
                <a:spcPct val="20000"/>
              </a:spcAft>
            </a:pPr>
            <a:r>
              <a:rPr lang="en-US" altLang="zh-CN" b="1" i="1"/>
              <a:t>u</a:t>
            </a:r>
            <a:r>
              <a:rPr lang="en-US" altLang="zh-CN" b="1" baseline="-25000"/>
              <a:t>i</a:t>
            </a:r>
            <a:r>
              <a:rPr lang="zh-CN" altLang="zh-CN" b="1"/>
              <a:t>负半周，电流通路为   地→ </a:t>
            </a:r>
            <a:r>
              <a:rPr lang="en-US" altLang="zh-CN" b="1" i="1"/>
              <a:t>R</a:t>
            </a:r>
            <a:r>
              <a:rPr lang="en-US" altLang="zh-CN" b="1" baseline="-25000"/>
              <a:t>L</a:t>
            </a:r>
            <a:r>
              <a:rPr lang="en-US" altLang="zh-CN" b="1"/>
              <a:t> → T</a:t>
            </a:r>
            <a:r>
              <a:rPr lang="en-US" altLang="zh-CN" b="1" baseline="-25000"/>
              <a:t>2</a:t>
            </a:r>
            <a:r>
              <a:rPr lang="en-US" altLang="zh-CN" b="1"/>
              <a:t> → -</a:t>
            </a:r>
            <a:r>
              <a:rPr lang="en-US" altLang="zh-CN" b="1" i="1"/>
              <a:t>V</a:t>
            </a:r>
            <a:r>
              <a:rPr lang="en-US" altLang="zh-CN" b="1" baseline="-25000"/>
              <a:t>CC</a:t>
            </a:r>
            <a:r>
              <a:rPr lang="zh-CN" altLang="en-US" b="1"/>
              <a:t>，   </a:t>
            </a:r>
            <a:r>
              <a:rPr lang="en-US" altLang="zh-CN" b="1" i="1"/>
              <a:t>u</a:t>
            </a:r>
            <a:r>
              <a:rPr lang="en-US" altLang="zh-CN" b="1" baseline="-25000"/>
              <a:t>o </a:t>
            </a:r>
            <a:r>
              <a:rPr lang="en-US" altLang="zh-CN" b="1"/>
              <a:t>= </a:t>
            </a:r>
            <a:r>
              <a:rPr lang="en-US" altLang="zh-CN" b="1" i="1"/>
              <a:t>u</a:t>
            </a:r>
            <a:r>
              <a:rPr lang="en-US" altLang="zh-CN" b="1" baseline="-25000"/>
              <a:t>i</a:t>
            </a:r>
            <a:endParaRPr lang="en-US" altLang="zh-CN"/>
          </a:p>
        </p:txBody>
      </p:sp>
      <p:sp>
        <p:nvSpPr>
          <p:cNvPr id="11" name="TextBox 10"/>
          <p:cNvSpPr txBox="1">
            <a:spLocks noChangeArrowheads="1"/>
          </p:cNvSpPr>
          <p:nvPr/>
        </p:nvSpPr>
        <p:spPr bwMode="auto">
          <a:xfrm>
            <a:off x="1339850" y="3263900"/>
            <a:ext cx="236538" cy="461963"/>
          </a:xfrm>
          <a:prstGeom prst="rect">
            <a:avLst/>
          </a:prstGeom>
          <a:solidFill>
            <a:srgbClr val="00B0F0"/>
          </a:solidFill>
          <a:ln w="9525">
            <a:noFill/>
            <a:miter lim="800000"/>
            <a:headEnd/>
            <a:tailEnd/>
          </a:ln>
        </p:spPr>
        <p:txBody>
          <a:bodyPr>
            <a:spAutoFit/>
          </a:bodyPr>
          <a:lstStyle/>
          <a:p>
            <a:pPr algn="ctr" eaLnBrk="1" hangingPunct="1"/>
            <a:r>
              <a:rPr lang="en-US" altLang="zh-CN"/>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16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71686"/>
                                        </p:tgtEl>
                                        <p:attrNameLst>
                                          <p:attrName>style.visibility</p:attrName>
                                        </p:attrNameLst>
                                      </p:cBhvr>
                                      <p:to>
                                        <p:strVal val="visible"/>
                                      </p:to>
                                    </p:set>
                                    <p:animEffect transition="in" filter="wipe(up)">
                                      <p:cBhvr>
                                        <p:cTn id="11" dur="500"/>
                                        <p:tgtEl>
                                          <p:spTgt spid="7168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1684">
                                            <p:txEl>
                                              <p:pRg st="0" end="0"/>
                                            </p:txEl>
                                          </p:spTgt>
                                        </p:tgtEl>
                                        <p:attrNameLst>
                                          <p:attrName>style.visibility</p:attrName>
                                        </p:attrNameLst>
                                      </p:cBhvr>
                                      <p:to>
                                        <p:strVal val="visible"/>
                                      </p:to>
                                    </p:set>
                                    <p:animEffect transition="in" filter="wipe(left)">
                                      <p:cBhvr>
                                        <p:cTn id="16" dur="500"/>
                                        <p:tgtEl>
                                          <p:spTgt spid="71684">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71687"/>
                                        </p:tgtEl>
                                        <p:attrNameLst>
                                          <p:attrName>style.visibility</p:attrName>
                                        </p:attrNameLst>
                                      </p:cBhvr>
                                      <p:to>
                                        <p:strVal val="visible"/>
                                      </p:to>
                                    </p:set>
                                    <p:animEffect transition="in" filter="wipe(right)">
                                      <p:cBhvr>
                                        <p:cTn id="21" dur="500"/>
                                        <p:tgtEl>
                                          <p:spTgt spid="7168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1690">
                                            <p:txEl>
                                              <p:pRg st="0" end="0"/>
                                            </p:txEl>
                                          </p:spTgt>
                                        </p:tgtEl>
                                        <p:attrNameLst>
                                          <p:attrName>style.visibility</p:attrName>
                                        </p:attrNameLst>
                                      </p:cBhvr>
                                      <p:to>
                                        <p:strVal val="visible"/>
                                      </p:to>
                                    </p:set>
                                    <p:animEffect transition="in" filter="wipe(left)">
                                      <p:cBhvr>
                                        <p:cTn id="26" dur="500"/>
                                        <p:tgtEl>
                                          <p:spTgt spid="71690">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1685"/>
                                        </p:tgtEl>
                                        <p:attrNameLst>
                                          <p:attrName>style.visibility</p:attrName>
                                        </p:attrNameLst>
                                      </p:cBhvr>
                                      <p:to>
                                        <p:strVal val="visible"/>
                                      </p:to>
                                    </p:set>
                                    <p:animEffect transition="in" filter="wipe(left)">
                                      <p:cBhvr>
                                        <p:cTn id="36"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p" autoUpdateAnimBg="0"/>
      <p:bldP spid="71685" grpId="0" autoUpdateAnimBg="0"/>
      <p:bldP spid="71686" grpId="0" animBg="1"/>
      <p:bldP spid="71687" grpId="0" animBg="1"/>
      <p:bldP spid="71690" grpId="0" build="p" autoUpdateAnimBg="0"/>
      <p:bldP spid="1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2"/>
          <p:cNvGraphicFramePr>
            <a:graphicFrameLocks noChangeAspect="1"/>
          </p:cNvGraphicFramePr>
          <p:nvPr/>
        </p:nvGraphicFramePr>
        <p:xfrm>
          <a:off x="827088" y="1484313"/>
          <a:ext cx="2971800" cy="2628900"/>
        </p:xfrm>
        <a:graphic>
          <a:graphicData uri="http://schemas.openxmlformats.org/presentationml/2006/ole">
            <mc:AlternateContent xmlns:mc="http://schemas.openxmlformats.org/markup-compatibility/2006">
              <mc:Choice xmlns:v="urn:schemas-microsoft-com:vml" Requires="v">
                <p:oleObj spid="_x0000_s58373" name="Photo Editor 照片" r:id="rId3" imgW="11228571" imgH="9933333" progId="">
                  <p:embed/>
                </p:oleObj>
              </mc:Choice>
              <mc:Fallback>
                <p:oleObj name="Photo Editor 照片" r:id="rId3" imgW="11228571" imgH="9933333"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484313"/>
                        <a:ext cx="297180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81" name="Rectangle 3"/>
          <p:cNvSpPr>
            <a:spLocks noGrp="1" noChangeArrowheads="1"/>
          </p:cNvSpPr>
          <p:nvPr>
            <p:ph type="title"/>
          </p:nvPr>
        </p:nvSpPr>
        <p:spPr>
          <a:xfrm>
            <a:off x="250825" y="836613"/>
            <a:ext cx="3505200" cy="519112"/>
          </a:xfrm>
        </p:spPr>
        <p:txBody>
          <a:bodyPr/>
          <a:lstStyle/>
          <a:p>
            <a:pPr algn="l"/>
            <a:r>
              <a:rPr lang="en-US" altLang="zh-CN" sz="3200" b="1">
                <a:solidFill>
                  <a:schemeClr val="tx1"/>
                </a:solidFill>
                <a:latin typeface="华文行楷" pitchFamily="2" charset="-122"/>
                <a:ea typeface="华文行楷" pitchFamily="2" charset="-122"/>
              </a:rPr>
              <a:t>4.  </a:t>
            </a:r>
            <a:r>
              <a:rPr lang="zh-CN" altLang="en-US" sz="3200" b="1">
                <a:solidFill>
                  <a:schemeClr val="tx1"/>
                </a:solidFill>
                <a:latin typeface="华文行楷" pitchFamily="2" charset="-122"/>
                <a:ea typeface="华文行楷" pitchFamily="2" charset="-122"/>
              </a:rPr>
              <a:t>交越失真</a:t>
            </a:r>
          </a:p>
        </p:txBody>
      </p:sp>
      <p:pic>
        <p:nvPicPr>
          <p:cNvPr id="72708" name="Picture 4" descr="Dz030316"/>
          <p:cNvPicPr>
            <a:picLocks noChangeAspect="1" noChangeArrowheads="1"/>
          </p:cNvPicPr>
          <p:nvPr/>
        </p:nvPicPr>
        <p:blipFill>
          <a:blip r:embed="rId5"/>
          <a:srcRect l="56387" t="13660" b="7114"/>
          <a:stretch>
            <a:fillRect/>
          </a:stretch>
        </p:blipFill>
        <p:spPr bwMode="auto">
          <a:xfrm>
            <a:off x="4356100" y="1268413"/>
            <a:ext cx="2687638" cy="2519362"/>
          </a:xfrm>
          <a:prstGeom prst="rect">
            <a:avLst/>
          </a:prstGeom>
          <a:noFill/>
          <a:ln w="9525">
            <a:noFill/>
            <a:miter lim="800000"/>
            <a:headEnd/>
            <a:tailEnd/>
          </a:ln>
        </p:spPr>
      </p:pic>
      <p:sp>
        <p:nvSpPr>
          <p:cNvPr id="72709" name="Text Box 5"/>
          <p:cNvSpPr txBox="1">
            <a:spLocks noChangeArrowheads="1"/>
          </p:cNvSpPr>
          <p:nvPr/>
        </p:nvSpPr>
        <p:spPr bwMode="auto">
          <a:xfrm>
            <a:off x="4500563" y="3932238"/>
            <a:ext cx="3657600" cy="904875"/>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zh-CN" altLang="en-US" b="1">
                <a:solidFill>
                  <a:srgbClr val="000000"/>
                </a:solidFill>
              </a:rPr>
              <a:t>消除失真的方法：</a:t>
            </a:r>
          </a:p>
          <a:p>
            <a:pPr algn="ctr" eaLnBrk="1" hangingPunct="1">
              <a:lnSpc>
                <a:spcPct val="110000"/>
              </a:lnSpc>
            </a:pPr>
            <a:r>
              <a:rPr lang="zh-CN" altLang="en-US" b="1">
                <a:solidFill>
                  <a:srgbClr val="000000"/>
                </a:solidFill>
              </a:rPr>
              <a:t>设置合适的静态工作点。</a:t>
            </a:r>
          </a:p>
        </p:txBody>
      </p:sp>
      <p:sp>
        <p:nvSpPr>
          <p:cNvPr id="75784" name="Freeform 6"/>
          <p:cNvSpPr>
            <a:spLocks/>
          </p:cNvSpPr>
          <p:nvPr/>
        </p:nvSpPr>
        <p:spPr bwMode="auto">
          <a:xfrm>
            <a:off x="2503488" y="1712913"/>
            <a:ext cx="1025525" cy="1911350"/>
          </a:xfrm>
          <a:custGeom>
            <a:avLst/>
            <a:gdLst>
              <a:gd name="T0" fmla="*/ 2147483647 w 720"/>
              <a:gd name="T1" fmla="*/ 0 h 1296"/>
              <a:gd name="T2" fmla="*/ 2147483647 w 720"/>
              <a:gd name="T3" fmla="*/ 2147483647 h 1296"/>
              <a:gd name="T4" fmla="*/ 2147483647 w 720"/>
              <a:gd name="T5" fmla="*/ 2147483647 h 1296"/>
              <a:gd name="T6" fmla="*/ 2147483647 w 720"/>
              <a:gd name="T7" fmla="*/ 2147483647 h 1296"/>
              <a:gd name="T8" fmla="*/ 2147483647 w 720"/>
              <a:gd name="T9" fmla="*/ 2147483647 h 1296"/>
              <a:gd name="T10" fmla="*/ 2147483647 w 720"/>
              <a:gd name="T11" fmla="*/ 2147483647 h 1296"/>
              <a:gd name="T12" fmla="*/ 0 60000 65536"/>
              <a:gd name="T13" fmla="*/ 0 60000 65536"/>
              <a:gd name="T14" fmla="*/ 0 60000 65536"/>
              <a:gd name="T15" fmla="*/ 0 60000 65536"/>
              <a:gd name="T16" fmla="*/ 0 60000 65536"/>
              <a:gd name="T17" fmla="*/ 0 60000 65536"/>
              <a:gd name="T18" fmla="*/ 0 w 720"/>
              <a:gd name="T19" fmla="*/ 0 h 1296"/>
              <a:gd name="T20" fmla="*/ 720 w 720"/>
              <a:gd name="T21" fmla="*/ 1296 h 1296"/>
            </a:gdLst>
            <a:ahLst/>
            <a:cxnLst>
              <a:cxn ang="T12">
                <a:pos x="T0" y="T1"/>
              </a:cxn>
              <a:cxn ang="T13">
                <a:pos x="T2" y="T3"/>
              </a:cxn>
              <a:cxn ang="T14">
                <a:pos x="T4" y="T5"/>
              </a:cxn>
              <a:cxn ang="T15">
                <a:pos x="T6" y="T7"/>
              </a:cxn>
              <a:cxn ang="T16">
                <a:pos x="T8" y="T9"/>
              </a:cxn>
              <a:cxn ang="T17">
                <a:pos x="T10" y="T11"/>
              </a:cxn>
            </a:cxnLst>
            <a:rect l="T18" t="T19" r="T20" b="T21"/>
            <a:pathLst>
              <a:path w="720" h="1296">
                <a:moveTo>
                  <a:pt x="32" y="0"/>
                </a:moveTo>
                <a:cubicBezTo>
                  <a:pt x="16" y="188"/>
                  <a:pt x="0" y="376"/>
                  <a:pt x="32" y="480"/>
                </a:cubicBezTo>
                <a:cubicBezTo>
                  <a:pt x="64" y="584"/>
                  <a:pt x="128" y="600"/>
                  <a:pt x="224" y="624"/>
                </a:cubicBezTo>
                <a:cubicBezTo>
                  <a:pt x="320" y="648"/>
                  <a:pt x="528" y="592"/>
                  <a:pt x="608" y="624"/>
                </a:cubicBezTo>
                <a:cubicBezTo>
                  <a:pt x="688" y="656"/>
                  <a:pt x="688" y="704"/>
                  <a:pt x="704" y="816"/>
                </a:cubicBezTo>
                <a:cubicBezTo>
                  <a:pt x="720" y="928"/>
                  <a:pt x="704" y="1216"/>
                  <a:pt x="704" y="1296"/>
                </a:cubicBezTo>
              </a:path>
            </a:pathLst>
          </a:custGeom>
          <a:noFill/>
          <a:ln w="19050">
            <a:solidFill>
              <a:srgbClr val="FF3300"/>
            </a:solidFill>
            <a:round/>
            <a:headEnd/>
            <a:tailEnd type="triangle" w="med" len="med"/>
          </a:ln>
        </p:spPr>
        <p:txBody>
          <a:bodyPr wrap="none"/>
          <a:lstStyle/>
          <a:p>
            <a:endParaRPr lang="zh-CN" altLang="en-US"/>
          </a:p>
        </p:txBody>
      </p:sp>
      <p:sp>
        <p:nvSpPr>
          <p:cNvPr id="75785" name="Freeform 7"/>
          <p:cNvSpPr>
            <a:spLocks/>
          </p:cNvSpPr>
          <p:nvPr/>
        </p:nvSpPr>
        <p:spPr bwMode="auto">
          <a:xfrm>
            <a:off x="2503488" y="2855913"/>
            <a:ext cx="615950" cy="884237"/>
          </a:xfrm>
          <a:custGeom>
            <a:avLst/>
            <a:gdLst>
              <a:gd name="T0" fmla="*/ 2147483647 w 400"/>
              <a:gd name="T1" fmla="*/ 2147483647 h 600"/>
              <a:gd name="T2" fmla="*/ 2147483647 w 400"/>
              <a:gd name="T3" fmla="*/ 2147483647 h 600"/>
              <a:gd name="T4" fmla="*/ 2147483647 w 400"/>
              <a:gd name="T5" fmla="*/ 2147483647 h 600"/>
              <a:gd name="T6" fmla="*/ 2147483647 w 400"/>
              <a:gd name="T7" fmla="*/ 2147483647 h 600"/>
              <a:gd name="T8" fmla="*/ 2147483647 w 400"/>
              <a:gd name="T9" fmla="*/ 2147483647 h 600"/>
              <a:gd name="T10" fmla="*/ 2147483647 w 400"/>
              <a:gd name="T11" fmla="*/ 2147483647 h 600"/>
              <a:gd name="T12" fmla="*/ 0 60000 65536"/>
              <a:gd name="T13" fmla="*/ 0 60000 65536"/>
              <a:gd name="T14" fmla="*/ 0 60000 65536"/>
              <a:gd name="T15" fmla="*/ 0 60000 65536"/>
              <a:gd name="T16" fmla="*/ 0 60000 65536"/>
              <a:gd name="T17" fmla="*/ 0 60000 65536"/>
              <a:gd name="T18" fmla="*/ 0 w 400"/>
              <a:gd name="T19" fmla="*/ 0 h 600"/>
              <a:gd name="T20" fmla="*/ 400 w 400"/>
              <a:gd name="T21" fmla="*/ 600 h 600"/>
            </a:gdLst>
            <a:ahLst/>
            <a:cxnLst>
              <a:cxn ang="T12">
                <a:pos x="T0" y="T1"/>
              </a:cxn>
              <a:cxn ang="T13">
                <a:pos x="T2" y="T3"/>
              </a:cxn>
              <a:cxn ang="T14">
                <a:pos x="T4" y="T5"/>
              </a:cxn>
              <a:cxn ang="T15">
                <a:pos x="T6" y="T7"/>
              </a:cxn>
              <a:cxn ang="T16">
                <a:pos x="T8" y="T9"/>
              </a:cxn>
              <a:cxn ang="T17">
                <a:pos x="T10" y="T11"/>
              </a:cxn>
            </a:cxnLst>
            <a:rect l="T18" t="T19" r="T20" b="T21"/>
            <a:pathLst>
              <a:path w="400" h="600">
                <a:moveTo>
                  <a:pt x="392" y="408"/>
                </a:moveTo>
                <a:cubicBezTo>
                  <a:pt x="396" y="296"/>
                  <a:pt x="400" y="184"/>
                  <a:pt x="392" y="120"/>
                </a:cubicBezTo>
                <a:cubicBezTo>
                  <a:pt x="384" y="56"/>
                  <a:pt x="400" y="40"/>
                  <a:pt x="344" y="24"/>
                </a:cubicBezTo>
                <a:cubicBezTo>
                  <a:pt x="288" y="8"/>
                  <a:pt x="112" y="0"/>
                  <a:pt x="56" y="24"/>
                </a:cubicBezTo>
                <a:cubicBezTo>
                  <a:pt x="0" y="48"/>
                  <a:pt x="16" y="72"/>
                  <a:pt x="8" y="168"/>
                </a:cubicBezTo>
                <a:cubicBezTo>
                  <a:pt x="0" y="264"/>
                  <a:pt x="8" y="528"/>
                  <a:pt x="8" y="600"/>
                </a:cubicBezTo>
              </a:path>
            </a:pathLst>
          </a:custGeom>
          <a:noFill/>
          <a:ln w="19050">
            <a:solidFill>
              <a:srgbClr val="0066FF"/>
            </a:solidFill>
            <a:round/>
            <a:headEnd/>
            <a:tailEnd type="triangle" w="med" len="med"/>
          </a:ln>
        </p:spPr>
        <p:txBody>
          <a:bodyPr wrap="none"/>
          <a:lstStyle/>
          <a:p>
            <a:endParaRPr lang="zh-CN" altLang="en-US"/>
          </a:p>
        </p:txBody>
      </p:sp>
      <p:graphicFrame>
        <p:nvGraphicFramePr>
          <p:cNvPr id="75779" name="Object 3"/>
          <p:cNvGraphicFramePr>
            <a:graphicFrameLocks noChangeAspect="1"/>
          </p:cNvGraphicFramePr>
          <p:nvPr/>
        </p:nvGraphicFramePr>
        <p:xfrm>
          <a:off x="979488" y="2474913"/>
          <a:ext cx="220662" cy="236537"/>
        </p:xfrm>
        <a:graphic>
          <a:graphicData uri="http://schemas.openxmlformats.org/presentationml/2006/ole">
            <mc:AlternateContent xmlns:mc="http://schemas.openxmlformats.org/markup-compatibility/2006">
              <mc:Choice xmlns:v="urn:schemas-microsoft-com:vml" Requires="v">
                <p:oleObj spid="_x0000_s58374" name="Equation" r:id="rId6" imgW="3962400" imgH="4267200" progId="Equation.3">
                  <p:embed/>
                </p:oleObj>
              </mc:Choice>
              <mc:Fallback>
                <p:oleObj name="Equation" r:id="rId6" imgW="3962400" imgH="4267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488" y="2474913"/>
                        <a:ext cx="220662" cy="236537"/>
                      </a:xfrm>
                      <a:prstGeom prst="rect">
                        <a:avLst/>
                      </a:prstGeom>
                      <a:solidFill>
                        <a:srgbClr val="FF6600"/>
                      </a:solidFill>
                    </p:spPr>
                  </p:pic>
                </p:oleObj>
              </mc:Fallback>
            </mc:AlternateContent>
          </a:graphicData>
        </a:graphic>
      </p:graphicFrame>
      <p:sp>
        <p:nvSpPr>
          <p:cNvPr id="72714" name="AutoShape 10"/>
          <p:cNvSpPr>
            <a:spLocks/>
          </p:cNvSpPr>
          <p:nvPr/>
        </p:nvSpPr>
        <p:spPr bwMode="auto">
          <a:xfrm>
            <a:off x="6683375" y="2135188"/>
            <a:ext cx="2009775" cy="709612"/>
          </a:xfrm>
          <a:prstGeom prst="borderCallout1">
            <a:avLst>
              <a:gd name="adj1" fmla="val 16106"/>
              <a:gd name="adj2" fmla="val -3792"/>
              <a:gd name="adj3" fmla="val 142282"/>
              <a:gd name="adj4" fmla="val -65403"/>
            </a:avLst>
          </a:prstGeom>
          <a:solidFill>
            <a:srgbClr val="FFFFCC"/>
          </a:solidFill>
          <a:ln w="19050">
            <a:solidFill>
              <a:srgbClr val="FF3300"/>
            </a:solidFill>
            <a:miter lim="800000"/>
            <a:headEnd/>
            <a:tailEnd/>
          </a:ln>
        </p:spPr>
        <p:txBody>
          <a:bodyPr/>
          <a:lstStyle/>
          <a:p>
            <a:pPr algn="ctr" eaLnBrk="1" hangingPunct="1"/>
            <a:r>
              <a:rPr lang="zh-CN" altLang="en-US" sz="2000" b="1"/>
              <a:t>信号在零附近两只管子均截止</a:t>
            </a:r>
          </a:p>
        </p:txBody>
      </p:sp>
      <p:grpSp>
        <p:nvGrpSpPr>
          <p:cNvPr id="2" name="Group 11"/>
          <p:cNvGrpSpPr>
            <a:grpSpLocks/>
          </p:cNvGrpSpPr>
          <p:nvPr/>
        </p:nvGrpSpPr>
        <p:grpSpPr bwMode="auto">
          <a:xfrm>
            <a:off x="1116013" y="4148138"/>
            <a:ext cx="2570162" cy="2041525"/>
            <a:chOff x="703" y="2523"/>
            <a:chExt cx="1619" cy="1286"/>
          </a:xfrm>
        </p:grpSpPr>
        <p:graphicFrame>
          <p:nvGraphicFramePr>
            <p:cNvPr id="75780" name="Object 5"/>
            <p:cNvGraphicFramePr>
              <a:graphicFrameLocks noChangeAspect="1"/>
            </p:cNvGraphicFramePr>
            <p:nvPr/>
          </p:nvGraphicFramePr>
          <p:xfrm>
            <a:off x="703" y="2523"/>
            <a:ext cx="1344" cy="1286"/>
          </p:xfrm>
          <a:graphic>
            <a:graphicData uri="http://schemas.openxmlformats.org/presentationml/2006/ole">
              <mc:AlternateContent xmlns:mc="http://schemas.openxmlformats.org/markup-compatibility/2006">
                <mc:Choice xmlns:v="urn:schemas-microsoft-com:vml" Requires="v">
                  <p:oleObj spid="_x0000_s58375" name="Photo Editor 照片" r:id="rId8" imgW="10180952" imgH="9742857" progId="">
                    <p:embed/>
                  </p:oleObj>
                </mc:Choice>
                <mc:Fallback>
                  <p:oleObj name="Photo Editor 照片" r:id="rId8" imgW="10180952" imgH="9742857" progId="">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2523"/>
                          <a:ext cx="1344" cy="1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90" name="AutoShape 13"/>
            <p:cNvSpPr>
              <a:spLocks/>
            </p:cNvSpPr>
            <p:nvPr/>
          </p:nvSpPr>
          <p:spPr bwMode="auto">
            <a:xfrm>
              <a:off x="1746" y="3067"/>
              <a:ext cx="576" cy="480"/>
            </a:xfrm>
            <a:prstGeom prst="borderCallout1">
              <a:avLst>
                <a:gd name="adj1" fmla="val 15000"/>
                <a:gd name="adj2" fmla="val -8333"/>
                <a:gd name="adj3" fmla="val 134375"/>
                <a:gd name="adj4" fmla="val -78472"/>
              </a:avLst>
            </a:prstGeom>
            <a:solidFill>
              <a:srgbClr val="FFFFCC"/>
            </a:solidFill>
            <a:ln w="19050">
              <a:solidFill>
                <a:srgbClr val="FF3300"/>
              </a:solidFill>
              <a:miter lim="800000"/>
              <a:headEnd/>
              <a:tailEnd/>
            </a:ln>
          </p:spPr>
          <p:txBody>
            <a:bodyPr/>
            <a:lstStyle/>
            <a:p>
              <a:pPr algn="ctr" eaLnBrk="1" hangingPunct="1"/>
              <a:r>
                <a:rPr lang="zh-CN" altLang="en-US" sz="2000" b="1"/>
                <a:t>开启电压</a:t>
              </a:r>
            </a:p>
          </p:txBody>
        </p:sp>
      </p:grpSp>
      <p:sp>
        <p:nvSpPr>
          <p:cNvPr id="72718" name="Text Box 14"/>
          <p:cNvSpPr txBox="1">
            <a:spLocks noChangeArrowheads="1"/>
          </p:cNvSpPr>
          <p:nvPr/>
        </p:nvSpPr>
        <p:spPr bwMode="auto">
          <a:xfrm>
            <a:off x="4056063" y="5011738"/>
            <a:ext cx="5087937" cy="1296987"/>
          </a:xfrm>
          <a:prstGeom prst="rect">
            <a:avLst/>
          </a:prstGeom>
          <a:noFill/>
          <a:ln w="9525">
            <a:noFill/>
            <a:miter lim="800000"/>
            <a:headEnd/>
            <a:tailEnd/>
          </a:ln>
        </p:spPr>
        <p:txBody>
          <a:bodyPr>
            <a:spAutoFit/>
          </a:bodyPr>
          <a:lstStyle/>
          <a:p>
            <a:pPr algn="ctr" eaLnBrk="1" hangingPunct="1">
              <a:lnSpc>
                <a:spcPct val="110000"/>
              </a:lnSpc>
            </a:pPr>
            <a:r>
              <a:rPr lang="en-US" altLang="zh-CN" b="1"/>
              <a:t>① </a:t>
            </a:r>
            <a:r>
              <a:rPr lang="zh-CN" altLang="en-US" b="1"/>
              <a:t>静态时</a:t>
            </a:r>
            <a:r>
              <a:rPr lang="en-US" altLang="zh-CN" b="1"/>
              <a:t>T</a:t>
            </a:r>
            <a:r>
              <a:rPr lang="en-US" altLang="zh-CN" b="1" baseline="-25000"/>
              <a:t>1</a:t>
            </a:r>
            <a:r>
              <a:rPr lang="zh-CN" altLang="en-US" b="1"/>
              <a:t>、</a:t>
            </a:r>
            <a:r>
              <a:rPr lang="en-US" altLang="zh-CN" b="1"/>
              <a:t>T</a:t>
            </a:r>
            <a:r>
              <a:rPr lang="en-US" altLang="zh-CN" b="1" baseline="-25000"/>
              <a:t>2</a:t>
            </a:r>
            <a:r>
              <a:rPr lang="zh-CN" altLang="en-US" b="1"/>
              <a:t>处于临界导通状态，有信号时至少有一只导通；</a:t>
            </a:r>
          </a:p>
          <a:p>
            <a:pPr algn="ctr" eaLnBrk="1" hangingPunct="1">
              <a:lnSpc>
                <a:spcPct val="110000"/>
              </a:lnSpc>
            </a:pPr>
            <a:r>
              <a:rPr lang="zh-CN" altLang="en-US" b="1"/>
              <a:t>② 偏置电路对动态性能影响要小。</a:t>
            </a:r>
          </a:p>
        </p:txBody>
      </p:sp>
      <p:sp>
        <p:nvSpPr>
          <p:cNvPr id="15" name="TextBox 14"/>
          <p:cNvSpPr txBox="1">
            <a:spLocks noChangeArrowheads="1"/>
          </p:cNvSpPr>
          <p:nvPr/>
        </p:nvSpPr>
        <p:spPr bwMode="auto">
          <a:xfrm>
            <a:off x="996950" y="2806700"/>
            <a:ext cx="236538" cy="461963"/>
          </a:xfrm>
          <a:prstGeom prst="rect">
            <a:avLst/>
          </a:prstGeom>
          <a:solidFill>
            <a:srgbClr val="00B0F0"/>
          </a:solidFill>
          <a:ln w="9525">
            <a:noFill/>
            <a:miter lim="800000"/>
            <a:headEnd/>
            <a:tailEnd/>
          </a:ln>
        </p:spPr>
        <p:txBody>
          <a:bodyPr>
            <a:spAutoFit/>
          </a:bodyPr>
          <a:lstStyle/>
          <a:p>
            <a:pPr algn="ctr" eaLnBrk="1" hangingPunct="1"/>
            <a:r>
              <a:rPr lang="en-US" altLang="zh-CN"/>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708"/>
                                        </p:tgtEl>
                                        <p:attrNameLst>
                                          <p:attrName>style.visibility</p:attrName>
                                        </p:attrNameLst>
                                      </p:cBhvr>
                                      <p:to>
                                        <p:strVal val="visible"/>
                                      </p:to>
                                    </p:set>
                                    <p:animEffect transition="in" filter="wipe(left)">
                                      <p:cBhvr>
                                        <p:cTn id="17" dur="500"/>
                                        <p:tgtEl>
                                          <p:spTgt spid="72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7271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2709"/>
                                        </p:tgtEl>
                                        <p:attrNameLst>
                                          <p:attrName>style.visibility</p:attrName>
                                        </p:attrNameLst>
                                      </p:cBhvr>
                                      <p:to>
                                        <p:strVal val="visible"/>
                                      </p:to>
                                    </p:set>
                                    <p:animEffect transition="in" filter="wipe(left)">
                                      <p:cBhvr>
                                        <p:cTn id="26" dur="500"/>
                                        <p:tgtEl>
                                          <p:spTgt spid="727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2718"/>
                                        </p:tgtEl>
                                        <p:attrNameLst>
                                          <p:attrName>style.visibility</p:attrName>
                                        </p:attrNameLst>
                                      </p:cBhvr>
                                      <p:to>
                                        <p:strVal val="visible"/>
                                      </p:to>
                                    </p:set>
                                    <p:animEffect transition="in" filter="wipe(left)">
                                      <p:cBhvr>
                                        <p:cTn id="31" dur="500"/>
                                        <p:tgtEl>
                                          <p:spTgt spid="72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autoUpdateAnimBg="0"/>
      <p:bldP spid="72714" grpId="0" animBg="1" autoUpdateAnimBg="0"/>
      <p:bldP spid="72718" grpId="0"/>
      <p:bldP spid="1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2"/>
          <p:cNvGraphicFramePr>
            <a:graphicFrameLocks noChangeAspect="1"/>
          </p:cNvGraphicFramePr>
          <p:nvPr>
            <p:extLst>
              <p:ext uri="{D42A27DB-BD31-4B8C-83A1-F6EECF244321}">
                <p14:modId xmlns:p14="http://schemas.microsoft.com/office/powerpoint/2010/main" val="373691580"/>
              </p:ext>
            </p:extLst>
          </p:nvPr>
        </p:nvGraphicFramePr>
        <p:xfrm>
          <a:off x="499769" y="2854887"/>
          <a:ext cx="2971800" cy="2628900"/>
        </p:xfrm>
        <a:graphic>
          <a:graphicData uri="http://schemas.openxmlformats.org/presentationml/2006/ole">
            <mc:AlternateContent xmlns:mc="http://schemas.openxmlformats.org/markup-compatibility/2006">
              <mc:Choice xmlns:v="urn:schemas-microsoft-com:vml" Requires="v">
                <p:oleObj spid="_x0000_s59395" name="Photo Editor 照片" r:id="rId3" imgW="11228571" imgH="9933333" progId="">
                  <p:embed/>
                </p:oleObj>
              </mc:Choice>
              <mc:Fallback>
                <p:oleObj name="Photo Editor 照片" r:id="rId3" imgW="11228571" imgH="9933333" progId="">
                  <p:embed/>
                  <p:pic>
                    <p:nvPicPr>
                      <p:cNvPr id="757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769" y="2854887"/>
                        <a:ext cx="297180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81" name="Rectangle 3"/>
          <p:cNvSpPr>
            <a:spLocks noGrp="1" noChangeArrowheads="1"/>
          </p:cNvSpPr>
          <p:nvPr>
            <p:ph type="title"/>
          </p:nvPr>
        </p:nvSpPr>
        <p:spPr>
          <a:xfrm>
            <a:off x="250825" y="836613"/>
            <a:ext cx="3505200" cy="519112"/>
          </a:xfrm>
        </p:spPr>
        <p:txBody>
          <a:bodyPr/>
          <a:lstStyle/>
          <a:p>
            <a:pPr algn="l"/>
            <a:r>
              <a:rPr lang="en-US" altLang="zh-CN" sz="3200" b="1">
                <a:solidFill>
                  <a:schemeClr val="tx1"/>
                </a:solidFill>
                <a:latin typeface="华文行楷" pitchFamily="2" charset="-122"/>
                <a:ea typeface="华文行楷" pitchFamily="2" charset="-122"/>
              </a:rPr>
              <a:t>4.  </a:t>
            </a:r>
            <a:r>
              <a:rPr lang="zh-CN" altLang="en-US" sz="3200" b="1">
                <a:solidFill>
                  <a:schemeClr val="tx1"/>
                </a:solidFill>
                <a:latin typeface="华文行楷" pitchFamily="2" charset="-122"/>
                <a:ea typeface="华文行楷" pitchFamily="2" charset="-122"/>
              </a:rPr>
              <a:t>交越失真</a:t>
            </a:r>
          </a:p>
        </p:txBody>
      </p:sp>
      <p:sp>
        <p:nvSpPr>
          <p:cNvPr id="72709" name="Text Box 5"/>
          <p:cNvSpPr txBox="1">
            <a:spLocks noChangeArrowheads="1"/>
          </p:cNvSpPr>
          <p:nvPr/>
        </p:nvSpPr>
        <p:spPr bwMode="auto">
          <a:xfrm>
            <a:off x="2743200" y="127678"/>
            <a:ext cx="3657600" cy="904875"/>
          </a:xfrm>
          <a:prstGeom prst="rect">
            <a:avLst/>
          </a:prstGeom>
          <a:solidFill>
            <a:srgbClr val="66FFFF"/>
          </a:solidFill>
          <a:ln w="9525">
            <a:solidFill>
              <a:srgbClr val="FF3300"/>
            </a:solidFill>
            <a:miter lim="800000"/>
            <a:headEnd/>
            <a:tailEnd/>
          </a:ln>
        </p:spPr>
        <p:txBody>
          <a:bodyPr>
            <a:spAutoFit/>
          </a:bodyPr>
          <a:lstStyle/>
          <a:p>
            <a:pPr algn="ctr" eaLnBrk="1" hangingPunct="1">
              <a:lnSpc>
                <a:spcPct val="110000"/>
              </a:lnSpc>
            </a:pPr>
            <a:r>
              <a:rPr lang="zh-CN" altLang="en-US" b="1">
                <a:solidFill>
                  <a:srgbClr val="000000"/>
                </a:solidFill>
              </a:rPr>
              <a:t>消除失真的方法：</a:t>
            </a:r>
          </a:p>
          <a:p>
            <a:pPr algn="ctr" eaLnBrk="1" hangingPunct="1">
              <a:lnSpc>
                <a:spcPct val="110000"/>
              </a:lnSpc>
            </a:pPr>
            <a:r>
              <a:rPr lang="zh-CN" altLang="en-US" b="1">
                <a:solidFill>
                  <a:srgbClr val="000000"/>
                </a:solidFill>
              </a:rPr>
              <a:t>设置合适的静态工作点。</a:t>
            </a:r>
          </a:p>
        </p:txBody>
      </p:sp>
      <p:sp>
        <p:nvSpPr>
          <p:cNvPr id="72718" name="Text Box 14"/>
          <p:cNvSpPr txBox="1">
            <a:spLocks noChangeArrowheads="1"/>
          </p:cNvSpPr>
          <p:nvPr/>
        </p:nvSpPr>
        <p:spPr bwMode="auto">
          <a:xfrm>
            <a:off x="3967286" y="1091535"/>
            <a:ext cx="5087937" cy="1296987"/>
          </a:xfrm>
          <a:prstGeom prst="rect">
            <a:avLst/>
          </a:prstGeom>
          <a:noFill/>
          <a:ln w="9525">
            <a:noFill/>
            <a:miter lim="800000"/>
            <a:headEnd/>
            <a:tailEnd/>
          </a:ln>
        </p:spPr>
        <p:txBody>
          <a:bodyPr>
            <a:spAutoFit/>
          </a:bodyPr>
          <a:lstStyle/>
          <a:p>
            <a:pPr algn="ctr" eaLnBrk="1" hangingPunct="1">
              <a:lnSpc>
                <a:spcPct val="110000"/>
              </a:lnSpc>
            </a:pPr>
            <a:r>
              <a:rPr lang="en-US" altLang="zh-CN" b="1" dirty="0"/>
              <a:t>① </a:t>
            </a:r>
            <a:r>
              <a:rPr lang="zh-CN" altLang="en-US" b="1" dirty="0"/>
              <a:t>静态时</a:t>
            </a:r>
            <a:r>
              <a:rPr lang="en-US" altLang="zh-CN" b="1" dirty="0"/>
              <a:t>T</a:t>
            </a:r>
            <a:r>
              <a:rPr lang="en-US" altLang="zh-CN" b="1" baseline="-25000" dirty="0"/>
              <a:t>1</a:t>
            </a:r>
            <a:r>
              <a:rPr lang="zh-CN" altLang="en-US" b="1" dirty="0"/>
              <a:t>、</a:t>
            </a:r>
            <a:r>
              <a:rPr lang="en-US" altLang="zh-CN" b="1" dirty="0"/>
              <a:t>T</a:t>
            </a:r>
            <a:r>
              <a:rPr lang="en-US" altLang="zh-CN" b="1" baseline="-25000" dirty="0"/>
              <a:t>2</a:t>
            </a:r>
            <a:r>
              <a:rPr lang="zh-CN" altLang="en-US" b="1" dirty="0"/>
              <a:t>处于</a:t>
            </a:r>
            <a:r>
              <a:rPr lang="zh-CN" altLang="en-US" b="1" dirty="0">
                <a:solidFill>
                  <a:srgbClr val="0000FF"/>
                </a:solidFill>
              </a:rPr>
              <a:t>临界导通状态</a:t>
            </a:r>
            <a:r>
              <a:rPr lang="zh-CN" altLang="en-US" b="1" dirty="0"/>
              <a:t>，有信号时至少有一只导通；</a:t>
            </a:r>
          </a:p>
          <a:p>
            <a:pPr algn="ctr" eaLnBrk="1" hangingPunct="1">
              <a:lnSpc>
                <a:spcPct val="110000"/>
              </a:lnSpc>
            </a:pPr>
            <a:r>
              <a:rPr lang="zh-CN" altLang="en-US" b="1" dirty="0"/>
              <a:t>② 偏置电路对动态性能影响要小。</a:t>
            </a:r>
          </a:p>
        </p:txBody>
      </p:sp>
      <p:pic>
        <p:nvPicPr>
          <p:cNvPr id="3" name="图片 2">
            <a:extLst>
              <a:ext uri="{FF2B5EF4-FFF2-40B4-BE49-F238E27FC236}">
                <a16:creationId xmlns:a16="http://schemas.microsoft.com/office/drawing/2014/main" id="{71F2F60E-C2BC-4F88-9709-5A1833BC08D7}"/>
              </a:ext>
            </a:extLst>
          </p:cNvPr>
          <p:cNvPicPr>
            <a:picLocks noChangeAspect="1"/>
          </p:cNvPicPr>
          <p:nvPr/>
        </p:nvPicPr>
        <p:blipFill>
          <a:blip r:embed="rId5"/>
          <a:stretch>
            <a:fillRect/>
          </a:stretch>
        </p:blipFill>
        <p:spPr>
          <a:xfrm>
            <a:off x="744890" y="3528023"/>
            <a:ext cx="676369" cy="1086002"/>
          </a:xfrm>
          <a:prstGeom prst="rect">
            <a:avLst/>
          </a:prstGeom>
        </p:spPr>
      </p:pic>
      <p:grpSp>
        <p:nvGrpSpPr>
          <p:cNvPr id="5" name="组合 4">
            <a:extLst>
              <a:ext uri="{FF2B5EF4-FFF2-40B4-BE49-F238E27FC236}">
                <a16:creationId xmlns:a16="http://schemas.microsoft.com/office/drawing/2014/main" id="{C3B5514D-082A-46A0-8C41-0BB9621739DB}"/>
              </a:ext>
            </a:extLst>
          </p:cNvPr>
          <p:cNvGrpSpPr/>
          <p:nvPr/>
        </p:nvGrpSpPr>
        <p:grpSpPr>
          <a:xfrm>
            <a:off x="3756025" y="2658862"/>
            <a:ext cx="3715613" cy="3200400"/>
            <a:chOff x="3756025" y="2658862"/>
            <a:chExt cx="3715613" cy="3200400"/>
          </a:xfrm>
        </p:grpSpPr>
        <p:pic>
          <p:nvPicPr>
            <p:cNvPr id="16" name="Picture 3" descr="Dz030317">
              <a:extLst>
                <a:ext uri="{FF2B5EF4-FFF2-40B4-BE49-F238E27FC236}">
                  <a16:creationId xmlns:a16="http://schemas.microsoft.com/office/drawing/2014/main" id="{1B3D514F-FB87-4A90-8119-9A0127F16C53}"/>
                </a:ext>
              </a:extLst>
            </p:cNvPr>
            <p:cNvPicPr>
              <a:picLocks noChangeAspect="1" noChangeArrowheads="1"/>
            </p:cNvPicPr>
            <p:nvPr/>
          </p:nvPicPr>
          <p:blipFill>
            <a:blip r:embed="rId6"/>
            <a:srcRect r="43860" b="6714"/>
            <a:stretch>
              <a:fillRect/>
            </a:stretch>
          </p:blipFill>
          <p:spPr bwMode="auto">
            <a:xfrm>
              <a:off x="4368076" y="2658862"/>
              <a:ext cx="3103562" cy="3200400"/>
            </a:xfrm>
            <a:prstGeom prst="rect">
              <a:avLst/>
            </a:prstGeom>
            <a:noFill/>
            <a:ln w="9525">
              <a:noFill/>
              <a:miter lim="800000"/>
              <a:headEnd/>
              <a:tailEnd/>
            </a:ln>
          </p:spPr>
        </p:pic>
        <p:sp>
          <p:nvSpPr>
            <p:cNvPr id="4" name="箭头: 右 3">
              <a:extLst>
                <a:ext uri="{FF2B5EF4-FFF2-40B4-BE49-F238E27FC236}">
                  <a16:creationId xmlns:a16="http://schemas.microsoft.com/office/drawing/2014/main" id="{20C0C037-E6D3-4A54-BED6-B4331FBBCBA7}"/>
                </a:ext>
              </a:extLst>
            </p:cNvPr>
            <p:cNvSpPr/>
            <p:nvPr/>
          </p:nvSpPr>
          <p:spPr bwMode="auto">
            <a:xfrm>
              <a:off x="3756025" y="4136994"/>
              <a:ext cx="460868" cy="133165"/>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pic>
        <p:nvPicPr>
          <p:cNvPr id="7" name="图片 6">
            <a:extLst>
              <a:ext uri="{FF2B5EF4-FFF2-40B4-BE49-F238E27FC236}">
                <a16:creationId xmlns:a16="http://schemas.microsoft.com/office/drawing/2014/main" id="{4F4E11B0-608B-9E39-6172-C9A79719011D}"/>
              </a:ext>
            </a:extLst>
          </p:cNvPr>
          <p:cNvPicPr>
            <a:picLocks noChangeAspect="1"/>
          </p:cNvPicPr>
          <p:nvPr/>
        </p:nvPicPr>
        <p:blipFill>
          <a:blip r:embed="rId7"/>
          <a:stretch>
            <a:fillRect/>
          </a:stretch>
        </p:blipFill>
        <p:spPr>
          <a:xfrm>
            <a:off x="4731560" y="2919636"/>
            <a:ext cx="562901" cy="395287"/>
          </a:xfrm>
          <a:prstGeom prst="rect">
            <a:avLst/>
          </a:prstGeom>
        </p:spPr>
      </p:pic>
      <p:pic>
        <p:nvPicPr>
          <p:cNvPr id="8" name="图片 7">
            <a:extLst>
              <a:ext uri="{FF2B5EF4-FFF2-40B4-BE49-F238E27FC236}">
                <a16:creationId xmlns:a16="http://schemas.microsoft.com/office/drawing/2014/main" id="{0BF68ED4-CD67-F4B2-9E98-A618CD959AB8}"/>
              </a:ext>
            </a:extLst>
          </p:cNvPr>
          <p:cNvPicPr>
            <a:picLocks noChangeAspect="1"/>
          </p:cNvPicPr>
          <p:nvPr/>
        </p:nvPicPr>
        <p:blipFill>
          <a:blip r:embed="rId7"/>
          <a:stretch>
            <a:fillRect/>
          </a:stretch>
        </p:blipFill>
        <p:spPr>
          <a:xfrm>
            <a:off x="4729865" y="5088500"/>
            <a:ext cx="562901" cy="395287"/>
          </a:xfrm>
          <a:prstGeom prst="rect">
            <a:avLst/>
          </a:prstGeom>
        </p:spPr>
      </p:pic>
    </p:spTree>
    <p:extLst>
      <p:ext uri="{BB962C8B-B14F-4D97-AF65-F5344CB8AC3E}">
        <p14:creationId xmlns:p14="http://schemas.microsoft.com/office/powerpoint/2010/main" val="140870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Grp="1" noChangeArrowheads="1"/>
          </p:cNvSpPr>
          <p:nvPr>
            <p:ph type="title"/>
          </p:nvPr>
        </p:nvSpPr>
        <p:spPr>
          <a:xfrm>
            <a:off x="323850" y="579438"/>
            <a:ext cx="7345363" cy="609600"/>
          </a:xfrm>
        </p:spPr>
        <p:txBody>
          <a:bodyPr/>
          <a:lstStyle/>
          <a:p>
            <a:pPr algn="l"/>
            <a:r>
              <a:rPr lang="zh-CN" altLang="en-US" sz="3200" b="1">
                <a:solidFill>
                  <a:schemeClr val="tx1"/>
                </a:solidFill>
                <a:latin typeface="华文行楷" pitchFamily="2" charset="-122"/>
                <a:ea typeface="华文行楷" pitchFamily="2" charset="-122"/>
              </a:rPr>
              <a:t>三、消除交越失真的互补输出级</a:t>
            </a:r>
          </a:p>
        </p:txBody>
      </p:sp>
      <p:pic>
        <p:nvPicPr>
          <p:cNvPr id="76805" name="Picture 3" descr="Dz030317"/>
          <p:cNvPicPr>
            <a:picLocks noChangeAspect="1" noChangeArrowheads="1"/>
          </p:cNvPicPr>
          <p:nvPr/>
        </p:nvPicPr>
        <p:blipFill>
          <a:blip r:embed="rId3"/>
          <a:srcRect r="43860" b="6714"/>
          <a:stretch>
            <a:fillRect/>
          </a:stretch>
        </p:blipFill>
        <p:spPr bwMode="auto">
          <a:xfrm>
            <a:off x="1331913" y="1371600"/>
            <a:ext cx="3103562" cy="3200400"/>
          </a:xfrm>
          <a:prstGeom prst="rect">
            <a:avLst/>
          </a:prstGeom>
          <a:noFill/>
          <a:ln w="9525">
            <a:noFill/>
            <a:miter lim="800000"/>
            <a:headEnd/>
            <a:tailEnd/>
          </a:ln>
        </p:spPr>
      </p:pic>
      <p:graphicFrame>
        <p:nvGraphicFramePr>
          <p:cNvPr id="73732" name="Object 2"/>
          <p:cNvGraphicFramePr>
            <a:graphicFrameLocks noChangeAspect="1"/>
          </p:cNvGraphicFramePr>
          <p:nvPr/>
        </p:nvGraphicFramePr>
        <p:xfrm>
          <a:off x="1003300" y="4667250"/>
          <a:ext cx="3395663" cy="977900"/>
        </p:xfrm>
        <a:graphic>
          <a:graphicData uri="http://schemas.openxmlformats.org/presentationml/2006/ole">
            <mc:AlternateContent xmlns:mc="http://schemas.openxmlformats.org/markup-compatibility/2006">
              <mc:Choice xmlns:v="urn:schemas-microsoft-com:vml" Requires="v">
                <p:oleObj spid="_x0000_s60420" name="Equation" r:id="rId4" imgW="38100000" imgH="10972800" progId="Equation.3">
                  <p:embed/>
                </p:oleObj>
              </mc:Choice>
              <mc:Fallback>
                <p:oleObj name="Equation" r:id="rId4" imgW="38100000" imgH="10972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300" y="4667250"/>
                        <a:ext cx="3395663" cy="977900"/>
                      </a:xfrm>
                      <a:prstGeom prst="rect">
                        <a:avLst/>
                      </a:prstGeom>
                      <a:solidFill>
                        <a:srgbClr val="66FFFF"/>
                      </a:solidFill>
                      <a:ln w="9525">
                        <a:solidFill>
                          <a:srgbClr val="FF3300"/>
                        </a:solidFill>
                        <a:miter lim="800000"/>
                        <a:headEnd/>
                        <a:tailEnd/>
                      </a:ln>
                    </p:spPr>
                  </p:pic>
                </p:oleObj>
              </mc:Fallback>
            </mc:AlternateContent>
          </a:graphicData>
        </a:graphic>
      </p:graphicFrame>
      <p:pic>
        <p:nvPicPr>
          <p:cNvPr id="73733" name="Picture 5" descr="Dz030317"/>
          <p:cNvPicPr>
            <a:picLocks noChangeAspect="1" noChangeArrowheads="1"/>
          </p:cNvPicPr>
          <p:nvPr/>
        </p:nvPicPr>
        <p:blipFill>
          <a:blip r:embed="rId6"/>
          <a:srcRect l="64178" t="7214" b="20641"/>
          <a:stretch>
            <a:fillRect/>
          </a:stretch>
        </p:blipFill>
        <p:spPr bwMode="auto">
          <a:xfrm>
            <a:off x="4829175" y="1447800"/>
            <a:ext cx="1706563" cy="2133600"/>
          </a:xfrm>
          <a:prstGeom prst="rect">
            <a:avLst/>
          </a:prstGeom>
          <a:noFill/>
          <a:ln w="9525">
            <a:noFill/>
            <a:miter lim="800000"/>
            <a:headEnd/>
            <a:tailEnd/>
          </a:ln>
        </p:spPr>
      </p:pic>
      <p:graphicFrame>
        <p:nvGraphicFramePr>
          <p:cNvPr id="73734" name="Object 3"/>
          <p:cNvGraphicFramePr>
            <a:graphicFrameLocks noChangeAspect="1"/>
          </p:cNvGraphicFramePr>
          <p:nvPr/>
        </p:nvGraphicFramePr>
        <p:xfrm>
          <a:off x="5218113" y="3810000"/>
          <a:ext cx="3200400" cy="1935163"/>
        </p:xfrm>
        <a:graphic>
          <a:graphicData uri="http://schemas.openxmlformats.org/presentationml/2006/ole">
            <mc:AlternateContent xmlns:mc="http://schemas.openxmlformats.org/markup-compatibility/2006">
              <mc:Choice xmlns:v="urn:schemas-microsoft-com:vml" Requires="v">
                <p:oleObj spid="_x0000_s60421" name="Equation" r:id="rId7" imgW="36271200" imgH="21945600" progId="Equation.3">
                  <p:embed/>
                </p:oleObj>
              </mc:Choice>
              <mc:Fallback>
                <p:oleObj name="Equation" r:id="rId7" imgW="36271200" imgH="21945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8113" y="3810000"/>
                        <a:ext cx="3200400" cy="1935163"/>
                      </a:xfrm>
                      <a:prstGeom prst="rect">
                        <a:avLst/>
                      </a:prstGeom>
                      <a:solidFill>
                        <a:srgbClr val="66FFFF"/>
                      </a:solidFill>
                      <a:ln w="9525">
                        <a:solidFill>
                          <a:srgbClr val="FF3300"/>
                        </a:solidFill>
                        <a:miter lim="800000"/>
                        <a:headEnd/>
                        <a:tailEnd/>
                      </a:ln>
                    </p:spPr>
                  </p:pic>
                </p:oleObj>
              </mc:Fallback>
            </mc:AlternateContent>
          </a:graphicData>
        </a:graphic>
      </p:graphicFrame>
      <p:grpSp>
        <p:nvGrpSpPr>
          <p:cNvPr id="2" name="Group 7"/>
          <p:cNvGrpSpPr>
            <a:grpSpLocks/>
          </p:cNvGrpSpPr>
          <p:nvPr/>
        </p:nvGrpSpPr>
        <p:grpSpPr bwMode="auto">
          <a:xfrm>
            <a:off x="2246313" y="1600200"/>
            <a:ext cx="914400" cy="2590800"/>
            <a:chOff x="1296" y="912"/>
            <a:chExt cx="576" cy="1632"/>
          </a:xfrm>
        </p:grpSpPr>
        <p:sp>
          <p:nvSpPr>
            <p:cNvPr id="76818" name="Line 8"/>
            <p:cNvSpPr>
              <a:spLocks noChangeShapeType="1"/>
            </p:cNvSpPr>
            <p:nvPr/>
          </p:nvSpPr>
          <p:spPr bwMode="auto">
            <a:xfrm flipH="1">
              <a:off x="1296" y="912"/>
              <a:ext cx="576" cy="0"/>
            </a:xfrm>
            <a:prstGeom prst="line">
              <a:avLst/>
            </a:prstGeom>
            <a:noFill/>
            <a:ln w="28575">
              <a:solidFill>
                <a:srgbClr val="FF3300"/>
              </a:solidFill>
              <a:round/>
              <a:headEnd/>
              <a:tailEnd/>
            </a:ln>
          </p:spPr>
          <p:txBody>
            <a:bodyPr/>
            <a:lstStyle/>
            <a:p>
              <a:endParaRPr lang="zh-CN" altLang="en-US"/>
            </a:p>
          </p:txBody>
        </p:sp>
        <p:sp>
          <p:nvSpPr>
            <p:cNvPr id="76819" name="Line 9"/>
            <p:cNvSpPr>
              <a:spLocks noChangeShapeType="1"/>
            </p:cNvSpPr>
            <p:nvPr/>
          </p:nvSpPr>
          <p:spPr bwMode="auto">
            <a:xfrm>
              <a:off x="1296" y="912"/>
              <a:ext cx="0" cy="1632"/>
            </a:xfrm>
            <a:prstGeom prst="line">
              <a:avLst/>
            </a:prstGeom>
            <a:noFill/>
            <a:ln w="28575">
              <a:solidFill>
                <a:srgbClr val="FF3300"/>
              </a:solidFill>
              <a:round/>
              <a:headEnd/>
              <a:tailEnd/>
            </a:ln>
          </p:spPr>
          <p:txBody>
            <a:bodyPr/>
            <a:lstStyle/>
            <a:p>
              <a:endParaRPr lang="zh-CN" altLang="en-US"/>
            </a:p>
          </p:txBody>
        </p:sp>
        <p:sp>
          <p:nvSpPr>
            <p:cNvPr id="76820" name="Line 10"/>
            <p:cNvSpPr>
              <a:spLocks noChangeShapeType="1"/>
            </p:cNvSpPr>
            <p:nvPr/>
          </p:nvSpPr>
          <p:spPr bwMode="auto">
            <a:xfrm>
              <a:off x="1296" y="2544"/>
              <a:ext cx="528" cy="0"/>
            </a:xfrm>
            <a:prstGeom prst="line">
              <a:avLst/>
            </a:prstGeom>
            <a:noFill/>
            <a:ln w="28575">
              <a:solidFill>
                <a:srgbClr val="FF3300"/>
              </a:solidFill>
              <a:round/>
              <a:headEnd/>
              <a:tailEnd type="triangle" w="med" len="med"/>
            </a:ln>
          </p:spPr>
          <p:txBody>
            <a:bodyPr/>
            <a:lstStyle/>
            <a:p>
              <a:endParaRPr lang="zh-CN" altLang="en-US"/>
            </a:p>
          </p:txBody>
        </p:sp>
      </p:grpSp>
      <p:sp>
        <p:nvSpPr>
          <p:cNvPr id="12" name="线形标注 1 11"/>
          <p:cNvSpPr>
            <a:spLocks/>
          </p:cNvSpPr>
          <p:nvPr/>
        </p:nvSpPr>
        <p:spPr bwMode="auto">
          <a:xfrm>
            <a:off x="6897688" y="957263"/>
            <a:ext cx="2246312" cy="1947862"/>
          </a:xfrm>
          <a:prstGeom prst="borderCallout1">
            <a:avLst>
              <a:gd name="adj1" fmla="val 18750"/>
              <a:gd name="adj2" fmla="val -8333"/>
              <a:gd name="adj3" fmla="val 40907"/>
              <a:gd name="adj4" fmla="val -35787"/>
            </a:avLst>
          </a:prstGeom>
          <a:solidFill>
            <a:schemeClr val="accent1"/>
          </a:solidFill>
          <a:ln w="9525" algn="ctr">
            <a:solidFill>
              <a:schemeClr val="tx1"/>
            </a:solidFill>
            <a:round/>
            <a:headEnd/>
            <a:tailEnd/>
          </a:ln>
        </p:spPr>
        <p:txBody>
          <a:bodyPr/>
          <a:lstStyle/>
          <a:p>
            <a:pPr algn="ctr" eaLnBrk="1" hangingPunct="1"/>
            <a:r>
              <a:rPr lang="en-US" altLang="zh-CN" b="1"/>
              <a:t>R1,R2&gt;&gt;R3,R4</a:t>
            </a:r>
          </a:p>
          <a:p>
            <a:pPr algn="ctr" eaLnBrk="1" hangingPunct="1"/>
            <a:r>
              <a:rPr lang="en-US" altLang="zh-CN" b="1"/>
              <a:t>I</a:t>
            </a:r>
            <a:r>
              <a:rPr lang="en-US" altLang="zh-CN" sz="1800" b="1"/>
              <a:t>1</a:t>
            </a:r>
            <a:r>
              <a:rPr lang="zh-CN" altLang="en-US" b="1"/>
              <a:t>与</a:t>
            </a:r>
            <a:r>
              <a:rPr lang="en-US" altLang="zh-CN" b="1"/>
              <a:t>I2</a:t>
            </a:r>
            <a:r>
              <a:rPr lang="zh-CN" altLang="en-US" b="1"/>
              <a:t>近似相等</a:t>
            </a:r>
            <a:endParaRPr lang="en-US" altLang="zh-CN" b="1"/>
          </a:p>
          <a:p>
            <a:pPr algn="ctr" eaLnBrk="1" hangingPunct="1"/>
            <a:r>
              <a:rPr lang="zh-CN" altLang="en-US" b="1" u="sng">
                <a:solidFill>
                  <a:srgbClr val="FF0000"/>
                </a:solidFill>
              </a:rPr>
              <a:t>动态时</a:t>
            </a:r>
            <a:r>
              <a:rPr lang="zh-CN" altLang="en-US" b="1"/>
              <a:t>，</a:t>
            </a:r>
            <a:r>
              <a:rPr lang="zh-CN" altLang="en-US" b="1">
                <a:solidFill>
                  <a:srgbClr val="FF0000"/>
                </a:solidFill>
              </a:rPr>
              <a:t>输入、</a:t>
            </a:r>
            <a:r>
              <a:rPr lang="en-US" altLang="zh-CN" b="1">
                <a:solidFill>
                  <a:srgbClr val="FF0000"/>
                </a:solidFill>
              </a:rPr>
              <a:t>b1</a:t>
            </a:r>
            <a:r>
              <a:rPr lang="zh-CN" altLang="en-US" b="1">
                <a:solidFill>
                  <a:srgbClr val="FF0000"/>
                </a:solidFill>
              </a:rPr>
              <a:t>与</a:t>
            </a:r>
            <a:r>
              <a:rPr lang="en-US" altLang="zh-CN" b="1">
                <a:solidFill>
                  <a:srgbClr val="FF0000"/>
                </a:solidFill>
              </a:rPr>
              <a:t>b2</a:t>
            </a:r>
            <a:r>
              <a:rPr lang="zh-CN" altLang="en-US" b="1"/>
              <a:t>三个电位几乎相等</a:t>
            </a:r>
          </a:p>
        </p:txBody>
      </p:sp>
      <p:sp>
        <p:nvSpPr>
          <p:cNvPr id="13" name="Text Box 9"/>
          <p:cNvSpPr txBox="1">
            <a:spLocks noChangeArrowheads="1"/>
          </p:cNvSpPr>
          <p:nvPr/>
        </p:nvSpPr>
        <p:spPr bwMode="auto">
          <a:xfrm>
            <a:off x="195263" y="5629275"/>
            <a:ext cx="5451475" cy="1200150"/>
          </a:xfrm>
          <a:prstGeom prst="rect">
            <a:avLst/>
          </a:prstGeom>
          <a:solidFill>
            <a:schemeClr val="accent1">
              <a:lumMod val="20000"/>
              <a:lumOff val="80000"/>
            </a:schemeClr>
          </a:solidFill>
          <a:ln w="9525">
            <a:solidFill>
              <a:schemeClr val="tx1"/>
            </a:solidFill>
            <a:miter lim="800000"/>
            <a:headEnd/>
            <a:tailEnd/>
          </a:ln>
          <a:effectLst/>
        </p:spPr>
        <p:txBody>
          <a:bodyPr>
            <a:spAutoFit/>
          </a:bodyPr>
          <a:lstStyle/>
          <a:p>
            <a:pPr algn="ctr" eaLnBrk="1" hangingPunct="1">
              <a:spcBef>
                <a:spcPct val="50000"/>
              </a:spcBef>
              <a:defRPr/>
            </a:pPr>
            <a:r>
              <a:rPr lang="zh-CN" altLang="en-US" b="1" dirty="0"/>
              <a:t>由于二极管的动态电阻很小，可以认为</a:t>
            </a:r>
            <a:r>
              <a:rPr lang="en-US" altLang="zh-CN" b="1" dirty="0"/>
              <a:t>T1</a:t>
            </a:r>
            <a:r>
              <a:rPr lang="zh-CN" altLang="en-US" b="1" dirty="0"/>
              <a:t>管的</a:t>
            </a:r>
            <a:r>
              <a:rPr lang="zh-CN" altLang="en-US" b="1" dirty="0">
                <a:solidFill>
                  <a:srgbClr val="0000FF"/>
                </a:solidFill>
              </a:rPr>
              <a:t>基极动态电位</a:t>
            </a:r>
            <a:r>
              <a:rPr lang="zh-CN" altLang="en-US" b="1" dirty="0"/>
              <a:t>与</a:t>
            </a:r>
            <a:r>
              <a:rPr lang="en-US" altLang="zh-CN" b="1" dirty="0"/>
              <a:t>T2</a:t>
            </a:r>
            <a:r>
              <a:rPr lang="zh-CN" altLang="en-US" b="1" dirty="0"/>
              <a:t>管</a:t>
            </a:r>
            <a:r>
              <a:rPr lang="zh-CN" altLang="en-US" b="1" dirty="0">
                <a:solidFill>
                  <a:srgbClr val="0000FF"/>
                </a:solidFill>
              </a:rPr>
              <a:t>基极动态电位</a:t>
            </a:r>
            <a:r>
              <a:rPr lang="zh-CN" altLang="en-US" b="1" dirty="0"/>
              <a:t>近似相等，且均为</a:t>
            </a:r>
            <a:r>
              <a:rPr lang="en-US" altLang="zh-CN" b="1" dirty="0" err="1"/>
              <a:t>u</a:t>
            </a:r>
            <a:r>
              <a:rPr lang="en-US" altLang="zh-CN" b="1" baseline="-25000" dirty="0" err="1"/>
              <a:t>i</a:t>
            </a:r>
            <a:r>
              <a:rPr lang="en-US" altLang="zh-CN" b="1" baseline="-25000" dirty="0"/>
              <a:t>,</a:t>
            </a:r>
            <a:r>
              <a:rPr lang="zh-CN" altLang="en-US" b="1" dirty="0"/>
              <a:t>即</a:t>
            </a:r>
            <a:r>
              <a:rPr lang="en-US" altLang="zh-CN" b="1" dirty="0"/>
              <a:t>u</a:t>
            </a:r>
            <a:r>
              <a:rPr lang="en-US" altLang="zh-CN" b="1" baseline="-25000" dirty="0"/>
              <a:t>b1</a:t>
            </a:r>
            <a:r>
              <a:rPr lang="en-US" altLang="zh-CN" b="1" dirty="0"/>
              <a:t>=u</a:t>
            </a:r>
            <a:r>
              <a:rPr lang="en-US" altLang="zh-CN" b="1" baseline="-25000" dirty="0"/>
              <a:t>b2</a:t>
            </a:r>
            <a:r>
              <a:rPr lang="en-US" altLang="zh-CN" b="1" dirty="0"/>
              <a:t>=</a:t>
            </a:r>
            <a:r>
              <a:rPr lang="en-US" altLang="zh-CN" b="1" dirty="0" err="1"/>
              <a:t>u</a:t>
            </a:r>
            <a:r>
              <a:rPr lang="en-US" altLang="zh-CN" b="1" baseline="-25000" dirty="0" err="1"/>
              <a:t>i</a:t>
            </a:r>
            <a:endParaRPr lang="en-US" altLang="zh-CN" b="1" baseline="-25000" dirty="0"/>
          </a:p>
        </p:txBody>
      </p:sp>
      <p:sp>
        <p:nvSpPr>
          <p:cNvPr id="3" name="矩形 2"/>
          <p:cNvSpPr>
            <a:spLocks noChangeArrowheads="1"/>
          </p:cNvSpPr>
          <p:nvPr/>
        </p:nvSpPr>
        <p:spPr bwMode="auto">
          <a:xfrm>
            <a:off x="1695450" y="2122488"/>
            <a:ext cx="1119188" cy="1525587"/>
          </a:xfrm>
          <a:prstGeom prst="rect">
            <a:avLst/>
          </a:prstGeom>
          <a:noFill/>
          <a:ln w="28575" algn="ctr">
            <a:solidFill>
              <a:srgbClr val="0000FF"/>
            </a:solidFill>
            <a:prstDash val="sysDot"/>
            <a:round/>
            <a:headEnd/>
            <a:tailEnd/>
          </a:ln>
        </p:spPr>
        <p:txBody>
          <a:bodyPr/>
          <a:lstStyle/>
          <a:p>
            <a:pPr algn="ctr" eaLnBrk="1" hangingPunct="1"/>
            <a:endParaRPr lang="zh-CN" altLang="en-US"/>
          </a:p>
        </p:txBody>
      </p:sp>
      <p:sp>
        <p:nvSpPr>
          <p:cNvPr id="14" name="矩形 13"/>
          <p:cNvSpPr>
            <a:spLocks noChangeArrowheads="1"/>
          </p:cNvSpPr>
          <p:nvPr/>
        </p:nvSpPr>
        <p:spPr bwMode="auto">
          <a:xfrm>
            <a:off x="5051425" y="1831975"/>
            <a:ext cx="1117600" cy="1525588"/>
          </a:xfrm>
          <a:prstGeom prst="rect">
            <a:avLst/>
          </a:prstGeom>
          <a:noFill/>
          <a:ln w="28575" algn="ctr">
            <a:solidFill>
              <a:srgbClr val="0000FF"/>
            </a:solidFill>
            <a:prstDash val="sysDot"/>
            <a:round/>
            <a:headEnd/>
            <a:tailEnd/>
          </a:ln>
        </p:spPr>
        <p:txBody>
          <a:bodyPr/>
          <a:lstStyle/>
          <a:p>
            <a:pPr algn="ctr" eaLnBrk="1" hangingPunct="1"/>
            <a:endParaRPr lang="zh-CN" altLang="en-US"/>
          </a:p>
        </p:txBody>
      </p:sp>
      <p:sp>
        <p:nvSpPr>
          <p:cNvPr id="15" name="椭圆 14"/>
          <p:cNvSpPr/>
          <p:nvPr/>
        </p:nvSpPr>
        <p:spPr bwMode="auto">
          <a:xfrm flipH="1">
            <a:off x="2505075" y="2109788"/>
            <a:ext cx="228600" cy="260350"/>
          </a:xfrm>
          <a:prstGeom prst="ellipse">
            <a:avLst/>
          </a:prstGeom>
          <a:solidFill>
            <a:schemeClr val="accent2">
              <a:lumMod val="60000"/>
              <a:lumOff val="40000"/>
            </a:schemeClr>
          </a:solidFill>
          <a:ln w="19050" cap="flat" cmpd="sng" algn="ctr">
            <a:solidFill>
              <a:srgbClr val="A50021"/>
            </a:solidFill>
            <a:prstDash val="sysDot"/>
            <a:round/>
            <a:headEnd type="none" w="med" len="med"/>
            <a:tailEnd type="none" w="med" len="med"/>
          </a:ln>
          <a:effectLst/>
        </p:spPr>
        <p:txBody>
          <a:bodyPr/>
          <a:lstStyle/>
          <a:p>
            <a:pPr algn="ctr" eaLnBrk="1" hangingPunct="1">
              <a:defRPr/>
            </a:pPr>
            <a:endParaRPr lang="zh-CN" altLang="en-US"/>
          </a:p>
        </p:txBody>
      </p:sp>
      <p:sp>
        <p:nvSpPr>
          <p:cNvPr id="17" name="椭圆 16"/>
          <p:cNvSpPr/>
          <p:nvPr/>
        </p:nvSpPr>
        <p:spPr bwMode="auto">
          <a:xfrm flipH="1">
            <a:off x="2538413" y="3482975"/>
            <a:ext cx="228600" cy="260350"/>
          </a:xfrm>
          <a:prstGeom prst="ellipse">
            <a:avLst/>
          </a:prstGeom>
          <a:solidFill>
            <a:schemeClr val="accent2">
              <a:lumMod val="60000"/>
              <a:lumOff val="40000"/>
            </a:schemeClr>
          </a:solidFill>
          <a:ln w="19050" cap="flat" cmpd="sng" algn="ctr">
            <a:solidFill>
              <a:srgbClr val="A50021"/>
            </a:solidFill>
            <a:prstDash val="sysDot"/>
            <a:round/>
            <a:headEnd type="none" w="med" len="med"/>
            <a:tailEnd type="none" w="med" len="med"/>
          </a:ln>
          <a:effectLst/>
        </p:spPr>
        <p:txBody>
          <a:bodyPr/>
          <a:lstStyle/>
          <a:p>
            <a:pPr algn="ctr" eaLnBrk="1" hangingPunct="1">
              <a:defRPr/>
            </a:pPr>
            <a:endParaRPr lang="zh-CN" altLang="en-US"/>
          </a:p>
        </p:txBody>
      </p:sp>
      <p:sp>
        <p:nvSpPr>
          <p:cNvPr id="18" name="椭圆 17"/>
          <p:cNvSpPr/>
          <p:nvPr/>
        </p:nvSpPr>
        <p:spPr bwMode="auto">
          <a:xfrm flipH="1">
            <a:off x="5940425" y="1801813"/>
            <a:ext cx="228600" cy="258762"/>
          </a:xfrm>
          <a:prstGeom prst="ellipse">
            <a:avLst/>
          </a:prstGeom>
          <a:solidFill>
            <a:schemeClr val="accent2">
              <a:lumMod val="60000"/>
              <a:lumOff val="40000"/>
            </a:schemeClr>
          </a:solidFill>
          <a:ln w="19050" cap="flat" cmpd="sng" algn="ctr">
            <a:solidFill>
              <a:srgbClr val="A50021"/>
            </a:solidFill>
            <a:prstDash val="sysDot"/>
            <a:round/>
            <a:headEnd type="none" w="med" len="med"/>
            <a:tailEnd type="none" w="med" len="med"/>
          </a:ln>
          <a:effectLst/>
        </p:spPr>
        <p:txBody>
          <a:bodyPr/>
          <a:lstStyle/>
          <a:p>
            <a:pPr algn="ctr" eaLnBrk="1" hangingPunct="1">
              <a:defRPr/>
            </a:pPr>
            <a:endParaRPr lang="zh-CN" altLang="en-US"/>
          </a:p>
        </p:txBody>
      </p:sp>
      <p:sp>
        <p:nvSpPr>
          <p:cNvPr id="19" name="椭圆 18"/>
          <p:cNvSpPr/>
          <p:nvPr/>
        </p:nvSpPr>
        <p:spPr bwMode="auto">
          <a:xfrm flipH="1">
            <a:off x="5910263" y="3124200"/>
            <a:ext cx="228600" cy="258763"/>
          </a:xfrm>
          <a:prstGeom prst="ellipse">
            <a:avLst/>
          </a:prstGeom>
          <a:solidFill>
            <a:schemeClr val="accent2">
              <a:lumMod val="60000"/>
              <a:lumOff val="40000"/>
            </a:schemeClr>
          </a:solidFill>
          <a:ln w="19050" cap="flat" cmpd="sng" algn="ctr">
            <a:solidFill>
              <a:srgbClr val="A50021"/>
            </a:solidFill>
            <a:prstDash val="sysDot"/>
            <a:round/>
            <a:headEnd type="none" w="med" len="med"/>
            <a:tailEnd type="none" w="med" len="med"/>
          </a:ln>
          <a:effectLst/>
        </p:spPr>
        <p:txBody>
          <a:bodyPr/>
          <a:lstStyle/>
          <a:p>
            <a:pPr algn="ctr" eaLnBrk="1" hangingPunct="1">
              <a:defRPr/>
            </a:pPr>
            <a:endParaRPr lang="zh-CN" altLang="en-US"/>
          </a:p>
        </p:txBody>
      </p:sp>
      <p:sp>
        <p:nvSpPr>
          <p:cNvPr id="20" name="椭圆 19"/>
          <p:cNvSpPr/>
          <p:nvPr/>
        </p:nvSpPr>
        <p:spPr bwMode="auto">
          <a:xfrm flipH="1">
            <a:off x="1873250" y="2774950"/>
            <a:ext cx="228600" cy="260350"/>
          </a:xfrm>
          <a:prstGeom prst="ellipse">
            <a:avLst/>
          </a:prstGeom>
          <a:solidFill>
            <a:schemeClr val="accent5"/>
          </a:solidFill>
          <a:ln w="19050" cap="flat" cmpd="sng" algn="ctr">
            <a:solidFill>
              <a:srgbClr val="FF0000"/>
            </a:solidFill>
            <a:prstDash val="sysDot"/>
            <a:round/>
            <a:headEnd type="none" w="med" len="med"/>
            <a:tailEnd type="none" w="med" len="med"/>
          </a:ln>
          <a:effectLst/>
        </p:spPr>
        <p:txBody>
          <a:bodyPr/>
          <a:lstStyle/>
          <a:p>
            <a:pPr algn="ctr" eaLnBrk="1" hangingPunct="1">
              <a:defRPr/>
            </a:pPr>
            <a:endParaRPr lang="zh-CN" altLang="en-US"/>
          </a:p>
        </p:txBody>
      </p:sp>
      <p:sp>
        <p:nvSpPr>
          <p:cNvPr id="21" name="椭圆 20"/>
          <p:cNvSpPr/>
          <p:nvPr/>
        </p:nvSpPr>
        <p:spPr bwMode="auto">
          <a:xfrm flipH="1">
            <a:off x="5045075" y="2465388"/>
            <a:ext cx="228600" cy="260350"/>
          </a:xfrm>
          <a:prstGeom prst="ellipse">
            <a:avLst/>
          </a:prstGeom>
          <a:solidFill>
            <a:schemeClr val="accent5"/>
          </a:solidFill>
          <a:ln w="19050" cap="flat" cmpd="sng" algn="ctr">
            <a:solidFill>
              <a:srgbClr val="FF0000"/>
            </a:solidFill>
            <a:prstDash val="sysDot"/>
            <a:round/>
            <a:headEnd type="none" w="med" len="med"/>
            <a:tailEnd type="none" w="med" len="med"/>
          </a:ln>
          <a:effectLst/>
        </p:spPr>
        <p:txBody>
          <a:bodyP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732"/>
                                        </p:tgtEl>
                                        <p:attrNameLst>
                                          <p:attrName>style.visibility</p:attrName>
                                        </p:attrNameLst>
                                      </p:cBhvr>
                                      <p:to>
                                        <p:strVal val="visible"/>
                                      </p:to>
                                    </p:set>
                                    <p:animEffect transition="in" filter="wipe(left)">
                                      <p:cBhvr>
                                        <p:cTn id="12" dur="500"/>
                                        <p:tgtEl>
                                          <p:spTgt spid="73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3733"/>
                                        </p:tgtEl>
                                        <p:attrNameLst>
                                          <p:attrName>style.visibility</p:attrName>
                                        </p:attrNameLst>
                                      </p:cBhvr>
                                      <p:to>
                                        <p:strVal val="visible"/>
                                      </p:to>
                                    </p:set>
                                    <p:animEffect transition="in" filter="wipe(left)">
                                      <p:cBhvr>
                                        <p:cTn id="26" dur="500"/>
                                        <p:tgtEl>
                                          <p:spTgt spid="7373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3734"/>
                                        </p:tgtEl>
                                        <p:attrNameLst>
                                          <p:attrName>style.visibility</p:attrName>
                                        </p:attrNameLst>
                                      </p:cBhvr>
                                      <p:to>
                                        <p:strVal val="visible"/>
                                      </p:to>
                                    </p:set>
                                    <p:animEffect transition="in" filter="wipe(left)">
                                      <p:cBhvr>
                                        <p:cTn id="35" dur="500"/>
                                        <p:tgtEl>
                                          <p:spTgt spid="737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blinds(horizontal)">
                                      <p:cBhvr>
                                        <p:cTn id="40" dur="500"/>
                                        <p:tgtEl>
                                          <p:spTgt spid="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3" grpId="0" animBg="1"/>
      <p:bldP spid="14" grpId="0" animBg="1"/>
      <p:bldP spid="15" grpId="0" animBg="1"/>
      <p:bldP spid="17" grpId="0" animBg="1"/>
      <p:bldP spid="18" grpId="0" animBg="1"/>
      <p:bldP spid="19" grpId="0" animBg="1"/>
      <p:bldP spid="20" grpId="0" animBg="1"/>
      <p:bldP spid="2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2"/>
          <p:cNvSpPr>
            <a:spLocks noGrp="1" noChangeArrowheads="1"/>
          </p:cNvSpPr>
          <p:nvPr>
            <p:ph type="title"/>
          </p:nvPr>
        </p:nvSpPr>
        <p:spPr>
          <a:xfrm>
            <a:off x="193675" y="636588"/>
            <a:ext cx="4343400" cy="609600"/>
          </a:xfrm>
        </p:spPr>
        <p:txBody>
          <a:bodyPr/>
          <a:lstStyle/>
          <a:p>
            <a:pPr algn="l">
              <a:lnSpc>
                <a:spcPct val="115000"/>
              </a:lnSpc>
            </a:pPr>
            <a:r>
              <a:rPr lang="zh-CN" altLang="en-US" sz="3600" b="1">
                <a:solidFill>
                  <a:schemeClr val="tx1"/>
                </a:solidFill>
                <a:latin typeface="华文行楷" pitchFamily="2" charset="-122"/>
                <a:ea typeface="华文行楷" pitchFamily="2" charset="-122"/>
              </a:rPr>
              <a:t>四、准互补输出级</a:t>
            </a:r>
            <a:r>
              <a:rPr lang="zh-CN" altLang="en-US" sz="2800" b="1">
                <a:solidFill>
                  <a:schemeClr val="tx1"/>
                </a:solidFill>
                <a:latin typeface="宋体" pitchFamily="2" charset="-122"/>
              </a:rPr>
              <a:t>      </a:t>
            </a:r>
          </a:p>
        </p:txBody>
      </p:sp>
      <p:pic>
        <p:nvPicPr>
          <p:cNvPr id="74755" name="Picture 3" descr="Dz030318"/>
          <p:cNvPicPr>
            <a:picLocks noChangeAspect="1" noChangeArrowheads="1"/>
          </p:cNvPicPr>
          <p:nvPr/>
        </p:nvPicPr>
        <p:blipFill>
          <a:blip r:embed="rId3"/>
          <a:srcRect/>
          <a:stretch>
            <a:fillRect/>
          </a:stretch>
        </p:blipFill>
        <p:spPr bwMode="auto">
          <a:xfrm>
            <a:off x="990600" y="2819400"/>
            <a:ext cx="3657600" cy="2840038"/>
          </a:xfrm>
          <a:prstGeom prst="rect">
            <a:avLst/>
          </a:prstGeom>
          <a:noFill/>
          <a:ln w="9525">
            <a:noFill/>
            <a:miter lim="800000"/>
            <a:headEnd/>
            <a:tailEnd/>
          </a:ln>
        </p:spPr>
      </p:pic>
      <p:sp>
        <p:nvSpPr>
          <p:cNvPr id="74756" name="Text Box 4"/>
          <p:cNvSpPr txBox="1">
            <a:spLocks noChangeArrowheads="1"/>
          </p:cNvSpPr>
          <p:nvPr/>
        </p:nvSpPr>
        <p:spPr bwMode="auto">
          <a:xfrm>
            <a:off x="4914900" y="-28575"/>
            <a:ext cx="4191000" cy="1322388"/>
          </a:xfrm>
          <a:prstGeom prst="rect">
            <a:avLst/>
          </a:prstGeom>
          <a:solidFill>
            <a:schemeClr val="bg1"/>
          </a:solidFill>
          <a:ln w="9525">
            <a:noFill/>
            <a:miter lim="800000"/>
            <a:headEnd/>
            <a:tailEnd/>
          </a:ln>
        </p:spPr>
        <p:txBody>
          <a:bodyPr>
            <a:spAutoFit/>
          </a:bodyPr>
          <a:lstStyle/>
          <a:p>
            <a:pPr algn="ctr" eaLnBrk="1" hangingPunct="1">
              <a:spcBef>
                <a:spcPct val="50000"/>
              </a:spcBef>
            </a:pPr>
            <a:r>
              <a:rPr lang="en-US" altLang="zh-CN" sz="2000" b="1" dirty="0"/>
              <a:t>T5</a:t>
            </a:r>
            <a:r>
              <a:rPr lang="zh-CN" altLang="en-US" sz="2000" b="1" dirty="0"/>
              <a:t>管的发射极用来抵消后面管的一个</a:t>
            </a:r>
            <a:r>
              <a:rPr lang="en-US" altLang="zh-CN" sz="2000" b="1" dirty="0"/>
              <a:t>Ube</a:t>
            </a:r>
            <a:r>
              <a:rPr lang="zh-CN" altLang="en-US" sz="2000" b="1" dirty="0"/>
              <a:t>。然后通过调节那两个电阻。使</a:t>
            </a:r>
            <a:r>
              <a:rPr lang="en-US" altLang="zh-CN" sz="2000" b="1" dirty="0"/>
              <a:t>T5</a:t>
            </a:r>
            <a:r>
              <a:rPr lang="zh-CN" altLang="en-US" sz="2000" b="1" dirty="0"/>
              <a:t>的</a:t>
            </a:r>
            <a:r>
              <a:rPr lang="en-US" altLang="zh-CN" sz="2000" b="1" dirty="0" err="1"/>
              <a:t>Uce</a:t>
            </a:r>
            <a:r>
              <a:rPr lang="zh-CN" altLang="en-US" sz="2000" b="1" dirty="0"/>
              <a:t>产生两倍或者多倍于</a:t>
            </a:r>
            <a:r>
              <a:rPr lang="en-US" altLang="zh-CN" sz="2000" b="1" dirty="0"/>
              <a:t>Ube</a:t>
            </a:r>
            <a:r>
              <a:rPr lang="zh-CN" altLang="en-US" sz="2000" b="1" dirty="0"/>
              <a:t>的电压</a:t>
            </a:r>
            <a:r>
              <a:rPr lang="en-US" altLang="zh-CN" sz="2000" b="1" dirty="0"/>
              <a:t>-&gt;</a:t>
            </a:r>
            <a:r>
              <a:rPr lang="zh-CN" altLang="en-US" sz="2000" b="1" dirty="0"/>
              <a:t>来抵消后面三极管的</a:t>
            </a:r>
            <a:r>
              <a:rPr lang="en-US" altLang="zh-CN" sz="2000" b="1" dirty="0"/>
              <a:t>Ube</a:t>
            </a:r>
            <a:r>
              <a:rPr lang="zh-CN" altLang="en-US" sz="2000" b="1" dirty="0"/>
              <a:t>。</a:t>
            </a:r>
            <a:endParaRPr lang="zh-CN" altLang="zh-CN" sz="2000" b="1" dirty="0"/>
          </a:p>
        </p:txBody>
      </p:sp>
      <p:graphicFrame>
        <p:nvGraphicFramePr>
          <p:cNvPr id="74757" name="Object 2"/>
          <p:cNvGraphicFramePr>
            <a:graphicFrameLocks noChangeAspect="1"/>
          </p:cNvGraphicFramePr>
          <p:nvPr/>
        </p:nvGraphicFramePr>
        <p:xfrm>
          <a:off x="4914900" y="2514600"/>
          <a:ext cx="3757613" cy="1343025"/>
        </p:xfrm>
        <a:graphic>
          <a:graphicData uri="http://schemas.openxmlformats.org/presentationml/2006/ole">
            <mc:AlternateContent xmlns:mc="http://schemas.openxmlformats.org/markup-compatibility/2006">
              <mc:Choice xmlns:v="urn:schemas-microsoft-com:vml" Requires="v">
                <p:oleObj spid="_x0000_s61445" name="Equation" r:id="rId4" imgW="42367200" imgH="15849600" progId="Equation.3">
                  <p:embed/>
                </p:oleObj>
              </mc:Choice>
              <mc:Fallback>
                <p:oleObj name="Equation" r:id="rId4" imgW="42367200" imgH="15849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900" y="2514600"/>
                        <a:ext cx="3757613" cy="1343025"/>
                      </a:xfrm>
                      <a:prstGeom prst="rect">
                        <a:avLst/>
                      </a:prstGeom>
                      <a:solidFill>
                        <a:srgbClr val="00FFFF"/>
                      </a:solidFill>
                      <a:ln w="9525">
                        <a:solidFill>
                          <a:srgbClr val="FF3300"/>
                        </a:solidFill>
                        <a:miter lim="800000"/>
                        <a:headEnd/>
                        <a:tailEnd/>
                      </a:ln>
                    </p:spPr>
                  </p:pic>
                </p:oleObj>
              </mc:Fallback>
            </mc:AlternateContent>
          </a:graphicData>
        </a:graphic>
      </p:graphicFrame>
      <p:graphicFrame>
        <p:nvGraphicFramePr>
          <p:cNvPr id="74758" name="Object 3"/>
          <p:cNvGraphicFramePr>
            <a:graphicFrameLocks noChangeAspect="1"/>
          </p:cNvGraphicFramePr>
          <p:nvPr/>
        </p:nvGraphicFramePr>
        <p:xfrm>
          <a:off x="4800600" y="4191000"/>
          <a:ext cx="2971800" cy="477838"/>
        </p:xfrm>
        <a:graphic>
          <a:graphicData uri="http://schemas.openxmlformats.org/presentationml/2006/ole">
            <mc:AlternateContent xmlns:mc="http://schemas.openxmlformats.org/markup-compatibility/2006">
              <mc:Choice xmlns:v="urn:schemas-microsoft-com:vml" Requires="v">
                <p:oleObj spid="_x0000_s61446" name="Equation" r:id="rId6" imgW="34137600" imgH="5486400" progId="Equation.3">
                  <p:embed/>
                </p:oleObj>
              </mc:Choice>
              <mc:Fallback>
                <p:oleObj name="Equation" r:id="rId6" imgW="34137600" imgH="5486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4191000"/>
                        <a:ext cx="2971800" cy="477838"/>
                      </a:xfrm>
                      <a:prstGeom prst="rect">
                        <a:avLst/>
                      </a:prstGeom>
                      <a:solidFill>
                        <a:srgbClr val="00FFFF"/>
                      </a:solidFill>
                      <a:ln w="9525">
                        <a:solidFill>
                          <a:srgbClr val="FF3300"/>
                        </a:solidFill>
                        <a:miter lim="800000"/>
                        <a:headEnd/>
                        <a:tailEnd/>
                      </a:ln>
                    </p:spPr>
                  </p:pic>
                </p:oleObj>
              </mc:Fallback>
            </mc:AlternateContent>
          </a:graphicData>
        </a:graphic>
      </p:graphicFrame>
      <p:grpSp>
        <p:nvGrpSpPr>
          <p:cNvPr id="2" name="Group 7"/>
          <p:cNvGrpSpPr>
            <a:grpSpLocks/>
          </p:cNvGrpSpPr>
          <p:nvPr/>
        </p:nvGrpSpPr>
        <p:grpSpPr bwMode="auto">
          <a:xfrm>
            <a:off x="2667000" y="4495800"/>
            <a:ext cx="3810000" cy="1273175"/>
            <a:chOff x="1680" y="2832"/>
            <a:chExt cx="2400" cy="802"/>
          </a:xfrm>
        </p:grpSpPr>
        <p:sp>
          <p:nvSpPr>
            <p:cNvPr id="77843" name="Oval 8"/>
            <p:cNvSpPr>
              <a:spLocks noChangeArrowheads="1"/>
            </p:cNvSpPr>
            <p:nvPr/>
          </p:nvSpPr>
          <p:spPr bwMode="auto">
            <a:xfrm>
              <a:off x="1680" y="2832"/>
              <a:ext cx="912" cy="624"/>
            </a:xfrm>
            <a:prstGeom prst="ellipse">
              <a:avLst/>
            </a:prstGeom>
            <a:noFill/>
            <a:ln w="28575">
              <a:solidFill>
                <a:srgbClr val="FF3300"/>
              </a:solidFill>
              <a:round/>
              <a:headEnd/>
              <a:tailEnd/>
            </a:ln>
          </p:spPr>
          <p:txBody>
            <a:bodyPr wrap="none" anchor="ctr"/>
            <a:lstStyle/>
            <a:p>
              <a:pPr algn="ctr" eaLnBrk="1" hangingPunct="1"/>
              <a:endParaRPr lang="zh-CN" altLang="en-US"/>
            </a:p>
          </p:txBody>
        </p:sp>
        <p:grpSp>
          <p:nvGrpSpPr>
            <p:cNvPr id="77844" name="Group 9"/>
            <p:cNvGrpSpPr>
              <a:grpSpLocks/>
            </p:cNvGrpSpPr>
            <p:nvPr/>
          </p:nvGrpSpPr>
          <p:grpSpPr bwMode="auto">
            <a:xfrm>
              <a:off x="2544" y="3072"/>
              <a:ext cx="1536" cy="562"/>
              <a:chOff x="2544" y="2832"/>
              <a:chExt cx="1536" cy="562"/>
            </a:xfrm>
          </p:grpSpPr>
          <p:sp>
            <p:nvSpPr>
              <p:cNvPr id="77845" name="AutoShape 10"/>
              <p:cNvSpPr>
                <a:spLocks noChangeArrowheads="1"/>
              </p:cNvSpPr>
              <p:nvPr/>
            </p:nvSpPr>
            <p:spPr bwMode="auto">
              <a:xfrm>
                <a:off x="2544" y="3120"/>
                <a:ext cx="576" cy="96"/>
              </a:xfrm>
              <a:prstGeom prst="rightArrow">
                <a:avLst>
                  <a:gd name="adj1" fmla="val 50000"/>
                  <a:gd name="adj2" fmla="val 150000"/>
                </a:avLst>
              </a:prstGeom>
              <a:noFill/>
              <a:ln w="28575">
                <a:solidFill>
                  <a:srgbClr val="FF3300"/>
                </a:solidFill>
                <a:miter lim="800000"/>
                <a:headEnd/>
                <a:tailEnd/>
              </a:ln>
            </p:spPr>
            <p:txBody>
              <a:bodyPr wrap="none" anchor="ctr"/>
              <a:lstStyle/>
              <a:p>
                <a:pPr algn="ctr" eaLnBrk="1" hangingPunct="1"/>
                <a:endParaRPr lang="zh-CN" altLang="en-US"/>
              </a:p>
            </p:txBody>
          </p:sp>
          <p:graphicFrame>
            <p:nvGraphicFramePr>
              <p:cNvPr id="77828" name="Object 4"/>
              <p:cNvGraphicFramePr>
                <a:graphicFrameLocks noChangeAspect="1"/>
              </p:cNvGraphicFramePr>
              <p:nvPr/>
            </p:nvGraphicFramePr>
            <p:xfrm>
              <a:off x="3216" y="2832"/>
              <a:ext cx="864" cy="562"/>
            </p:xfrm>
            <a:graphic>
              <a:graphicData uri="http://schemas.openxmlformats.org/presentationml/2006/ole">
                <mc:AlternateContent xmlns:mc="http://schemas.openxmlformats.org/markup-compatibility/2006">
                  <mc:Choice xmlns:v="urn:schemas-microsoft-com:vml" Requires="v">
                    <p:oleObj spid="_x0000_s61447" name="Photo Editor 照片" r:id="rId8" imgW="4791744" imgH="3115110" progId="">
                      <p:embed/>
                    </p:oleObj>
                  </mc:Choice>
                  <mc:Fallback>
                    <p:oleObj name="Photo Editor 照片" r:id="rId8" imgW="4791744" imgH="3115110" progId="">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6" y="2832"/>
                            <a:ext cx="864"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74764" name="Text Box 12"/>
          <p:cNvSpPr txBox="1">
            <a:spLocks noChangeArrowheads="1"/>
          </p:cNvSpPr>
          <p:nvPr/>
        </p:nvSpPr>
        <p:spPr bwMode="auto">
          <a:xfrm>
            <a:off x="842963" y="1200150"/>
            <a:ext cx="7315200" cy="1600200"/>
          </a:xfrm>
          <a:prstGeom prst="rect">
            <a:avLst/>
          </a:prstGeom>
          <a:noFill/>
          <a:ln w="9525">
            <a:noFill/>
            <a:miter lim="800000"/>
            <a:headEnd/>
            <a:tailEnd/>
          </a:ln>
        </p:spPr>
        <p:txBody>
          <a:bodyPr>
            <a:spAutoFit/>
          </a:bodyPr>
          <a:lstStyle/>
          <a:p>
            <a:pPr eaLnBrk="1" hangingPunct="1">
              <a:spcBef>
                <a:spcPct val="50000"/>
              </a:spcBef>
            </a:pPr>
            <a:r>
              <a:rPr lang="en-US" altLang="zh-CN" sz="2800" b="1">
                <a:latin typeface="宋体" pitchFamily="2" charset="-122"/>
              </a:rPr>
              <a:t>  </a:t>
            </a:r>
            <a:r>
              <a:rPr lang="zh-CN" altLang="en-US" sz="2800" b="1">
                <a:latin typeface="宋体" pitchFamily="2" charset="-122"/>
              </a:rPr>
              <a:t>为了提高</a:t>
            </a:r>
            <a:r>
              <a:rPr lang="zh-CN" altLang="en-US" sz="2800" b="1">
                <a:solidFill>
                  <a:srgbClr val="FF0000"/>
                </a:solidFill>
                <a:latin typeface="宋体" pitchFamily="2" charset="-122"/>
              </a:rPr>
              <a:t>电流放大倍数</a:t>
            </a:r>
            <a:r>
              <a:rPr lang="en-US" altLang="zh-CN" sz="2800" b="1">
                <a:latin typeface="宋体" pitchFamily="2" charset="-122"/>
              </a:rPr>
              <a:t>;</a:t>
            </a:r>
          </a:p>
          <a:p>
            <a:pPr eaLnBrk="1" hangingPunct="1">
              <a:spcBef>
                <a:spcPct val="50000"/>
              </a:spcBef>
            </a:pPr>
            <a:r>
              <a:rPr lang="zh-CN" altLang="en-US" sz="2800" b="1">
                <a:latin typeface="宋体" pitchFamily="2" charset="-122"/>
              </a:rPr>
              <a:t>  为保持输出管的良好</a:t>
            </a:r>
            <a:r>
              <a:rPr lang="zh-CN" altLang="en-US" sz="2800" b="1">
                <a:solidFill>
                  <a:srgbClr val="FF0000"/>
                </a:solidFill>
                <a:latin typeface="宋体" pitchFamily="2" charset="-122"/>
              </a:rPr>
              <a:t>对称性</a:t>
            </a:r>
            <a:r>
              <a:rPr lang="zh-CN" altLang="en-US" sz="2800" b="1">
                <a:latin typeface="宋体" pitchFamily="2" charset="-122"/>
              </a:rPr>
              <a:t>，输出管应为同类型晶体管。</a:t>
            </a:r>
          </a:p>
        </p:txBody>
      </p:sp>
      <p:grpSp>
        <p:nvGrpSpPr>
          <p:cNvPr id="5" name="Group 18"/>
          <p:cNvGrpSpPr>
            <a:grpSpLocks/>
          </p:cNvGrpSpPr>
          <p:nvPr/>
        </p:nvGrpSpPr>
        <p:grpSpPr bwMode="auto">
          <a:xfrm>
            <a:off x="250825" y="4827588"/>
            <a:ext cx="1152525" cy="473075"/>
            <a:chOff x="158" y="3041"/>
            <a:chExt cx="726" cy="298"/>
          </a:xfrm>
        </p:grpSpPr>
        <p:sp>
          <p:nvSpPr>
            <p:cNvPr id="77841" name="AutoShape 19"/>
            <p:cNvSpPr>
              <a:spLocks/>
            </p:cNvSpPr>
            <p:nvPr/>
          </p:nvSpPr>
          <p:spPr bwMode="auto">
            <a:xfrm>
              <a:off x="158" y="3041"/>
              <a:ext cx="542" cy="298"/>
            </a:xfrm>
            <a:prstGeom prst="borderCallout1">
              <a:avLst>
                <a:gd name="adj1" fmla="val 24162"/>
                <a:gd name="adj2" fmla="val 108856"/>
                <a:gd name="adj3" fmla="val -335236"/>
                <a:gd name="adj4" fmla="val 140407"/>
              </a:avLst>
            </a:prstGeom>
            <a:solidFill>
              <a:srgbClr val="FFFFCC"/>
            </a:solidFill>
            <a:ln w="19050">
              <a:solidFill>
                <a:srgbClr val="FF0000"/>
              </a:solidFill>
              <a:miter lim="800000"/>
              <a:headEnd/>
              <a:tailEnd/>
            </a:ln>
          </p:spPr>
          <p:txBody>
            <a:bodyPr/>
            <a:lstStyle/>
            <a:p>
              <a:pPr algn="ctr" eaLnBrk="1" hangingPunct="1"/>
              <a:r>
                <a:rPr lang="zh-CN" altLang="en-US" b="1"/>
                <a:t>大！</a:t>
              </a:r>
            </a:p>
          </p:txBody>
        </p:sp>
        <p:sp>
          <p:nvSpPr>
            <p:cNvPr id="77842" name="Line 20"/>
            <p:cNvSpPr>
              <a:spLocks noChangeShapeType="1"/>
            </p:cNvSpPr>
            <p:nvPr/>
          </p:nvSpPr>
          <p:spPr bwMode="auto">
            <a:xfrm flipH="1" flipV="1">
              <a:off x="748" y="3158"/>
              <a:ext cx="136" cy="45"/>
            </a:xfrm>
            <a:prstGeom prst="line">
              <a:avLst/>
            </a:prstGeom>
            <a:noFill/>
            <a:ln w="19050">
              <a:solidFill>
                <a:srgbClr val="FF0000"/>
              </a:solidFill>
              <a:round/>
              <a:headEnd/>
              <a:tailEnd/>
            </a:ln>
          </p:spPr>
          <p:txBody>
            <a:bodyPr/>
            <a:lstStyle/>
            <a:p>
              <a:endParaRPr lang="zh-CN" altLang="en-US"/>
            </a:p>
          </p:txBody>
        </p:sp>
      </p:grpSp>
      <p:sp>
        <p:nvSpPr>
          <p:cNvPr id="16" name="TextBox 15"/>
          <p:cNvSpPr txBox="1">
            <a:spLocks noChangeArrowheads="1"/>
          </p:cNvSpPr>
          <p:nvPr/>
        </p:nvSpPr>
        <p:spPr bwMode="auto">
          <a:xfrm>
            <a:off x="528638" y="5934075"/>
            <a:ext cx="8324850" cy="461963"/>
          </a:xfrm>
          <a:prstGeom prst="rect">
            <a:avLst/>
          </a:prstGeom>
          <a:noFill/>
          <a:ln w="9525">
            <a:noFill/>
            <a:miter lim="800000"/>
            <a:headEnd/>
            <a:tailEnd/>
          </a:ln>
        </p:spPr>
        <p:txBody>
          <a:bodyPr>
            <a:spAutoFit/>
          </a:bodyPr>
          <a:lstStyle/>
          <a:p>
            <a:pPr algn="ctr" eaLnBrk="1" hangingPunct="1"/>
            <a:r>
              <a:rPr lang="zh-CN" altLang="en-US" b="1">
                <a:solidFill>
                  <a:srgbClr val="0000FF"/>
                </a:solidFill>
              </a:rPr>
              <a:t>互补输出级常作为功率放大电路</a:t>
            </a:r>
            <a:r>
              <a:rPr lang="en-US" altLang="zh-CN" b="1">
                <a:solidFill>
                  <a:srgbClr val="0000FF"/>
                </a:solidFill>
              </a:rPr>
              <a:t>OCL</a:t>
            </a:r>
            <a:r>
              <a:rPr lang="zh-CN" altLang="en-US" b="1">
                <a:solidFill>
                  <a:srgbClr val="0000FF"/>
                </a:solidFill>
              </a:rPr>
              <a:t>电路，第九章会详细讲</a:t>
            </a:r>
          </a:p>
        </p:txBody>
      </p:sp>
      <p:sp>
        <p:nvSpPr>
          <p:cNvPr id="17" name="Rectangle 2"/>
          <p:cNvSpPr txBox="1">
            <a:spLocks noChangeArrowheads="1"/>
          </p:cNvSpPr>
          <p:nvPr/>
        </p:nvSpPr>
        <p:spPr bwMode="auto">
          <a:xfrm>
            <a:off x="6716713" y="4869598"/>
            <a:ext cx="2476382" cy="987425"/>
          </a:xfrm>
          <a:prstGeom prst="rect">
            <a:avLst/>
          </a:prstGeom>
          <a:noFill/>
          <a:ln w="9525">
            <a:solidFill>
              <a:schemeClr val="tx1"/>
            </a:solidFill>
            <a:miter lim="800000"/>
            <a:headEnd/>
            <a:tailEnd/>
          </a:ln>
        </p:spPr>
        <p:txBody>
          <a:bodyPr anchor="ctr"/>
          <a:lstStyle/>
          <a:p>
            <a:pPr>
              <a:defRPr/>
            </a:pPr>
            <a:r>
              <a:rPr lang="zh-CN" altLang="en-US" sz="1600" b="1" kern="0" dirty="0">
                <a:solidFill>
                  <a:schemeClr val="tx2"/>
                </a:solidFill>
                <a:latin typeface="+mj-lt"/>
                <a:ea typeface="+mj-ea"/>
                <a:cs typeface="+mj-cs"/>
              </a:rPr>
              <a:t>为了增大电流放大系数，减小前级驱动电流，常采用复合管结构</a:t>
            </a:r>
          </a:p>
        </p:txBody>
      </p:sp>
      <p:sp>
        <p:nvSpPr>
          <p:cNvPr id="3" name="椭圆 2"/>
          <p:cNvSpPr>
            <a:spLocks noChangeArrowheads="1"/>
          </p:cNvSpPr>
          <p:nvPr/>
        </p:nvSpPr>
        <p:spPr bwMode="auto">
          <a:xfrm>
            <a:off x="2290763" y="3363913"/>
            <a:ext cx="230187" cy="195262"/>
          </a:xfrm>
          <a:prstGeom prst="ellipse">
            <a:avLst/>
          </a:prstGeom>
          <a:solidFill>
            <a:srgbClr val="FF0000"/>
          </a:solidFill>
          <a:ln w="9525" algn="ctr">
            <a:solidFill>
              <a:schemeClr val="tx1"/>
            </a:solidFill>
            <a:round/>
            <a:headEnd/>
            <a:tailEnd/>
          </a:ln>
        </p:spPr>
        <p:txBody>
          <a:bodyPr/>
          <a:lstStyle/>
          <a:p>
            <a:pPr algn="ctr" eaLnBrk="1" hangingPunct="1"/>
            <a:endParaRPr lang="zh-CN" altLang="en-US"/>
          </a:p>
        </p:txBody>
      </p:sp>
      <p:sp>
        <p:nvSpPr>
          <p:cNvPr id="19" name="椭圆 18"/>
          <p:cNvSpPr>
            <a:spLocks noChangeArrowheads="1"/>
          </p:cNvSpPr>
          <p:nvPr/>
        </p:nvSpPr>
        <p:spPr bwMode="auto">
          <a:xfrm>
            <a:off x="1511300" y="4092575"/>
            <a:ext cx="230188" cy="196850"/>
          </a:xfrm>
          <a:prstGeom prst="ellipse">
            <a:avLst/>
          </a:prstGeom>
          <a:solidFill>
            <a:srgbClr val="FF0000"/>
          </a:solidFill>
          <a:ln w="9525" algn="ctr">
            <a:solidFill>
              <a:schemeClr val="tx1"/>
            </a:solidFill>
            <a:round/>
            <a:headEnd/>
            <a:tailEnd/>
          </a:ln>
        </p:spPr>
        <p:txBody>
          <a:bodyPr/>
          <a:lstStyle/>
          <a:p>
            <a:pPr algn="ctr" eaLnBrk="1" hangingPunct="1"/>
            <a:endParaRPr lang="zh-CN" altLang="en-US"/>
          </a:p>
        </p:txBody>
      </p:sp>
      <p:sp>
        <p:nvSpPr>
          <p:cNvPr id="20" name="椭圆 19"/>
          <p:cNvSpPr>
            <a:spLocks noChangeArrowheads="1"/>
          </p:cNvSpPr>
          <p:nvPr/>
        </p:nvSpPr>
        <p:spPr bwMode="auto">
          <a:xfrm>
            <a:off x="2290763" y="4808538"/>
            <a:ext cx="230187" cy="195262"/>
          </a:xfrm>
          <a:prstGeom prst="ellipse">
            <a:avLst/>
          </a:prstGeom>
          <a:solidFill>
            <a:srgbClr val="FF0000"/>
          </a:solidFill>
          <a:ln w="9525" algn="ctr">
            <a:solidFill>
              <a:schemeClr val="tx1"/>
            </a:solidFill>
            <a:round/>
            <a:headEnd/>
            <a:tailEnd/>
          </a:ln>
        </p:spPr>
        <p:txBody>
          <a:bodyPr/>
          <a:lstStyle/>
          <a:p>
            <a:pPr algn="ctr" eaLnBrk="1" hangingPunct="1"/>
            <a:endParaRPr lang="zh-CN" altLang="en-US"/>
          </a:p>
        </p:txBody>
      </p:sp>
      <p:sp>
        <p:nvSpPr>
          <p:cNvPr id="22" name="文本框 21"/>
          <p:cNvSpPr txBox="1"/>
          <p:nvPr/>
        </p:nvSpPr>
        <p:spPr>
          <a:xfrm>
            <a:off x="7466013" y="3670300"/>
            <a:ext cx="1387475" cy="461963"/>
          </a:xfrm>
          <a:prstGeom prst="rect">
            <a:avLst/>
          </a:prstGeom>
          <a:solidFill>
            <a:schemeClr val="accent5"/>
          </a:solidFill>
        </p:spPr>
        <p:txBody>
          <a:bodyPr>
            <a:spAutoFit/>
          </a:bodyPr>
          <a:lstStyle/>
          <a:p>
            <a:pPr>
              <a:defRPr/>
            </a:pPr>
            <a:r>
              <a:rPr lang="en-US" altLang="zh-CN" b="1" dirty="0">
                <a:solidFill>
                  <a:srgbClr val="FF0000"/>
                </a:solidFill>
              </a:rPr>
              <a:t>T5</a:t>
            </a:r>
            <a:r>
              <a:rPr lang="zh-CN" altLang="en-US" b="1" dirty="0">
                <a:solidFill>
                  <a:srgbClr val="FF0000"/>
                </a:solidFill>
              </a:rPr>
              <a:t>的</a:t>
            </a:r>
            <a:r>
              <a:rPr lang="en-US" altLang="zh-CN" b="1" dirty="0" err="1">
                <a:solidFill>
                  <a:srgbClr val="FF0000"/>
                </a:solidFill>
              </a:rPr>
              <a:t>Uce</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64">
                                            <p:txEl>
                                              <p:pRg st="0" end="0"/>
                                            </p:txEl>
                                          </p:spTgt>
                                        </p:tgtEl>
                                        <p:attrNameLst>
                                          <p:attrName>style.visibility</p:attrName>
                                        </p:attrNameLst>
                                      </p:cBhvr>
                                      <p:to>
                                        <p:strVal val="visible"/>
                                      </p:to>
                                    </p:set>
                                    <p:animEffect transition="in" filter="wipe(left)">
                                      <p:cBhvr>
                                        <p:cTn id="7" dur="500"/>
                                        <p:tgtEl>
                                          <p:spTgt spid="747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64">
                                            <p:txEl>
                                              <p:pRg st="1" end="1"/>
                                            </p:txEl>
                                          </p:spTgt>
                                        </p:tgtEl>
                                        <p:attrNameLst>
                                          <p:attrName>style.visibility</p:attrName>
                                        </p:attrNameLst>
                                      </p:cBhvr>
                                      <p:to>
                                        <p:strVal val="visible"/>
                                      </p:to>
                                    </p:set>
                                    <p:animEffect transition="in" filter="wipe(left)">
                                      <p:cBhvr>
                                        <p:cTn id="12" dur="500"/>
                                        <p:tgtEl>
                                          <p:spTgt spid="747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4755"/>
                                        </p:tgtEl>
                                        <p:attrNameLst>
                                          <p:attrName>style.visibility</p:attrName>
                                        </p:attrNameLst>
                                      </p:cBhvr>
                                      <p:to>
                                        <p:strVal val="visible"/>
                                      </p:to>
                                    </p:set>
                                    <p:animEffect transition="in" filter="wipe(left)">
                                      <p:cBhvr>
                                        <p:cTn id="17" dur="500"/>
                                        <p:tgtEl>
                                          <p:spTgt spid="747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4756">
                                            <p:txEl>
                                              <p:pRg st="0" end="0"/>
                                            </p:txEl>
                                          </p:spTgt>
                                        </p:tgtEl>
                                        <p:attrNameLst>
                                          <p:attrName>style.visibility</p:attrName>
                                        </p:attrNameLst>
                                      </p:cBhvr>
                                      <p:to>
                                        <p:strVal val="visible"/>
                                      </p:to>
                                    </p:set>
                                    <p:animEffect transition="in" filter="wipe(left)">
                                      <p:cBhvr>
                                        <p:cTn id="32" dur="500"/>
                                        <p:tgtEl>
                                          <p:spTgt spid="7475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4757"/>
                                        </p:tgtEl>
                                        <p:attrNameLst>
                                          <p:attrName>style.visibility</p:attrName>
                                        </p:attrNameLst>
                                      </p:cBhvr>
                                      <p:to>
                                        <p:strVal val="visible"/>
                                      </p:to>
                                    </p:set>
                                    <p:animEffect transition="in" filter="wipe(left)">
                                      <p:cBhvr>
                                        <p:cTn id="45" dur="500"/>
                                        <p:tgtEl>
                                          <p:spTgt spid="7475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74758"/>
                                        </p:tgtEl>
                                        <p:attrNameLst>
                                          <p:attrName>style.visibility</p:attrName>
                                        </p:attrNameLst>
                                      </p:cBhvr>
                                      <p:to>
                                        <p:strVal val="visible"/>
                                      </p:to>
                                    </p:set>
                                    <p:animEffect transition="in" filter="wipe(left)">
                                      <p:cBhvr>
                                        <p:cTn id="54" dur="500"/>
                                        <p:tgtEl>
                                          <p:spTgt spid="7475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2"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right)">
                                      <p:cBhvr>
                                        <p:cTn id="59" dur="500"/>
                                        <p:tgtEl>
                                          <p:spTgt spid="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blinds(horizontal)">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uild="p" autoUpdateAnimBg="0"/>
      <p:bldP spid="74764" grpId="0" build="p" autoUpdateAnimBg="0"/>
      <p:bldP spid="16" grpId="0"/>
      <p:bldP spid="17" grpId="0" animBg="1"/>
      <p:bldP spid="3" grpId="0" animBg="1"/>
      <p:bldP spid="19" grpId="0" animBg="1"/>
      <p:bldP spid="20" grpId="0" animBg="1"/>
      <p:bldP spid="22"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395288" y="2060575"/>
            <a:ext cx="8229600" cy="1143000"/>
          </a:xfrm>
        </p:spPr>
        <p:txBody>
          <a:bodyPr/>
          <a:lstStyle/>
          <a:p>
            <a:r>
              <a:rPr lang="en-US" altLang="zh-CN" sz="4000" b="1" dirty="0">
                <a:latin typeface="华文行楷" pitchFamily="2" charset="-122"/>
                <a:ea typeface="华文行楷" pitchFamily="2" charset="-122"/>
                <a:cs typeface="Times New Roman" pitchFamily="18" charset="0"/>
              </a:rPr>
              <a:t>§3.5 </a:t>
            </a:r>
            <a:r>
              <a:rPr lang="zh-CN" altLang="en-US" sz="4000" b="1" dirty="0">
                <a:latin typeface="华文行楷" pitchFamily="2" charset="-122"/>
                <a:ea typeface="华文行楷" pitchFamily="2" charset="-122"/>
                <a:cs typeface="Times New Roman" pitchFamily="18" charset="0"/>
              </a:rPr>
              <a:t>直接耦合多级放大电路读图</a:t>
            </a:r>
          </a:p>
        </p:txBody>
      </p:sp>
      <p:sp>
        <p:nvSpPr>
          <p:cNvPr id="138243" name="Text Box 4"/>
          <p:cNvSpPr txBox="1">
            <a:spLocks noChangeArrowheads="1"/>
          </p:cNvSpPr>
          <p:nvPr/>
        </p:nvSpPr>
        <p:spPr bwMode="auto">
          <a:xfrm>
            <a:off x="2266950" y="3429000"/>
            <a:ext cx="4392613" cy="519113"/>
          </a:xfrm>
          <a:prstGeom prst="rect">
            <a:avLst/>
          </a:prstGeom>
          <a:noFill/>
          <a:ln w="9525">
            <a:noFill/>
            <a:miter lim="800000"/>
            <a:headEnd/>
            <a:tailEnd/>
          </a:ln>
        </p:spPr>
        <p:txBody>
          <a:bodyPr>
            <a:spAutoFit/>
          </a:bodyPr>
          <a:lstStyle/>
          <a:p>
            <a:pPr algn="ctr" eaLnBrk="1" hangingPunct="1">
              <a:spcBef>
                <a:spcPct val="50000"/>
              </a:spcBef>
            </a:pPr>
            <a:r>
              <a:rPr lang="zh-CN" altLang="en-US" sz="2800" b="1">
                <a:solidFill>
                  <a:srgbClr val="000000"/>
                </a:solidFill>
                <a:latin typeface="华文楷体" pitchFamily="2" charset="-122"/>
                <a:ea typeface="华文楷体" pitchFamily="2" charset="-122"/>
              </a:rPr>
              <a:t>一、放大电路的读图方法</a:t>
            </a:r>
          </a:p>
        </p:txBody>
      </p:sp>
      <p:sp>
        <p:nvSpPr>
          <p:cNvPr id="138244" name="Rectangle 5"/>
          <p:cNvSpPr>
            <a:spLocks noChangeArrowheads="1"/>
          </p:cNvSpPr>
          <p:nvPr/>
        </p:nvSpPr>
        <p:spPr bwMode="auto">
          <a:xfrm>
            <a:off x="2339975" y="4076700"/>
            <a:ext cx="2057400" cy="701675"/>
          </a:xfrm>
          <a:prstGeom prst="rect">
            <a:avLst/>
          </a:prstGeom>
          <a:noFill/>
          <a:ln w="9525">
            <a:noFill/>
            <a:miter lim="800000"/>
            <a:headEnd/>
            <a:tailEnd/>
          </a:ln>
        </p:spPr>
        <p:txBody>
          <a:bodyPr anchor="ctr"/>
          <a:lstStyle/>
          <a:p>
            <a:pPr algn="ctr" eaLnBrk="1" hangingPunct="1">
              <a:lnSpc>
                <a:spcPct val="110000"/>
              </a:lnSpc>
            </a:pPr>
            <a:r>
              <a:rPr lang="zh-CN" altLang="en-US" sz="2800" b="1">
                <a:solidFill>
                  <a:srgbClr val="000000"/>
                </a:solidFill>
                <a:latin typeface="华文楷体" pitchFamily="2" charset="-122"/>
                <a:ea typeface="华文楷体" pitchFamily="2" charset="-122"/>
              </a:rPr>
              <a:t>二、例题</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250825" y="1125538"/>
            <a:ext cx="7446963" cy="504825"/>
          </a:xfrm>
        </p:spPr>
        <p:txBody>
          <a:bodyPr/>
          <a:lstStyle/>
          <a:p>
            <a:pPr algn="l">
              <a:lnSpc>
                <a:spcPct val="120000"/>
              </a:lnSpc>
            </a:pPr>
            <a:r>
              <a:rPr lang="zh-CN" altLang="en-US" sz="3600" b="1">
                <a:solidFill>
                  <a:srgbClr val="000000"/>
                </a:solidFill>
                <a:ea typeface="华文行楷" pitchFamily="2" charset="-122"/>
              </a:rPr>
              <a:t>一、放大电路的读图方法</a:t>
            </a:r>
          </a:p>
        </p:txBody>
      </p:sp>
      <p:sp>
        <p:nvSpPr>
          <p:cNvPr id="75779" name="Text Box 3"/>
          <p:cNvSpPr txBox="1">
            <a:spLocks noChangeArrowheads="1"/>
          </p:cNvSpPr>
          <p:nvPr/>
        </p:nvSpPr>
        <p:spPr bwMode="auto">
          <a:xfrm>
            <a:off x="611188" y="2020888"/>
            <a:ext cx="8064500" cy="3454400"/>
          </a:xfrm>
          <a:prstGeom prst="rect">
            <a:avLst/>
          </a:prstGeom>
          <a:noFill/>
          <a:ln w="9525">
            <a:noFill/>
            <a:miter lim="800000"/>
            <a:headEnd/>
            <a:tailEnd/>
          </a:ln>
        </p:spPr>
        <p:txBody>
          <a:bodyPr>
            <a:spAutoFit/>
          </a:bodyPr>
          <a:lstStyle/>
          <a:p>
            <a:pPr eaLnBrk="1" hangingPunct="1">
              <a:lnSpc>
                <a:spcPct val="120000"/>
              </a:lnSpc>
            </a:pPr>
            <a:r>
              <a:rPr lang="en-US" altLang="zh-CN" sz="3200">
                <a:solidFill>
                  <a:srgbClr val="000000"/>
                </a:solidFill>
                <a:latin typeface="华文行楷" pitchFamily="2" charset="-122"/>
                <a:ea typeface="华文行楷" pitchFamily="2" charset="-122"/>
              </a:rPr>
              <a:t>1. </a:t>
            </a:r>
            <a:r>
              <a:rPr lang="zh-CN" altLang="en-US" sz="3200">
                <a:solidFill>
                  <a:srgbClr val="A50021"/>
                </a:solidFill>
                <a:latin typeface="华文行楷" pitchFamily="2" charset="-122"/>
                <a:ea typeface="华文行楷" pitchFamily="2" charset="-122"/>
              </a:rPr>
              <a:t>化整为零</a:t>
            </a:r>
            <a:r>
              <a:rPr lang="zh-CN" altLang="en-US" sz="2800" b="1">
                <a:solidFill>
                  <a:srgbClr val="000000"/>
                </a:solidFill>
              </a:rPr>
              <a:t>：按信号流通顺序将</a:t>
            </a:r>
            <a:r>
              <a:rPr lang="en-US" altLang="zh-CN" sz="2800" b="1" i="1">
                <a:solidFill>
                  <a:srgbClr val="000000"/>
                </a:solidFill>
              </a:rPr>
              <a:t>N</a:t>
            </a:r>
            <a:r>
              <a:rPr lang="zh-CN" altLang="zh-CN" sz="2800" b="1">
                <a:solidFill>
                  <a:srgbClr val="000000"/>
                </a:solidFill>
              </a:rPr>
              <a:t>级放大电路分为</a:t>
            </a:r>
            <a:r>
              <a:rPr lang="en-US" altLang="zh-CN" sz="2800" b="1" i="1">
                <a:solidFill>
                  <a:srgbClr val="000000"/>
                </a:solidFill>
              </a:rPr>
              <a:t>N</a:t>
            </a:r>
            <a:r>
              <a:rPr lang="zh-CN" altLang="zh-CN" sz="2800" b="1">
                <a:solidFill>
                  <a:srgbClr val="000000"/>
                </a:solidFill>
              </a:rPr>
              <a:t>个基本放大电路。</a:t>
            </a:r>
            <a:endParaRPr lang="zh-CN" altLang="en-US" sz="2800" b="1">
              <a:solidFill>
                <a:srgbClr val="000000"/>
              </a:solidFill>
            </a:endParaRPr>
          </a:p>
          <a:p>
            <a:pPr eaLnBrk="1" hangingPunct="1">
              <a:lnSpc>
                <a:spcPct val="120000"/>
              </a:lnSpc>
            </a:pPr>
            <a:r>
              <a:rPr lang="zh-CN" altLang="zh-CN" sz="3200" b="1">
                <a:solidFill>
                  <a:srgbClr val="000000"/>
                </a:solidFill>
                <a:latin typeface="华文行楷" pitchFamily="2" charset="-122"/>
                <a:ea typeface="华文行楷" pitchFamily="2" charset="-122"/>
              </a:rPr>
              <a:t>2</a:t>
            </a:r>
            <a:r>
              <a:rPr lang="en-US" altLang="zh-CN" sz="3200" b="1">
                <a:solidFill>
                  <a:srgbClr val="000000"/>
                </a:solidFill>
                <a:latin typeface="华文行楷" pitchFamily="2" charset="-122"/>
                <a:ea typeface="华文行楷" pitchFamily="2" charset="-122"/>
              </a:rPr>
              <a:t>.</a:t>
            </a:r>
            <a:r>
              <a:rPr lang="en-US" altLang="zh-CN" sz="3200">
                <a:solidFill>
                  <a:srgbClr val="000000"/>
                </a:solidFill>
                <a:latin typeface="华文行楷" pitchFamily="2" charset="-122"/>
                <a:ea typeface="华文行楷" pitchFamily="2" charset="-122"/>
              </a:rPr>
              <a:t> </a:t>
            </a:r>
            <a:r>
              <a:rPr lang="zh-CN" altLang="en-US" sz="3200">
                <a:solidFill>
                  <a:srgbClr val="A50021"/>
                </a:solidFill>
                <a:latin typeface="华文行楷" pitchFamily="2" charset="-122"/>
                <a:ea typeface="华文行楷" pitchFamily="2" charset="-122"/>
              </a:rPr>
              <a:t>识别电路</a:t>
            </a:r>
            <a:r>
              <a:rPr lang="zh-CN" altLang="en-US" sz="2800" b="1">
                <a:solidFill>
                  <a:srgbClr val="000000"/>
                </a:solidFill>
              </a:rPr>
              <a:t>：</a:t>
            </a:r>
            <a:r>
              <a:rPr lang="zh-CN" altLang="zh-CN" sz="2800" b="1">
                <a:solidFill>
                  <a:srgbClr val="000000"/>
                </a:solidFill>
              </a:rPr>
              <a:t>分析每级电路属于哪种基本电路，有何特点。</a:t>
            </a:r>
            <a:endParaRPr lang="zh-CN" altLang="en-US" sz="2800" b="1">
              <a:solidFill>
                <a:srgbClr val="000000"/>
              </a:solidFill>
            </a:endParaRPr>
          </a:p>
          <a:p>
            <a:pPr eaLnBrk="1" hangingPunct="1">
              <a:lnSpc>
                <a:spcPct val="120000"/>
              </a:lnSpc>
            </a:pPr>
            <a:r>
              <a:rPr lang="zh-CN" altLang="zh-CN" sz="3200" b="1">
                <a:solidFill>
                  <a:srgbClr val="000000"/>
                </a:solidFill>
                <a:latin typeface="华文行楷" pitchFamily="2" charset="-122"/>
                <a:ea typeface="华文行楷" pitchFamily="2" charset="-122"/>
              </a:rPr>
              <a:t>3</a:t>
            </a:r>
            <a:r>
              <a:rPr lang="en-US" altLang="zh-CN" sz="3200" b="1">
                <a:solidFill>
                  <a:srgbClr val="000000"/>
                </a:solidFill>
                <a:latin typeface="华文行楷" pitchFamily="2" charset="-122"/>
                <a:ea typeface="华文行楷" pitchFamily="2" charset="-122"/>
              </a:rPr>
              <a:t>.</a:t>
            </a:r>
            <a:r>
              <a:rPr lang="en-US" altLang="zh-CN" sz="3200">
                <a:solidFill>
                  <a:srgbClr val="000000"/>
                </a:solidFill>
                <a:latin typeface="华文行楷" pitchFamily="2" charset="-122"/>
                <a:ea typeface="华文行楷" pitchFamily="2" charset="-122"/>
              </a:rPr>
              <a:t> </a:t>
            </a:r>
            <a:r>
              <a:rPr lang="zh-CN" altLang="en-US" sz="3200">
                <a:solidFill>
                  <a:srgbClr val="A50021"/>
                </a:solidFill>
                <a:latin typeface="华文行楷" pitchFamily="2" charset="-122"/>
                <a:ea typeface="华文行楷" pitchFamily="2" charset="-122"/>
              </a:rPr>
              <a:t>统观总体</a:t>
            </a:r>
            <a:r>
              <a:rPr lang="zh-CN" altLang="en-US" sz="2800" b="1">
                <a:solidFill>
                  <a:srgbClr val="000000"/>
                </a:solidFill>
              </a:rPr>
              <a:t>：分析</a:t>
            </a:r>
            <a:r>
              <a:rPr lang="zh-CN" altLang="zh-CN" sz="2800" b="1">
                <a:solidFill>
                  <a:srgbClr val="000000"/>
                </a:solidFill>
              </a:rPr>
              <a:t>整个电路的性能特点。</a:t>
            </a:r>
            <a:endParaRPr lang="zh-CN" altLang="en-US" sz="2800" b="1">
              <a:solidFill>
                <a:srgbClr val="000000"/>
              </a:solidFill>
            </a:endParaRPr>
          </a:p>
          <a:p>
            <a:pPr eaLnBrk="1" hangingPunct="1">
              <a:lnSpc>
                <a:spcPct val="120000"/>
              </a:lnSpc>
            </a:pPr>
            <a:r>
              <a:rPr lang="zh-CN" altLang="zh-CN" sz="3200" b="1">
                <a:solidFill>
                  <a:srgbClr val="000000"/>
                </a:solidFill>
                <a:latin typeface="华文行楷" pitchFamily="2" charset="-122"/>
                <a:ea typeface="华文行楷" pitchFamily="2" charset="-122"/>
              </a:rPr>
              <a:t>4</a:t>
            </a:r>
            <a:r>
              <a:rPr lang="en-US" altLang="zh-CN" sz="3200" b="1">
                <a:solidFill>
                  <a:srgbClr val="000000"/>
                </a:solidFill>
                <a:latin typeface="华文行楷" pitchFamily="2" charset="-122"/>
                <a:ea typeface="华文行楷" pitchFamily="2" charset="-122"/>
              </a:rPr>
              <a:t>.</a:t>
            </a:r>
            <a:r>
              <a:rPr lang="en-US" altLang="zh-CN" sz="3200">
                <a:solidFill>
                  <a:srgbClr val="000000"/>
                </a:solidFill>
                <a:latin typeface="华文行楷" pitchFamily="2" charset="-122"/>
                <a:ea typeface="华文行楷" pitchFamily="2" charset="-122"/>
              </a:rPr>
              <a:t> </a:t>
            </a:r>
            <a:r>
              <a:rPr lang="zh-CN" altLang="en-US" sz="3200">
                <a:solidFill>
                  <a:srgbClr val="A50021"/>
                </a:solidFill>
                <a:latin typeface="华文行楷" pitchFamily="2" charset="-122"/>
                <a:ea typeface="华文行楷" pitchFamily="2" charset="-122"/>
              </a:rPr>
              <a:t>定量</a:t>
            </a:r>
            <a:r>
              <a:rPr lang="zh-CN" altLang="zh-CN" sz="3200">
                <a:solidFill>
                  <a:srgbClr val="A50021"/>
                </a:solidFill>
                <a:latin typeface="华文行楷" pitchFamily="2" charset="-122"/>
                <a:ea typeface="华文行楷" pitchFamily="2" charset="-122"/>
              </a:rPr>
              <a:t>估算</a:t>
            </a:r>
            <a:r>
              <a:rPr lang="zh-CN" altLang="zh-CN" sz="2800" b="1">
                <a:solidFill>
                  <a:srgbClr val="000000"/>
                </a:solidFill>
              </a:rPr>
              <a:t>：必要时需估算主要动态参数。</a:t>
            </a:r>
            <a:endParaRPr lang="zh-CN" altLang="en-US" sz="2800" b="1">
              <a:solidFill>
                <a:srgbClr val="000000"/>
              </a:solidFill>
            </a:endParaRPr>
          </a:p>
        </p:txBody>
      </p:sp>
      <p:grpSp>
        <p:nvGrpSpPr>
          <p:cNvPr id="2" name="Group 14"/>
          <p:cNvGrpSpPr>
            <a:grpSpLocks/>
          </p:cNvGrpSpPr>
          <p:nvPr/>
        </p:nvGrpSpPr>
        <p:grpSpPr bwMode="auto">
          <a:xfrm>
            <a:off x="3132138" y="2565400"/>
            <a:ext cx="5257800" cy="3714750"/>
            <a:chOff x="1973" y="1616"/>
            <a:chExt cx="3312" cy="2340"/>
          </a:xfrm>
        </p:grpSpPr>
        <p:sp>
          <p:nvSpPr>
            <p:cNvPr id="139269" name="Line 10"/>
            <p:cNvSpPr>
              <a:spLocks noChangeShapeType="1"/>
            </p:cNvSpPr>
            <p:nvPr/>
          </p:nvSpPr>
          <p:spPr bwMode="auto">
            <a:xfrm>
              <a:off x="1973" y="1616"/>
              <a:ext cx="1497" cy="0"/>
            </a:xfrm>
            <a:prstGeom prst="line">
              <a:avLst/>
            </a:prstGeom>
            <a:noFill/>
            <a:ln w="28575">
              <a:solidFill>
                <a:srgbClr val="FF0000"/>
              </a:solidFill>
              <a:round/>
              <a:headEnd/>
              <a:tailEnd/>
            </a:ln>
          </p:spPr>
          <p:txBody>
            <a:bodyPr/>
            <a:lstStyle/>
            <a:p>
              <a:endParaRPr lang="zh-CN" altLang="en-US"/>
            </a:p>
          </p:txBody>
        </p:sp>
        <p:sp>
          <p:nvSpPr>
            <p:cNvPr id="139270" name="AutoShape 11"/>
            <p:cNvSpPr>
              <a:spLocks/>
            </p:cNvSpPr>
            <p:nvPr/>
          </p:nvSpPr>
          <p:spPr bwMode="auto">
            <a:xfrm>
              <a:off x="2835" y="3430"/>
              <a:ext cx="2450" cy="526"/>
            </a:xfrm>
            <a:prstGeom prst="borderCallout1">
              <a:avLst>
                <a:gd name="adj1" fmla="val 13690"/>
                <a:gd name="adj2" fmla="val -1958"/>
                <a:gd name="adj3" fmla="val -338213"/>
                <a:gd name="adj4" fmla="val -12000"/>
              </a:avLst>
            </a:prstGeom>
            <a:solidFill>
              <a:srgbClr val="00FFFF"/>
            </a:solidFill>
            <a:ln w="9525">
              <a:solidFill>
                <a:srgbClr val="FF0000"/>
              </a:solidFill>
              <a:miter lim="800000"/>
              <a:headEnd/>
              <a:tailEnd/>
            </a:ln>
          </p:spPr>
          <p:txBody>
            <a:bodyPr/>
            <a:lstStyle/>
            <a:p>
              <a:pPr algn="ctr" eaLnBrk="1" hangingPunct="1"/>
              <a:r>
                <a:rPr lang="zh-CN" altLang="en-US" b="1"/>
                <a:t>信号从放大管的哪个极输入？又从哪个极输出？</a:t>
              </a:r>
            </a:p>
          </p:txBody>
        </p:sp>
        <p:sp>
          <p:nvSpPr>
            <p:cNvPr id="139271" name="Line 12"/>
            <p:cNvSpPr>
              <a:spLocks noChangeShapeType="1"/>
            </p:cNvSpPr>
            <p:nvPr/>
          </p:nvSpPr>
          <p:spPr bwMode="auto">
            <a:xfrm>
              <a:off x="3379" y="2296"/>
              <a:ext cx="1724" cy="0"/>
            </a:xfrm>
            <a:prstGeom prst="line">
              <a:avLst/>
            </a:prstGeom>
            <a:noFill/>
            <a:ln w="28575">
              <a:solidFill>
                <a:srgbClr val="FF0000"/>
              </a:solidFill>
              <a:round/>
              <a:headEnd/>
              <a:tailEnd/>
            </a:ln>
          </p:spPr>
          <p:txBody>
            <a:bodyPr/>
            <a:lstStyle/>
            <a:p>
              <a:endParaRPr lang="zh-CN" altLang="en-US"/>
            </a:p>
          </p:txBody>
        </p:sp>
        <p:sp>
          <p:nvSpPr>
            <p:cNvPr id="139272" name="Line 13"/>
            <p:cNvSpPr>
              <a:spLocks noChangeShapeType="1"/>
            </p:cNvSpPr>
            <p:nvPr/>
          </p:nvSpPr>
          <p:spPr bwMode="auto">
            <a:xfrm flipH="1">
              <a:off x="3470" y="2341"/>
              <a:ext cx="317" cy="1044"/>
            </a:xfrm>
            <a:prstGeom prst="line">
              <a:avLst/>
            </a:prstGeom>
            <a:noFill/>
            <a:ln w="19050">
              <a:solidFill>
                <a:srgbClr val="FF0000"/>
              </a:solidFill>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7" name="Rectangle 5"/>
          <p:cNvSpPr>
            <a:spLocks noChangeArrowheads="1"/>
          </p:cNvSpPr>
          <p:nvPr/>
        </p:nvSpPr>
        <p:spPr bwMode="auto">
          <a:xfrm>
            <a:off x="1016000" y="1652588"/>
            <a:ext cx="4699000" cy="457200"/>
          </a:xfrm>
          <a:prstGeom prst="rect">
            <a:avLst/>
          </a:prstGeom>
          <a:noFill/>
          <a:ln w="9525">
            <a:noFill/>
            <a:miter lim="800000"/>
            <a:headEnd/>
            <a:tailEnd/>
          </a:ln>
        </p:spPr>
        <p:txBody>
          <a:bodyPr>
            <a:spAutoFit/>
          </a:bodyPr>
          <a:lstStyle/>
          <a:p>
            <a:pPr eaLnBrk="1" hangingPunct="1"/>
            <a:r>
              <a:rPr lang="zh-CN" altLang="en-US" b="1">
                <a:solidFill>
                  <a:schemeClr val="hlink"/>
                </a:solidFill>
              </a:rPr>
              <a:t>直接耦合多级放大电路的构成：</a:t>
            </a:r>
          </a:p>
        </p:txBody>
      </p:sp>
      <p:sp>
        <p:nvSpPr>
          <p:cNvPr id="192518" name="Text Box 6"/>
          <p:cNvSpPr txBox="1">
            <a:spLocks noChangeArrowheads="1"/>
          </p:cNvSpPr>
          <p:nvPr/>
        </p:nvSpPr>
        <p:spPr bwMode="auto">
          <a:xfrm>
            <a:off x="1143000" y="2454275"/>
            <a:ext cx="7010400" cy="830263"/>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0000"/>
                </a:solidFill>
              </a:rPr>
              <a:t>输入级</a:t>
            </a:r>
            <a:r>
              <a:rPr lang="zh-CN" altLang="en-US" b="1"/>
              <a:t>：</a:t>
            </a:r>
            <a:r>
              <a:rPr lang="zh-CN" altLang="en-US" b="1">
                <a:solidFill>
                  <a:srgbClr val="0000FF"/>
                </a:solidFill>
              </a:rPr>
              <a:t>差分放大电路</a:t>
            </a:r>
            <a:r>
              <a:rPr lang="zh-CN" altLang="en-US" b="1"/>
              <a:t>或</a:t>
            </a:r>
            <a:r>
              <a:rPr lang="en-US" altLang="zh-CN" b="1"/>
              <a:t>FET</a:t>
            </a:r>
            <a:r>
              <a:rPr lang="zh-CN" altLang="en-US" b="1"/>
              <a:t>差分放大电路，从而　　　　减小温漂，增大共模抑制比。</a:t>
            </a:r>
          </a:p>
        </p:txBody>
      </p:sp>
      <p:sp>
        <p:nvSpPr>
          <p:cNvPr id="192519" name="Text Box 7"/>
          <p:cNvSpPr txBox="1">
            <a:spLocks noChangeArrowheads="1"/>
          </p:cNvSpPr>
          <p:nvPr/>
        </p:nvSpPr>
        <p:spPr bwMode="auto">
          <a:xfrm>
            <a:off x="1066800" y="3581400"/>
            <a:ext cx="7391400" cy="457200"/>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FF0000"/>
                </a:solidFill>
              </a:rPr>
              <a:t>中间级</a:t>
            </a:r>
            <a:r>
              <a:rPr lang="zh-CN" altLang="en-US" b="1"/>
              <a:t>：</a:t>
            </a:r>
            <a:r>
              <a:rPr lang="zh-CN" altLang="en-US" b="1">
                <a:solidFill>
                  <a:srgbClr val="0000FF"/>
                </a:solidFill>
              </a:rPr>
              <a:t>共射放大电路</a:t>
            </a:r>
            <a:r>
              <a:rPr lang="zh-CN" altLang="en-US" b="1"/>
              <a:t>，从而获得高电压放大倍数。</a:t>
            </a:r>
          </a:p>
        </p:txBody>
      </p:sp>
      <p:sp>
        <p:nvSpPr>
          <p:cNvPr id="192520" name="Text Box 8"/>
          <p:cNvSpPr txBox="1">
            <a:spLocks noChangeArrowheads="1"/>
          </p:cNvSpPr>
          <p:nvPr/>
        </p:nvSpPr>
        <p:spPr bwMode="auto">
          <a:xfrm>
            <a:off x="1143000" y="4451350"/>
            <a:ext cx="7086600" cy="1200150"/>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0000"/>
                </a:solidFill>
              </a:rPr>
              <a:t>输出级</a:t>
            </a:r>
            <a:r>
              <a:rPr lang="zh-CN" altLang="en-US" b="1"/>
              <a:t>：采用</a:t>
            </a:r>
            <a:r>
              <a:rPr lang="zh-CN" altLang="en-US" b="1">
                <a:solidFill>
                  <a:srgbClr val="0000FF"/>
                </a:solidFill>
              </a:rPr>
              <a:t>复合管的准互补输出级电路</a:t>
            </a:r>
            <a:r>
              <a:rPr lang="zh-CN" altLang="en-US" b="1"/>
              <a:t>，从而使　　　　输出电阻小，带负载能力增强，而且最大　　　　不失真输出电压幅值接近电源电压。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2517">
                                            <p:txEl>
                                              <p:pRg st="0" end="0"/>
                                            </p:txEl>
                                          </p:spTgt>
                                        </p:tgtEl>
                                        <p:attrNameLst>
                                          <p:attrName>style.visibility</p:attrName>
                                        </p:attrNameLst>
                                      </p:cBhvr>
                                      <p:to>
                                        <p:strVal val="visible"/>
                                      </p:to>
                                    </p:set>
                                    <p:animEffect transition="in" filter="box(out)">
                                      <p:cBhvr>
                                        <p:cTn id="7" dur="500"/>
                                        <p:tgtEl>
                                          <p:spTgt spid="19251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2518">
                                            <p:txEl>
                                              <p:pRg st="0" end="0"/>
                                            </p:txEl>
                                          </p:spTgt>
                                        </p:tgtEl>
                                        <p:attrNameLst>
                                          <p:attrName>style.visibility</p:attrName>
                                        </p:attrNameLst>
                                      </p:cBhvr>
                                      <p:to>
                                        <p:strVal val="visible"/>
                                      </p:to>
                                    </p:set>
                                    <p:animEffect transition="in" filter="box(out)">
                                      <p:cBhvr>
                                        <p:cTn id="12" dur="500"/>
                                        <p:tgtEl>
                                          <p:spTgt spid="192518">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2519">
                                            <p:txEl>
                                              <p:pRg st="0" end="0"/>
                                            </p:txEl>
                                          </p:spTgt>
                                        </p:tgtEl>
                                        <p:attrNameLst>
                                          <p:attrName>style.visibility</p:attrName>
                                        </p:attrNameLst>
                                      </p:cBhvr>
                                      <p:to>
                                        <p:strVal val="visible"/>
                                      </p:to>
                                    </p:set>
                                    <p:animEffect transition="in" filter="box(out)">
                                      <p:cBhvr>
                                        <p:cTn id="17" dur="500"/>
                                        <p:tgtEl>
                                          <p:spTgt spid="192519">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2520">
                                            <p:txEl>
                                              <p:pRg st="0" end="0"/>
                                            </p:txEl>
                                          </p:spTgt>
                                        </p:tgtEl>
                                        <p:attrNameLst>
                                          <p:attrName>style.visibility</p:attrName>
                                        </p:attrNameLst>
                                      </p:cBhvr>
                                      <p:to>
                                        <p:strVal val="visible"/>
                                      </p:to>
                                    </p:set>
                                    <p:animEffect transition="in" filter="box(out)">
                                      <p:cBhvr>
                                        <p:cTn id="22" dur="500"/>
                                        <p:tgtEl>
                                          <p:spTgt spid="192520">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build="p" autoUpdateAnimBg="0"/>
      <p:bldP spid="192518" grpId="0" build="p" autoUpdateAnimBg="0"/>
      <p:bldP spid="192519" grpId="0" build="p" autoUpdateAnimBg="0"/>
      <p:bldP spid="192520"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395288" y="836613"/>
            <a:ext cx="2057400" cy="701675"/>
          </a:xfrm>
        </p:spPr>
        <p:txBody>
          <a:bodyPr/>
          <a:lstStyle/>
          <a:p>
            <a:pPr algn="l">
              <a:lnSpc>
                <a:spcPct val="110000"/>
              </a:lnSpc>
            </a:pPr>
            <a:r>
              <a:rPr lang="zh-CN" altLang="en-US" sz="3600" b="1">
                <a:solidFill>
                  <a:srgbClr val="000000"/>
                </a:solidFill>
                <a:latin typeface="华文行楷" pitchFamily="2" charset="-122"/>
                <a:ea typeface="华文行楷" pitchFamily="2" charset="-122"/>
              </a:rPr>
              <a:t>二、例题</a:t>
            </a:r>
          </a:p>
        </p:txBody>
      </p:sp>
      <p:sp>
        <p:nvSpPr>
          <p:cNvPr id="76803" name="Text Box 3"/>
          <p:cNvSpPr txBox="1">
            <a:spLocks noChangeArrowheads="1"/>
          </p:cNvSpPr>
          <p:nvPr/>
        </p:nvSpPr>
        <p:spPr bwMode="auto">
          <a:xfrm>
            <a:off x="1174750" y="4986338"/>
            <a:ext cx="7467600" cy="465137"/>
          </a:xfrm>
          <a:prstGeom prst="rect">
            <a:avLst/>
          </a:prstGeom>
          <a:noFill/>
          <a:ln w="9525">
            <a:noFill/>
            <a:miter lim="800000"/>
            <a:headEnd/>
            <a:tailEnd/>
          </a:ln>
        </p:spPr>
        <p:txBody>
          <a:bodyPr>
            <a:spAutoFit/>
          </a:bodyPr>
          <a:lstStyle/>
          <a:p>
            <a:pPr eaLnBrk="1" hangingPunct="1">
              <a:lnSpc>
                <a:spcPct val="110000"/>
              </a:lnSpc>
            </a:pPr>
            <a:r>
              <a:rPr lang="zh-CN" altLang="en-US" b="1">
                <a:solidFill>
                  <a:srgbClr val="000000"/>
                </a:solidFill>
              </a:rPr>
              <a:t>第一级：双端输入单端输出的差放</a:t>
            </a:r>
          </a:p>
        </p:txBody>
      </p:sp>
      <p:graphicFrame>
        <p:nvGraphicFramePr>
          <p:cNvPr id="78850" name="Object 2"/>
          <p:cNvGraphicFramePr>
            <a:graphicFrameLocks noChangeAspect="1"/>
          </p:cNvGraphicFramePr>
          <p:nvPr/>
        </p:nvGraphicFramePr>
        <p:xfrm>
          <a:off x="1403350" y="1557338"/>
          <a:ext cx="6096000" cy="2876550"/>
        </p:xfrm>
        <a:graphic>
          <a:graphicData uri="http://schemas.openxmlformats.org/presentationml/2006/ole">
            <mc:AlternateContent xmlns:mc="http://schemas.openxmlformats.org/markup-compatibility/2006">
              <mc:Choice xmlns:v="urn:schemas-microsoft-com:vml" Requires="v">
                <p:oleObj spid="_x0000_s62467" name="Photo Editor 照片" r:id="rId3" imgW="24161905" imgH="11403017" progId="">
                  <p:embed/>
                </p:oleObj>
              </mc:Choice>
              <mc:Fallback>
                <p:oleObj name="Photo Editor 照片" r:id="rId3" imgW="24161905" imgH="11403017"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557338"/>
                        <a:ext cx="60960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5" name="Line 5"/>
          <p:cNvSpPr>
            <a:spLocks noChangeShapeType="1"/>
          </p:cNvSpPr>
          <p:nvPr/>
        </p:nvSpPr>
        <p:spPr bwMode="auto">
          <a:xfrm>
            <a:off x="3460750" y="1481138"/>
            <a:ext cx="0" cy="2971800"/>
          </a:xfrm>
          <a:prstGeom prst="line">
            <a:avLst/>
          </a:prstGeom>
          <a:noFill/>
          <a:ln w="19050">
            <a:solidFill>
              <a:srgbClr val="FF3300"/>
            </a:solidFill>
            <a:prstDash val="lgDash"/>
            <a:round/>
            <a:headEnd/>
            <a:tailEnd/>
          </a:ln>
        </p:spPr>
        <p:txBody>
          <a:bodyPr wrap="none"/>
          <a:lstStyle/>
          <a:p>
            <a:endParaRPr lang="zh-CN" altLang="en-US"/>
          </a:p>
        </p:txBody>
      </p:sp>
      <p:sp>
        <p:nvSpPr>
          <p:cNvPr id="76806" name="Line 6"/>
          <p:cNvSpPr>
            <a:spLocks noChangeShapeType="1"/>
          </p:cNvSpPr>
          <p:nvPr/>
        </p:nvSpPr>
        <p:spPr bwMode="auto">
          <a:xfrm>
            <a:off x="5441950" y="1557338"/>
            <a:ext cx="0" cy="2971800"/>
          </a:xfrm>
          <a:prstGeom prst="line">
            <a:avLst/>
          </a:prstGeom>
          <a:noFill/>
          <a:ln w="19050">
            <a:solidFill>
              <a:srgbClr val="FF3300"/>
            </a:solidFill>
            <a:prstDash val="lgDash"/>
            <a:round/>
            <a:headEnd/>
            <a:tailEnd/>
          </a:ln>
        </p:spPr>
        <p:txBody>
          <a:bodyPr wrap="none"/>
          <a:lstStyle/>
          <a:p>
            <a:endParaRPr lang="zh-CN" altLang="en-US"/>
          </a:p>
        </p:txBody>
      </p:sp>
      <p:sp>
        <p:nvSpPr>
          <p:cNvPr id="76807" name="Text Box 7"/>
          <p:cNvSpPr txBox="1">
            <a:spLocks noChangeArrowheads="1"/>
          </p:cNvSpPr>
          <p:nvPr/>
        </p:nvSpPr>
        <p:spPr bwMode="auto">
          <a:xfrm>
            <a:off x="1174750" y="5443538"/>
            <a:ext cx="7467600" cy="465137"/>
          </a:xfrm>
          <a:prstGeom prst="rect">
            <a:avLst/>
          </a:prstGeom>
          <a:noFill/>
          <a:ln w="9525">
            <a:noFill/>
            <a:miter lim="800000"/>
            <a:headEnd/>
            <a:tailEnd/>
          </a:ln>
        </p:spPr>
        <p:txBody>
          <a:bodyPr>
            <a:spAutoFit/>
          </a:bodyPr>
          <a:lstStyle/>
          <a:p>
            <a:pPr eaLnBrk="1" hangingPunct="1">
              <a:lnSpc>
                <a:spcPct val="110000"/>
              </a:lnSpc>
            </a:pPr>
            <a:r>
              <a:rPr lang="zh-CN" altLang="en-US" b="1">
                <a:solidFill>
                  <a:srgbClr val="000000"/>
                </a:solidFill>
              </a:rPr>
              <a:t>第二级：以复合管为放大管的共射放大电路</a:t>
            </a:r>
          </a:p>
        </p:txBody>
      </p:sp>
      <p:sp>
        <p:nvSpPr>
          <p:cNvPr id="76808" name="Rectangle 8"/>
          <p:cNvSpPr>
            <a:spLocks noChangeArrowheads="1"/>
          </p:cNvSpPr>
          <p:nvPr/>
        </p:nvSpPr>
        <p:spPr bwMode="auto">
          <a:xfrm>
            <a:off x="1174750" y="5900738"/>
            <a:ext cx="6705600" cy="465137"/>
          </a:xfrm>
          <a:prstGeom prst="rect">
            <a:avLst/>
          </a:prstGeom>
          <a:noFill/>
          <a:ln w="9525">
            <a:noFill/>
            <a:miter lim="800000"/>
            <a:headEnd/>
            <a:tailEnd/>
          </a:ln>
        </p:spPr>
        <p:txBody>
          <a:bodyPr>
            <a:spAutoFit/>
          </a:bodyPr>
          <a:lstStyle/>
          <a:p>
            <a:pPr eaLnBrk="1" hangingPunct="1">
              <a:lnSpc>
                <a:spcPct val="110000"/>
              </a:lnSpc>
              <a:spcBef>
                <a:spcPct val="50000"/>
              </a:spcBef>
            </a:pPr>
            <a:r>
              <a:rPr lang="zh-CN" altLang="en-US" b="1">
                <a:solidFill>
                  <a:srgbClr val="000000"/>
                </a:solidFill>
              </a:rPr>
              <a:t>第三级：准互补输出级</a:t>
            </a:r>
          </a:p>
        </p:txBody>
      </p:sp>
      <p:grpSp>
        <p:nvGrpSpPr>
          <p:cNvPr id="2" name="Group 9"/>
          <p:cNvGrpSpPr>
            <a:grpSpLocks/>
          </p:cNvGrpSpPr>
          <p:nvPr/>
        </p:nvGrpSpPr>
        <p:grpSpPr bwMode="auto">
          <a:xfrm>
            <a:off x="4070350" y="2243138"/>
            <a:ext cx="1600200" cy="1295400"/>
            <a:chOff x="2544" y="1248"/>
            <a:chExt cx="1008" cy="816"/>
          </a:xfrm>
        </p:grpSpPr>
        <p:sp>
          <p:nvSpPr>
            <p:cNvPr id="78866" name="Line 10"/>
            <p:cNvSpPr>
              <a:spLocks noChangeShapeType="1"/>
            </p:cNvSpPr>
            <p:nvPr/>
          </p:nvSpPr>
          <p:spPr bwMode="auto">
            <a:xfrm>
              <a:off x="2784" y="2064"/>
              <a:ext cx="768" cy="0"/>
            </a:xfrm>
            <a:prstGeom prst="line">
              <a:avLst/>
            </a:prstGeom>
            <a:noFill/>
            <a:ln w="28575">
              <a:solidFill>
                <a:srgbClr val="FF3300"/>
              </a:solidFill>
              <a:round/>
              <a:headEnd/>
              <a:tailEnd/>
            </a:ln>
          </p:spPr>
          <p:txBody>
            <a:bodyPr/>
            <a:lstStyle/>
            <a:p>
              <a:endParaRPr lang="zh-CN" altLang="en-US"/>
            </a:p>
          </p:txBody>
        </p:sp>
        <p:sp>
          <p:nvSpPr>
            <p:cNvPr id="78867" name="Line 11"/>
            <p:cNvSpPr>
              <a:spLocks noChangeShapeType="1"/>
            </p:cNvSpPr>
            <p:nvPr/>
          </p:nvSpPr>
          <p:spPr bwMode="auto">
            <a:xfrm>
              <a:off x="2784" y="1248"/>
              <a:ext cx="768" cy="0"/>
            </a:xfrm>
            <a:prstGeom prst="line">
              <a:avLst/>
            </a:prstGeom>
            <a:noFill/>
            <a:ln w="28575">
              <a:solidFill>
                <a:srgbClr val="FF3300"/>
              </a:solidFill>
              <a:round/>
              <a:headEnd/>
              <a:tailEnd/>
            </a:ln>
          </p:spPr>
          <p:txBody>
            <a:bodyPr/>
            <a:lstStyle/>
            <a:p>
              <a:endParaRPr lang="zh-CN" altLang="en-US"/>
            </a:p>
          </p:txBody>
        </p:sp>
        <p:sp>
          <p:nvSpPr>
            <p:cNvPr id="78868" name="Freeform 12"/>
            <p:cNvSpPr>
              <a:spLocks/>
            </p:cNvSpPr>
            <p:nvPr/>
          </p:nvSpPr>
          <p:spPr bwMode="auto">
            <a:xfrm>
              <a:off x="2544" y="1248"/>
              <a:ext cx="240" cy="816"/>
            </a:xfrm>
            <a:custGeom>
              <a:avLst/>
              <a:gdLst>
                <a:gd name="T0" fmla="*/ 2 w 336"/>
                <a:gd name="T1" fmla="*/ 0 h 816"/>
                <a:gd name="T2" fmla="*/ 1 w 336"/>
                <a:gd name="T3" fmla="*/ 144 h 816"/>
                <a:gd name="T4" fmla="*/ 1 w 336"/>
                <a:gd name="T5" fmla="*/ 576 h 816"/>
                <a:gd name="T6" fmla="*/ 2 w 336"/>
                <a:gd name="T7" fmla="*/ 816 h 816"/>
                <a:gd name="T8" fmla="*/ 0 60000 65536"/>
                <a:gd name="T9" fmla="*/ 0 60000 65536"/>
                <a:gd name="T10" fmla="*/ 0 60000 65536"/>
                <a:gd name="T11" fmla="*/ 0 60000 65536"/>
                <a:gd name="T12" fmla="*/ 0 w 336"/>
                <a:gd name="T13" fmla="*/ 0 h 816"/>
                <a:gd name="T14" fmla="*/ 336 w 336"/>
                <a:gd name="T15" fmla="*/ 816 h 816"/>
              </a:gdLst>
              <a:ahLst/>
              <a:cxnLst>
                <a:cxn ang="T8">
                  <a:pos x="T0" y="T1"/>
                </a:cxn>
                <a:cxn ang="T9">
                  <a:pos x="T2" y="T3"/>
                </a:cxn>
                <a:cxn ang="T10">
                  <a:pos x="T4" y="T5"/>
                </a:cxn>
                <a:cxn ang="T11">
                  <a:pos x="T6" y="T7"/>
                </a:cxn>
              </a:cxnLst>
              <a:rect l="T12" t="T13" r="T14" b="T15"/>
              <a:pathLst>
                <a:path w="336" h="816">
                  <a:moveTo>
                    <a:pt x="336" y="0"/>
                  </a:moveTo>
                  <a:cubicBezTo>
                    <a:pt x="216" y="24"/>
                    <a:pt x="96" y="48"/>
                    <a:pt x="48" y="144"/>
                  </a:cubicBezTo>
                  <a:cubicBezTo>
                    <a:pt x="0" y="240"/>
                    <a:pt x="0" y="464"/>
                    <a:pt x="48" y="576"/>
                  </a:cubicBezTo>
                  <a:cubicBezTo>
                    <a:pt x="96" y="688"/>
                    <a:pt x="288" y="776"/>
                    <a:pt x="336" y="816"/>
                  </a:cubicBezTo>
                </a:path>
              </a:pathLst>
            </a:custGeom>
            <a:noFill/>
            <a:ln w="19050">
              <a:solidFill>
                <a:srgbClr val="FF3300"/>
              </a:solidFill>
              <a:prstDash val="lgDash"/>
              <a:round/>
              <a:headEnd/>
              <a:tailEnd/>
            </a:ln>
          </p:spPr>
          <p:txBody>
            <a:bodyPr/>
            <a:lstStyle/>
            <a:p>
              <a:endParaRPr lang="zh-CN" altLang="en-US"/>
            </a:p>
          </p:txBody>
        </p:sp>
      </p:grpSp>
      <p:grpSp>
        <p:nvGrpSpPr>
          <p:cNvPr id="3" name="Group 13"/>
          <p:cNvGrpSpPr>
            <a:grpSpLocks/>
          </p:cNvGrpSpPr>
          <p:nvPr/>
        </p:nvGrpSpPr>
        <p:grpSpPr bwMode="auto">
          <a:xfrm>
            <a:off x="1555750" y="2965450"/>
            <a:ext cx="2057400" cy="752475"/>
            <a:chOff x="960" y="1703"/>
            <a:chExt cx="1296" cy="474"/>
          </a:xfrm>
        </p:grpSpPr>
        <p:sp>
          <p:nvSpPr>
            <p:cNvPr id="78862" name="Line 14"/>
            <p:cNvSpPr>
              <a:spLocks noChangeShapeType="1"/>
            </p:cNvSpPr>
            <p:nvPr/>
          </p:nvSpPr>
          <p:spPr bwMode="auto">
            <a:xfrm>
              <a:off x="1296" y="2177"/>
              <a:ext cx="960" cy="0"/>
            </a:xfrm>
            <a:prstGeom prst="line">
              <a:avLst/>
            </a:prstGeom>
            <a:noFill/>
            <a:ln w="28575">
              <a:solidFill>
                <a:srgbClr val="FF3300"/>
              </a:solidFill>
              <a:round/>
              <a:headEnd/>
              <a:tailEnd/>
            </a:ln>
          </p:spPr>
          <p:txBody>
            <a:bodyPr/>
            <a:lstStyle/>
            <a:p>
              <a:endParaRPr lang="zh-CN" altLang="en-US"/>
            </a:p>
          </p:txBody>
        </p:sp>
        <p:grpSp>
          <p:nvGrpSpPr>
            <p:cNvPr id="78863" name="Group 15"/>
            <p:cNvGrpSpPr>
              <a:grpSpLocks/>
            </p:cNvGrpSpPr>
            <p:nvPr/>
          </p:nvGrpSpPr>
          <p:grpSpPr bwMode="auto">
            <a:xfrm>
              <a:off x="960" y="1703"/>
              <a:ext cx="1104" cy="2"/>
              <a:chOff x="1008" y="1607"/>
              <a:chExt cx="1104" cy="2"/>
            </a:xfrm>
          </p:grpSpPr>
          <p:sp>
            <p:nvSpPr>
              <p:cNvPr id="78864" name="Line 16"/>
              <p:cNvSpPr>
                <a:spLocks noChangeShapeType="1"/>
              </p:cNvSpPr>
              <p:nvPr/>
            </p:nvSpPr>
            <p:spPr bwMode="auto">
              <a:xfrm>
                <a:off x="1008" y="1609"/>
                <a:ext cx="192" cy="0"/>
              </a:xfrm>
              <a:prstGeom prst="line">
                <a:avLst/>
              </a:prstGeom>
              <a:noFill/>
              <a:ln w="28575">
                <a:solidFill>
                  <a:srgbClr val="FF3300"/>
                </a:solidFill>
                <a:round/>
                <a:headEnd/>
                <a:tailEnd/>
              </a:ln>
            </p:spPr>
            <p:txBody>
              <a:bodyPr/>
              <a:lstStyle/>
              <a:p>
                <a:endParaRPr lang="zh-CN" altLang="en-US"/>
              </a:p>
            </p:txBody>
          </p:sp>
          <p:sp>
            <p:nvSpPr>
              <p:cNvPr id="78865" name="Line 17"/>
              <p:cNvSpPr>
                <a:spLocks noChangeShapeType="1"/>
              </p:cNvSpPr>
              <p:nvPr/>
            </p:nvSpPr>
            <p:spPr bwMode="auto">
              <a:xfrm>
                <a:off x="1920" y="1607"/>
                <a:ext cx="192" cy="0"/>
              </a:xfrm>
              <a:prstGeom prst="line">
                <a:avLst/>
              </a:prstGeom>
              <a:noFill/>
              <a:ln w="28575">
                <a:solidFill>
                  <a:srgbClr val="FF3300"/>
                </a:solidFill>
                <a:round/>
                <a:headEnd/>
                <a:tailEnd/>
              </a:ln>
            </p:spPr>
            <p:txBody>
              <a:bodyPr/>
              <a:lstStyle/>
              <a:p>
                <a:endParaRPr lang="zh-CN" altLang="en-US"/>
              </a:p>
            </p:txBody>
          </p:sp>
        </p:grpSp>
      </p:grpSp>
      <p:sp>
        <p:nvSpPr>
          <p:cNvPr id="76818" name="AutoShape 18"/>
          <p:cNvSpPr>
            <a:spLocks/>
          </p:cNvSpPr>
          <p:nvPr/>
        </p:nvSpPr>
        <p:spPr bwMode="auto">
          <a:xfrm>
            <a:off x="2659063" y="762000"/>
            <a:ext cx="2608262" cy="528638"/>
          </a:xfrm>
          <a:prstGeom prst="borderCallout1">
            <a:avLst>
              <a:gd name="adj1" fmla="val 98870"/>
              <a:gd name="adj2" fmla="val 58685"/>
              <a:gd name="adj3" fmla="val 198120"/>
              <a:gd name="adj4" fmla="val 65231"/>
            </a:avLst>
          </a:prstGeom>
          <a:solidFill>
            <a:srgbClr val="CCFFFF"/>
          </a:solidFill>
          <a:ln w="19050">
            <a:solidFill>
              <a:srgbClr val="FF3300"/>
            </a:solidFill>
            <a:miter lim="800000"/>
            <a:headEnd/>
            <a:tailEnd/>
          </a:ln>
        </p:spPr>
        <p:txBody>
          <a:bodyPr/>
          <a:lstStyle/>
          <a:p>
            <a:pPr algn="ctr" eaLnBrk="1" hangingPunct="1"/>
            <a:r>
              <a:rPr lang="zh-CN" altLang="en-US" b="1"/>
              <a:t>动态电阻无穷大</a:t>
            </a:r>
          </a:p>
        </p:txBody>
      </p:sp>
      <p:sp>
        <p:nvSpPr>
          <p:cNvPr id="76819" name="Text Box 19"/>
          <p:cNvSpPr txBox="1">
            <a:spLocks noChangeArrowheads="1"/>
          </p:cNvSpPr>
          <p:nvPr/>
        </p:nvSpPr>
        <p:spPr bwMode="auto">
          <a:xfrm>
            <a:off x="684213" y="4581525"/>
            <a:ext cx="5029200" cy="519113"/>
          </a:xfrm>
          <a:prstGeom prst="rect">
            <a:avLst/>
          </a:prstGeom>
          <a:noFill/>
          <a:ln w="9525">
            <a:noFill/>
            <a:miter lim="800000"/>
            <a:headEnd/>
            <a:tailEnd/>
          </a:ln>
        </p:spPr>
        <p:txBody>
          <a:bodyPr>
            <a:spAutoFit/>
          </a:bodyPr>
          <a:lstStyle/>
          <a:p>
            <a:pPr algn="ctr" eaLnBrk="1" hangingPunct="1">
              <a:spcBef>
                <a:spcPct val="50000"/>
              </a:spcBef>
            </a:pPr>
            <a:r>
              <a:rPr lang="en-US" altLang="zh-CN" sz="2800">
                <a:solidFill>
                  <a:srgbClr val="000000"/>
                </a:solidFill>
                <a:latin typeface="华文行楷" pitchFamily="2" charset="-122"/>
                <a:ea typeface="华文行楷" pitchFamily="2" charset="-122"/>
              </a:rPr>
              <a:t>1. </a:t>
            </a:r>
            <a:r>
              <a:rPr lang="zh-CN" altLang="en-US" sz="2800">
                <a:solidFill>
                  <a:srgbClr val="000000"/>
                </a:solidFill>
                <a:latin typeface="华文行楷" pitchFamily="2" charset="-122"/>
                <a:ea typeface="华文行楷" pitchFamily="2" charset="-122"/>
              </a:rPr>
              <a:t>化整为零，识别电路</a:t>
            </a:r>
          </a:p>
        </p:txBody>
      </p:sp>
      <p:sp>
        <p:nvSpPr>
          <p:cNvPr id="20" name="AutoShape 18"/>
          <p:cNvSpPr>
            <a:spLocks/>
          </p:cNvSpPr>
          <p:nvPr/>
        </p:nvSpPr>
        <p:spPr bwMode="auto">
          <a:xfrm>
            <a:off x="5670550" y="857250"/>
            <a:ext cx="2608263" cy="528638"/>
          </a:xfrm>
          <a:prstGeom prst="borderCallout1">
            <a:avLst>
              <a:gd name="adj1" fmla="val 97190"/>
              <a:gd name="adj2" fmla="val 21245"/>
              <a:gd name="adj3" fmla="val 350940"/>
              <a:gd name="adj4" fmla="val -60023"/>
            </a:avLst>
          </a:prstGeom>
          <a:solidFill>
            <a:srgbClr val="CCFFFF"/>
          </a:solidFill>
          <a:ln w="19050">
            <a:solidFill>
              <a:srgbClr val="FF3300"/>
            </a:solidFill>
            <a:miter lim="800000"/>
            <a:headEnd/>
            <a:tailEnd/>
          </a:ln>
        </p:spPr>
        <p:txBody>
          <a:bodyPr/>
          <a:lstStyle/>
          <a:p>
            <a:pPr algn="ctr" eaLnBrk="1" hangingPunct="1"/>
            <a:r>
              <a:rPr lang="zh-CN" altLang="en-US" b="1"/>
              <a:t>动态时等电位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19">
                                            <p:txEl>
                                              <p:pRg st="0" end="0"/>
                                            </p:txEl>
                                          </p:spTgt>
                                        </p:tgtEl>
                                        <p:attrNameLst>
                                          <p:attrName>style.visibility</p:attrName>
                                        </p:attrNameLst>
                                      </p:cBhvr>
                                      <p:to>
                                        <p:strVal val="visible"/>
                                      </p:to>
                                    </p:set>
                                    <p:animEffect transition="in" filter="wipe(left)">
                                      <p:cBhvr>
                                        <p:cTn id="7" dur="500"/>
                                        <p:tgtEl>
                                          <p:spTgt spid="76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6805"/>
                                        </p:tgtEl>
                                        <p:attrNameLst>
                                          <p:attrName>style.visibility</p:attrName>
                                        </p:attrNameLst>
                                      </p:cBhvr>
                                      <p:to>
                                        <p:strVal val="visible"/>
                                      </p:to>
                                    </p:set>
                                    <p:animEffect transition="in" filter="slide(fromBottom)">
                                      <p:cBhvr>
                                        <p:cTn id="17" dur="500"/>
                                        <p:tgtEl>
                                          <p:spTgt spid="768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03">
                                            <p:txEl>
                                              <p:pRg st="0" end="0"/>
                                            </p:txEl>
                                          </p:spTgt>
                                        </p:tgtEl>
                                        <p:attrNameLst>
                                          <p:attrName>style.visibility</p:attrName>
                                        </p:attrNameLst>
                                      </p:cBhvr>
                                      <p:to>
                                        <p:strVal val="visible"/>
                                      </p:to>
                                    </p:set>
                                    <p:animEffect transition="in" filter="wipe(left)">
                                      <p:cBhvr>
                                        <p:cTn id="22" dur="500"/>
                                        <p:tgtEl>
                                          <p:spTgt spid="7680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6818"/>
                                        </p:tgtEl>
                                        <p:attrNameLst>
                                          <p:attrName>style.visibility</p:attrName>
                                        </p:attrNameLst>
                                      </p:cBhvr>
                                      <p:to>
                                        <p:strVal val="visible"/>
                                      </p:to>
                                    </p:set>
                                    <p:animEffect transition="in" filter="wipe(left)">
                                      <p:cBhvr>
                                        <p:cTn id="27" dur="500"/>
                                        <p:tgtEl>
                                          <p:spTgt spid="768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76806"/>
                                        </p:tgtEl>
                                        <p:attrNameLst>
                                          <p:attrName>style.visibility</p:attrName>
                                        </p:attrNameLst>
                                      </p:cBhvr>
                                      <p:to>
                                        <p:strVal val="visible"/>
                                      </p:to>
                                    </p:set>
                                    <p:animEffect transition="in" filter="slide(fromBottom)">
                                      <p:cBhvr>
                                        <p:cTn id="41" dur="500"/>
                                        <p:tgtEl>
                                          <p:spTgt spid="7680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6807">
                                            <p:txEl>
                                              <p:pRg st="0" end="0"/>
                                            </p:txEl>
                                          </p:spTgt>
                                        </p:tgtEl>
                                        <p:attrNameLst>
                                          <p:attrName>style.visibility</p:attrName>
                                        </p:attrNameLst>
                                      </p:cBhvr>
                                      <p:to>
                                        <p:strVal val="visible"/>
                                      </p:to>
                                    </p:set>
                                    <p:animEffect transition="in" filter="wipe(left)">
                                      <p:cBhvr>
                                        <p:cTn id="46" dur="500"/>
                                        <p:tgtEl>
                                          <p:spTgt spid="76807">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6808">
                                            <p:txEl>
                                              <p:pRg st="0" end="0"/>
                                            </p:txEl>
                                          </p:spTgt>
                                        </p:tgtEl>
                                        <p:attrNameLst>
                                          <p:attrName>style.visibility</p:attrName>
                                        </p:attrNameLst>
                                      </p:cBhvr>
                                      <p:to>
                                        <p:strVal val="visible"/>
                                      </p:to>
                                    </p:set>
                                    <p:animEffect transition="in" filter="wipe(left)">
                                      <p:cBhvr>
                                        <p:cTn id="51" dur="500"/>
                                        <p:tgtEl>
                                          <p:spTgt spid="768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autoUpdateAnimBg="0"/>
      <p:bldP spid="76805" grpId="0" animBg="1"/>
      <p:bldP spid="76806" grpId="0" animBg="1"/>
      <p:bldP spid="76807" grpId="0" build="p" autoUpdateAnimBg="0"/>
      <p:bldP spid="76808" grpId="0" build="p" autoUpdateAnimBg="0"/>
      <p:bldP spid="76818" grpId="0" animBg="1" autoUpdateAnimBg="0"/>
      <p:bldP spid="76819" grpId="0" build="p" autoUpdateAnimBg="0"/>
      <p:bldP spid="20"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4"/>
          <p:cNvSpPr>
            <a:spLocks noChangeArrowheads="1"/>
          </p:cNvSpPr>
          <p:nvPr/>
        </p:nvSpPr>
        <p:spPr bwMode="auto">
          <a:xfrm>
            <a:off x="609600" y="609600"/>
            <a:ext cx="5486400" cy="519113"/>
          </a:xfrm>
          <a:prstGeom prst="rect">
            <a:avLst/>
          </a:prstGeom>
          <a:noFill/>
          <a:ln w="9525">
            <a:noFill/>
            <a:miter lim="800000"/>
            <a:headEnd/>
            <a:tailEnd/>
          </a:ln>
        </p:spPr>
        <p:txBody>
          <a:bodyPr>
            <a:spAutoFit/>
          </a:bodyPr>
          <a:lstStyle/>
          <a:p>
            <a:pPr eaLnBrk="1" hangingPunct="1"/>
            <a:r>
              <a:rPr lang="zh-CN" altLang="en-US" sz="2800" b="1">
                <a:solidFill>
                  <a:schemeClr val="hlink"/>
                </a:solidFill>
              </a:rPr>
              <a:t>直接耦合多级放大电路分析</a:t>
            </a:r>
          </a:p>
        </p:txBody>
      </p:sp>
      <p:sp>
        <p:nvSpPr>
          <p:cNvPr id="79876" name="Rectangle 6"/>
          <p:cNvSpPr>
            <a:spLocks noChangeArrowheads="1"/>
          </p:cNvSpPr>
          <p:nvPr/>
        </p:nvSpPr>
        <p:spPr bwMode="auto">
          <a:xfrm>
            <a:off x="2700338" y="2395538"/>
            <a:ext cx="9144000" cy="0"/>
          </a:xfrm>
          <a:prstGeom prst="rect">
            <a:avLst/>
          </a:prstGeom>
          <a:noFill/>
          <a:ln w="9525">
            <a:noFill/>
            <a:miter lim="800000"/>
            <a:headEnd/>
            <a:tailEnd/>
          </a:ln>
        </p:spPr>
        <p:txBody>
          <a:bodyPr>
            <a:spAutoFit/>
          </a:bodyPr>
          <a:lstStyle/>
          <a:p>
            <a:pPr algn="ctr" eaLnBrk="1" hangingPunct="1"/>
            <a:endParaRPr lang="zh-CN" altLang="en-US"/>
          </a:p>
        </p:txBody>
      </p:sp>
      <p:sp>
        <p:nvSpPr>
          <p:cNvPr id="193543" name="Text Box 7"/>
          <p:cNvSpPr txBox="1">
            <a:spLocks noChangeArrowheads="1"/>
          </p:cNvSpPr>
          <p:nvPr/>
        </p:nvSpPr>
        <p:spPr bwMode="auto">
          <a:xfrm>
            <a:off x="381000" y="3200400"/>
            <a:ext cx="2133600" cy="457200"/>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0000"/>
                </a:solidFill>
              </a:rPr>
              <a:t>三级放大电路</a:t>
            </a:r>
          </a:p>
        </p:txBody>
      </p:sp>
      <p:sp>
        <p:nvSpPr>
          <p:cNvPr id="193544" name="Text Box 8"/>
          <p:cNvSpPr txBox="1">
            <a:spLocks noChangeArrowheads="1"/>
          </p:cNvSpPr>
          <p:nvPr/>
        </p:nvSpPr>
        <p:spPr bwMode="auto">
          <a:xfrm>
            <a:off x="381000" y="4267200"/>
            <a:ext cx="8763000" cy="830263"/>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0000"/>
                </a:solidFill>
              </a:rPr>
              <a:t>第一级</a:t>
            </a:r>
            <a:r>
              <a:rPr lang="zh-CN" altLang="en-US" b="1"/>
              <a:t>是以</a:t>
            </a:r>
            <a:r>
              <a:rPr lang="en-US" altLang="zh-CN" b="1">
                <a:solidFill>
                  <a:srgbClr val="FF0066"/>
                </a:solidFill>
              </a:rPr>
              <a:t>T</a:t>
            </a:r>
            <a:r>
              <a:rPr lang="en-US" altLang="zh-CN" b="1" baseline="-25000">
                <a:solidFill>
                  <a:srgbClr val="FF0066"/>
                </a:solidFill>
              </a:rPr>
              <a:t>1</a:t>
            </a:r>
            <a:r>
              <a:rPr lang="zh-CN" altLang="en-US" b="1"/>
              <a:t>和</a:t>
            </a:r>
            <a:r>
              <a:rPr lang="en-US" altLang="zh-CN" b="1">
                <a:solidFill>
                  <a:srgbClr val="FF0066"/>
                </a:solidFill>
              </a:rPr>
              <a:t>T</a:t>
            </a:r>
            <a:r>
              <a:rPr lang="en-US" altLang="zh-CN" b="1" baseline="-25000">
                <a:solidFill>
                  <a:srgbClr val="FF0066"/>
                </a:solidFill>
              </a:rPr>
              <a:t>2 </a:t>
            </a:r>
            <a:r>
              <a:rPr lang="zh-CN" altLang="en-US" b="1"/>
              <a:t>为放大管，双端输入，</a:t>
            </a:r>
            <a:r>
              <a:rPr lang="zh-CN" altLang="en-US" b="1">
                <a:solidFill>
                  <a:srgbClr val="0000FF"/>
                </a:solidFill>
              </a:rPr>
              <a:t>单端输出的差分</a:t>
            </a:r>
            <a:r>
              <a:rPr lang="zh-CN" altLang="en-US" b="1"/>
              <a:t>放大　　　电路。</a:t>
            </a:r>
            <a:endParaRPr lang="zh-CN" altLang="en-US" b="1" baseline="-25000">
              <a:solidFill>
                <a:srgbClr val="FF0066"/>
              </a:solidFill>
            </a:endParaRPr>
          </a:p>
        </p:txBody>
      </p:sp>
      <p:sp>
        <p:nvSpPr>
          <p:cNvPr id="193546" name="Rectangle 10"/>
          <p:cNvSpPr>
            <a:spLocks noChangeArrowheads="1"/>
          </p:cNvSpPr>
          <p:nvPr/>
        </p:nvSpPr>
        <p:spPr bwMode="auto">
          <a:xfrm>
            <a:off x="381000" y="5105400"/>
            <a:ext cx="8763000" cy="457200"/>
          </a:xfrm>
          <a:prstGeom prst="rect">
            <a:avLst/>
          </a:prstGeom>
          <a:noFill/>
          <a:ln w="9525">
            <a:noFill/>
            <a:miter lim="800000"/>
            <a:headEnd/>
            <a:tailEnd/>
          </a:ln>
        </p:spPr>
        <p:txBody>
          <a:bodyPr>
            <a:spAutoFit/>
          </a:bodyPr>
          <a:lstStyle/>
          <a:p>
            <a:pPr eaLnBrk="1" hangingPunct="1"/>
            <a:r>
              <a:rPr lang="zh-CN" altLang="en-US" b="1">
                <a:solidFill>
                  <a:srgbClr val="FF0000"/>
                </a:solidFill>
              </a:rPr>
              <a:t>第二级</a:t>
            </a:r>
            <a:r>
              <a:rPr lang="zh-CN" altLang="en-US" b="1"/>
              <a:t>是以</a:t>
            </a:r>
            <a:r>
              <a:rPr lang="en-US" altLang="zh-CN" b="1">
                <a:solidFill>
                  <a:srgbClr val="FF0066"/>
                </a:solidFill>
              </a:rPr>
              <a:t>T</a:t>
            </a:r>
            <a:r>
              <a:rPr lang="en-US" altLang="zh-CN" b="1" baseline="-25000">
                <a:solidFill>
                  <a:srgbClr val="FF0066"/>
                </a:solidFill>
              </a:rPr>
              <a:t>3</a:t>
            </a:r>
            <a:r>
              <a:rPr lang="zh-CN" altLang="en-US" b="1"/>
              <a:t>和</a:t>
            </a:r>
            <a:r>
              <a:rPr lang="en-US" altLang="zh-CN" b="1">
                <a:solidFill>
                  <a:srgbClr val="FF0066"/>
                </a:solidFill>
              </a:rPr>
              <a:t>T</a:t>
            </a:r>
            <a:r>
              <a:rPr lang="en-US" altLang="zh-CN" b="1" baseline="-25000">
                <a:solidFill>
                  <a:srgbClr val="FF0066"/>
                </a:solidFill>
              </a:rPr>
              <a:t>4 </a:t>
            </a:r>
            <a:r>
              <a:rPr lang="zh-CN" altLang="en-US" b="1"/>
              <a:t>管组成的复合管为放大管的共射放大电路。</a:t>
            </a:r>
          </a:p>
        </p:txBody>
      </p:sp>
      <p:sp>
        <p:nvSpPr>
          <p:cNvPr id="193547" name="Text Box 11"/>
          <p:cNvSpPr txBox="1">
            <a:spLocks noChangeArrowheads="1"/>
          </p:cNvSpPr>
          <p:nvPr/>
        </p:nvSpPr>
        <p:spPr bwMode="auto">
          <a:xfrm>
            <a:off x="381000" y="5654675"/>
            <a:ext cx="8305800" cy="830263"/>
          </a:xfrm>
          <a:prstGeom prst="rect">
            <a:avLst/>
          </a:prstGeom>
          <a:noFill/>
          <a:ln w="9525">
            <a:noFill/>
            <a:miter lim="800000"/>
            <a:headEnd/>
            <a:tailEnd/>
          </a:ln>
        </p:spPr>
        <p:txBody>
          <a:bodyPr>
            <a:spAutoFit/>
          </a:bodyPr>
          <a:lstStyle/>
          <a:p>
            <a:pPr eaLnBrk="1" hangingPunct="1">
              <a:spcBef>
                <a:spcPct val="50000"/>
              </a:spcBef>
            </a:pPr>
            <a:r>
              <a:rPr lang="zh-CN" altLang="en-US" b="1">
                <a:solidFill>
                  <a:srgbClr val="FF0000"/>
                </a:solidFill>
              </a:rPr>
              <a:t>第三级</a:t>
            </a:r>
            <a:r>
              <a:rPr lang="zh-CN" altLang="en-US" b="1"/>
              <a:t>是准互补电路， </a:t>
            </a:r>
            <a:r>
              <a:rPr lang="en-US" altLang="zh-CN" b="1">
                <a:solidFill>
                  <a:srgbClr val="FF0000"/>
                </a:solidFill>
              </a:rPr>
              <a:t>R</a:t>
            </a:r>
            <a:r>
              <a:rPr lang="en-US" altLang="zh-CN" b="1" baseline="-25000">
                <a:solidFill>
                  <a:srgbClr val="FF0000"/>
                </a:solidFill>
              </a:rPr>
              <a:t>2</a:t>
            </a:r>
            <a:r>
              <a:rPr lang="zh-CN" altLang="en-US" b="1">
                <a:solidFill>
                  <a:srgbClr val="FF0000"/>
                </a:solidFill>
              </a:rPr>
              <a:t>、</a:t>
            </a:r>
            <a:r>
              <a:rPr lang="en-US" altLang="zh-CN" b="1">
                <a:solidFill>
                  <a:srgbClr val="FF0000"/>
                </a:solidFill>
              </a:rPr>
              <a:t>R</a:t>
            </a:r>
            <a:r>
              <a:rPr lang="en-US" altLang="zh-CN" b="1" baseline="-25000">
                <a:solidFill>
                  <a:srgbClr val="FF0000"/>
                </a:solidFill>
              </a:rPr>
              <a:t>3</a:t>
            </a:r>
            <a:r>
              <a:rPr lang="zh-CN" altLang="en-US" b="1">
                <a:solidFill>
                  <a:srgbClr val="FF0000"/>
                </a:solidFill>
              </a:rPr>
              <a:t>、</a:t>
            </a:r>
            <a:r>
              <a:rPr lang="zh-CN" altLang="en-US" b="1"/>
              <a:t>和</a:t>
            </a:r>
            <a:r>
              <a:rPr lang="en-US" altLang="zh-CN" b="1">
                <a:solidFill>
                  <a:srgbClr val="FF0000"/>
                </a:solidFill>
              </a:rPr>
              <a:t>T</a:t>
            </a:r>
            <a:r>
              <a:rPr lang="en-US" altLang="zh-CN" b="1" baseline="-25000">
                <a:solidFill>
                  <a:srgbClr val="FF0000"/>
                </a:solidFill>
              </a:rPr>
              <a:t>5</a:t>
            </a:r>
            <a:r>
              <a:rPr lang="zh-CN" altLang="en-US" b="1"/>
              <a:t>为组成</a:t>
            </a:r>
            <a:r>
              <a:rPr lang="en-US" altLang="zh-CN" b="1"/>
              <a:t>U</a:t>
            </a:r>
            <a:r>
              <a:rPr lang="en-US" altLang="zh-CN" b="1" baseline="-25000"/>
              <a:t>BE</a:t>
            </a:r>
            <a:r>
              <a:rPr lang="zh-CN" altLang="en-US" b="1"/>
              <a:t>倍增电路以　　　消除交越失真。</a:t>
            </a:r>
          </a:p>
        </p:txBody>
      </p:sp>
      <p:graphicFrame>
        <p:nvGraphicFramePr>
          <p:cNvPr id="79874" name="Object 1"/>
          <p:cNvGraphicFramePr>
            <a:graphicFrameLocks noChangeAspect="1"/>
          </p:cNvGraphicFramePr>
          <p:nvPr/>
        </p:nvGraphicFramePr>
        <p:xfrm>
          <a:off x="2706688" y="1152525"/>
          <a:ext cx="6096000" cy="2870200"/>
        </p:xfrm>
        <a:graphic>
          <a:graphicData uri="http://schemas.openxmlformats.org/presentationml/2006/ole">
            <mc:AlternateContent xmlns:mc="http://schemas.openxmlformats.org/markup-compatibility/2006">
              <mc:Choice xmlns:v="urn:schemas-microsoft-com:vml" Requires="v">
                <p:oleObj spid="_x0000_s63491" name="Photo Editor 照片" r:id="rId5" imgW="24161905" imgH="11403017" progId="">
                  <p:embed/>
                </p:oleObj>
              </mc:Choice>
              <mc:Fallback>
                <p:oleObj name="Photo Editor 照片" r:id="rId5" imgW="24161905" imgH="11403017" progId="">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6688" y="1152525"/>
                        <a:ext cx="6096000"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a:spLocks noChangeArrowheads="1"/>
          </p:cNvSpPr>
          <p:nvPr/>
        </p:nvSpPr>
        <p:spPr bwMode="auto">
          <a:xfrm>
            <a:off x="5602288" y="1738313"/>
            <a:ext cx="1117600" cy="1525587"/>
          </a:xfrm>
          <a:prstGeom prst="rect">
            <a:avLst/>
          </a:prstGeom>
          <a:noFill/>
          <a:ln w="28575" algn="ctr">
            <a:solidFill>
              <a:srgbClr val="0000FF"/>
            </a:solidFill>
            <a:prstDash val="sysDot"/>
            <a:round/>
            <a:headEnd/>
            <a:tailEnd/>
          </a:ln>
        </p:spPr>
        <p:txBody>
          <a:body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3543">
                                            <p:txEl>
                                              <p:pRg st="0" end="0"/>
                                            </p:txEl>
                                          </p:spTgt>
                                        </p:tgtEl>
                                        <p:attrNameLst>
                                          <p:attrName>style.visibility</p:attrName>
                                        </p:attrNameLst>
                                      </p:cBhvr>
                                      <p:to>
                                        <p:strVal val="visible"/>
                                      </p:to>
                                    </p:set>
                                    <p:animEffect transition="in" filter="box(out)">
                                      <p:cBhvr>
                                        <p:cTn id="7" dur="500"/>
                                        <p:tgtEl>
                                          <p:spTgt spid="19354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3544">
                                            <p:txEl>
                                              <p:pRg st="0" end="0"/>
                                            </p:txEl>
                                          </p:spTgt>
                                        </p:tgtEl>
                                        <p:attrNameLst>
                                          <p:attrName>style.visibility</p:attrName>
                                        </p:attrNameLst>
                                      </p:cBhvr>
                                      <p:to>
                                        <p:strVal val="visible"/>
                                      </p:to>
                                    </p:set>
                                    <p:animEffect transition="in" filter="box(out)">
                                      <p:cBhvr>
                                        <p:cTn id="12" dur="500"/>
                                        <p:tgtEl>
                                          <p:spTgt spid="193544">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3546">
                                            <p:txEl>
                                              <p:pRg st="0" end="0"/>
                                            </p:txEl>
                                          </p:spTgt>
                                        </p:tgtEl>
                                        <p:attrNameLst>
                                          <p:attrName>style.visibility</p:attrName>
                                        </p:attrNameLst>
                                      </p:cBhvr>
                                      <p:to>
                                        <p:strVal val="visible"/>
                                      </p:to>
                                    </p:set>
                                    <p:animEffect transition="in" filter="box(out)">
                                      <p:cBhvr>
                                        <p:cTn id="17" dur="500"/>
                                        <p:tgtEl>
                                          <p:spTgt spid="19354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93547">
                                            <p:txEl>
                                              <p:pRg st="0" end="0"/>
                                            </p:txEl>
                                          </p:spTgt>
                                        </p:tgtEl>
                                        <p:attrNameLst>
                                          <p:attrName>style.visibility</p:attrName>
                                        </p:attrNameLst>
                                      </p:cBhvr>
                                      <p:to>
                                        <p:strVal val="visible"/>
                                      </p:to>
                                    </p:set>
                                    <p:animEffect transition="in" filter="box(out)">
                                      <p:cBhvr>
                                        <p:cTn id="26" dur="500"/>
                                        <p:tgtEl>
                                          <p:spTgt spid="193547">
                                            <p:txEl>
                                              <p:pRg st="0" end="0"/>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3" grpId="0" build="p" autoUpdateAnimBg="0"/>
      <p:bldP spid="193544" grpId="0" build="p" autoUpdateAnimBg="0"/>
      <p:bldP spid="193546" grpId="0" build="p" autoUpdateAnimBg="0"/>
      <p:bldP spid="193547" grpId="0" build="p" autoUpdateAnimBg="0"/>
      <p:bldP spid="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a:xfrm>
            <a:off x="250825" y="908050"/>
            <a:ext cx="3581400" cy="609600"/>
          </a:xfrm>
        </p:spPr>
        <p:txBody>
          <a:bodyPr/>
          <a:lstStyle/>
          <a:p>
            <a:pPr algn="l"/>
            <a:r>
              <a:rPr lang="en-US" altLang="zh-CN" sz="3200">
                <a:solidFill>
                  <a:srgbClr val="000000"/>
                </a:solidFill>
                <a:latin typeface="华文行楷" pitchFamily="2" charset="-122"/>
                <a:ea typeface="华文行楷" pitchFamily="2" charset="-122"/>
              </a:rPr>
              <a:t>2. </a:t>
            </a:r>
            <a:r>
              <a:rPr lang="zh-CN" altLang="en-US" sz="3200">
                <a:solidFill>
                  <a:srgbClr val="000000"/>
                </a:solidFill>
                <a:latin typeface="华文行楷" pitchFamily="2" charset="-122"/>
                <a:ea typeface="华文行楷" pitchFamily="2" charset="-122"/>
              </a:rPr>
              <a:t>基本性能分析</a:t>
            </a:r>
          </a:p>
        </p:txBody>
      </p:sp>
      <p:sp>
        <p:nvSpPr>
          <p:cNvPr id="77827" name="Text Box 3"/>
          <p:cNvSpPr txBox="1">
            <a:spLocks noChangeArrowheads="1"/>
          </p:cNvSpPr>
          <p:nvPr/>
        </p:nvSpPr>
        <p:spPr bwMode="auto">
          <a:xfrm>
            <a:off x="1116013" y="4508500"/>
            <a:ext cx="7086600" cy="822325"/>
          </a:xfrm>
          <a:prstGeom prst="rect">
            <a:avLst/>
          </a:prstGeom>
          <a:noFill/>
          <a:ln w="9525">
            <a:noFill/>
            <a:miter lim="800000"/>
            <a:headEnd/>
            <a:tailEnd/>
          </a:ln>
        </p:spPr>
        <p:txBody>
          <a:bodyPr>
            <a:spAutoFit/>
          </a:bodyPr>
          <a:lstStyle/>
          <a:p>
            <a:pPr algn="ctr" eaLnBrk="1" hangingPunct="1">
              <a:spcBef>
                <a:spcPct val="50000"/>
              </a:spcBef>
            </a:pPr>
            <a:r>
              <a:rPr lang="en-US" altLang="zh-CN" b="1"/>
              <a:t>    </a:t>
            </a:r>
            <a:r>
              <a:rPr lang="zh-CN" altLang="en-US" b="1"/>
              <a:t>输入电阻为</a:t>
            </a:r>
            <a:r>
              <a:rPr lang="en-US" altLang="zh-CN" b="1"/>
              <a:t>2</a:t>
            </a:r>
            <a:r>
              <a:rPr lang="en-US" altLang="zh-CN" b="1" i="1"/>
              <a:t>r</a:t>
            </a:r>
            <a:r>
              <a:rPr lang="en-US" altLang="zh-CN" b="1" baseline="-25000"/>
              <a:t>be</a:t>
            </a:r>
            <a:r>
              <a:rPr lang="zh-CN" altLang="en-US" b="1"/>
              <a:t>、电压放大倍数较大、输出电阻很小、最大不失真输出电压的峰值接近电源电压。</a:t>
            </a:r>
          </a:p>
        </p:txBody>
      </p:sp>
      <p:graphicFrame>
        <p:nvGraphicFramePr>
          <p:cNvPr id="80898" name="Object 2"/>
          <p:cNvGraphicFramePr>
            <a:graphicFrameLocks noChangeAspect="1"/>
          </p:cNvGraphicFramePr>
          <p:nvPr/>
        </p:nvGraphicFramePr>
        <p:xfrm>
          <a:off x="1331913" y="1412875"/>
          <a:ext cx="6096000" cy="2876550"/>
        </p:xfrm>
        <a:graphic>
          <a:graphicData uri="http://schemas.openxmlformats.org/presentationml/2006/ole">
            <mc:AlternateContent xmlns:mc="http://schemas.openxmlformats.org/markup-compatibility/2006">
              <mc:Choice xmlns:v="urn:schemas-microsoft-com:vml" Requires="v">
                <p:oleObj spid="_x0000_s64515" name="Photo Editor 照片" r:id="rId3" imgW="24161905" imgH="11403017" progId="">
                  <p:embed/>
                </p:oleObj>
              </mc:Choice>
              <mc:Fallback>
                <p:oleObj name="Photo Editor 照片" r:id="rId3" imgW="24161905" imgH="11403017"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412875"/>
                        <a:ext cx="60960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01" name="Line 5"/>
          <p:cNvSpPr>
            <a:spLocks noChangeShapeType="1"/>
          </p:cNvSpPr>
          <p:nvPr/>
        </p:nvSpPr>
        <p:spPr bwMode="auto">
          <a:xfrm>
            <a:off x="3389313" y="1408113"/>
            <a:ext cx="0" cy="2971800"/>
          </a:xfrm>
          <a:prstGeom prst="line">
            <a:avLst/>
          </a:prstGeom>
          <a:noFill/>
          <a:ln w="19050">
            <a:solidFill>
              <a:srgbClr val="FF3300"/>
            </a:solidFill>
            <a:prstDash val="lgDash"/>
            <a:round/>
            <a:headEnd/>
            <a:tailEnd/>
          </a:ln>
        </p:spPr>
        <p:txBody>
          <a:bodyPr wrap="none"/>
          <a:lstStyle/>
          <a:p>
            <a:endParaRPr lang="zh-CN" altLang="en-US"/>
          </a:p>
        </p:txBody>
      </p:sp>
      <p:sp>
        <p:nvSpPr>
          <p:cNvPr id="80902" name="Line 6"/>
          <p:cNvSpPr>
            <a:spLocks noChangeShapeType="1"/>
          </p:cNvSpPr>
          <p:nvPr/>
        </p:nvSpPr>
        <p:spPr bwMode="auto">
          <a:xfrm>
            <a:off x="5370513" y="1412875"/>
            <a:ext cx="0" cy="2971800"/>
          </a:xfrm>
          <a:prstGeom prst="line">
            <a:avLst/>
          </a:prstGeom>
          <a:noFill/>
          <a:ln w="19050">
            <a:solidFill>
              <a:srgbClr val="FF3300"/>
            </a:solidFill>
            <a:prstDash val="lgDash"/>
            <a:round/>
            <a:headEnd/>
            <a:tailEnd/>
          </a:ln>
        </p:spPr>
        <p:txBody>
          <a:bodyPr wrap="none"/>
          <a:lstStyle/>
          <a:p>
            <a:endParaRPr lang="zh-CN" altLang="en-US"/>
          </a:p>
        </p:txBody>
      </p:sp>
      <p:sp>
        <p:nvSpPr>
          <p:cNvPr id="77831" name="Text Box 7"/>
          <p:cNvSpPr txBox="1">
            <a:spLocks noChangeArrowheads="1"/>
          </p:cNvSpPr>
          <p:nvPr/>
        </p:nvSpPr>
        <p:spPr bwMode="auto">
          <a:xfrm>
            <a:off x="1042988" y="5373688"/>
            <a:ext cx="7491412" cy="822325"/>
          </a:xfrm>
          <a:prstGeom prst="rect">
            <a:avLst/>
          </a:prstGeom>
          <a:noFill/>
          <a:ln w="9525">
            <a:noFill/>
            <a:miter lim="800000"/>
            <a:headEnd/>
            <a:tailEnd/>
          </a:ln>
        </p:spPr>
        <p:txBody>
          <a:bodyPr>
            <a:spAutoFit/>
          </a:bodyPr>
          <a:lstStyle/>
          <a:p>
            <a:pPr algn="ctr" eaLnBrk="1" hangingPunct="1">
              <a:spcBef>
                <a:spcPct val="50000"/>
              </a:spcBef>
            </a:pPr>
            <a:r>
              <a:rPr lang="en-US" altLang="zh-CN" b="1"/>
              <a:t>    </a:t>
            </a:r>
            <a:r>
              <a:rPr lang="zh-CN" altLang="en-US" b="1">
                <a:solidFill>
                  <a:srgbClr val="A50021"/>
                </a:solidFill>
              </a:rPr>
              <a:t>整个电路可等效为一个双端输入单端输出的差分放大电路。</a:t>
            </a:r>
          </a:p>
        </p:txBody>
      </p:sp>
      <p:sp>
        <p:nvSpPr>
          <p:cNvPr id="2" name="文本框 1">
            <a:extLst>
              <a:ext uri="{FF2B5EF4-FFF2-40B4-BE49-F238E27FC236}">
                <a16:creationId xmlns:a16="http://schemas.microsoft.com/office/drawing/2014/main" id="{43C94F1D-2457-0F57-8B05-145B87BFEB82}"/>
              </a:ext>
            </a:extLst>
          </p:cNvPr>
          <p:cNvSpPr txBox="1"/>
          <p:nvPr/>
        </p:nvSpPr>
        <p:spPr>
          <a:xfrm>
            <a:off x="4314250" y="677217"/>
            <a:ext cx="3448945" cy="461665"/>
          </a:xfrm>
          <a:prstGeom prst="rect">
            <a:avLst/>
          </a:prstGeom>
          <a:solidFill>
            <a:schemeClr val="accent6">
              <a:lumMod val="20000"/>
              <a:lumOff val="80000"/>
            </a:schemeClr>
          </a:solidFill>
        </p:spPr>
        <p:txBody>
          <a:bodyPr wrap="square" rtlCol="0">
            <a:spAutoFit/>
          </a:bodyPr>
          <a:lstStyle/>
          <a:p>
            <a:r>
              <a:rPr lang="zh-CN" altLang="en-US" b="1" dirty="0">
                <a:solidFill>
                  <a:srgbClr val="FF0000"/>
                </a:solidFill>
              </a:rPr>
              <a:t>注意：动态信号的通路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wipe(left)">
                                      <p:cBhvr>
                                        <p:cTn id="7" dur="500"/>
                                        <p:tgtEl>
                                          <p:spTgt spid="77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31">
                                            <p:txEl>
                                              <p:pRg st="0" end="0"/>
                                            </p:txEl>
                                          </p:spTgt>
                                        </p:tgtEl>
                                        <p:attrNameLst>
                                          <p:attrName>style.visibility</p:attrName>
                                        </p:attrNameLst>
                                      </p:cBhvr>
                                      <p:to>
                                        <p:strVal val="visible"/>
                                      </p:to>
                                    </p:set>
                                    <p:animEffect transition="in" filter="wipe(left)">
                                      <p:cBhvr>
                                        <p:cTn id="12" dur="500"/>
                                        <p:tgtEl>
                                          <p:spTgt spid="778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autoUpdateAnimBg="0"/>
      <p:bldP spid="77831" grpId="0" build="p" autoUpdateAnimBg="0"/>
      <p:bldP spid="2"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5" name="Rectangle 2"/>
          <p:cNvSpPr>
            <a:spLocks noGrp="1" noChangeArrowheads="1"/>
          </p:cNvSpPr>
          <p:nvPr>
            <p:ph type="title"/>
          </p:nvPr>
        </p:nvSpPr>
        <p:spPr>
          <a:xfrm>
            <a:off x="684213" y="0"/>
            <a:ext cx="3903662" cy="620713"/>
          </a:xfrm>
          <a:solidFill>
            <a:schemeClr val="bg1"/>
          </a:solidFill>
        </p:spPr>
        <p:txBody>
          <a:bodyPr/>
          <a:lstStyle/>
          <a:p>
            <a:pPr algn="l"/>
            <a:r>
              <a:rPr lang="en-US" altLang="zh-CN" sz="3200">
                <a:solidFill>
                  <a:srgbClr val="000000"/>
                </a:solidFill>
                <a:latin typeface="华文行楷" pitchFamily="2" charset="-122"/>
                <a:ea typeface="华文行楷" pitchFamily="2" charset="-122"/>
              </a:rPr>
              <a:t>3. </a:t>
            </a:r>
            <a:r>
              <a:rPr lang="zh-CN" altLang="en-US" sz="3200">
                <a:solidFill>
                  <a:srgbClr val="000000"/>
                </a:solidFill>
                <a:latin typeface="华文行楷" pitchFamily="2" charset="-122"/>
                <a:ea typeface="华文行楷" pitchFamily="2" charset="-122"/>
              </a:rPr>
              <a:t>交流等效电路</a:t>
            </a:r>
          </a:p>
        </p:txBody>
      </p:sp>
      <p:graphicFrame>
        <p:nvGraphicFramePr>
          <p:cNvPr id="81922" name="Object 2"/>
          <p:cNvGraphicFramePr>
            <a:graphicFrameLocks noChangeAspect="1"/>
          </p:cNvGraphicFramePr>
          <p:nvPr/>
        </p:nvGraphicFramePr>
        <p:xfrm>
          <a:off x="914400" y="914400"/>
          <a:ext cx="5638800" cy="2660650"/>
        </p:xfrm>
        <a:graphic>
          <a:graphicData uri="http://schemas.openxmlformats.org/presentationml/2006/ole">
            <mc:AlternateContent xmlns:mc="http://schemas.openxmlformats.org/markup-compatibility/2006">
              <mc:Choice xmlns:v="urn:schemas-microsoft-com:vml" Requires="v">
                <p:oleObj spid="_x0000_s65541" name="Photo Editor 照片" r:id="rId4" imgW="24161905" imgH="11403017" progId="">
                  <p:embed/>
                </p:oleObj>
              </mc:Choice>
              <mc:Fallback>
                <p:oleObj name="Photo Editor 照片" r:id="rId4" imgW="24161905" imgH="11403017"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914400"/>
                        <a:ext cx="5638800" cy="266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6" name="Line 4"/>
          <p:cNvSpPr>
            <a:spLocks noChangeShapeType="1"/>
          </p:cNvSpPr>
          <p:nvPr/>
        </p:nvSpPr>
        <p:spPr bwMode="auto">
          <a:xfrm>
            <a:off x="2824163" y="914400"/>
            <a:ext cx="0" cy="2819400"/>
          </a:xfrm>
          <a:prstGeom prst="line">
            <a:avLst/>
          </a:prstGeom>
          <a:noFill/>
          <a:ln w="19050">
            <a:solidFill>
              <a:srgbClr val="FF3300"/>
            </a:solidFill>
            <a:prstDash val="lgDash"/>
            <a:round/>
            <a:headEnd/>
            <a:tailEnd/>
          </a:ln>
        </p:spPr>
        <p:txBody>
          <a:bodyPr wrap="none"/>
          <a:lstStyle/>
          <a:p>
            <a:endParaRPr lang="zh-CN" altLang="en-US"/>
          </a:p>
        </p:txBody>
      </p:sp>
      <p:sp>
        <p:nvSpPr>
          <p:cNvPr id="81927" name="Line 5"/>
          <p:cNvSpPr>
            <a:spLocks noChangeShapeType="1"/>
          </p:cNvSpPr>
          <p:nvPr/>
        </p:nvSpPr>
        <p:spPr bwMode="auto">
          <a:xfrm>
            <a:off x="4648200" y="914400"/>
            <a:ext cx="0" cy="2819400"/>
          </a:xfrm>
          <a:prstGeom prst="line">
            <a:avLst/>
          </a:prstGeom>
          <a:noFill/>
          <a:ln w="19050">
            <a:solidFill>
              <a:srgbClr val="FF3300"/>
            </a:solidFill>
            <a:prstDash val="lgDash"/>
            <a:round/>
            <a:headEnd/>
            <a:tailEnd/>
          </a:ln>
        </p:spPr>
        <p:txBody>
          <a:bodyPr wrap="none"/>
          <a:lstStyle/>
          <a:p>
            <a:endParaRPr lang="zh-CN" altLang="en-US"/>
          </a:p>
        </p:txBody>
      </p:sp>
      <p:graphicFrame>
        <p:nvGraphicFramePr>
          <p:cNvPr id="78854" name="Object 3"/>
          <p:cNvGraphicFramePr>
            <a:graphicFrameLocks noChangeAspect="1"/>
          </p:cNvGraphicFramePr>
          <p:nvPr/>
        </p:nvGraphicFramePr>
        <p:xfrm>
          <a:off x="838200" y="3657600"/>
          <a:ext cx="2173288" cy="2565400"/>
        </p:xfrm>
        <a:graphic>
          <a:graphicData uri="http://schemas.openxmlformats.org/presentationml/2006/ole">
            <mc:AlternateContent xmlns:mc="http://schemas.openxmlformats.org/markup-compatibility/2006">
              <mc:Choice xmlns:v="urn:schemas-microsoft-com:vml" Requires="v">
                <p:oleObj spid="_x0000_s65542" name="Photo Editor 照片" r:id="rId6" imgW="7590476" imgH="8961905" progId="">
                  <p:embed/>
                </p:oleObj>
              </mc:Choice>
              <mc:Fallback>
                <p:oleObj name="Photo Editor 照片" r:id="rId6" imgW="7590476" imgH="8961905" progId="">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657600"/>
                        <a:ext cx="2173288"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55" name="Object 4"/>
          <p:cNvGraphicFramePr>
            <a:graphicFrameLocks noChangeAspect="1"/>
          </p:cNvGraphicFramePr>
          <p:nvPr/>
        </p:nvGraphicFramePr>
        <p:xfrm>
          <a:off x="2971800" y="3657600"/>
          <a:ext cx="2219325" cy="2590800"/>
        </p:xfrm>
        <a:graphic>
          <a:graphicData uri="http://schemas.openxmlformats.org/presentationml/2006/ole">
            <mc:AlternateContent xmlns:mc="http://schemas.openxmlformats.org/markup-compatibility/2006">
              <mc:Choice xmlns:v="urn:schemas-microsoft-com:vml" Requires="v">
                <p:oleObj spid="_x0000_s65543" name="Photo Editor 照片" r:id="rId8" imgW="7744906" imgH="9038095" progId="">
                  <p:embed/>
                </p:oleObj>
              </mc:Choice>
              <mc:Fallback>
                <p:oleObj name="Photo Editor 照片" r:id="rId8" imgW="7744906" imgH="9038095" progId="">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800" y="3657600"/>
                        <a:ext cx="22193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857" name="Text Box 9"/>
          <p:cNvSpPr txBox="1">
            <a:spLocks noChangeArrowheads="1"/>
          </p:cNvSpPr>
          <p:nvPr/>
        </p:nvSpPr>
        <p:spPr bwMode="auto">
          <a:xfrm>
            <a:off x="6858000" y="1700213"/>
            <a:ext cx="2286000" cy="1938337"/>
          </a:xfrm>
          <a:prstGeom prst="rect">
            <a:avLst/>
          </a:prstGeom>
          <a:noFill/>
          <a:ln w="9525">
            <a:noFill/>
            <a:miter lim="800000"/>
            <a:headEnd/>
            <a:tailEnd/>
          </a:ln>
        </p:spPr>
        <p:txBody>
          <a:bodyPr>
            <a:spAutoFit/>
          </a:bodyPr>
          <a:lstStyle/>
          <a:p>
            <a:pPr algn="ctr" eaLnBrk="1" hangingPunct="1">
              <a:spcBef>
                <a:spcPct val="50000"/>
              </a:spcBef>
            </a:pPr>
            <a:r>
              <a:rPr lang="en-US" altLang="zh-CN"/>
              <a:t>    </a:t>
            </a:r>
            <a:r>
              <a:rPr lang="zh-CN" altLang="en-US" b="1">
                <a:solidFill>
                  <a:srgbClr val="A50021"/>
                </a:solidFill>
              </a:rPr>
              <a:t>可估算低频小信号下的电压放大倍数、输入电阻、输出电阻等。</a:t>
            </a:r>
          </a:p>
        </p:txBody>
      </p:sp>
      <p:sp>
        <p:nvSpPr>
          <p:cNvPr id="78858" name="Freeform 10"/>
          <p:cNvSpPr>
            <a:spLocks/>
          </p:cNvSpPr>
          <p:nvPr/>
        </p:nvSpPr>
        <p:spPr bwMode="auto">
          <a:xfrm>
            <a:off x="3348038" y="1557338"/>
            <a:ext cx="381000" cy="1150937"/>
          </a:xfrm>
          <a:custGeom>
            <a:avLst/>
            <a:gdLst>
              <a:gd name="T0" fmla="*/ 2147483647 w 336"/>
              <a:gd name="T1" fmla="*/ 0 h 816"/>
              <a:gd name="T2" fmla="*/ 2147483647 w 336"/>
              <a:gd name="T3" fmla="*/ 2147483647 h 816"/>
              <a:gd name="T4" fmla="*/ 2147483647 w 336"/>
              <a:gd name="T5" fmla="*/ 2147483647 h 816"/>
              <a:gd name="T6" fmla="*/ 2147483647 w 336"/>
              <a:gd name="T7" fmla="*/ 2147483647 h 816"/>
              <a:gd name="T8" fmla="*/ 0 60000 65536"/>
              <a:gd name="T9" fmla="*/ 0 60000 65536"/>
              <a:gd name="T10" fmla="*/ 0 60000 65536"/>
              <a:gd name="T11" fmla="*/ 0 60000 65536"/>
              <a:gd name="T12" fmla="*/ 0 w 336"/>
              <a:gd name="T13" fmla="*/ 0 h 816"/>
              <a:gd name="T14" fmla="*/ 336 w 336"/>
              <a:gd name="T15" fmla="*/ 816 h 816"/>
            </a:gdLst>
            <a:ahLst/>
            <a:cxnLst>
              <a:cxn ang="T8">
                <a:pos x="T0" y="T1"/>
              </a:cxn>
              <a:cxn ang="T9">
                <a:pos x="T2" y="T3"/>
              </a:cxn>
              <a:cxn ang="T10">
                <a:pos x="T4" y="T5"/>
              </a:cxn>
              <a:cxn ang="T11">
                <a:pos x="T6" y="T7"/>
              </a:cxn>
            </a:cxnLst>
            <a:rect l="T12" t="T13" r="T14" b="T15"/>
            <a:pathLst>
              <a:path w="336" h="816">
                <a:moveTo>
                  <a:pt x="336" y="0"/>
                </a:moveTo>
                <a:cubicBezTo>
                  <a:pt x="216" y="24"/>
                  <a:pt x="96" y="48"/>
                  <a:pt x="48" y="144"/>
                </a:cubicBezTo>
                <a:cubicBezTo>
                  <a:pt x="0" y="240"/>
                  <a:pt x="0" y="464"/>
                  <a:pt x="48" y="576"/>
                </a:cubicBezTo>
                <a:cubicBezTo>
                  <a:pt x="96" y="688"/>
                  <a:pt x="288" y="776"/>
                  <a:pt x="336" y="816"/>
                </a:cubicBezTo>
              </a:path>
            </a:pathLst>
          </a:custGeom>
          <a:noFill/>
          <a:ln w="19050">
            <a:solidFill>
              <a:srgbClr val="FF3300"/>
            </a:solidFill>
            <a:prstDash val="lgDash"/>
            <a:round/>
            <a:headEnd/>
            <a:tailEnd/>
          </a:ln>
        </p:spPr>
        <p:txBody>
          <a:bodyPr/>
          <a:lstStyle/>
          <a:p>
            <a:endParaRPr lang="zh-CN" altLang="en-US"/>
          </a:p>
        </p:txBody>
      </p:sp>
      <p:grpSp>
        <p:nvGrpSpPr>
          <p:cNvPr id="2" name="Group 11"/>
          <p:cNvGrpSpPr>
            <a:grpSpLocks/>
          </p:cNvGrpSpPr>
          <p:nvPr/>
        </p:nvGrpSpPr>
        <p:grpSpPr bwMode="auto">
          <a:xfrm>
            <a:off x="900113" y="1196975"/>
            <a:ext cx="5132387" cy="1836738"/>
            <a:chOff x="567" y="754"/>
            <a:chExt cx="3233" cy="1157"/>
          </a:xfrm>
        </p:grpSpPr>
        <p:sp>
          <p:nvSpPr>
            <p:cNvPr id="81936" name="Text Box 12"/>
            <p:cNvSpPr txBox="1">
              <a:spLocks noChangeArrowheads="1"/>
            </p:cNvSpPr>
            <p:nvPr/>
          </p:nvSpPr>
          <p:spPr bwMode="auto">
            <a:xfrm>
              <a:off x="567" y="1117"/>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ea typeface="黑体" pitchFamily="49" charset="-122"/>
                </a:rPr>
                <a:t>＋</a:t>
              </a:r>
            </a:p>
          </p:txBody>
        </p:sp>
        <p:sp>
          <p:nvSpPr>
            <p:cNvPr id="81937" name="Text Box 13"/>
            <p:cNvSpPr txBox="1">
              <a:spLocks noChangeArrowheads="1"/>
            </p:cNvSpPr>
            <p:nvPr/>
          </p:nvSpPr>
          <p:spPr bwMode="auto">
            <a:xfrm>
              <a:off x="975" y="1616"/>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a:solidFill>
                    <a:srgbClr val="FF3300"/>
                  </a:solidFill>
                </a:rPr>
                <a:t>－</a:t>
              </a:r>
            </a:p>
          </p:txBody>
        </p:sp>
        <p:sp>
          <p:nvSpPr>
            <p:cNvPr id="81938" name="Text Box 14"/>
            <p:cNvSpPr txBox="1">
              <a:spLocks noChangeArrowheads="1"/>
            </p:cNvSpPr>
            <p:nvPr/>
          </p:nvSpPr>
          <p:spPr bwMode="auto">
            <a:xfrm>
              <a:off x="1519" y="1162"/>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a:solidFill>
                    <a:srgbClr val="FF3300"/>
                  </a:solidFill>
                  <a:ea typeface="黑体" pitchFamily="49" charset="-122"/>
                </a:rPr>
                <a:t>－</a:t>
              </a:r>
            </a:p>
          </p:txBody>
        </p:sp>
        <p:sp>
          <p:nvSpPr>
            <p:cNvPr id="81939" name="Text Box 15"/>
            <p:cNvSpPr txBox="1">
              <a:spLocks noChangeArrowheads="1"/>
            </p:cNvSpPr>
            <p:nvPr/>
          </p:nvSpPr>
          <p:spPr bwMode="auto">
            <a:xfrm>
              <a:off x="2336" y="1661"/>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rPr>
                <a:t>＋</a:t>
              </a:r>
            </a:p>
          </p:txBody>
        </p:sp>
        <p:sp>
          <p:nvSpPr>
            <p:cNvPr id="81940" name="Text Box 16"/>
            <p:cNvSpPr txBox="1">
              <a:spLocks noChangeArrowheads="1"/>
            </p:cNvSpPr>
            <p:nvPr/>
          </p:nvSpPr>
          <p:spPr bwMode="auto">
            <a:xfrm>
              <a:off x="3560" y="1117"/>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rPr>
                <a:t>＋</a:t>
              </a:r>
            </a:p>
          </p:txBody>
        </p:sp>
        <p:sp>
          <p:nvSpPr>
            <p:cNvPr id="81941" name="Text Box 17"/>
            <p:cNvSpPr txBox="1">
              <a:spLocks noChangeArrowheads="1"/>
            </p:cNvSpPr>
            <p:nvPr/>
          </p:nvSpPr>
          <p:spPr bwMode="auto">
            <a:xfrm>
              <a:off x="2336" y="754"/>
              <a:ext cx="240" cy="250"/>
            </a:xfrm>
            <a:prstGeom prst="rect">
              <a:avLst/>
            </a:prstGeom>
            <a:noFill/>
            <a:ln w="9525">
              <a:noFill/>
              <a:miter lim="800000"/>
              <a:headEnd/>
              <a:tailEnd/>
            </a:ln>
          </p:spPr>
          <p:txBody>
            <a:bodyPr>
              <a:spAutoFit/>
            </a:bodyPr>
            <a:lstStyle/>
            <a:p>
              <a:pPr algn="ctr" eaLnBrk="1" hangingPunct="1">
                <a:spcBef>
                  <a:spcPct val="50000"/>
                </a:spcBef>
              </a:pPr>
              <a:r>
                <a:rPr lang="zh-CN" altLang="en-US" sz="2000" b="1">
                  <a:solidFill>
                    <a:srgbClr val="FF3300"/>
                  </a:solidFill>
                </a:rPr>
                <a:t>＋</a:t>
              </a:r>
            </a:p>
          </p:txBody>
        </p:sp>
      </p:grpSp>
      <p:pic>
        <p:nvPicPr>
          <p:cNvPr id="3" name="Picture 14"/>
          <p:cNvPicPr>
            <a:picLocks noChangeAspect="1" noChangeArrowheads="1"/>
          </p:cNvPicPr>
          <p:nvPr/>
        </p:nvPicPr>
        <p:blipFill>
          <a:blip r:embed="rId10"/>
          <a:srcRect/>
          <a:stretch>
            <a:fillRect/>
          </a:stretch>
        </p:blipFill>
        <p:spPr bwMode="auto">
          <a:xfrm>
            <a:off x="5191125" y="3587750"/>
            <a:ext cx="2990850" cy="2698750"/>
          </a:xfrm>
          <a:prstGeom prst="rect">
            <a:avLst/>
          </a:prstGeom>
          <a:noFill/>
          <a:ln w="9525">
            <a:noFill/>
            <a:miter lim="800000"/>
            <a:headEnd/>
            <a:tailEnd/>
          </a:ln>
        </p:spPr>
      </p:pic>
      <p:sp>
        <p:nvSpPr>
          <p:cNvPr id="18" name="Text Box 9"/>
          <p:cNvSpPr txBox="1">
            <a:spLocks noChangeArrowheads="1"/>
          </p:cNvSpPr>
          <p:nvPr/>
        </p:nvSpPr>
        <p:spPr bwMode="auto">
          <a:xfrm>
            <a:off x="6858000" y="800100"/>
            <a:ext cx="2286000" cy="830263"/>
          </a:xfrm>
          <a:prstGeom prst="rect">
            <a:avLst/>
          </a:prstGeom>
          <a:noFill/>
          <a:ln w="9525">
            <a:noFill/>
            <a:miter lim="800000"/>
            <a:headEnd/>
            <a:tailEnd/>
          </a:ln>
        </p:spPr>
        <p:txBody>
          <a:bodyPr>
            <a:spAutoFit/>
          </a:bodyPr>
          <a:lstStyle/>
          <a:p>
            <a:pPr algn="ctr" eaLnBrk="1" hangingPunct="1">
              <a:spcBef>
                <a:spcPct val="50000"/>
              </a:spcBef>
            </a:pPr>
            <a:r>
              <a:rPr lang="zh-CN" altLang="en-US" b="1">
                <a:solidFill>
                  <a:srgbClr val="A50021"/>
                </a:solidFill>
              </a:rPr>
              <a:t>判断输入输出同向</a:t>
            </a:r>
            <a:r>
              <a:rPr lang="en-US" altLang="zh-CN" b="1">
                <a:solidFill>
                  <a:srgbClr val="A50021"/>
                </a:solidFill>
              </a:rPr>
              <a:t>/</a:t>
            </a:r>
            <a:r>
              <a:rPr lang="zh-CN" altLang="en-US" b="1">
                <a:solidFill>
                  <a:srgbClr val="A50021"/>
                </a:solidFill>
              </a:rPr>
              <a:t>反向问题</a:t>
            </a:r>
          </a:p>
        </p:txBody>
      </p:sp>
      <p:sp>
        <p:nvSpPr>
          <p:cNvPr id="19" name="矩形 18"/>
          <p:cNvSpPr>
            <a:spLocks noChangeArrowheads="1"/>
          </p:cNvSpPr>
          <p:nvPr/>
        </p:nvSpPr>
        <p:spPr bwMode="auto">
          <a:xfrm>
            <a:off x="3595688" y="1463675"/>
            <a:ext cx="830262" cy="1412875"/>
          </a:xfrm>
          <a:prstGeom prst="rect">
            <a:avLst/>
          </a:prstGeom>
          <a:noFill/>
          <a:ln w="28575" algn="ctr">
            <a:solidFill>
              <a:srgbClr val="0000FF"/>
            </a:solidFill>
            <a:prstDash val="sysDot"/>
            <a:round/>
            <a:headEnd/>
            <a:tailEnd/>
          </a:ln>
        </p:spPr>
        <p:txBody>
          <a:bodyPr/>
          <a:lstStyle/>
          <a:p>
            <a:pPr algn="ctr" eaLnBrk="1" hangingPunct="1"/>
            <a:endParaRPr lang="zh-CN" altLang="en-US"/>
          </a:p>
        </p:txBody>
      </p:sp>
      <p:sp>
        <p:nvSpPr>
          <p:cNvPr id="20" name="椭圆 19"/>
          <p:cNvSpPr/>
          <p:nvPr/>
        </p:nvSpPr>
        <p:spPr bwMode="auto">
          <a:xfrm flipH="1">
            <a:off x="5092700" y="3692525"/>
            <a:ext cx="228600" cy="260350"/>
          </a:xfrm>
          <a:prstGeom prst="ellipse">
            <a:avLst/>
          </a:prstGeom>
          <a:solidFill>
            <a:schemeClr val="accent5"/>
          </a:solidFill>
          <a:ln w="19050" cap="flat" cmpd="sng" algn="ctr">
            <a:solidFill>
              <a:srgbClr val="FF0000"/>
            </a:solidFill>
            <a:prstDash val="sysDot"/>
            <a:round/>
            <a:headEnd type="none" w="med" len="med"/>
            <a:tailEnd type="none" w="med" len="med"/>
          </a:ln>
          <a:effectLst/>
        </p:spPr>
        <p:txBody>
          <a:bodyPr/>
          <a:lstStyle/>
          <a:p>
            <a:pPr algn="ctr" eaLnBrk="1" hangingPunct="1">
              <a:defRPr/>
            </a:pPr>
            <a:endParaRPr lang="zh-CN" altLang="en-US"/>
          </a:p>
        </p:txBody>
      </p:sp>
      <p:cxnSp>
        <p:nvCxnSpPr>
          <p:cNvPr id="5" name="直接箭头连接符 4"/>
          <p:cNvCxnSpPr>
            <a:cxnSpLocks noChangeShapeType="1"/>
          </p:cNvCxnSpPr>
          <p:nvPr/>
        </p:nvCxnSpPr>
        <p:spPr bwMode="auto">
          <a:xfrm>
            <a:off x="4262438" y="2876550"/>
            <a:ext cx="882650" cy="857250"/>
          </a:xfrm>
          <a:prstGeom prst="straightConnector1">
            <a:avLst/>
          </a:prstGeom>
          <a:noFill/>
          <a:ln w="57150" algn="ctr">
            <a:solidFill>
              <a:schemeClr val="tx1"/>
            </a:solidFill>
            <a:round/>
            <a:headEnd/>
            <a:tailEnd type="triangle" w="med" len="med"/>
          </a:ln>
        </p:spPr>
      </p:cxnSp>
      <p:sp>
        <p:nvSpPr>
          <p:cNvPr id="4" name="文本框 3">
            <a:extLst>
              <a:ext uri="{FF2B5EF4-FFF2-40B4-BE49-F238E27FC236}">
                <a16:creationId xmlns:a16="http://schemas.microsoft.com/office/drawing/2014/main" id="{530FEE37-4574-44C3-8FD1-E8FF2A8C7CA8}"/>
              </a:ext>
            </a:extLst>
          </p:cNvPr>
          <p:cNvSpPr txBox="1"/>
          <p:nvPr/>
        </p:nvSpPr>
        <p:spPr>
          <a:xfrm>
            <a:off x="7309062" y="5461852"/>
            <a:ext cx="1767431" cy="1200329"/>
          </a:xfrm>
          <a:prstGeom prst="rect">
            <a:avLst/>
          </a:prstGeom>
          <a:solidFill>
            <a:schemeClr val="accent5">
              <a:lumMod val="20000"/>
              <a:lumOff val="80000"/>
            </a:schemeClr>
          </a:solidFill>
        </p:spPr>
        <p:txBody>
          <a:bodyPr wrap="square" rtlCol="0">
            <a:spAutoFit/>
          </a:bodyPr>
          <a:lstStyle/>
          <a:p>
            <a:r>
              <a:rPr lang="zh-CN" altLang="en-US" b="1" dirty="0"/>
              <a:t>为什么微变等效电路只画一半？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78854"/>
                                        </p:tgtEl>
                                        <p:attrNameLst>
                                          <p:attrName>style.visibility</p:attrName>
                                        </p:attrNameLst>
                                      </p:cBhvr>
                                      <p:to>
                                        <p:strVal val="visible"/>
                                      </p:to>
                                    </p:set>
                                    <p:anim calcmode="lin" valueType="num">
                                      <p:cBhvr>
                                        <p:cTn id="17" dur="500" fill="hold"/>
                                        <p:tgtEl>
                                          <p:spTgt spid="78854"/>
                                        </p:tgtEl>
                                        <p:attrNameLst>
                                          <p:attrName>ppt_x</p:attrName>
                                        </p:attrNameLst>
                                      </p:cBhvr>
                                      <p:tavLst>
                                        <p:tav tm="0">
                                          <p:val>
                                            <p:strVal val="#ppt_x-#ppt_w/2"/>
                                          </p:val>
                                        </p:tav>
                                        <p:tav tm="100000">
                                          <p:val>
                                            <p:strVal val="#ppt_x"/>
                                          </p:val>
                                        </p:tav>
                                      </p:tavLst>
                                    </p:anim>
                                    <p:anim calcmode="lin" valueType="num">
                                      <p:cBhvr>
                                        <p:cTn id="18" dur="500" fill="hold"/>
                                        <p:tgtEl>
                                          <p:spTgt spid="78854"/>
                                        </p:tgtEl>
                                        <p:attrNameLst>
                                          <p:attrName>ppt_y</p:attrName>
                                        </p:attrNameLst>
                                      </p:cBhvr>
                                      <p:tavLst>
                                        <p:tav tm="0">
                                          <p:val>
                                            <p:strVal val="#ppt_y"/>
                                          </p:val>
                                        </p:tav>
                                        <p:tav tm="100000">
                                          <p:val>
                                            <p:strVal val="#ppt_y"/>
                                          </p:val>
                                        </p:tav>
                                      </p:tavLst>
                                    </p:anim>
                                    <p:anim calcmode="lin" valueType="num">
                                      <p:cBhvr>
                                        <p:cTn id="19" dur="500" fill="hold"/>
                                        <p:tgtEl>
                                          <p:spTgt spid="78854"/>
                                        </p:tgtEl>
                                        <p:attrNameLst>
                                          <p:attrName>ppt_w</p:attrName>
                                        </p:attrNameLst>
                                      </p:cBhvr>
                                      <p:tavLst>
                                        <p:tav tm="0">
                                          <p:val>
                                            <p:fltVal val="0"/>
                                          </p:val>
                                        </p:tav>
                                        <p:tav tm="100000">
                                          <p:val>
                                            <p:strVal val="#ppt_w"/>
                                          </p:val>
                                        </p:tav>
                                      </p:tavLst>
                                    </p:anim>
                                    <p:anim calcmode="lin" valueType="num">
                                      <p:cBhvr>
                                        <p:cTn id="20" dur="500" fill="hold"/>
                                        <p:tgtEl>
                                          <p:spTgt spid="78854"/>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78858"/>
                                        </p:tgtEl>
                                        <p:attrNameLst>
                                          <p:attrName>style.visibility</p:attrName>
                                        </p:attrNameLst>
                                      </p:cBhvr>
                                      <p:to>
                                        <p:strVal val="visible"/>
                                      </p:to>
                                    </p:set>
                                    <p:animEffect transition="in" filter="wipe(up)">
                                      <p:cBhvr>
                                        <p:cTn id="25" dur="500"/>
                                        <p:tgtEl>
                                          <p:spTgt spid="788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8" fill="hold" nodeType="clickEffect">
                                  <p:stCondLst>
                                    <p:cond delay="0"/>
                                  </p:stCondLst>
                                  <p:childTnLst>
                                    <p:set>
                                      <p:cBhvr>
                                        <p:cTn id="29" dur="1" fill="hold">
                                          <p:stCondLst>
                                            <p:cond delay="0"/>
                                          </p:stCondLst>
                                        </p:cTn>
                                        <p:tgtEl>
                                          <p:spTgt spid="78855"/>
                                        </p:tgtEl>
                                        <p:attrNameLst>
                                          <p:attrName>style.visibility</p:attrName>
                                        </p:attrNameLst>
                                      </p:cBhvr>
                                      <p:to>
                                        <p:strVal val="visible"/>
                                      </p:to>
                                    </p:set>
                                    <p:anim calcmode="lin" valueType="num">
                                      <p:cBhvr>
                                        <p:cTn id="30" dur="500" fill="hold"/>
                                        <p:tgtEl>
                                          <p:spTgt spid="78855"/>
                                        </p:tgtEl>
                                        <p:attrNameLst>
                                          <p:attrName>ppt_x</p:attrName>
                                        </p:attrNameLst>
                                      </p:cBhvr>
                                      <p:tavLst>
                                        <p:tav tm="0">
                                          <p:val>
                                            <p:strVal val="#ppt_x-#ppt_w/2"/>
                                          </p:val>
                                        </p:tav>
                                        <p:tav tm="100000">
                                          <p:val>
                                            <p:strVal val="#ppt_x"/>
                                          </p:val>
                                        </p:tav>
                                      </p:tavLst>
                                    </p:anim>
                                    <p:anim calcmode="lin" valueType="num">
                                      <p:cBhvr>
                                        <p:cTn id="31" dur="500" fill="hold"/>
                                        <p:tgtEl>
                                          <p:spTgt spid="78855"/>
                                        </p:tgtEl>
                                        <p:attrNameLst>
                                          <p:attrName>ppt_y</p:attrName>
                                        </p:attrNameLst>
                                      </p:cBhvr>
                                      <p:tavLst>
                                        <p:tav tm="0">
                                          <p:val>
                                            <p:strVal val="#ppt_y"/>
                                          </p:val>
                                        </p:tav>
                                        <p:tav tm="100000">
                                          <p:val>
                                            <p:strVal val="#ppt_y"/>
                                          </p:val>
                                        </p:tav>
                                      </p:tavLst>
                                    </p:anim>
                                    <p:anim calcmode="lin" valueType="num">
                                      <p:cBhvr>
                                        <p:cTn id="32" dur="500" fill="hold"/>
                                        <p:tgtEl>
                                          <p:spTgt spid="78855"/>
                                        </p:tgtEl>
                                        <p:attrNameLst>
                                          <p:attrName>ppt_w</p:attrName>
                                        </p:attrNameLst>
                                      </p:cBhvr>
                                      <p:tavLst>
                                        <p:tav tm="0">
                                          <p:val>
                                            <p:fltVal val="0"/>
                                          </p:val>
                                        </p:tav>
                                        <p:tav tm="100000">
                                          <p:val>
                                            <p:strVal val="#ppt_w"/>
                                          </p:val>
                                        </p:tav>
                                      </p:tavLst>
                                    </p:anim>
                                    <p:anim calcmode="lin" valueType="num">
                                      <p:cBhvr>
                                        <p:cTn id="33" dur="500" fill="hold"/>
                                        <p:tgtEl>
                                          <p:spTgt spid="78855"/>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8857"/>
                                        </p:tgtEl>
                                        <p:attrNameLst>
                                          <p:attrName>style.visibility</p:attrName>
                                        </p:attrNameLst>
                                      </p:cBhvr>
                                      <p:to>
                                        <p:strVal val="visible"/>
                                      </p:to>
                                    </p:set>
                                    <p:animEffect transition="in" filter="wipe(left)">
                                      <p:cBhvr>
                                        <p:cTn id="38" dur="500"/>
                                        <p:tgtEl>
                                          <p:spTgt spid="788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linds(horizontal)">
                                      <p:cBhvr>
                                        <p:cTn id="43" dur="500"/>
                                        <p:tgtEl>
                                          <p:spTgt spid="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7" grpId="0" autoUpdateAnimBg="0"/>
      <p:bldP spid="78858" grpId="0" animBg="1"/>
      <p:bldP spid="18" grpId="0" autoUpdateAnimBg="0"/>
      <p:bldP spid="19" grpId="0" animBg="1"/>
      <p:bldP spid="20" grpId="0" animBg="1"/>
      <p:bldP spid="4" grpId="0"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8" name="Rectangle 2"/>
          <p:cNvSpPr>
            <a:spLocks noGrp="1" noChangeArrowheads="1"/>
          </p:cNvSpPr>
          <p:nvPr>
            <p:ph type="title"/>
          </p:nvPr>
        </p:nvSpPr>
        <p:spPr>
          <a:xfrm>
            <a:off x="684213" y="0"/>
            <a:ext cx="3903662" cy="620713"/>
          </a:xfrm>
          <a:solidFill>
            <a:schemeClr val="bg1"/>
          </a:solidFill>
        </p:spPr>
        <p:txBody>
          <a:bodyPr/>
          <a:lstStyle/>
          <a:p>
            <a:pPr algn="l"/>
            <a:r>
              <a:rPr lang="en-US" altLang="zh-CN" sz="3200">
                <a:solidFill>
                  <a:srgbClr val="000000"/>
                </a:solidFill>
                <a:latin typeface="华文行楷" pitchFamily="2" charset="-122"/>
                <a:ea typeface="华文行楷" pitchFamily="2" charset="-122"/>
              </a:rPr>
              <a:t>3. </a:t>
            </a:r>
            <a:r>
              <a:rPr lang="zh-CN" altLang="en-US" sz="3200">
                <a:solidFill>
                  <a:srgbClr val="000000"/>
                </a:solidFill>
                <a:latin typeface="华文行楷" pitchFamily="2" charset="-122"/>
                <a:ea typeface="华文行楷" pitchFamily="2" charset="-122"/>
              </a:rPr>
              <a:t>交流等效电路</a:t>
            </a:r>
          </a:p>
        </p:txBody>
      </p:sp>
      <p:grpSp>
        <p:nvGrpSpPr>
          <p:cNvPr id="82949" name="组合 17"/>
          <p:cNvGrpSpPr>
            <a:grpSpLocks/>
          </p:cNvGrpSpPr>
          <p:nvPr/>
        </p:nvGrpSpPr>
        <p:grpSpPr bwMode="auto">
          <a:xfrm>
            <a:off x="300038" y="773113"/>
            <a:ext cx="7343775" cy="2698750"/>
            <a:chOff x="180975" y="1115930"/>
            <a:chExt cx="7343130" cy="2698832"/>
          </a:xfrm>
        </p:grpSpPr>
        <p:graphicFrame>
          <p:nvGraphicFramePr>
            <p:cNvPr id="82946" name="Object 3"/>
            <p:cNvGraphicFramePr>
              <a:graphicFrameLocks noChangeAspect="1"/>
            </p:cNvGraphicFramePr>
            <p:nvPr/>
          </p:nvGraphicFramePr>
          <p:xfrm>
            <a:off x="180975" y="1185862"/>
            <a:ext cx="2173288" cy="2565400"/>
          </p:xfrm>
          <a:graphic>
            <a:graphicData uri="http://schemas.openxmlformats.org/presentationml/2006/ole">
              <mc:AlternateContent xmlns:mc="http://schemas.openxmlformats.org/markup-compatibility/2006">
                <mc:Choice xmlns:v="urn:schemas-microsoft-com:vml" Requires="v">
                  <p:oleObj spid="_x0000_s66564" name="Photo Editor 照片" r:id="rId4" imgW="7590476" imgH="8961905" progId="">
                    <p:embed/>
                  </p:oleObj>
                </mc:Choice>
                <mc:Fallback>
                  <p:oleObj name="Photo Editor 照片" r:id="rId4" imgW="7590476" imgH="8961905"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 y="1185862"/>
                          <a:ext cx="2173288"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47" name="Object 4"/>
            <p:cNvGraphicFramePr>
              <a:graphicFrameLocks noChangeAspect="1"/>
            </p:cNvGraphicFramePr>
            <p:nvPr/>
          </p:nvGraphicFramePr>
          <p:xfrm>
            <a:off x="2314575" y="1185862"/>
            <a:ext cx="2219325" cy="2590800"/>
          </p:xfrm>
          <a:graphic>
            <a:graphicData uri="http://schemas.openxmlformats.org/presentationml/2006/ole">
              <mc:AlternateContent xmlns:mc="http://schemas.openxmlformats.org/markup-compatibility/2006">
                <mc:Choice xmlns:v="urn:schemas-microsoft-com:vml" Requires="v">
                  <p:oleObj spid="_x0000_s66565" name="Photo Editor 照片" r:id="rId6" imgW="7744906" imgH="9038095" progId="">
                    <p:embed/>
                  </p:oleObj>
                </mc:Choice>
                <mc:Fallback>
                  <p:oleObj name="Photo Editor 照片" r:id="rId6" imgW="7744906" imgH="9038095" progId="">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4575" y="1185862"/>
                          <a:ext cx="22193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2956" name="Picture 14"/>
            <p:cNvPicPr>
              <a:picLocks noChangeAspect="1" noChangeArrowheads="1"/>
            </p:cNvPicPr>
            <p:nvPr/>
          </p:nvPicPr>
          <p:blipFill>
            <a:blip r:embed="rId8"/>
            <a:srcRect/>
            <a:stretch>
              <a:fillRect/>
            </a:stretch>
          </p:blipFill>
          <p:spPr bwMode="auto">
            <a:xfrm>
              <a:off x="4534545" y="1115930"/>
              <a:ext cx="2989560" cy="2698832"/>
            </a:xfrm>
            <a:prstGeom prst="rect">
              <a:avLst/>
            </a:prstGeom>
            <a:noFill/>
            <a:ln w="9525">
              <a:noFill/>
              <a:miter lim="800000"/>
              <a:headEnd/>
              <a:tailEnd/>
            </a:ln>
          </p:spPr>
        </p:pic>
      </p:grpSp>
      <p:sp>
        <p:nvSpPr>
          <p:cNvPr id="82950" name="AutoShape 82"/>
          <p:cNvSpPr>
            <a:spLocks noChangeArrowheads="1"/>
          </p:cNvSpPr>
          <p:nvPr/>
        </p:nvSpPr>
        <p:spPr bwMode="auto">
          <a:xfrm>
            <a:off x="2549525" y="1971675"/>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2951" name="TextBox 7"/>
          <p:cNvSpPr txBox="1">
            <a:spLocks noChangeArrowheads="1"/>
          </p:cNvSpPr>
          <p:nvPr/>
        </p:nvSpPr>
        <p:spPr bwMode="auto">
          <a:xfrm>
            <a:off x="2471738" y="2786063"/>
            <a:ext cx="657225" cy="461962"/>
          </a:xfrm>
          <a:prstGeom prst="rect">
            <a:avLst/>
          </a:prstGeom>
          <a:noFill/>
          <a:ln w="9525">
            <a:noFill/>
            <a:miter lim="800000"/>
            <a:headEnd/>
            <a:tailEnd/>
          </a:ln>
        </p:spPr>
        <p:txBody>
          <a:bodyPr>
            <a:spAutoFit/>
          </a:bodyPr>
          <a:lstStyle/>
          <a:p>
            <a:pPr algn="ctr" eaLnBrk="1" hangingPunct="1"/>
            <a:r>
              <a:rPr lang="en-US" altLang="zh-CN"/>
              <a:t>Ri2</a:t>
            </a:r>
            <a:endParaRPr lang="zh-CN" altLang="en-US"/>
          </a:p>
        </p:txBody>
      </p:sp>
      <p:sp>
        <p:nvSpPr>
          <p:cNvPr id="82952" name="AutoShape 82"/>
          <p:cNvSpPr>
            <a:spLocks noChangeArrowheads="1"/>
          </p:cNvSpPr>
          <p:nvPr/>
        </p:nvSpPr>
        <p:spPr bwMode="auto">
          <a:xfrm>
            <a:off x="4602163" y="1809750"/>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2953" name="TextBox 9"/>
          <p:cNvSpPr txBox="1">
            <a:spLocks noChangeArrowheads="1"/>
          </p:cNvSpPr>
          <p:nvPr/>
        </p:nvSpPr>
        <p:spPr bwMode="auto">
          <a:xfrm>
            <a:off x="4524375" y="2624138"/>
            <a:ext cx="657225" cy="461962"/>
          </a:xfrm>
          <a:prstGeom prst="rect">
            <a:avLst/>
          </a:prstGeom>
          <a:noFill/>
          <a:ln w="9525">
            <a:noFill/>
            <a:miter lim="800000"/>
            <a:headEnd/>
            <a:tailEnd/>
          </a:ln>
        </p:spPr>
        <p:txBody>
          <a:bodyPr>
            <a:spAutoFit/>
          </a:bodyPr>
          <a:lstStyle/>
          <a:p>
            <a:pPr algn="ctr" eaLnBrk="1" hangingPunct="1"/>
            <a:r>
              <a:rPr lang="en-US" altLang="zh-CN"/>
              <a:t>Ri3</a:t>
            </a:r>
            <a:endParaRPr lang="zh-CN" altLang="en-US"/>
          </a:p>
        </p:txBody>
      </p:sp>
      <p:sp>
        <p:nvSpPr>
          <p:cNvPr id="11" name="TextBox 10"/>
          <p:cNvSpPr txBox="1">
            <a:spLocks noChangeArrowheads="1"/>
          </p:cNvSpPr>
          <p:nvPr/>
        </p:nvSpPr>
        <p:spPr bwMode="auto">
          <a:xfrm>
            <a:off x="2185988" y="3424238"/>
            <a:ext cx="5143500" cy="584200"/>
          </a:xfrm>
          <a:prstGeom prst="rect">
            <a:avLst/>
          </a:prstGeom>
          <a:noFill/>
          <a:ln w="9525">
            <a:noFill/>
            <a:miter lim="800000"/>
            <a:headEnd/>
            <a:tailEnd/>
          </a:ln>
        </p:spPr>
        <p:txBody>
          <a:bodyPr>
            <a:spAutoFit/>
          </a:bodyPr>
          <a:lstStyle/>
          <a:p>
            <a:pPr eaLnBrk="1" hangingPunct="1"/>
            <a:r>
              <a:rPr lang="en-US" altLang="zh-CN" sz="3200"/>
              <a:t>R</a:t>
            </a:r>
            <a:r>
              <a:rPr lang="en-US" altLang="zh-CN" sz="3200" baseline="-25000"/>
              <a:t>i2</a:t>
            </a:r>
            <a:r>
              <a:rPr lang="en-US" altLang="zh-CN" sz="3200"/>
              <a:t>=r</a:t>
            </a:r>
            <a:r>
              <a:rPr lang="en-US" altLang="zh-CN" sz="3200" baseline="-25000"/>
              <a:t>be3</a:t>
            </a:r>
            <a:r>
              <a:rPr lang="en-US" altLang="zh-CN" sz="3200"/>
              <a:t>+(1+</a:t>
            </a:r>
            <a:r>
              <a:rPr lang="en-US" altLang="zh-CN" sz="3200">
                <a:sym typeface="Symbol" pitchFamily="18" charset="2"/>
              </a:rPr>
              <a:t></a:t>
            </a:r>
            <a:r>
              <a:rPr lang="en-US" altLang="zh-CN" sz="3200"/>
              <a:t>)r</a:t>
            </a:r>
            <a:r>
              <a:rPr lang="en-US" altLang="zh-CN" sz="3200" baseline="-25000"/>
              <a:t>be4</a:t>
            </a:r>
            <a:endParaRPr lang="zh-CN" altLang="en-US" sz="3200" baseline="-25000"/>
          </a:p>
        </p:txBody>
      </p:sp>
      <p:sp>
        <p:nvSpPr>
          <p:cNvPr id="12" name="TextBox 11"/>
          <p:cNvSpPr txBox="1">
            <a:spLocks noChangeArrowheads="1"/>
          </p:cNvSpPr>
          <p:nvPr/>
        </p:nvSpPr>
        <p:spPr bwMode="auto">
          <a:xfrm>
            <a:off x="2024063" y="4133850"/>
            <a:ext cx="5143500" cy="584200"/>
          </a:xfrm>
          <a:prstGeom prst="rect">
            <a:avLst/>
          </a:prstGeom>
          <a:noFill/>
          <a:ln w="9525">
            <a:noFill/>
            <a:miter lim="800000"/>
            <a:headEnd/>
            <a:tailEnd/>
          </a:ln>
        </p:spPr>
        <p:txBody>
          <a:bodyPr>
            <a:spAutoFit/>
          </a:bodyPr>
          <a:lstStyle/>
          <a:p>
            <a:pPr algn="ctr" eaLnBrk="1" hangingPunct="1"/>
            <a:r>
              <a:rPr lang="en-US" altLang="zh-CN" sz="3200"/>
              <a:t>R</a:t>
            </a:r>
            <a:r>
              <a:rPr lang="en-US" altLang="zh-CN" sz="3200" baseline="-25000"/>
              <a:t>i3</a:t>
            </a:r>
            <a:r>
              <a:rPr lang="en-US" altLang="zh-CN" sz="3200"/>
              <a:t>=r</a:t>
            </a:r>
            <a:r>
              <a:rPr lang="en-US" altLang="zh-CN" sz="3200" baseline="-25000"/>
              <a:t>be6</a:t>
            </a:r>
            <a:r>
              <a:rPr lang="en-US" altLang="zh-CN" sz="3200"/>
              <a:t>+(1+</a:t>
            </a:r>
            <a:r>
              <a:rPr lang="en-US" altLang="zh-CN" sz="3200">
                <a:sym typeface="Symbol" pitchFamily="18" charset="2"/>
              </a:rPr>
              <a:t></a:t>
            </a:r>
            <a:r>
              <a:rPr lang="en-US" altLang="zh-CN" sz="3200"/>
              <a:t>)(r</a:t>
            </a:r>
            <a:r>
              <a:rPr lang="en-US" altLang="zh-CN" sz="3200" baseline="-25000"/>
              <a:t>be7</a:t>
            </a:r>
            <a:r>
              <a:rPr lang="en-US" altLang="zh-CN" sz="3200"/>
              <a:t>+(1+</a:t>
            </a:r>
            <a:r>
              <a:rPr lang="en-US" altLang="zh-CN" sz="3200">
                <a:sym typeface="Symbol" pitchFamily="18" charset="2"/>
              </a:rPr>
              <a:t></a:t>
            </a:r>
            <a:r>
              <a:rPr lang="en-US" altLang="zh-CN" sz="3200"/>
              <a:t>)R</a:t>
            </a:r>
            <a:r>
              <a:rPr lang="en-US" altLang="zh-CN" sz="3200" baseline="-25000"/>
              <a:t>L</a:t>
            </a:r>
            <a:r>
              <a:rPr lang="en-US" altLang="zh-CN" sz="3200"/>
              <a:t>)</a:t>
            </a:r>
            <a:endParaRPr lang="zh-CN" altLang="en-US" sz="3200" baseline="-25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5" name="Rectangle 2"/>
          <p:cNvSpPr>
            <a:spLocks noGrp="1" noChangeArrowheads="1"/>
          </p:cNvSpPr>
          <p:nvPr>
            <p:ph type="title"/>
          </p:nvPr>
        </p:nvSpPr>
        <p:spPr>
          <a:xfrm>
            <a:off x="684213" y="0"/>
            <a:ext cx="3903662" cy="620713"/>
          </a:xfrm>
          <a:solidFill>
            <a:schemeClr val="bg1"/>
          </a:solidFill>
        </p:spPr>
        <p:txBody>
          <a:bodyPr/>
          <a:lstStyle/>
          <a:p>
            <a:pPr algn="l"/>
            <a:r>
              <a:rPr lang="en-US" altLang="zh-CN" sz="3200">
                <a:solidFill>
                  <a:srgbClr val="000000"/>
                </a:solidFill>
                <a:latin typeface="华文行楷" pitchFamily="2" charset="-122"/>
                <a:ea typeface="华文行楷" pitchFamily="2" charset="-122"/>
              </a:rPr>
              <a:t>3. </a:t>
            </a:r>
            <a:r>
              <a:rPr lang="zh-CN" altLang="en-US" sz="3200">
                <a:solidFill>
                  <a:srgbClr val="000000"/>
                </a:solidFill>
                <a:latin typeface="华文行楷" pitchFamily="2" charset="-122"/>
                <a:ea typeface="华文行楷" pitchFamily="2" charset="-122"/>
              </a:rPr>
              <a:t>交流等效电路</a:t>
            </a:r>
          </a:p>
        </p:txBody>
      </p:sp>
      <p:grpSp>
        <p:nvGrpSpPr>
          <p:cNvPr id="83976" name="组合 17"/>
          <p:cNvGrpSpPr>
            <a:grpSpLocks/>
          </p:cNvGrpSpPr>
          <p:nvPr/>
        </p:nvGrpSpPr>
        <p:grpSpPr bwMode="auto">
          <a:xfrm>
            <a:off x="300038" y="773113"/>
            <a:ext cx="7343775" cy="2698750"/>
            <a:chOff x="180975" y="1115930"/>
            <a:chExt cx="7343130" cy="2698832"/>
          </a:xfrm>
        </p:grpSpPr>
        <p:graphicFrame>
          <p:nvGraphicFramePr>
            <p:cNvPr id="83973" name="Object 3"/>
            <p:cNvGraphicFramePr>
              <a:graphicFrameLocks noChangeAspect="1"/>
            </p:cNvGraphicFramePr>
            <p:nvPr/>
          </p:nvGraphicFramePr>
          <p:xfrm>
            <a:off x="180975" y="1185862"/>
            <a:ext cx="2173288" cy="2565400"/>
          </p:xfrm>
          <a:graphic>
            <a:graphicData uri="http://schemas.openxmlformats.org/presentationml/2006/ole">
              <mc:AlternateContent xmlns:mc="http://schemas.openxmlformats.org/markup-compatibility/2006">
                <mc:Choice xmlns:v="urn:schemas-microsoft-com:vml" Requires="v">
                  <p:oleObj spid="_x0000_s67592" name="Photo Editor 照片" r:id="rId4" imgW="7590476" imgH="8961905" progId="">
                    <p:embed/>
                  </p:oleObj>
                </mc:Choice>
                <mc:Fallback>
                  <p:oleObj name="Photo Editor 照片" r:id="rId4" imgW="7590476" imgH="8961905"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 y="1185862"/>
                          <a:ext cx="2173288"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74" name="Object 4"/>
            <p:cNvGraphicFramePr>
              <a:graphicFrameLocks noChangeAspect="1"/>
            </p:cNvGraphicFramePr>
            <p:nvPr/>
          </p:nvGraphicFramePr>
          <p:xfrm>
            <a:off x="2314575" y="1185862"/>
            <a:ext cx="2219325" cy="2590800"/>
          </p:xfrm>
          <a:graphic>
            <a:graphicData uri="http://schemas.openxmlformats.org/presentationml/2006/ole">
              <mc:AlternateContent xmlns:mc="http://schemas.openxmlformats.org/markup-compatibility/2006">
                <mc:Choice xmlns:v="urn:schemas-microsoft-com:vml" Requires="v">
                  <p:oleObj spid="_x0000_s67593" name="Photo Editor 照片" r:id="rId6" imgW="7744906" imgH="9038095" progId="">
                    <p:embed/>
                  </p:oleObj>
                </mc:Choice>
                <mc:Fallback>
                  <p:oleObj name="Photo Editor 照片" r:id="rId6" imgW="7744906" imgH="9038095" progId="">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4575" y="1185862"/>
                          <a:ext cx="22193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3983" name="Picture 14"/>
            <p:cNvPicPr>
              <a:picLocks noChangeAspect="1" noChangeArrowheads="1"/>
            </p:cNvPicPr>
            <p:nvPr/>
          </p:nvPicPr>
          <p:blipFill>
            <a:blip r:embed="rId8"/>
            <a:srcRect/>
            <a:stretch>
              <a:fillRect/>
            </a:stretch>
          </p:blipFill>
          <p:spPr bwMode="auto">
            <a:xfrm>
              <a:off x="4534545" y="1115930"/>
              <a:ext cx="2989560" cy="2698832"/>
            </a:xfrm>
            <a:prstGeom prst="rect">
              <a:avLst/>
            </a:prstGeom>
            <a:noFill/>
            <a:ln w="9525">
              <a:noFill/>
              <a:miter lim="800000"/>
              <a:headEnd/>
              <a:tailEnd/>
            </a:ln>
          </p:spPr>
        </p:pic>
      </p:grpSp>
      <p:sp>
        <p:nvSpPr>
          <p:cNvPr id="83977" name="AutoShape 82"/>
          <p:cNvSpPr>
            <a:spLocks noChangeArrowheads="1"/>
          </p:cNvSpPr>
          <p:nvPr/>
        </p:nvSpPr>
        <p:spPr bwMode="auto">
          <a:xfrm>
            <a:off x="2549525" y="1971675"/>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3978" name="TextBox 7"/>
          <p:cNvSpPr txBox="1">
            <a:spLocks noChangeArrowheads="1"/>
          </p:cNvSpPr>
          <p:nvPr/>
        </p:nvSpPr>
        <p:spPr bwMode="auto">
          <a:xfrm>
            <a:off x="2471738" y="2786063"/>
            <a:ext cx="657225" cy="461962"/>
          </a:xfrm>
          <a:prstGeom prst="rect">
            <a:avLst/>
          </a:prstGeom>
          <a:noFill/>
          <a:ln w="9525">
            <a:noFill/>
            <a:miter lim="800000"/>
            <a:headEnd/>
            <a:tailEnd/>
          </a:ln>
        </p:spPr>
        <p:txBody>
          <a:bodyPr>
            <a:spAutoFit/>
          </a:bodyPr>
          <a:lstStyle/>
          <a:p>
            <a:pPr algn="ctr" eaLnBrk="1" hangingPunct="1"/>
            <a:r>
              <a:rPr lang="en-US" altLang="zh-CN"/>
              <a:t>Ri2</a:t>
            </a:r>
            <a:endParaRPr lang="zh-CN" altLang="en-US"/>
          </a:p>
        </p:txBody>
      </p:sp>
      <p:sp>
        <p:nvSpPr>
          <p:cNvPr id="83979" name="AutoShape 82"/>
          <p:cNvSpPr>
            <a:spLocks noChangeArrowheads="1"/>
          </p:cNvSpPr>
          <p:nvPr/>
        </p:nvSpPr>
        <p:spPr bwMode="auto">
          <a:xfrm>
            <a:off x="4602163" y="1809750"/>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3980" name="TextBox 9"/>
          <p:cNvSpPr txBox="1">
            <a:spLocks noChangeArrowheads="1"/>
          </p:cNvSpPr>
          <p:nvPr/>
        </p:nvSpPr>
        <p:spPr bwMode="auto">
          <a:xfrm>
            <a:off x="4524375" y="2624138"/>
            <a:ext cx="657225" cy="461962"/>
          </a:xfrm>
          <a:prstGeom prst="rect">
            <a:avLst/>
          </a:prstGeom>
          <a:noFill/>
          <a:ln w="9525">
            <a:noFill/>
            <a:miter lim="800000"/>
            <a:headEnd/>
            <a:tailEnd/>
          </a:ln>
        </p:spPr>
        <p:txBody>
          <a:bodyPr>
            <a:spAutoFit/>
          </a:bodyPr>
          <a:lstStyle/>
          <a:p>
            <a:pPr algn="ctr" eaLnBrk="1" hangingPunct="1"/>
            <a:r>
              <a:rPr lang="en-US" altLang="zh-CN"/>
              <a:t>Ri3</a:t>
            </a:r>
            <a:endParaRPr lang="zh-CN" altLang="en-US"/>
          </a:p>
        </p:txBody>
      </p:sp>
      <p:sp>
        <p:nvSpPr>
          <p:cNvPr id="83981" name="TextBox 10"/>
          <p:cNvSpPr txBox="1">
            <a:spLocks noChangeArrowheads="1"/>
          </p:cNvSpPr>
          <p:nvPr/>
        </p:nvSpPr>
        <p:spPr bwMode="auto">
          <a:xfrm>
            <a:off x="4214813" y="3381375"/>
            <a:ext cx="5143500" cy="584200"/>
          </a:xfrm>
          <a:prstGeom prst="rect">
            <a:avLst/>
          </a:prstGeom>
          <a:solidFill>
            <a:schemeClr val="accent5">
              <a:lumMod val="20000"/>
              <a:lumOff val="80000"/>
            </a:schemeClr>
          </a:solidFill>
          <a:ln w="9525">
            <a:noFill/>
            <a:miter lim="800000"/>
            <a:headEnd/>
            <a:tailEnd/>
          </a:ln>
        </p:spPr>
        <p:txBody>
          <a:bodyPr>
            <a:spAutoFit/>
          </a:bodyPr>
          <a:lstStyle/>
          <a:p>
            <a:pPr algn="ctr" eaLnBrk="1" hangingPunct="1"/>
            <a:r>
              <a:rPr lang="en-US" altLang="zh-CN" sz="3200" dirty="0"/>
              <a:t>R</a:t>
            </a:r>
            <a:r>
              <a:rPr lang="en-US" altLang="zh-CN" sz="3200" baseline="-25000" dirty="0"/>
              <a:t>i2</a:t>
            </a:r>
            <a:r>
              <a:rPr lang="en-US" altLang="zh-CN" sz="3200" dirty="0"/>
              <a:t>=r</a:t>
            </a:r>
            <a:r>
              <a:rPr lang="en-US" altLang="zh-CN" sz="3200" baseline="-25000" dirty="0"/>
              <a:t>be3</a:t>
            </a:r>
            <a:r>
              <a:rPr lang="en-US" altLang="zh-CN" sz="3200" dirty="0"/>
              <a:t>+(1+</a:t>
            </a:r>
            <a:r>
              <a:rPr lang="en-US" altLang="zh-CN" sz="3200" dirty="0">
                <a:sym typeface="Symbol" pitchFamily="18" charset="2"/>
              </a:rPr>
              <a:t></a:t>
            </a:r>
            <a:r>
              <a:rPr lang="en-US" altLang="zh-CN" sz="1600" dirty="0">
                <a:sym typeface="Symbol" pitchFamily="18" charset="2"/>
              </a:rPr>
              <a:t>3</a:t>
            </a:r>
            <a:r>
              <a:rPr lang="en-US" altLang="zh-CN" sz="3200" dirty="0"/>
              <a:t>)r</a:t>
            </a:r>
            <a:r>
              <a:rPr lang="en-US" altLang="zh-CN" sz="3200" baseline="-25000" dirty="0"/>
              <a:t>be4</a:t>
            </a:r>
            <a:endParaRPr lang="zh-CN" altLang="en-US" sz="3200" baseline="-25000" dirty="0"/>
          </a:p>
        </p:txBody>
      </p:sp>
      <p:sp>
        <p:nvSpPr>
          <p:cNvPr id="83982" name="TextBox 11"/>
          <p:cNvSpPr txBox="1">
            <a:spLocks noChangeArrowheads="1"/>
          </p:cNvSpPr>
          <p:nvPr/>
        </p:nvSpPr>
        <p:spPr bwMode="auto">
          <a:xfrm>
            <a:off x="4181475" y="3962400"/>
            <a:ext cx="5143500" cy="584200"/>
          </a:xfrm>
          <a:prstGeom prst="rect">
            <a:avLst/>
          </a:prstGeom>
          <a:solidFill>
            <a:schemeClr val="accent5">
              <a:lumMod val="20000"/>
              <a:lumOff val="80000"/>
            </a:schemeClr>
          </a:solidFill>
          <a:ln w="9525">
            <a:noFill/>
            <a:miter lim="800000"/>
            <a:headEnd/>
            <a:tailEnd/>
          </a:ln>
        </p:spPr>
        <p:txBody>
          <a:bodyPr>
            <a:spAutoFit/>
          </a:bodyPr>
          <a:lstStyle/>
          <a:p>
            <a:pPr algn="ctr" eaLnBrk="1" hangingPunct="1"/>
            <a:r>
              <a:rPr lang="en-US" altLang="zh-CN" sz="3200" dirty="0"/>
              <a:t>R</a:t>
            </a:r>
            <a:r>
              <a:rPr lang="en-US" altLang="zh-CN" sz="3200" baseline="-25000" dirty="0"/>
              <a:t>i3</a:t>
            </a:r>
            <a:r>
              <a:rPr lang="en-US" altLang="zh-CN" sz="3200" dirty="0"/>
              <a:t>=r</a:t>
            </a:r>
            <a:r>
              <a:rPr lang="en-US" altLang="zh-CN" sz="3200" baseline="-25000" dirty="0"/>
              <a:t>be6</a:t>
            </a:r>
            <a:r>
              <a:rPr lang="en-US" altLang="zh-CN" sz="3200" dirty="0"/>
              <a:t>+(1+</a:t>
            </a:r>
            <a:r>
              <a:rPr lang="en-US" altLang="zh-CN" sz="3200" dirty="0">
                <a:sym typeface="Symbol" pitchFamily="18" charset="2"/>
              </a:rPr>
              <a:t></a:t>
            </a:r>
            <a:r>
              <a:rPr lang="en-US" altLang="zh-CN" sz="1800" dirty="0">
                <a:sym typeface="Symbol" pitchFamily="18" charset="2"/>
              </a:rPr>
              <a:t>6</a:t>
            </a:r>
            <a:r>
              <a:rPr lang="en-US" altLang="zh-CN" sz="3200" dirty="0"/>
              <a:t>)(r</a:t>
            </a:r>
            <a:r>
              <a:rPr lang="en-US" altLang="zh-CN" sz="3200" baseline="-25000" dirty="0"/>
              <a:t>be7</a:t>
            </a:r>
            <a:r>
              <a:rPr lang="en-US" altLang="zh-CN" sz="3200" dirty="0"/>
              <a:t>+(1+</a:t>
            </a:r>
            <a:r>
              <a:rPr lang="en-US" altLang="zh-CN" sz="3200" dirty="0">
                <a:sym typeface="Symbol" pitchFamily="18" charset="2"/>
              </a:rPr>
              <a:t></a:t>
            </a:r>
            <a:r>
              <a:rPr lang="en-US" altLang="zh-CN" sz="1800" dirty="0">
                <a:sym typeface="Symbol" pitchFamily="18" charset="2"/>
              </a:rPr>
              <a:t>7</a:t>
            </a:r>
            <a:r>
              <a:rPr lang="en-US" altLang="zh-CN" sz="3200" dirty="0"/>
              <a:t>)R</a:t>
            </a:r>
            <a:r>
              <a:rPr lang="en-US" altLang="zh-CN" sz="3200" baseline="-25000" dirty="0"/>
              <a:t>L</a:t>
            </a:r>
            <a:r>
              <a:rPr lang="en-US" altLang="zh-CN" sz="3200" dirty="0"/>
              <a:t>)</a:t>
            </a:r>
            <a:endParaRPr lang="zh-CN" altLang="en-US" sz="3200" baseline="-25000" dirty="0"/>
          </a:p>
        </p:txBody>
      </p:sp>
      <p:graphicFrame>
        <p:nvGraphicFramePr>
          <p:cNvPr id="807941" name="Object 5"/>
          <p:cNvGraphicFramePr>
            <a:graphicFrameLocks noChangeAspect="1"/>
          </p:cNvGraphicFramePr>
          <p:nvPr/>
        </p:nvGraphicFramePr>
        <p:xfrm>
          <a:off x="141288" y="3816350"/>
          <a:ext cx="3770312" cy="1054100"/>
        </p:xfrm>
        <a:graphic>
          <a:graphicData uri="http://schemas.openxmlformats.org/presentationml/2006/ole">
            <mc:AlternateContent xmlns:mc="http://schemas.openxmlformats.org/markup-compatibility/2006">
              <mc:Choice xmlns:v="urn:schemas-microsoft-com:vml" Requires="v">
                <p:oleObj spid="_x0000_s67594" name="公式" r:id="rId9" imgW="41757600" imgH="10668000" progId="Equation.3">
                  <p:embed/>
                </p:oleObj>
              </mc:Choice>
              <mc:Fallback>
                <p:oleObj name="公式" r:id="rId9" imgW="41757600" imgH="10668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288" y="3816350"/>
                        <a:ext cx="3770312" cy="10541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807942" name="Object 6"/>
          <p:cNvGraphicFramePr>
            <a:graphicFrameLocks noChangeAspect="1"/>
          </p:cNvGraphicFramePr>
          <p:nvPr/>
        </p:nvGraphicFramePr>
        <p:xfrm>
          <a:off x="354013" y="4921250"/>
          <a:ext cx="3065462" cy="1130300"/>
        </p:xfrm>
        <a:graphic>
          <a:graphicData uri="http://schemas.openxmlformats.org/presentationml/2006/ole">
            <mc:AlternateContent xmlns:mc="http://schemas.openxmlformats.org/markup-compatibility/2006">
              <mc:Choice xmlns:v="urn:schemas-microsoft-com:vml" Requires="v">
                <p:oleObj spid="_x0000_s67595" name="公式" r:id="rId11" imgW="31699200" imgH="10668000" progId="Equation.3">
                  <p:embed/>
                </p:oleObj>
              </mc:Choice>
              <mc:Fallback>
                <p:oleObj name="公式" r:id="rId11" imgW="31699200" imgH="10668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013" y="4921250"/>
                        <a:ext cx="3065462" cy="11303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83972" name="Object 8"/>
          <p:cNvGraphicFramePr>
            <a:graphicFrameLocks noChangeAspect="1"/>
          </p:cNvGraphicFramePr>
          <p:nvPr>
            <p:extLst>
              <p:ext uri="{D42A27DB-BD31-4B8C-83A1-F6EECF244321}">
                <p14:modId xmlns:p14="http://schemas.microsoft.com/office/powerpoint/2010/main" val="3669681935"/>
              </p:ext>
            </p:extLst>
          </p:nvPr>
        </p:nvGraphicFramePr>
        <p:xfrm>
          <a:off x="3581400" y="4690268"/>
          <a:ext cx="5562600" cy="874713"/>
        </p:xfrm>
        <a:graphic>
          <a:graphicData uri="http://schemas.openxmlformats.org/presentationml/2006/ole">
            <mc:AlternateContent xmlns:mc="http://schemas.openxmlformats.org/markup-compatibility/2006">
              <mc:Choice xmlns:v="urn:schemas-microsoft-com:vml" Requires="v">
                <p:oleObj spid="_x0000_s67596" name="公式" r:id="rId13" imgW="84734400" imgH="10972800" progId="Equation.3">
                  <p:embed/>
                </p:oleObj>
              </mc:Choice>
              <mc:Fallback>
                <p:oleObj name="公式" r:id="rId13" imgW="84734400" imgH="109728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1400" y="4690268"/>
                        <a:ext cx="5562600" cy="874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4">
            <a:extLst>
              <a:ext uri="{FF2B5EF4-FFF2-40B4-BE49-F238E27FC236}">
                <a16:creationId xmlns:a16="http://schemas.microsoft.com/office/drawing/2014/main" id="{DB9BB960-87FB-43AF-B8FE-903B8472E997}"/>
              </a:ext>
            </a:extLst>
          </p:cNvPr>
          <p:cNvGraphicFramePr>
            <a:graphicFrameLocks noChangeAspect="1"/>
          </p:cNvGraphicFramePr>
          <p:nvPr>
            <p:extLst>
              <p:ext uri="{D42A27DB-BD31-4B8C-83A1-F6EECF244321}">
                <p14:modId xmlns:p14="http://schemas.microsoft.com/office/powerpoint/2010/main" val="1676691044"/>
              </p:ext>
            </p:extLst>
          </p:nvPr>
        </p:nvGraphicFramePr>
        <p:xfrm>
          <a:off x="6012726" y="5608425"/>
          <a:ext cx="2886075" cy="1111250"/>
        </p:xfrm>
        <a:graphic>
          <a:graphicData uri="http://schemas.openxmlformats.org/presentationml/2006/ole">
            <mc:AlternateContent xmlns:mc="http://schemas.openxmlformats.org/markup-compatibility/2006">
              <mc:Choice xmlns:v="urn:schemas-microsoft-com:vml" Requires="v">
                <p:oleObj spid="_x0000_s67597" name="Equation" r:id="rId15" imgW="1066680" imgH="685800" progId="Equation.DSMT4">
                  <p:embed/>
                </p:oleObj>
              </mc:Choice>
              <mc:Fallback>
                <p:oleObj name="Equation" r:id="rId15" imgW="1066680" imgH="685800" progId="Equation.DSMT4">
                  <p:embed/>
                  <p:pic>
                    <p:nvPicPr>
                      <p:cNvPr id="27652" name="Object 4">
                        <a:extLst>
                          <a:ext uri="{FF2B5EF4-FFF2-40B4-BE49-F238E27FC236}">
                            <a16:creationId xmlns:a16="http://schemas.microsoft.com/office/drawing/2014/main" id="{DDE28DC4-E50A-4D8B-8BD5-E04EF899C6CC}"/>
                          </a:ext>
                        </a:extLst>
                      </p:cNvPr>
                      <p:cNvPicPr>
                        <a:picLocks noChangeAspect="1" noChangeArrowheads="1"/>
                      </p:cNvPicPr>
                      <p:nvPr/>
                    </p:nvPicPr>
                    <p:blipFill>
                      <a:blip r:embed="rId16"/>
                      <a:srcRect/>
                      <a:stretch>
                        <a:fillRect/>
                      </a:stretch>
                    </p:blipFill>
                    <p:spPr bwMode="auto">
                      <a:xfrm>
                        <a:off x="6012726" y="5608425"/>
                        <a:ext cx="2886075" cy="1111250"/>
                      </a:xfrm>
                      <a:prstGeom prst="rect">
                        <a:avLst/>
                      </a:prstGeom>
                      <a:solidFill>
                        <a:schemeClr val="accent6">
                          <a:lumMod val="20000"/>
                          <a:lumOff val="8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07941"/>
                                        </p:tgtEl>
                                        <p:attrNameLst>
                                          <p:attrName>style.visibility</p:attrName>
                                        </p:attrNameLst>
                                      </p:cBhvr>
                                      <p:to>
                                        <p:strVal val="visible"/>
                                      </p:to>
                                    </p:set>
                                    <p:animEffect transition="in" filter="blinds(horizontal)">
                                      <p:cBhvr>
                                        <p:cTn id="7" dur="500"/>
                                        <p:tgtEl>
                                          <p:spTgt spid="8079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07942"/>
                                        </p:tgtEl>
                                        <p:attrNameLst>
                                          <p:attrName>style.visibility</p:attrName>
                                        </p:attrNameLst>
                                      </p:cBhvr>
                                      <p:to>
                                        <p:strVal val="visible"/>
                                      </p:to>
                                    </p:set>
                                    <p:animEffect transition="in" filter="blinds(horizontal)">
                                      <p:cBhvr>
                                        <p:cTn id="12" dur="500"/>
                                        <p:tgtEl>
                                          <p:spTgt spid="8079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6DD3A44C-57CD-4554-8BDD-A41066B51021}"/>
              </a:ext>
            </a:extLst>
          </p:cNvPr>
          <p:cNvGraphicFramePr>
            <a:graphicFrameLocks noChangeAspect="1"/>
          </p:cNvGraphicFramePr>
          <p:nvPr>
            <p:extLst>
              <p:ext uri="{D42A27DB-BD31-4B8C-83A1-F6EECF244321}">
                <p14:modId xmlns:p14="http://schemas.microsoft.com/office/powerpoint/2010/main" val="1857983247"/>
              </p:ext>
            </p:extLst>
          </p:nvPr>
        </p:nvGraphicFramePr>
        <p:xfrm>
          <a:off x="864806" y="832584"/>
          <a:ext cx="6096000" cy="2876550"/>
        </p:xfrm>
        <a:graphic>
          <a:graphicData uri="http://schemas.openxmlformats.org/presentationml/2006/ole">
            <mc:AlternateContent xmlns:mc="http://schemas.openxmlformats.org/markup-compatibility/2006">
              <mc:Choice xmlns:v="urn:schemas-microsoft-com:vml" Requires="v">
                <p:oleObj spid="_x0000_s68614" name="Photo Editor 照片" r:id="rId3" imgW="24161905" imgH="11403017" progId="">
                  <p:embed/>
                </p:oleObj>
              </mc:Choice>
              <mc:Fallback>
                <p:oleObj name="Photo Editor 照片" r:id="rId3" imgW="24161905" imgH="11403017" progId="">
                  <p:embed/>
                  <p:pic>
                    <p:nvPicPr>
                      <p:cNvPr id="808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806" y="832584"/>
                        <a:ext cx="60960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a:extLst>
              <a:ext uri="{FF2B5EF4-FFF2-40B4-BE49-F238E27FC236}">
                <a16:creationId xmlns:a16="http://schemas.microsoft.com/office/drawing/2014/main" id="{FE6C685B-515F-4EC5-BACD-D3A84784F786}"/>
              </a:ext>
            </a:extLst>
          </p:cNvPr>
          <p:cNvSpPr txBox="1"/>
          <p:nvPr/>
        </p:nvSpPr>
        <p:spPr>
          <a:xfrm>
            <a:off x="552322" y="4066334"/>
            <a:ext cx="2190878" cy="646331"/>
          </a:xfrm>
          <a:prstGeom prst="rect">
            <a:avLst/>
          </a:prstGeom>
          <a:solidFill>
            <a:schemeClr val="accent6">
              <a:lumMod val="20000"/>
              <a:lumOff val="80000"/>
            </a:schemeClr>
          </a:solidFill>
        </p:spPr>
        <p:txBody>
          <a:bodyPr wrap="square" rtlCol="0">
            <a:spAutoFit/>
          </a:bodyPr>
          <a:lstStyle/>
          <a:p>
            <a:r>
              <a:rPr lang="zh-CN" altLang="en-US" sz="1800" b="1" dirty="0">
                <a:solidFill>
                  <a:srgbClr val="FF0000"/>
                </a:solidFill>
              </a:rPr>
              <a:t>如果</a:t>
            </a:r>
            <a:r>
              <a:rPr lang="en-US" altLang="zh-CN" sz="1800" b="1" dirty="0">
                <a:solidFill>
                  <a:srgbClr val="FF0000"/>
                </a:solidFill>
              </a:rPr>
              <a:t>R1</a:t>
            </a:r>
            <a:r>
              <a:rPr lang="zh-CN" altLang="en-US" sz="1800" b="1" dirty="0">
                <a:solidFill>
                  <a:srgbClr val="FF0000"/>
                </a:solidFill>
              </a:rPr>
              <a:t>很大</a:t>
            </a:r>
            <a:r>
              <a:rPr lang="en-US" altLang="zh-CN" sz="1800" b="1" dirty="0">
                <a:solidFill>
                  <a:srgbClr val="FF0000"/>
                </a:solidFill>
              </a:rPr>
              <a:t>,</a:t>
            </a:r>
            <a:r>
              <a:rPr lang="zh-CN" altLang="en-US" sz="1800" b="1" dirty="0">
                <a:solidFill>
                  <a:srgbClr val="FF0000"/>
                </a:solidFill>
              </a:rPr>
              <a:t>大到无穷情况下会怎样？</a:t>
            </a:r>
          </a:p>
        </p:txBody>
      </p:sp>
      <p:pic>
        <p:nvPicPr>
          <p:cNvPr id="4" name="图片 3">
            <a:extLst>
              <a:ext uri="{FF2B5EF4-FFF2-40B4-BE49-F238E27FC236}">
                <a16:creationId xmlns:a16="http://schemas.microsoft.com/office/drawing/2014/main" id="{BF4A8E33-7D12-4E6F-B87F-D463B75D705A}"/>
              </a:ext>
            </a:extLst>
          </p:cNvPr>
          <p:cNvPicPr>
            <a:picLocks noChangeAspect="1"/>
          </p:cNvPicPr>
          <p:nvPr/>
        </p:nvPicPr>
        <p:blipFill>
          <a:blip r:embed="rId5"/>
          <a:stretch>
            <a:fillRect/>
          </a:stretch>
        </p:blipFill>
        <p:spPr>
          <a:xfrm>
            <a:off x="6830383" y="4868543"/>
            <a:ext cx="1994497" cy="1002415"/>
          </a:xfrm>
          <a:prstGeom prst="rect">
            <a:avLst/>
          </a:prstGeom>
        </p:spPr>
      </p:pic>
      <p:sp>
        <p:nvSpPr>
          <p:cNvPr id="5" name="文本框 4">
            <a:extLst>
              <a:ext uri="{FF2B5EF4-FFF2-40B4-BE49-F238E27FC236}">
                <a16:creationId xmlns:a16="http://schemas.microsoft.com/office/drawing/2014/main" id="{44B91A97-660A-4416-BE6C-DEAAFF10FA4C}"/>
              </a:ext>
            </a:extLst>
          </p:cNvPr>
          <p:cNvSpPr txBox="1"/>
          <p:nvPr/>
        </p:nvSpPr>
        <p:spPr>
          <a:xfrm>
            <a:off x="417310" y="5138300"/>
            <a:ext cx="2430218" cy="923330"/>
          </a:xfrm>
          <a:prstGeom prst="rect">
            <a:avLst/>
          </a:prstGeom>
          <a:solidFill>
            <a:schemeClr val="accent6">
              <a:lumMod val="20000"/>
              <a:lumOff val="80000"/>
            </a:schemeClr>
          </a:solidFill>
        </p:spPr>
        <p:txBody>
          <a:bodyPr wrap="square" rtlCol="0">
            <a:spAutoFit/>
          </a:bodyPr>
          <a:lstStyle/>
          <a:p>
            <a:r>
              <a:rPr lang="en-US" altLang="zh-CN" sz="1800" b="1" dirty="0">
                <a:solidFill>
                  <a:srgbClr val="FF0000"/>
                </a:solidFill>
              </a:rPr>
              <a:t>R1</a:t>
            </a:r>
            <a:r>
              <a:rPr lang="zh-CN" altLang="en-US" sz="1800" b="1" dirty="0">
                <a:solidFill>
                  <a:srgbClr val="FF0000"/>
                </a:solidFill>
              </a:rPr>
              <a:t>为无穷，</a:t>
            </a:r>
            <a:r>
              <a:rPr lang="en-US" altLang="zh-CN" sz="1800" b="1" dirty="0">
                <a:solidFill>
                  <a:srgbClr val="FF0000"/>
                </a:solidFill>
              </a:rPr>
              <a:t> R1</a:t>
            </a:r>
            <a:r>
              <a:rPr lang="zh-CN" altLang="en-US" sz="1800" b="1" dirty="0">
                <a:solidFill>
                  <a:srgbClr val="FF0000"/>
                </a:solidFill>
              </a:rPr>
              <a:t>就没有电流，第一级放大的电流都流到第二级</a:t>
            </a:r>
          </a:p>
        </p:txBody>
      </p:sp>
      <p:sp>
        <p:nvSpPr>
          <p:cNvPr id="6" name="文本框 5">
            <a:extLst>
              <a:ext uri="{FF2B5EF4-FFF2-40B4-BE49-F238E27FC236}">
                <a16:creationId xmlns:a16="http://schemas.microsoft.com/office/drawing/2014/main" id="{100E9C29-73A4-4C84-AE44-4C9D0B8FA13E}"/>
              </a:ext>
            </a:extLst>
          </p:cNvPr>
          <p:cNvSpPr txBox="1"/>
          <p:nvPr/>
        </p:nvSpPr>
        <p:spPr>
          <a:xfrm>
            <a:off x="4045251" y="4348814"/>
            <a:ext cx="2355551" cy="923330"/>
          </a:xfrm>
          <a:prstGeom prst="rect">
            <a:avLst/>
          </a:prstGeom>
          <a:solidFill>
            <a:schemeClr val="accent6">
              <a:lumMod val="20000"/>
              <a:lumOff val="80000"/>
            </a:schemeClr>
          </a:solidFill>
        </p:spPr>
        <p:txBody>
          <a:bodyPr wrap="square" rtlCol="0">
            <a:spAutoFit/>
          </a:bodyPr>
          <a:lstStyle/>
          <a:p>
            <a:r>
              <a:rPr lang="zh-CN" altLang="en-US" sz="1800" b="1" dirty="0">
                <a:solidFill>
                  <a:srgbClr val="FF0000"/>
                </a:solidFill>
              </a:rPr>
              <a:t>第二级的电流源相当于</a:t>
            </a:r>
            <a:r>
              <a:rPr lang="en-US" altLang="zh-CN" sz="1800" b="1" dirty="0" err="1">
                <a:solidFill>
                  <a:srgbClr val="FF0000"/>
                </a:solidFill>
              </a:rPr>
              <a:t>Rc</a:t>
            </a:r>
            <a:r>
              <a:rPr lang="zh-CN" altLang="en-US" sz="1800" b="1" dirty="0">
                <a:solidFill>
                  <a:srgbClr val="FF0000"/>
                </a:solidFill>
              </a:rPr>
              <a:t>，第二级放大的电流都流到第三级</a:t>
            </a:r>
          </a:p>
        </p:txBody>
      </p:sp>
      <p:graphicFrame>
        <p:nvGraphicFramePr>
          <p:cNvPr id="7" name="对象 6">
            <a:extLst>
              <a:ext uri="{FF2B5EF4-FFF2-40B4-BE49-F238E27FC236}">
                <a16:creationId xmlns:a16="http://schemas.microsoft.com/office/drawing/2014/main" id="{400F6138-1F6F-4C77-A8A3-E485F9DFCB2F}"/>
              </a:ext>
            </a:extLst>
          </p:cNvPr>
          <p:cNvGraphicFramePr>
            <a:graphicFrameLocks noChangeAspect="1"/>
          </p:cNvGraphicFramePr>
          <p:nvPr>
            <p:extLst>
              <p:ext uri="{D42A27DB-BD31-4B8C-83A1-F6EECF244321}">
                <p14:modId xmlns:p14="http://schemas.microsoft.com/office/powerpoint/2010/main" val="2627163681"/>
              </p:ext>
            </p:extLst>
          </p:nvPr>
        </p:nvGraphicFramePr>
        <p:xfrm>
          <a:off x="2433191" y="3055211"/>
          <a:ext cx="573896" cy="296844"/>
        </p:xfrm>
        <a:graphic>
          <a:graphicData uri="http://schemas.openxmlformats.org/presentationml/2006/ole">
            <mc:AlternateContent xmlns:mc="http://schemas.openxmlformats.org/markup-compatibility/2006">
              <mc:Choice xmlns:v="urn:schemas-microsoft-com:vml" Requires="v">
                <p:oleObj spid="_x0000_s68615" name="BMP 图像" r:id="rId6" imgW="414360" imgH="214200" progId="Paint.Picture">
                  <p:embed/>
                </p:oleObj>
              </mc:Choice>
              <mc:Fallback>
                <p:oleObj name="BMP 图像" r:id="rId6" imgW="414360" imgH="214200" progId="Paint.Picture">
                  <p:embed/>
                  <p:pic>
                    <p:nvPicPr>
                      <p:cNvPr id="0" name=""/>
                      <p:cNvPicPr/>
                      <p:nvPr/>
                    </p:nvPicPr>
                    <p:blipFill>
                      <a:blip r:embed="rId7"/>
                      <a:stretch>
                        <a:fillRect/>
                      </a:stretch>
                    </p:blipFill>
                    <p:spPr>
                      <a:xfrm>
                        <a:off x="2433191" y="3055211"/>
                        <a:ext cx="573896" cy="29684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1726EE8-4489-4A1C-BE38-014842108EAB}"/>
              </a:ext>
            </a:extLst>
          </p:cNvPr>
          <p:cNvGraphicFramePr>
            <a:graphicFrameLocks noChangeAspect="1"/>
          </p:cNvGraphicFramePr>
          <p:nvPr>
            <p:extLst>
              <p:ext uri="{D42A27DB-BD31-4B8C-83A1-F6EECF244321}">
                <p14:modId xmlns:p14="http://schemas.microsoft.com/office/powerpoint/2010/main" val="231519627"/>
              </p:ext>
            </p:extLst>
          </p:nvPr>
        </p:nvGraphicFramePr>
        <p:xfrm>
          <a:off x="4200637" y="1080618"/>
          <a:ext cx="742725" cy="348626"/>
        </p:xfrm>
        <a:graphic>
          <a:graphicData uri="http://schemas.openxmlformats.org/presentationml/2006/ole">
            <mc:AlternateContent xmlns:mc="http://schemas.openxmlformats.org/markup-compatibility/2006">
              <mc:Choice xmlns:v="urn:schemas-microsoft-com:vml" Requires="v">
                <p:oleObj spid="_x0000_s68616" name="BMP 图像" r:id="rId8" imgW="466560" imgH="219240" progId="Paint.Picture">
                  <p:embed/>
                </p:oleObj>
              </mc:Choice>
              <mc:Fallback>
                <p:oleObj name="BMP 图像" r:id="rId8" imgW="466560" imgH="219240" progId="Paint.Picture">
                  <p:embed/>
                  <p:pic>
                    <p:nvPicPr>
                      <p:cNvPr id="0" name=""/>
                      <p:cNvPicPr/>
                      <p:nvPr/>
                    </p:nvPicPr>
                    <p:blipFill>
                      <a:blip r:embed="rId9"/>
                      <a:stretch>
                        <a:fillRect/>
                      </a:stretch>
                    </p:blipFill>
                    <p:spPr>
                      <a:xfrm>
                        <a:off x="4200637" y="1080618"/>
                        <a:ext cx="742725" cy="34862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034CD70-09A3-401D-985D-F1FDBAC3022D}"/>
              </a:ext>
            </a:extLst>
          </p:cNvPr>
          <p:cNvGraphicFramePr>
            <a:graphicFrameLocks noChangeAspect="1"/>
          </p:cNvGraphicFramePr>
          <p:nvPr>
            <p:extLst>
              <p:ext uri="{D42A27DB-BD31-4B8C-83A1-F6EECF244321}">
                <p14:modId xmlns:p14="http://schemas.microsoft.com/office/powerpoint/2010/main" val="1768843271"/>
              </p:ext>
            </p:extLst>
          </p:nvPr>
        </p:nvGraphicFramePr>
        <p:xfrm>
          <a:off x="6216533" y="1706875"/>
          <a:ext cx="729751" cy="357429"/>
        </p:xfrm>
        <a:graphic>
          <a:graphicData uri="http://schemas.openxmlformats.org/presentationml/2006/ole">
            <mc:AlternateContent xmlns:mc="http://schemas.openxmlformats.org/markup-compatibility/2006">
              <mc:Choice xmlns:v="urn:schemas-microsoft-com:vml" Requires="v">
                <p:oleObj spid="_x0000_s68617" name="BMP 图像" r:id="rId10" imgW="466560" imgH="228600" progId="Paint.Picture">
                  <p:embed/>
                </p:oleObj>
              </mc:Choice>
              <mc:Fallback>
                <p:oleObj name="BMP 图像" r:id="rId10" imgW="466560" imgH="228600" progId="Paint.Picture">
                  <p:embed/>
                  <p:pic>
                    <p:nvPicPr>
                      <p:cNvPr id="0" name=""/>
                      <p:cNvPicPr/>
                      <p:nvPr/>
                    </p:nvPicPr>
                    <p:blipFill>
                      <a:blip r:embed="rId11"/>
                      <a:stretch>
                        <a:fillRect/>
                      </a:stretch>
                    </p:blipFill>
                    <p:spPr>
                      <a:xfrm>
                        <a:off x="6216533" y="1706875"/>
                        <a:ext cx="729751" cy="357429"/>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36FB76E4-B755-4E4D-AF31-9FE98A068F2B}"/>
              </a:ext>
            </a:extLst>
          </p:cNvPr>
          <p:cNvSpPr txBox="1"/>
          <p:nvPr/>
        </p:nvSpPr>
        <p:spPr>
          <a:xfrm>
            <a:off x="7069723" y="1429244"/>
            <a:ext cx="1994497" cy="1200329"/>
          </a:xfrm>
          <a:prstGeom prst="rect">
            <a:avLst/>
          </a:prstGeom>
          <a:solidFill>
            <a:schemeClr val="accent6">
              <a:lumMod val="20000"/>
              <a:lumOff val="80000"/>
            </a:schemeClr>
          </a:solidFill>
        </p:spPr>
        <p:txBody>
          <a:bodyPr wrap="square" rtlCol="0">
            <a:spAutoFit/>
          </a:bodyPr>
          <a:lstStyle/>
          <a:p>
            <a:r>
              <a:rPr lang="zh-CN" altLang="en-US" dirty="0"/>
              <a:t>假设所有管子放大倍数都一样</a:t>
            </a:r>
            <a:r>
              <a:rPr lang="el-GR" altLang="zh-CN" dirty="0"/>
              <a:t>β</a:t>
            </a:r>
            <a:endParaRPr lang="zh-CN" altLang="en-US" dirty="0"/>
          </a:p>
        </p:txBody>
      </p:sp>
    </p:spTree>
    <p:extLst>
      <p:ext uri="{BB962C8B-B14F-4D97-AF65-F5344CB8AC3E}">
        <p14:creationId xmlns:p14="http://schemas.microsoft.com/office/powerpoint/2010/main" val="418319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3976" name="组合 17"/>
          <p:cNvGrpSpPr>
            <a:grpSpLocks/>
          </p:cNvGrpSpPr>
          <p:nvPr/>
        </p:nvGrpSpPr>
        <p:grpSpPr bwMode="auto">
          <a:xfrm>
            <a:off x="11599" y="-49242"/>
            <a:ext cx="7343775" cy="2698750"/>
            <a:chOff x="180975" y="1115930"/>
            <a:chExt cx="7343130" cy="2698832"/>
          </a:xfrm>
        </p:grpSpPr>
        <p:graphicFrame>
          <p:nvGraphicFramePr>
            <p:cNvPr id="83973" name="Object 3"/>
            <p:cNvGraphicFramePr>
              <a:graphicFrameLocks noChangeAspect="1"/>
            </p:cNvGraphicFramePr>
            <p:nvPr/>
          </p:nvGraphicFramePr>
          <p:xfrm>
            <a:off x="180975" y="1185862"/>
            <a:ext cx="2173288" cy="2565400"/>
          </p:xfrm>
          <a:graphic>
            <a:graphicData uri="http://schemas.openxmlformats.org/presentationml/2006/ole">
              <mc:AlternateContent xmlns:mc="http://schemas.openxmlformats.org/markup-compatibility/2006">
                <mc:Choice xmlns:v="urn:schemas-microsoft-com:vml" Requires="v">
                  <p:oleObj spid="_x0000_s69639" name="Photo Editor 照片" r:id="rId4" imgW="7590476" imgH="8961905" progId="">
                    <p:embed/>
                  </p:oleObj>
                </mc:Choice>
                <mc:Fallback>
                  <p:oleObj name="Photo Editor 照片" r:id="rId4" imgW="7590476" imgH="8961905" progId="">
                    <p:embed/>
                    <p:pic>
                      <p:nvPicPr>
                        <p:cNvPr id="8397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 y="1185862"/>
                          <a:ext cx="2173288"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74" name="Object 4"/>
            <p:cNvGraphicFramePr>
              <a:graphicFrameLocks noChangeAspect="1"/>
            </p:cNvGraphicFramePr>
            <p:nvPr/>
          </p:nvGraphicFramePr>
          <p:xfrm>
            <a:off x="2314575" y="1185862"/>
            <a:ext cx="2219325" cy="2590800"/>
          </p:xfrm>
          <a:graphic>
            <a:graphicData uri="http://schemas.openxmlformats.org/presentationml/2006/ole">
              <mc:AlternateContent xmlns:mc="http://schemas.openxmlformats.org/markup-compatibility/2006">
                <mc:Choice xmlns:v="urn:schemas-microsoft-com:vml" Requires="v">
                  <p:oleObj spid="_x0000_s69640" name="Photo Editor 照片" r:id="rId6" imgW="7744906" imgH="9038095" progId="">
                    <p:embed/>
                  </p:oleObj>
                </mc:Choice>
                <mc:Fallback>
                  <p:oleObj name="Photo Editor 照片" r:id="rId6" imgW="7744906" imgH="9038095" progId="">
                    <p:embed/>
                    <p:pic>
                      <p:nvPicPr>
                        <p:cNvPr id="8397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4575" y="1185862"/>
                          <a:ext cx="22193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3983" name="Picture 14"/>
            <p:cNvPicPr>
              <a:picLocks noChangeAspect="1" noChangeArrowheads="1"/>
            </p:cNvPicPr>
            <p:nvPr/>
          </p:nvPicPr>
          <p:blipFill>
            <a:blip r:embed="rId8"/>
            <a:srcRect/>
            <a:stretch>
              <a:fillRect/>
            </a:stretch>
          </p:blipFill>
          <p:spPr bwMode="auto">
            <a:xfrm>
              <a:off x="4534545" y="1115930"/>
              <a:ext cx="2989560" cy="2698832"/>
            </a:xfrm>
            <a:prstGeom prst="rect">
              <a:avLst/>
            </a:prstGeom>
            <a:noFill/>
            <a:ln w="9525">
              <a:noFill/>
              <a:miter lim="800000"/>
              <a:headEnd/>
              <a:tailEnd/>
            </a:ln>
          </p:spPr>
        </p:pic>
      </p:grpSp>
      <p:sp>
        <p:nvSpPr>
          <p:cNvPr id="83977" name="AutoShape 82"/>
          <p:cNvSpPr>
            <a:spLocks noChangeArrowheads="1"/>
          </p:cNvSpPr>
          <p:nvPr/>
        </p:nvSpPr>
        <p:spPr bwMode="auto">
          <a:xfrm>
            <a:off x="2261086" y="1149320"/>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3978" name="TextBox 7"/>
          <p:cNvSpPr txBox="1">
            <a:spLocks noChangeArrowheads="1"/>
          </p:cNvSpPr>
          <p:nvPr/>
        </p:nvSpPr>
        <p:spPr bwMode="auto">
          <a:xfrm>
            <a:off x="2183299" y="1963708"/>
            <a:ext cx="657225" cy="461962"/>
          </a:xfrm>
          <a:prstGeom prst="rect">
            <a:avLst/>
          </a:prstGeom>
          <a:noFill/>
          <a:ln w="9525">
            <a:noFill/>
            <a:miter lim="800000"/>
            <a:headEnd/>
            <a:tailEnd/>
          </a:ln>
        </p:spPr>
        <p:txBody>
          <a:bodyPr>
            <a:spAutoFit/>
          </a:bodyPr>
          <a:lstStyle/>
          <a:p>
            <a:pPr algn="ctr" eaLnBrk="1" hangingPunct="1"/>
            <a:r>
              <a:rPr lang="en-US" altLang="zh-CN"/>
              <a:t>Ri2</a:t>
            </a:r>
            <a:endParaRPr lang="zh-CN" altLang="en-US"/>
          </a:p>
        </p:txBody>
      </p:sp>
      <p:sp>
        <p:nvSpPr>
          <p:cNvPr id="83979" name="AutoShape 82"/>
          <p:cNvSpPr>
            <a:spLocks noChangeArrowheads="1"/>
          </p:cNvSpPr>
          <p:nvPr/>
        </p:nvSpPr>
        <p:spPr bwMode="auto">
          <a:xfrm>
            <a:off x="4313724" y="987395"/>
            <a:ext cx="304800" cy="685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375 w 21600"/>
              <a:gd name="T13" fmla="*/ 2900 h 21600"/>
              <a:gd name="T14" fmla="*/ 18225 w 21600"/>
              <a:gd name="T15" fmla="*/ 925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0">
            <a:gsLst>
              <a:gs pos="0">
                <a:srgbClr val="FFFF00"/>
              </a:gs>
              <a:gs pos="100000">
                <a:srgbClr val="FF0000"/>
              </a:gs>
            </a:gsLst>
            <a:lin ang="18900000" scaled="1"/>
          </a:gradFill>
          <a:ln w="38100">
            <a:solidFill>
              <a:srgbClr val="FF0000"/>
            </a:solidFill>
            <a:miter lim="800000"/>
            <a:headEnd/>
            <a:tailEnd/>
          </a:ln>
        </p:spPr>
        <p:txBody>
          <a:bodyPr lIns="90000" tIns="46800" rIns="90000" bIns="46800" anchor="ctr">
            <a:spAutoFit/>
          </a:bodyPr>
          <a:lstStyle/>
          <a:p>
            <a:endParaRPr lang="zh-CN" altLang="en-US"/>
          </a:p>
        </p:txBody>
      </p:sp>
      <p:sp>
        <p:nvSpPr>
          <p:cNvPr id="83980" name="TextBox 9"/>
          <p:cNvSpPr txBox="1">
            <a:spLocks noChangeArrowheads="1"/>
          </p:cNvSpPr>
          <p:nvPr/>
        </p:nvSpPr>
        <p:spPr bwMode="auto">
          <a:xfrm>
            <a:off x="4235936" y="1801783"/>
            <a:ext cx="657225" cy="461962"/>
          </a:xfrm>
          <a:prstGeom prst="rect">
            <a:avLst/>
          </a:prstGeom>
          <a:noFill/>
          <a:ln w="9525">
            <a:noFill/>
            <a:miter lim="800000"/>
            <a:headEnd/>
            <a:tailEnd/>
          </a:ln>
        </p:spPr>
        <p:txBody>
          <a:bodyPr>
            <a:spAutoFit/>
          </a:bodyPr>
          <a:lstStyle/>
          <a:p>
            <a:pPr algn="ctr" eaLnBrk="1" hangingPunct="1"/>
            <a:r>
              <a:rPr lang="en-US" altLang="zh-CN"/>
              <a:t>Ri3</a:t>
            </a:r>
            <a:endParaRPr lang="zh-CN" altLang="en-US"/>
          </a:p>
        </p:txBody>
      </p:sp>
      <p:sp>
        <p:nvSpPr>
          <p:cNvPr id="83982" name="TextBox 11"/>
          <p:cNvSpPr txBox="1">
            <a:spLocks noChangeArrowheads="1"/>
          </p:cNvSpPr>
          <p:nvPr/>
        </p:nvSpPr>
        <p:spPr bwMode="auto">
          <a:xfrm>
            <a:off x="3890867" y="3134734"/>
            <a:ext cx="5143500" cy="584200"/>
          </a:xfrm>
          <a:prstGeom prst="rect">
            <a:avLst/>
          </a:prstGeom>
          <a:solidFill>
            <a:schemeClr val="accent5">
              <a:lumMod val="20000"/>
              <a:lumOff val="80000"/>
            </a:schemeClr>
          </a:solidFill>
          <a:ln w="9525">
            <a:noFill/>
            <a:miter lim="800000"/>
            <a:headEnd/>
            <a:tailEnd/>
          </a:ln>
        </p:spPr>
        <p:txBody>
          <a:bodyPr>
            <a:spAutoFit/>
          </a:bodyPr>
          <a:lstStyle/>
          <a:p>
            <a:pPr algn="ctr" eaLnBrk="1" hangingPunct="1"/>
            <a:r>
              <a:rPr lang="en-US" altLang="zh-CN" sz="3200" dirty="0"/>
              <a:t>R</a:t>
            </a:r>
            <a:r>
              <a:rPr lang="en-US" altLang="zh-CN" sz="3200" baseline="-25000" dirty="0"/>
              <a:t>i3</a:t>
            </a:r>
            <a:r>
              <a:rPr lang="en-US" altLang="zh-CN" sz="3200" dirty="0"/>
              <a:t>=r</a:t>
            </a:r>
            <a:r>
              <a:rPr lang="en-US" altLang="zh-CN" sz="3200" baseline="-25000" dirty="0"/>
              <a:t>be6</a:t>
            </a:r>
            <a:r>
              <a:rPr lang="en-US" altLang="zh-CN" sz="3200" dirty="0"/>
              <a:t>+(1+</a:t>
            </a:r>
            <a:r>
              <a:rPr lang="en-US" altLang="zh-CN" sz="3200" dirty="0">
                <a:sym typeface="Symbol" pitchFamily="18" charset="2"/>
              </a:rPr>
              <a:t></a:t>
            </a:r>
            <a:r>
              <a:rPr lang="en-US" altLang="zh-CN" sz="1800" dirty="0">
                <a:sym typeface="Symbol" pitchFamily="18" charset="2"/>
              </a:rPr>
              <a:t>6</a:t>
            </a:r>
            <a:r>
              <a:rPr lang="en-US" altLang="zh-CN" sz="3200" dirty="0"/>
              <a:t>)(r</a:t>
            </a:r>
            <a:r>
              <a:rPr lang="en-US" altLang="zh-CN" sz="3200" baseline="-25000" dirty="0"/>
              <a:t>be7</a:t>
            </a:r>
            <a:r>
              <a:rPr lang="en-US" altLang="zh-CN" sz="3200" dirty="0"/>
              <a:t>+(1+</a:t>
            </a:r>
            <a:r>
              <a:rPr lang="en-US" altLang="zh-CN" sz="3200" dirty="0">
                <a:sym typeface="Symbol" pitchFamily="18" charset="2"/>
              </a:rPr>
              <a:t></a:t>
            </a:r>
            <a:r>
              <a:rPr lang="en-US" altLang="zh-CN" sz="1800" dirty="0">
                <a:sym typeface="Symbol" pitchFamily="18" charset="2"/>
              </a:rPr>
              <a:t>7</a:t>
            </a:r>
            <a:r>
              <a:rPr lang="en-US" altLang="zh-CN" sz="3200" dirty="0"/>
              <a:t>)R</a:t>
            </a:r>
            <a:r>
              <a:rPr lang="en-US" altLang="zh-CN" sz="3200" baseline="-25000" dirty="0"/>
              <a:t>L</a:t>
            </a:r>
            <a:r>
              <a:rPr lang="en-US" altLang="zh-CN" sz="3200" dirty="0"/>
              <a:t>)</a:t>
            </a:r>
            <a:endParaRPr lang="zh-CN" altLang="en-US" sz="3200" baseline="-25000" dirty="0"/>
          </a:p>
        </p:txBody>
      </p:sp>
      <p:graphicFrame>
        <p:nvGraphicFramePr>
          <p:cNvPr id="807941" name="Object 5"/>
          <p:cNvGraphicFramePr>
            <a:graphicFrameLocks noChangeAspect="1"/>
          </p:cNvGraphicFramePr>
          <p:nvPr>
            <p:extLst>
              <p:ext uri="{D42A27DB-BD31-4B8C-83A1-F6EECF244321}">
                <p14:modId xmlns:p14="http://schemas.microsoft.com/office/powerpoint/2010/main" val="4158527075"/>
              </p:ext>
            </p:extLst>
          </p:nvPr>
        </p:nvGraphicFramePr>
        <p:xfrm>
          <a:off x="16359" y="2611409"/>
          <a:ext cx="3770312" cy="1054100"/>
        </p:xfrm>
        <a:graphic>
          <a:graphicData uri="http://schemas.openxmlformats.org/presentationml/2006/ole">
            <mc:AlternateContent xmlns:mc="http://schemas.openxmlformats.org/markup-compatibility/2006">
              <mc:Choice xmlns:v="urn:schemas-microsoft-com:vml" Requires="v">
                <p:oleObj spid="_x0000_s69641" name="公式" r:id="rId9" imgW="41757600" imgH="10668000" progId="Equation.3">
                  <p:embed/>
                </p:oleObj>
              </mc:Choice>
              <mc:Fallback>
                <p:oleObj name="公式" r:id="rId9" imgW="41757600" imgH="10668000" progId="Equation.3">
                  <p:embed/>
                  <p:pic>
                    <p:nvPicPr>
                      <p:cNvPr id="80794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59" y="2611409"/>
                        <a:ext cx="3770312" cy="10541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807942" name="Object 6"/>
          <p:cNvGraphicFramePr>
            <a:graphicFrameLocks noChangeAspect="1"/>
          </p:cNvGraphicFramePr>
          <p:nvPr>
            <p:extLst>
              <p:ext uri="{D42A27DB-BD31-4B8C-83A1-F6EECF244321}">
                <p14:modId xmlns:p14="http://schemas.microsoft.com/office/powerpoint/2010/main" val="4161518578"/>
              </p:ext>
            </p:extLst>
          </p:nvPr>
        </p:nvGraphicFramePr>
        <p:xfrm>
          <a:off x="0" y="3752600"/>
          <a:ext cx="3065462" cy="1130300"/>
        </p:xfrm>
        <a:graphic>
          <a:graphicData uri="http://schemas.openxmlformats.org/presentationml/2006/ole">
            <mc:AlternateContent xmlns:mc="http://schemas.openxmlformats.org/markup-compatibility/2006">
              <mc:Choice xmlns:v="urn:schemas-microsoft-com:vml" Requires="v">
                <p:oleObj spid="_x0000_s69642" name="公式" r:id="rId11" imgW="31699200" imgH="10668000" progId="Equation.3">
                  <p:embed/>
                </p:oleObj>
              </mc:Choice>
              <mc:Fallback>
                <p:oleObj name="公式" r:id="rId11" imgW="31699200" imgH="10668000" progId="Equation.3">
                  <p:embed/>
                  <p:pic>
                    <p:nvPicPr>
                      <p:cNvPr id="80794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752600"/>
                        <a:ext cx="3065462" cy="1130300"/>
                      </a:xfrm>
                      <a:prstGeom prst="rect">
                        <a:avLst/>
                      </a:prstGeom>
                      <a:solidFill>
                        <a:srgbClr val="66FFFF"/>
                      </a:solidFill>
                      <a:ln w="9525">
                        <a:solidFill>
                          <a:srgbClr val="FF3300"/>
                        </a:solidFill>
                        <a:miter lim="800000"/>
                        <a:headEnd/>
                        <a:tailEnd/>
                      </a:ln>
                    </p:spPr>
                  </p:pic>
                </p:oleObj>
              </mc:Fallback>
            </mc:AlternateContent>
          </a:graphicData>
        </a:graphic>
      </p:graphicFrame>
      <p:graphicFrame>
        <p:nvGraphicFramePr>
          <p:cNvPr id="83972" name="Object 8"/>
          <p:cNvGraphicFramePr>
            <a:graphicFrameLocks noChangeAspect="1"/>
          </p:cNvGraphicFramePr>
          <p:nvPr>
            <p:extLst>
              <p:ext uri="{D42A27DB-BD31-4B8C-83A1-F6EECF244321}">
                <p14:modId xmlns:p14="http://schemas.microsoft.com/office/powerpoint/2010/main" val="2293795064"/>
              </p:ext>
            </p:extLst>
          </p:nvPr>
        </p:nvGraphicFramePr>
        <p:xfrm>
          <a:off x="3427687" y="3844513"/>
          <a:ext cx="5562600" cy="874713"/>
        </p:xfrm>
        <a:graphic>
          <a:graphicData uri="http://schemas.openxmlformats.org/presentationml/2006/ole">
            <mc:AlternateContent xmlns:mc="http://schemas.openxmlformats.org/markup-compatibility/2006">
              <mc:Choice xmlns:v="urn:schemas-microsoft-com:vml" Requires="v">
                <p:oleObj spid="_x0000_s69643" name="公式" r:id="rId13" imgW="84734400" imgH="10972800" progId="Equation.3">
                  <p:embed/>
                </p:oleObj>
              </mc:Choice>
              <mc:Fallback>
                <p:oleObj name="公式" r:id="rId13" imgW="84734400" imgH="10972800" progId="Equation.3">
                  <p:embed/>
                  <p:pic>
                    <p:nvPicPr>
                      <p:cNvPr id="83972"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27687" y="3844513"/>
                        <a:ext cx="5562600" cy="874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a:extLst>
              <a:ext uri="{FF2B5EF4-FFF2-40B4-BE49-F238E27FC236}">
                <a16:creationId xmlns:a16="http://schemas.microsoft.com/office/drawing/2014/main" id="{2C91957C-6A30-42AA-B1FE-255810992A0C}"/>
              </a:ext>
            </a:extLst>
          </p:cNvPr>
          <p:cNvSpPr txBox="1"/>
          <p:nvPr/>
        </p:nvSpPr>
        <p:spPr>
          <a:xfrm>
            <a:off x="7235420" y="0"/>
            <a:ext cx="2019044" cy="646331"/>
          </a:xfrm>
          <a:prstGeom prst="rect">
            <a:avLst/>
          </a:prstGeom>
          <a:solidFill>
            <a:schemeClr val="accent6">
              <a:lumMod val="20000"/>
              <a:lumOff val="80000"/>
            </a:schemeClr>
          </a:solidFill>
        </p:spPr>
        <p:txBody>
          <a:bodyPr wrap="square" rtlCol="0">
            <a:spAutoFit/>
          </a:bodyPr>
          <a:lstStyle/>
          <a:p>
            <a:r>
              <a:rPr lang="en-US" altLang="zh-CN" sz="1800" b="1" dirty="0">
                <a:solidFill>
                  <a:srgbClr val="FF0000"/>
                </a:solidFill>
              </a:rPr>
              <a:t>R1</a:t>
            </a:r>
            <a:r>
              <a:rPr lang="zh-CN" altLang="en-US" sz="1800" b="1" dirty="0">
                <a:solidFill>
                  <a:srgbClr val="FF0000"/>
                </a:solidFill>
              </a:rPr>
              <a:t>很大</a:t>
            </a:r>
            <a:r>
              <a:rPr lang="en-US" altLang="zh-CN" sz="1800" b="1" dirty="0">
                <a:solidFill>
                  <a:srgbClr val="FF0000"/>
                </a:solidFill>
              </a:rPr>
              <a:t>,</a:t>
            </a:r>
            <a:r>
              <a:rPr lang="zh-CN" altLang="en-US" sz="1800" b="1" dirty="0">
                <a:solidFill>
                  <a:srgbClr val="FF0000"/>
                </a:solidFill>
              </a:rPr>
              <a:t>大到无穷情况下会怎样？</a:t>
            </a:r>
          </a:p>
        </p:txBody>
      </p:sp>
      <p:pic>
        <p:nvPicPr>
          <p:cNvPr id="4" name="图片 3">
            <a:extLst>
              <a:ext uri="{FF2B5EF4-FFF2-40B4-BE49-F238E27FC236}">
                <a16:creationId xmlns:a16="http://schemas.microsoft.com/office/drawing/2014/main" id="{17347B52-1DA6-48D4-8939-37FA9F9EE4DA}"/>
              </a:ext>
            </a:extLst>
          </p:cNvPr>
          <p:cNvPicPr>
            <a:picLocks noChangeAspect="1"/>
          </p:cNvPicPr>
          <p:nvPr/>
        </p:nvPicPr>
        <p:blipFill>
          <a:blip r:embed="rId15"/>
          <a:stretch>
            <a:fillRect/>
          </a:stretch>
        </p:blipFill>
        <p:spPr>
          <a:xfrm>
            <a:off x="7355374" y="2119297"/>
            <a:ext cx="1386612" cy="696898"/>
          </a:xfrm>
          <a:prstGeom prst="rect">
            <a:avLst/>
          </a:prstGeom>
        </p:spPr>
      </p:pic>
      <p:sp>
        <p:nvSpPr>
          <p:cNvPr id="21" name="文本框 20">
            <a:extLst>
              <a:ext uri="{FF2B5EF4-FFF2-40B4-BE49-F238E27FC236}">
                <a16:creationId xmlns:a16="http://schemas.microsoft.com/office/drawing/2014/main" id="{316659C9-562F-4249-BADB-3646F0F0524F}"/>
              </a:ext>
            </a:extLst>
          </p:cNvPr>
          <p:cNvSpPr txBox="1"/>
          <p:nvPr/>
        </p:nvSpPr>
        <p:spPr>
          <a:xfrm>
            <a:off x="7247019" y="863089"/>
            <a:ext cx="1896981" cy="1200329"/>
          </a:xfrm>
          <a:prstGeom prst="rect">
            <a:avLst/>
          </a:prstGeom>
          <a:solidFill>
            <a:schemeClr val="accent6">
              <a:lumMod val="20000"/>
              <a:lumOff val="80000"/>
            </a:schemeClr>
          </a:solidFill>
        </p:spPr>
        <p:txBody>
          <a:bodyPr wrap="square" rtlCol="0">
            <a:spAutoFit/>
          </a:bodyPr>
          <a:lstStyle/>
          <a:p>
            <a:r>
              <a:rPr lang="en-US" altLang="zh-CN" sz="1800" b="1" dirty="0">
                <a:solidFill>
                  <a:srgbClr val="FF0000"/>
                </a:solidFill>
              </a:rPr>
              <a:t>R1</a:t>
            </a:r>
            <a:r>
              <a:rPr lang="zh-CN" altLang="en-US" sz="1800" b="1" dirty="0">
                <a:solidFill>
                  <a:srgbClr val="FF0000"/>
                </a:solidFill>
              </a:rPr>
              <a:t>为无穷，</a:t>
            </a:r>
            <a:r>
              <a:rPr lang="en-US" altLang="zh-CN" sz="1800" b="1" dirty="0">
                <a:solidFill>
                  <a:srgbClr val="FF0000"/>
                </a:solidFill>
              </a:rPr>
              <a:t> R1</a:t>
            </a:r>
            <a:r>
              <a:rPr lang="zh-CN" altLang="en-US" sz="1800" b="1" dirty="0">
                <a:solidFill>
                  <a:srgbClr val="FF0000"/>
                </a:solidFill>
              </a:rPr>
              <a:t>就没有电流，第一级放大的电流都流到第二级</a:t>
            </a:r>
          </a:p>
        </p:txBody>
      </p:sp>
    </p:spTree>
    <p:extLst>
      <p:ext uri="{BB962C8B-B14F-4D97-AF65-F5344CB8AC3E}">
        <p14:creationId xmlns:p14="http://schemas.microsoft.com/office/powerpoint/2010/main" val="220292115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Box 1"/>
          <p:cNvSpPr txBox="1">
            <a:spLocks noChangeArrowheads="1"/>
          </p:cNvSpPr>
          <p:nvPr/>
        </p:nvSpPr>
        <p:spPr bwMode="auto">
          <a:xfrm>
            <a:off x="1042988" y="2133600"/>
            <a:ext cx="6049962" cy="1014413"/>
          </a:xfrm>
          <a:prstGeom prst="rect">
            <a:avLst/>
          </a:prstGeom>
          <a:noFill/>
          <a:ln w="9525">
            <a:noFill/>
            <a:miter lim="800000"/>
            <a:headEnd/>
            <a:tailEnd/>
          </a:ln>
        </p:spPr>
        <p:txBody>
          <a:bodyPr>
            <a:spAutoFit/>
          </a:bodyPr>
          <a:lstStyle/>
          <a:p>
            <a:pPr algn="ctr" eaLnBrk="1" hangingPunct="1"/>
            <a:r>
              <a:rPr lang="zh-CN" altLang="en-US" sz="6000" b="1"/>
              <a:t>思 考 题</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ChangeArrowheads="1"/>
          </p:cNvSpPr>
          <p:nvPr/>
        </p:nvSpPr>
        <p:spPr bwMode="auto">
          <a:xfrm>
            <a:off x="958850" y="984250"/>
            <a:ext cx="7416800" cy="4702175"/>
          </a:xfrm>
          <a:prstGeom prst="rect">
            <a:avLst/>
          </a:prstGeom>
          <a:noFill/>
          <a:ln w="9525">
            <a:noFill/>
            <a:miter lim="800000"/>
            <a:headEnd/>
            <a:tailEnd/>
          </a:ln>
        </p:spPr>
        <p:txBody>
          <a:bodyPr>
            <a:spAutoFit/>
          </a:bodyPr>
          <a:lstStyle/>
          <a:p>
            <a:pPr eaLnBrk="1" hangingPunct="1">
              <a:spcBef>
                <a:spcPct val="10000"/>
              </a:spcBef>
            </a:pPr>
            <a:endParaRPr lang="zh-CN" altLang="en-US" sz="2800" b="1">
              <a:ea typeface="黑体" pitchFamily="49" charset="-122"/>
            </a:endParaRPr>
          </a:p>
          <a:p>
            <a:pPr eaLnBrk="1" hangingPunct="1">
              <a:spcBef>
                <a:spcPct val="10000"/>
              </a:spcBef>
              <a:buFontTx/>
              <a:buChar char="•"/>
            </a:pPr>
            <a:r>
              <a:rPr lang="zh-CN" altLang="en-US" sz="2800" b="1">
                <a:ea typeface="黑体" pitchFamily="49" charset="-122"/>
              </a:rPr>
              <a:t> </a:t>
            </a:r>
            <a:r>
              <a:rPr lang="zh-CN" altLang="en-US" sz="2800" b="1">
                <a:solidFill>
                  <a:schemeClr val="accent2"/>
                </a:solidFill>
                <a:ea typeface="黑体" pitchFamily="49" charset="-122"/>
              </a:rPr>
              <a:t>直接耦合、阻容耦合、变压器耦合多级放大电路各有何优缺点？分别何时选用？</a:t>
            </a:r>
          </a:p>
          <a:p>
            <a:pPr eaLnBrk="1" hangingPunct="1">
              <a:spcBef>
                <a:spcPct val="10000"/>
              </a:spcBef>
            </a:pPr>
            <a:r>
              <a:rPr lang="zh-CN" altLang="en-US" sz="2800" b="1">
                <a:ea typeface="黑体" pitchFamily="49" charset="-122"/>
              </a:rPr>
              <a:t> </a:t>
            </a:r>
          </a:p>
          <a:p>
            <a:pPr eaLnBrk="1" hangingPunct="1">
              <a:spcBef>
                <a:spcPct val="10000"/>
              </a:spcBef>
            </a:pPr>
            <a:endParaRPr lang="zh-CN" altLang="en-US" sz="2800" b="1">
              <a:ea typeface="黑体" pitchFamily="49" charset="-122"/>
            </a:endParaRPr>
          </a:p>
          <a:p>
            <a:pPr eaLnBrk="1" hangingPunct="1">
              <a:spcBef>
                <a:spcPct val="10000"/>
              </a:spcBef>
            </a:pPr>
            <a:endParaRPr lang="zh-CN" altLang="en-US" sz="2800" b="1">
              <a:ea typeface="黑体" pitchFamily="49" charset="-122"/>
            </a:endParaRPr>
          </a:p>
          <a:p>
            <a:pPr eaLnBrk="1" hangingPunct="1">
              <a:spcBef>
                <a:spcPct val="10000"/>
              </a:spcBef>
            </a:pPr>
            <a:endParaRPr lang="zh-CN" altLang="en-US" sz="2800" b="1">
              <a:ea typeface="黑体" pitchFamily="49" charset="-122"/>
            </a:endParaRPr>
          </a:p>
          <a:p>
            <a:pPr eaLnBrk="1" hangingPunct="1">
              <a:spcBef>
                <a:spcPct val="10000"/>
              </a:spcBef>
              <a:buFontTx/>
              <a:buChar char="•"/>
            </a:pPr>
            <a:r>
              <a:rPr lang="zh-CN" altLang="en-US" sz="2800" b="1">
                <a:ea typeface="黑体" pitchFamily="49" charset="-122"/>
              </a:rPr>
              <a:t> </a:t>
            </a:r>
            <a:r>
              <a:rPr lang="zh-CN" altLang="en-US" sz="2800" b="1">
                <a:solidFill>
                  <a:schemeClr val="accent2"/>
                </a:solidFill>
                <a:ea typeface="黑体" pitchFamily="49" charset="-122"/>
              </a:rPr>
              <a:t>求多级放大电路的三个动态参数时，是否要考虑前后级之间的相互影响？</a:t>
            </a:r>
            <a:endParaRPr lang="en-US" altLang="zh-CN" sz="2800" b="1">
              <a:solidFill>
                <a:schemeClr val="accent2"/>
              </a:solidFill>
              <a:ea typeface="黑体" pitchFamily="49" charset="-122"/>
            </a:endParaRPr>
          </a:p>
          <a:p>
            <a:pPr eaLnBrk="1" hangingPunct="1">
              <a:spcBef>
                <a:spcPct val="10000"/>
              </a:spcBef>
              <a:buFontTx/>
              <a:buChar char="•"/>
            </a:pPr>
            <a:r>
              <a:rPr lang="zh-CN" altLang="en-US" sz="2800" b="1">
                <a:ea typeface="黑体" pitchFamily="49" charset="-122"/>
              </a:rPr>
              <a:t>答：要考虑。</a:t>
            </a:r>
          </a:p>
        </p:txBody>
      </p:sp>
      <p:sp>
        <p:nvSpPr>
          <p:cNvPr id="3077" name="Rectangle 5"/>
          <p:cNvSpPr>
            <a:spLocks noChangeArrowheads="1"/>
          </p:cNvSpPr>
          <p:nvPr/>
        </p:nvSpPr>
        <p:spPr bwMode="auto">
          <a:xfrm>
            <a:off x="1273175" y="2251075"/>
            <a:ext cx="2268538" cy="1917700"/>
          </a:xfrm>
          <a:prstGeom prst="rect">
            <a:avLst/>
          </a:prstGeom>
          <a:noFill/>
          <a:ln w="9525">
            <a:noFill/>
            <a:miter lim="800000"/>
            <a:headEnd/>
            <a:tailEnd/>
          </a:ln>
        </p:spPr>
        <p:txBody>
          <a:bodyPr anchor="ctr">
            <a:spAutoFit/>
          </a:bodyPr>
          <a:lstStyle/>
          <a:p>
            <a:pPr algn="ctr" eaLnBrk="1" hangingPunct="1"/>
            <a:r>
              <a:rPr lang="zh-CN" altLang="en-US" b="1">
                <a:solidFill>
                  <a:srgbClr val="FF3300"/>
                </a:solidFill>
                <a:ea typeface="黑体" pitchFamily="49" charset="-122"/>
              </a:rPr>
              <a:t>直接耦合：</a:t>
            </a:r>
          </a:p>
          <a:p>
            <a:pPr algn="ctr" eaLnBrk="1" hangingPunct="1">
              <a:buFontTx/>
              <a:buChar char="•"/>
            </a:pPr>
            <a:r>
              <a:rPr lang="zh-CN" altLang="en-US" b="1">
                <a:ea typeface="黑体" pitchFamily="49" charset="-122"/>
              </a:rPr>
              <a:t> 低频特性好</a:t>
            </a:r>
          </a:p>
          <a:p>
            <a:pPr algn="ctr" eaLnBrk="1" hangingPunct="1">
              <a:buFontTx/>
              <a:buChar char="•"/>
            </a:pPr>
            <a:r>
              <a:rPr lang="zh-CN" altLang="en-US" b="1">
                <a:ea typeface="黑体" pitchFamily="49" charset="-122"/>
              </a:rPr>
              <a:t> 便于集成</a:t>
            </a:r>
          </a:p>
          <a:p>
            <a:pPr algn="ctr" eaLnBrk="1" hangingPunct="1">
              <a:buFontTx/>
              <a:buChar char="•"/>
            </a:pPr>
            <a:r>
              <a:rPr lang="en-US" altLang="zh-CN" b="1">
                <a:ea typeface="黑体" pitchFamily="49" charset="-122"/>
              </a:rPr>
              <a:t>Q</a:t>
            </a:r>
            <a:r>
              <a:rPr lang="zh-CN" altLang="en-US" b="1">
                <a:ea typeface="黑体" pitchFamily="49" charset="-122"/>
              </a:rPr>
              <a:t>点互相影响</a:t>
            </a:r>
          </a:p>
          <a:p>
            <a:pPr algn="ctr" eaLnBrk="1" hangingPunct="1">
              <a:buFontTx/>
              <a:buChar char="•"/>
            </a:pPr>
            <a:r>
              <a:rPr lang="zh-CN" altLang="en-US" b="1">
                <a:ea typeface="黑体" pitchFamily="49" charset="-122"/>
              </a:rPr>
              <a:t> 零点漂移</a:t>
            </a:r>
          </a:p>
        </p:txBody>
      </p:sp>
      <p:sp>
        <p:nvSpPr>
          <p:cNvPr id="3078" name="Rectangle 6"/>
          <p:cNvSpPr>
            <a:spLocks noChangeArrowheads="1"/>
          </p:cNvSpPr>
          <p:nvPr/>
        </p:nvSpPr>
        <p:spPr bwMode="auto">
          <a:xfrm>
            <a:off x="3503613" y="2259013"/>
            <a:ext cx="2268537" cy="1552575"/>
          </a:xfrm>
          <a:prstGeom prst="rect">
            <a:avLst/>
          </a:prstGeom>
          <a:noFill/>
          <a:ln w="9525">
            <a:noFill/>
            <a:miter lim="800000"/>
            <a:headEnd/>
            <a:tailEnd/>
          </a:ln>
        </p:spPr>
        <p:txBody>
          <a:bodyPr anchor="ctr">
            <a:spAutoFit/>
          </a:bodyPr>
          <a:lstStyle/>
          <a:p>
            <a:pPr algn="ctr" eaLnBrk="1" hangingPunct="1"/>
            <a:r>
              <a:rPr lang="zh-CN" altLang="en-US" b="1">
                <a:solidFill>
                  <a:srgbClr val="FF3300"/>
                </a:solidFill>
                <a:ea typeface="黑体" pitchFamily="49" charset="-122"/>
              </a:rPr>
              <a:t>阻容耦合：</a:t>
            </a:r>
          </a:p>
          <a:p>
            <a:pPr algn="ctr" eaLnBrk="1" hangingPunct="1">
              <a:buFontTx/>
              <a:buChar char="•"/>
            </a:pPr>
            <a:r>
              <a:rPr lang="zh-CN" altLang="en-US" b="1">
                <a:ea typeface="黑体" pitchFamily="49" charset="-122"/>
              </a:rPr>
              <a:t> 低频特性差</a:t>
            </a:r>
          </a:p>
          <a:p>
            <a:pPr algn="ctr" eaLnBrk="1" hangingPunct="1">
              <a:buFontTx/>
              <a:buChar char="•"/>
            </a:pPr>
            <a:r>
              <a:rPr lang="zh-CN" altLang="en-US" b="1">
                <a:ea typeface="黑体" pitchFamily="49" charset="-122"/>
              </a:rPr>
              <a:t> 不便于集成</a:t>
            </a:r>
          </a:p>
          <a:p>
            <a:pPr algn="ctr" eaLnBrk="1" hangingPunct="1">
              <a:buFontTx/>
              <a:buChar char="•"/>
            </a:pPr>
            <a:r>
              <a:rPr lang="zh-CN" altLang="en-US" b="1">
                <a:ea typeface="黑体" pitchFamily="49" charset="-122"/>
              </a:rPr>
              <a:t> </a:t>
            </a:r>
            <a:r>
              <a:rPr lang="en-US" altLang="zh-CN" b="1">
                <a:ea typeface="黑体" pitchFamily="49" charset="-122"/>
              </a:rPr>
              <a:t>Q</a:t>
            </a:r>
            <a:r>
              <a:rPr lang="zh-CN" altLang="en-US" b="1">
                <a:ea typeface="黑体" pitchFamily="49" charset="-122"/>
              </a:rPr>
              <a:t>点互相独立</a:t>
            </a:r>
          </a:p>
        </p:txBody>
      </p:sp>
      <p:sp>
        <p:nvSpPr>
          <p:cNvPr id="3079" name="Rectangle 7"/>
          <p:cNvSpPr>
            <a:spLocks noChangeArrowheads="1"/>
          </p:cNvSpPr>
          <p:nvPr/>
        </p:nvSpPr>
        <p:spPr bwMode="auto">
          <a:xfrm>
            <a:off x="5953125" y="2214563"/>
            <a:ext cx="2268538" cy="1917700"/>
          </a:xfrm>
          <a:prstGeom prst="rect">
            <a:avLst/>
          </a:prstGeom>
          <a:noFill/>
          <a:ln w="9525">
            <a:noFill/>
            <a:miter lim="800000"/>
            <a:headEnd/>
            <a:tailEnd/>
          </a:ln>
        </p:spPr>
        <p:txBody>
          <a:bodyPr anchor="ctr">
            <a:spAutoFit/>
          </a:bodyPr>
          <a:lstStyle/>
          <a:p>
            <a:pPr algn="ctr" eaLnBrk="1" hangingPunct="1"/>
            <a:r>
              <a:rPr lang="zh-CN" altLang="en-US" b="1">
                <a:solidFill>
                  <a:srgbClr val="FF3300"/>
                </a:solidFill>
                <a:ea typeface="黑体" pitchFamily="49" charset="-122"/>
              </a:rPr>
              <a:t>变压器耦合：</a:t>
            </a:r>
          </a:p>
          <a:p>
            <a:pPr algn="ctr" eaLnBrk="1" hangingPunct="1">
              <a:buFontTx/>
              <a:buChar char="•"/>
            </a:pPr>
            <a:r>
              <a:rPr lang="zh-CN" altLang="en-US" b="1">
                <a:ea typeface="黑体" pitchFamily="49" charset="-122"/>
              </a:rPr>
              <a:t> 低频特性差</a:t>
            </a:r>
          </a:p>
          <a:p>
            <a:pPr algn="ctr" eaLnBrk="1" hangingPunct="1">
              <a:buFontTx/>
              <a:buChar char="•"/>
            </a:pPr>
            <a:r>
              <a:rPr lang="zh-CN" altLang="en-US" b="1">
                <a:ea typeface="黑体" pitchFamily="49" charset="-122"/>
              </a:rPr>
              <a:t> 不便于集成</a:t>
            </a:r>
          </a:p>
          <a:p>
            <a:pPr algn="ctr" eaLnBrk="1" hangingPunct="1">
              <a:buFontTx/>
              <a:buChar char="•"/>
            </a:pPr>
            <a:r>
              <a:rPr lang="zh-CN" altLang="en-US" b="1">
                <a:ea typeface="黑体" pitchFamily="49" charset="-122"/>
              </a:rPr>
              <a:t> </a:t>
            </a:r>
            <a:r>
              <a:rPr lang="en-US" altLang="zh-CN" b="1">
                <a:ea typeface="黑体" pitchFamily="49" charset="-122"/>
              </a:rPr>
              <a:t>Q</a:t>
            </a:r>
            <a:r>
              <a:rPr lang="zh-CN" altLang="en-US" b="1">
                <a:ea typeface="黑体" pitchFamily="49" charset="-122"/>
              </a:rPr>
              <a:t>点互相独立</a:t>
            </a:r>
          </a:p>
          <a:p>
            <a:pPr algn="ctr" eaLnBrk="1" hangingPunct="1">
              <a:buFontTx/>
              <a:buChar char="•"/>
            </a:pPr>
            <a:r>
              <a:rPr lang="zh-CN" altLang="en-US" b="1">
                <a:ea typeface="黑体" pitchFamily="49" charset="-122"/>
              </a:rPr>
              <a:t> 实现阻抗匹配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wipe(left)">
                                      <p:cBhvr>
                                        <p:cTn id="7" dur="500"/>
                                        <p:tgtEl>
                                          <p:spTgt spid="3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wipe(left)">
                                      <p:cBhvr>
                                        <p:cTn id="12" dur="500"/>
                                        <p:tgtEl>
                                          <p:spTgt spid="3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9"/>
                                        </p:tgtEl>
                                        <p:attrNameLst>
                                          <p:attrName>style.visibility</p:attrName>
                                        </p:attrNameLst>
                                      </p:cBhvr>
                                      <p:to>
                                        <p:strVal val="visible"/>
                                      </p:to>
                                    </p:set>
                                    <p:animEffect transition="in" filter="wipe(left)">
                                      <p:cBhvr>
                                        <p:cTn id="17"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p:bldP spid="3078" grpId="0"/>
      <p:bldP spid="3079"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611188" y="1089025"/>
            <a:ext cx="7991475" cy="4856163"/>
          </a:xfrm>
          <a:prstGeom prst="rect">
            <a:avLst/>
          </a:prstGeom>
          <a:noFill/>
          <a:ln w="9525">
            <a:noFill/>
            <a:miter lim="800000"/>
            <a:headEnd/>
            <a:tailEnd/>
          </a:ln>
        </p:spPr>
        <p:txBody>
          <a:bodyPr>
            <a:spAutoFit/>
          </a:bodyPr>
          <a:lstStyle/>
          <a:p>
            <a:pPr eaLnBrk="1" hangingPunct="1">
              <a:spcBef>
                <a:spcPct val="10000"/>
              </a:spcBef>
              <a:buFontTx/>
              <a:buChar char="•"/>
            </a:pPr>
            <a:r>
              <a:rPr lang="en-US" altLang="zh-CN" b="1">
                <a:solidFill>
                  <a:schemeClr val="accent2"/>
                </a:solidFill>
                <a:ea typeface="黑体" pitchFamily="49" charset="-122"/>
              </a:rPr>
              <a:t> </a:t>
            </a:r>
            <a:r>
              <a:rPr lang="zh-CN" altLang="en-US" b="1">
                <a:solidFill>
                  <a:schemeClr val="accent2"/>
                </a:solidFill>
                <a:ea typeface="黑体" pitchFamily="49" charset="-122"/>
              </a:rPr>
              <a:t>已知</a:t>
            </a:r>
            <a:r>
              <a:rPr lang="en-US" altLang="zh-CN" b="1" i="1">
                <a:solidFill>
                  <a:schemeClr val="accent2"/>
                </a:solidFill>
                <a:ea typeface="黑体" pitchFamily="49" charset="-122"/>
              </a:rPr>
              <a:t>u</a:t>
            </a:r>
            <a:r>
              <a:rPr lang="en-US" altLang="zh-CN" b="1" baseline="-25000">
                <a:solidFill>
                  <a:schemeClr val="accent2"/>
                </a:solidFill>
                <a:ea typeface="黑体" pitchFamily="49" charset="-122"/>
              </a:rPr>
              <a:t>I1</a:t>
            </a:r>
            <a:r>
              <a:rPr lang="zh-CN" altLang="en-US" b="1">
                <a:solidFill>
                  <a:schemeClr val="accent2"/>
                </a:solidFill>
                <a:ea typeface="黑体" pitchFamily="49" charset="-122"/>
              </a:rPr>
              <a:t>、</a:t>
            </a:r>
            <a:r>
              <a:rPr lang="en-US" altLang="zh-CN" b="1" i="1">
                <a:solidFill>
                  <a:schemeClr val="accent2"/>
                </a:solidFill>
                <a:ea typeface="黑体" pitchFamily="49" charset="-122"/>
              </a:rPr>
              <a:t>u</a:t>
            </a:r>
            <a:r>
              <a:rPr lang="en-US" altLang="zh-CN" b="1" baseline="-25000">
                <a:solidFill>
                  <a:schemeClr val="accent2"/>
                </a:solidFill>
                <a:ea typeface="黑体" pitchFamily="49" charset="-122"/>
              </a:rPr>
              <a:t>I2</a:t>
            </a:r>
            <a:r>
              <a:rPr lang="zh-CN" altLang="en-US" b="1">
                <a:solidFill>
                  <a:schemeClr val="accent2"/>
                </a:solidFill>
                <a:ea typeface="黑体" pitchFamily="49" charset="-122"/>
              </a:rPr>
              <a:t>，如何求</a:t>
            </a:r>
            <a:r>
              <a:rPr lang="en-US" altLang="zh-CN" b="1" i="1">
                <a:solidFill>
                  <a:schemeClr val="accent2"/>
                </a:solidFill>
                <a:ea typeface="黑体" pitchFamily="49" charset="-122"/>
              </a:rPr>
              <a:t>u</a:t>
            </a:r>
            <a:r>
              <a:rPr lang="en-US" altLang="zh-CN" b="1" baseline="-25000">
                <a:solidFill>
                  <a:schemeClr val="accent2"/>
                </a:solidFill>
                <a:ea typeface="黑体" pitchFamily="49" charset="-122"/>
              </a:rPr>
              <a:t>Id</a:t>
            </a:r>
            <a:r>
              <a:rPr lang="zh-CN" altLang="en-US" b="1">
                <a:solidFill>
                  <a:schemeClr val="accent2"/>
                </a:solidFill>
                <a:ea typeface="黑体" pitchFamily="49" charset="-122"/>
              </a:rPr>
              <a:t>、</a:t>
            </a:r>
            <a:r>
              <a:rPr lang="en-US" altLang="zh-CN" b="1" i="1">
                <a:solidFill>
                  <a:schemeClr val="accent2"/>
                </a:solidFill>
                <a:ea typeface="黑体" pitchFamily="49" charset="-122"/>
              </a:rPr>
              <a:t>u</a:t>
            </a:r>
            <a:r>
              <a:rPr lang="en-US" altLang="zh-CN" b="1" baseline="-25000">
                <a:solidFill>
                  <a:schemeClr val="accent2"/>
                </a:solidFill>
                <a:ea typeface="黑体" pitchFamily="49" charset="-122"/>
              </a:rPr>
              <a:t>Ic</a:t>
            </a:r>
            <a:r>
              <a:rPr lang="zh-CN" altLang="en-US" b="1">
                <a:solidFill>
                  <a:schemeClr val="accent2"/>
                </a:solidFill>
                <a:ea typeface="黑体" pitchFamily="49" charset="-122"/>
              </a:rPr>
              <a:t>？</a:t>
            </a:r>
          </a:p>
          <a:p>
            <a:pPr eaLnBrk="1" hangingPunct="1">
              <a:spcBef>
                <a:spcPct val="10000"/>
              </a:spcBef>
              <a:buFontTx/>
              <a:buChar char="•"/>
            </a:pPr>
            <a:endParaRPr lang="zh-CN" altLang="en-US" b="1">
              <a:ea typeface="黑体" pitchFamily="49" charset="-122"/>
            </a:endParaRPr>
          </a:p>
          <a:p>
            <a:pPr eaLnBrk="1" hangingPunct="1">
              <a:spcBef>
                <a:spcPct val="10000"/>
              </a:spcBef>
            </a:pPr>
            <a:r>
              <a:rPr lang="zh-CN" altLang="en-US" b="1">
                <a:ea typeface="黑体" pitchFamily="49" charset="-122"/>
              </a:rPr>
              <a:t> </a:t>
            </a:r>
          </a:p>
          <a:p>
            <a:pPr eaLnBrk="1" hangingPunct="1">
              <a:spcBef>
                <a:spcPct val="10000"/>
              </a:spcBef>
              <a:buFontTx/>
              <a:buChar char="•"/>
            </a:pPr>
            <a:r>
              <a:rPr lang="zh-CN" altLang="en-US" b="1">
                <a:ea typeface="黑体" pitchFamily="49" charset="-122"/>
              </a:rPr>
              <a:t> </a:t>
            </a:r>
            <a:r>
              <a:rPr lang="zh-CN" altLang="en-US" b="1">
                <a:solidFill>
                  <a:schemeClr val="accent2"/>
                </a:solidFill>
                <a:ea typeface="黑体" pitchFamily="49" charset="-122"/>
              </a:rPr>
              <a:t>差分放大电路的四种接法中，哪些电路的静态和动态分析方法分别相同。</a:t>
            </a:r>
          </a:p>
          <a:p>
            <a:pPr eaLnBrk="1" hangingPunct="1">
              <a:spcBef>
                <a:spcPct val="10000"/>
              </a:spcBef>
              <a:buFontTx/>
              <a:buChar char="•"/>
            </a:pPr>
            <a:endParaRPr lang="zh-CN" altLang="en-US" b="1">
              <a:ea typeface="黑体" pitchFamily="49" charset="-122"/>
            </a:endParaRPr>
          </a:p>
          <a:p>
            <a:pPr eaLnBrk="1" hangingPunct="1">
              <a:spcBef>
                <a:spcPct val="10000"/>
              </a:spcBef>
              <a:buFontTx/>
              <a:buChar char="•"/>
            </a:pPr>
            <a:endParaRPr lang="zh-CN" altLang="en-US" b="1">
              <a:ea typeface="黑体" pitchFamily="49" charset="-122"/>
            </a:endParaRPr>
          </a:p>
          <a:p>
            <a:pPr eaLnBrk="1" hangingPunct="1">
              <a:spcBef>
                <a:spcPct val="10000"/>
              </a:spcBef>
              <a:buFontTx/>
              <a:buChar char="•"/>
            </a:pPr>
            <a:endParaRPr lang="zh-CN" altLang="en-US" b="1">
              <a:ea typeface="黑体" pitchFamily="49" charset="-122"/>
            </a:endParaRPr>
          </a:p>
          <a:p>
            <a:pPr eaLnBrk="1" hangingPunct="1">
              <a:spcBef>
                <a:spcPct val="10000"/>
              </a:spcBef>
            </a:pPr>
            <a:endParaRPr lang="zh-CN" altLang="en-US" b="1">
              <a:ea typeface="黑体" pitchFamily="49" charset="-122"/>
            </a:endParaRPr>
          </a:p>
          <a:p>
            <a:pPr eaLnBrk="1" hangingPunct="1">
              <a:spcBef>
                <a:spcPct val="10000"/>
              </a:spcBef>
              <a:buFontTx/>
              <a:buChar char="•"/>
            </a:pPr>
            <a:r>
              <a:rPr lang="zh-CN" altLang="en-US" b="1">
                <a:ea typeface="黑体" pitchFamily="49" charset="-122"/>
              </a:rPr>
              <a:t> </a:t>
            </a:r>
            <a:r>
              <a:rPr lang="zh-CN" altLang="en-US" b="1">
                <a:solidFill>
                  <a:schemeClr val="accent2"/>
                </a:solidFill>
                <a:ea typeface="黑体" pitchFamily="49" charset="-122"/>
              </a:rPr>
              <a:t>为了使输入信号中没有共模成分，应采用何种输入方式？输入信号需有一端接地，应采用何种输入方式？</a:t>
            </a:r>
          </a:p>
          <a:p>
            <a:pPr eaLnBrk="1" hangingPunct="1">
              <a:spcBef>
                <a:spcPct val="10000"/>
              </a:spcBef>
            </a:pPr>
            <a:r>
              <a:rPr lang="zh-CN" altLang="en-US" b="1">
                <a:ea typeface="黑体" pitchFamily="49" charset="-122"/>
              </a:rPr>
              <a:t>答：双端输入方式；单端输入方式。</a:t>
            </a:r>
          </a:p>
        </p:txBody>
      </p:sp>
      <p:graphicFrame>
        <p:nvGraphicFramePr>
          <p:cNvPr id="6148" name="Object 4"/>
          <p:cNvGraphicFramePr>
            <a:graphicFrameLocks noChangeAspect="1"/>
          </p:cNvGraphicFramePr>
          <p:nvPr/>
        </p:nvGraphicFramePr>
        <p:xfrm>
          <a:off x="6207125" y="1241425"/>
          <a:ext cx="1511300" cy="1023938"/>
        </p:xfrm>
        <a:graphic>
          <a:graphicData uri="http://schemas.openxmlformats.org/presentationml/2006/ole">
            <mc:AlternateContent xmlns:mc="http://schemas.openxmlformats.org/markup-compatibility/2006">
              <mc:Choice xmlns:v="urn:schemas-microsoft-com:vml" Requires="v">
                <p:oleObj spid="_x0000_s70659" name="公式" r:id="rId4" imgW="21640800" imgH="15240000" progId="Equation.3">
                  <p:embed/>
                </p:oleObj>
              </mc:Choice>
              <mc:Fallback>
                <p:oleObj name="公式" r:id="rId4" imgW="21640800" imgH="15240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7125" y="1241425"/>
                        <a:ext cx="1511300" cy="1023938"/>
                      </a:xfrm>
                      <a:prstGeom prst="rect">
                        <a:avLst/>
                      </a:prstGeom>
                      <a:solidFill>
                        <a:schemeClr val="bg1"/>
                      </a:solidFill>
                      <a:ln w="12700">
                        <a:solidFill>
                          <a:srgbClr val="FF3300"/>
                        </a:solidFill>
                        <a:miter lim="800000"/>
                        <a:headEnd/>
                        <a:tailEnd/>
                      </a:ln>
                    </p:spPr>
                  </p:pic>
                </p:oleObj>
              </mc:Fallback>
            </mc:AlternateContent>
          </a:graphicData>
        </a:graphic>
      </p:graphicFrame>
      <p:sp>
        <p:nvSpPr>
          <p:cNvPr id="2052" name="Rectangle 5"/>
          <p:cNvSpPr>
            <a:spLocks noChangeArrowheads="1"/>
          </p:cNvSpPr>
          <p:nvPr/>
        </p:nvSpPr>
        <p:spPr bwMode="auto">
          <a:xfrm>
            <a:off x="755650" y="3206750"/>
            <a:ext cx="8074025" cy="1200150"/>
          </a:xfrm>
          <a:prstGeom prst="rect">
            <a:avLst/>
          </a:prstGeom>
          <a:noFill/>
          <a:ln w="9525">
            <a:noFill/>
            <a:miter lim="800000"/>
            <a:headEnd/>
            <a:tailEnd/>
          </a:ln>
        </p:spPr>
        <p:txBody>
          <a:bodyPr anchor="ctr">
            <a:spAutoFit/>
          </a:bodyPr>
          <a:lstStyle/>
          <a:p>
            <a:pPr eaLnBrk="1" hangingPunct="1"/>
            <a:r>
              <a:rPr lang="zh-CN" altLang="en-US" b="1">
                <a:ea typeface="黑体" pitchFamily="49" charset="-122"/>
              </a:rPr>
              <a:t>答：双端输入双端输出与单端输入双端输出静态和动态分析方法分别相同，双端输入单端输出与单端输入单端输出静态和动态分析方法分别相同。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blinds(horizontal)">
                                      <p:cBhvr>
                                        <p:cTn id="7" dur="500"/>
                                        <p:tgtEl>
                                          <p:spTgt spid="2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animEffect transition="in" filter="blinds(horizontal)">
                                      <p:cBhvr>
                                        <p:cTn id="17" dur="500"/>
                                        <p:tgtEl>
                                          <p:spTgt spid="205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52"/>
                                        </p:tgtEl>
                                        <p:attrNameLst>
                                          <p:attrName>style.visibility</p:attrName>
                                        </p:attrNameLst>
                                      </p:cBhvr>
                                      <p:to>
                                        <p:strVal val="visible"/>
                                      </p:to>
                                    </p:set>
                                    <p:animEffect transition="in" filter="blinds(horizontal)">
                                      <p:cBhvr>
                                        <p:cTn id="22" dur="500"/>
                                        <p:tgtEl>
                                          <p:spTgt spid="20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051">
                                            <p:txEl>
                                              <p:pRg st="8" end="8"/>
                                            </p:txEl>
                                          </p:spTgt>
                                        </p:tgtEl>
                                        <p:attrNameLst>
                                          <p:attrName>style.visibility</p:attrName>
                                        </p:attrNameLst>
                                      </p:cBhvr>
                                      <p:to>
                                        <p:strVal val="visible"/>
                                      </p:to>
                                    </p:set>
                                    <p:animEffect transition="in" filter="blinds(horizontal)">
                                      <p:cBhvr>
                                        <p:cTn id="27" dur="500"/>
                                        <p:tgtEl>
                                          <p:spTgt spid="2051">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051">
                                            <p:txEl>
                                              <p:pRg st="9" end="9"/>
                                            </p:txEl>
                                          </p:spTgt>
                                        </p:tgtEl>
                                        <p:attrNameLst>
                                          <p:attrName>style.visibility</p:attrName>
                                        </p:attrNameLst>
                                      </p:cBhvr>
                                      <p:to>
                                        <p:strVal val="visible"/>
                                      </p:to>
                                    </p:set>
                                    <p:animEffect transition="in" filter="blinds(horizontal)">
                                      <p:cBhvr>
                                        <p:cTn id="32" dur="500"/>
                                        <p:tgtEl>
                                          <p:spTgt spid="20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611188" y="1089025"/>
            <a:ext cx="7991475" cy="2012950"/>
          </a:xfrm>
          <a:prstGeom prst="rect">
            <a:avLst/>
          </a:prstGeom>
          <a:noFill/>
          <a:ln w="9525">
            <a:noFill/>
            <a:miter lim="800000"/>
            <a:headEnd/>
            <a:tailEnd/>
          </a:ln>
        </p:spPr>
        <p:txBody>
          <a:bodyPr>
            <a:spAutoFit/>
          </a:bodyPr>
          <a:lstStyle/>
          <a:p>
            <a:pPr eaLnBrk="1" hangingPunct="1">
              <a:spcBef>
                <a:spcPct val="10000"/>
              </a:spcBef>
              <a:buFontTx/>
              <a:buChar char="•"/>
            </a:pPr>
            <a:r>
              <a:rPr lang="en-US" altLang="zh-CN" b="1">
                <a:ea typeface="黑体" pitchFamily="49" charset="-122"/>
              </a:rPr>
              <a:t> </a:t>
            </a:r>
            <a:r>
              <a:rPr lang="zh-CN" altLang="en-US" b="1">
                <a:solidFill>
                  <a:schemeClr val="accent2"/>
                </a:solidFill>
                <a:ea typeface="黑体" pitchFamily="49" charset="-122"/>
              </a:rPr>
              <a:t>为了使电路抑制共模能力更强，应采用何种输出方式？负载要求有一端接地，应采用何种输出方式？为了提高差模放大倍数，应采用何种输出方式？</a:t>
            </a:r>
          </a:p>
          <a:p>
            <a:pPr eaLnBrk="1" hangingPunct="1">
              <a:spcBef>
                <a:spcPct val="10000"/>
              </a:spcBef>
            </a:pPr>
            <a:r>
              <a:rPr lang="zh-CN" altLang="en-US" b="1">
                <a:ea typeface="黑体" pitchFamily="49" charset="-122"/>
              </a:rPr>
              <a:t>答：双端输出方式；单端输出方式；双端输出方式。</a:t>
            </a:r>
          </a:p>
          <a:p>
            <a:pPr eaLnBrk="1" hangingPunct="1">
              <a:spcBef>
                <a:spcPct val="10000"/>
              </a:spcBef>
              <a:buFontTx/>
              <a:buChar char="•"/>
            </a:pPr>
            <a:endParaRPr lang="zh-CN" altLang="en-US" b="1">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6">
                                            <p:txEl>
                                              <p:pRg st="1" end="1"/>
                                            </p:txEl>
                                          </p:spTgt>
                                        </p:tgtEl>
                                        <p:attrNameLst>
                                          <p:attrName>style.visibility</p:attrName>
                                        </p:attrNameLst>
                                      </p:cBhvr>
                                      <p:to>
                                        <p:strVal val="visible"/>
                                      </p:to>
                                    </p:set>
                                    <p:animEffect transition="in" filter="blinds(horizontal)">
                                      <p:cBhvr>
                                        <p:cTn id="7" dur="500"/>
                                        <p:tgtEl>
                                          <p:spTgt spid="215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454025" y="955675"/>
            <a:ext cx="8191500" cy="5151438"/>
          </a:xfrm>
          <a:prstGeom prst="rect">
            <a:avLst/>
          </a:prstGeom>
          <a:noFill/>
          <a:ln w="9525">
            <a:noFill/>
            <a:miter lim="800000"/>
            <a:headEnd/>
            <a:tailEnd/>
          </a:ln>
        </p:spPr>
        <p:txBody>
          <a:bodyPr>
            <a:spAutoFit/>
          </a:bodyPr>
          <a:lstStyle/>
          <a:p>
            <a:pPr eaLnBrk="1" hangingPunct="1">
              <a:spcBef>
                <a:spcPct val="10000"/>
              </a:spcBef>
              <a:buFontTx/>
              <a:buChar char="•"/>
            </a:pPr>
            <a:r>
              <a:rPr lang="en-US" altLang="zh-CN" b="1">
                <a:ea typeface="黑体" pitchFamily="49" charset="-122"/>
              </a:rPr>
              <a:t> </a:t>
            </a:r>
            <a:r>
              <a:rPr lang="zh-CN" altLang="en-US" b="1">
                <a:solidFill>
                  <a:schemeClr val="accent2"/>
                </a:solidFill>
                <a:ea typeface="黑体" pitchFamily="49" charset="-122"/>
              </a:rPr>
              <a:t>设计输出级电路主要需要考虑哪两个问题？</a:t>
            </a:r>
          </a:p>
          <a:p>
            <a:pPr eaLnBrk="1" hangingPunct="1">
              <a:spcBef>
                <a:spcPct val="10000"/>
              </a:spcBef>
            </a:pPr>
            <a:r>
              <a:rPr lang="zh-CN" altLang="en-US" b="1">
                <a:ea typeface="黑体" pitchFamily="49" charset="-122"/>
              </a:rPr>
              <a:t>答：一是考虑使得最大不失真输出幅度尽可能大且对称，二是考虑静态功耗。</a:t>
            </a:r>
          </a:p>
          <a:p>
            <a:pPr eaLnBrk="1" hangingPunct="1">
              <a:spcBef>
                <a:spcPct val="10000"/>
              </a:spcBef>
            </a:pPr>
            <a:endParaRPr lang="zh-CN" altLang="en-US" b="1">
              <a:ea typeface="黑体" pitchFamily="49" charset="-122"/>
            </a:endParaRPr>
          </a:p>
          <a:p>
            <a:pPr eaLnBrk="1" hangingPunct="1">
              <a:spcBef>
                <a:spcPct val="10000"/>
              </a:spcBef>
              <a:buFontTx/>
              <a:buChar char="•"/>
            </a:pPr>
            <a:r>
              <a:rPr lang="zh-CN" altLang="en-US" b="1">
                <a:ea typeface="黑体" pitchFamily="49" charset="-122"/>
              </a:rPr>
              <a:t> </a:t>
            </a:r>
            <a:r>
              <a:rPr lang="zh-CN" altLang="en-US" b="1">
                <a:solidFill>
                  <a:schemeClr val="accent2"/>
                </a:solidFill>
                <a:ea typeface="黑体" pitchFamily="49" charset="-122"/>
              </a:rPr>
              <a:t>单管射极跟随器、互补输出级电路各有何特点？</a:t>
            </a:r>
          </a:p>
          <a:p>
            <a:pPr eaLnBrk="1" hangingPunct="1">
              <a:spcBef>
                <a:spcPct val="10000"/>
              </a:spcBef>
            </a:pPr>
            <a:r>
              <a:rPr lang="zh-CN" altLang="en-US" b="1">
                <a:ea typeface="黑体" pitchFamily="49" charset="-122"/>
              </a:rPr>
              <a:t>答：单管射极跟随器输出不失真，但输出幅度不对称；互补输出级电路输出幅度大且对称，但存在较越失真。</a:t>
            </a:r>
          </a:p>
          <a:p>
            <a:pPr eaLnBrk="1" hangingPunct="1">
              <a:spcBef>
                <a:spcPct val="10000"/>
              </a:spcBef>
            </a:pPr>
            <a:endParaRPr lang="zh-CN" altLang="en-US" b="1">
              <a:ea typeface="黑体" pitchFamily="49" charset="-122"/>
            </a:endParaRPr>
          </a:p>
          <a:p>
            <a:pPr eaLnBrk="1" hangingPunct="1">
              <a:spcBef>
                <a:spcPct val="10000"/>
              </a:spcBef>
              <a:buFontTx/>
              <a:buChar char="•"/>
            </a:pPr>
            <a:r>
              <a:rPr lang="zh-CN" altLang="en-US" b="1">
                <a:ea typeface="黑体" pitchFamily="49" charset="-122"/>
              </a:rPr>
              <a:t> </a:t>
            </a:r>
            <a:r>
              <a:rPr lang="zh-CN" altLang="en-US" b="1">
                <a:solidFill>
                  <a:schemeClr val="accent2"/>
                </a:solidFill>
                <a:ea typeface="黑体" pitchFamily="49" charset="-122"/>
              </a:rPr>
              <a:t>直接耦合多级放大电路第一级为何采用差分放大电路？中间级一般采用何种放大电路？如何给各级提供静态电流？</a:t>
            </a:r>
          </a:p>
          <a:p>
            <a:pPr eaLnBrk="1" hangingPunct="1">
              <a:spcBef>
                <a:spcPct val="10000"/>
              </a:spcBef>
            </a:pPr>
            <a:r>
              <a:rPr lang="zh-CN" altLang="en-US" b="1">
                <a:ea typeface="黑体" pitchFamily="49" charset="-122"/>
              </a:rPr>
              <a:t>答：直接耦合多级放大电路第一级采用差分放大电路是为了抑制温漂；中间级一般采用共射或共源放大电路；采用恒流源给各级提供静态电流。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blinds(horizontal)">
                                      <p:cBhvr>
                                        <p:cTn id="7" dur="500"/>
                                        <p:tgtEl>
                                          <p:spTgt spid="225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blinds(horizontal)">
                                      <p:cBhvr>
                                        <p:cTn id="12" dur="500"/>
                                        <p:tgtEl>
                                          <p:spTgt spid="225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530">
                                            <p:txEl>
                                              <p:pRg st="3" end="3"/>
                                            </p:txEl>
                                          </p:spTgt>
                                        </p:tgtEl>
                                        <p:attrNameLst>
                                          <p:attrName>style.visibility</p:attrName>
                                        </p:attrNameLst>
                                      </p:cBhvr>
                                      <p:to>
                                        <p:strVal val="visible"/>
                                      </p:to>
                                    </p:set>
                                    <p:animEffect transition="in" filter="blinds(horizontal)">
                                      <p:cBhvr>
                                        <p:cTn id="17" dur="500"/>
                                        <p:tgtEl>
                                          <p:spTgt spid="2253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530">
                                            <p:txEl>
                                              <p:pRg st="4" end="4"/>
                                            </p:txEl>
                                          </p:spTgt>
                                        </p:tgtEl>
                                        <p:attrNameLst>
                                          <p:attrName>style.visibility</p:attrName>
                                        </p:attrNameLst>
                                      </p:cBhvr>
                                      <p:to>
                                        <p:strVal val="visible"/>
                                      </p:to>
                                    </p:set>
                                    <p:animEffect transition="in" filter="blinds(horizontal)">
                                      <p:cBhvr>
                                        <p:cTn id="22" dur="500"/>
                                        <p:tgtEl>
                                          <p:spTgt spid="2253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2530">
                                            <p:txEl>
                                              <p:pRg st="6" end="6"/>
                                            </p:txEl>
                                          </p:spTgt>
                                        </p:tgtEl>
                                        <p:attrNameLst>
                                          <p:attrName>style.visibility</p:attrName>
                                        </p:attrNameLst>
                                      </p:cBhvr>
                                      <p:to>
                                        <p:strVal val="visible"/>
                                      </p:to>
                                    </p:set>
                                    <p:animEffect transition="in" filter="blinds(horizontal)">
                                      <p:cBhvr>
                                        <p:cTn id="27" dur="500"/>
                                        <p:tgtEl>
                                          <p:spTgt spid="22530">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2530">
                                            <p:txEl>
                                              <p:pRg st="7" end="7"/>
                                            </p:txEl>
                                          </p:spTgt>
                                        </p:tgtEl>
                                        <p:attrNameLst>
                                          <p:attrName>style.visibility</p:attrName>
                                        </p:attrNameLst>
                                      </p:cBhvr>
                                      <p:to>
                                        <p:strVal val="visible"/>
                                      </p:to>
                                    </p:set>
                                    <p:animEffect transition="in" filter="blinds(horizontal)">
                                      <p:cBhvr>
                                        <p:cTn id="32" dur="500"/>
                                        <p:tgtEl>
                                          <p:spTgt spid="225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16705</TotalTime>
  <Words>6503</Words>
  <Application>Microsoft Office PowerPoint</Application>
  <PresentationFormat>全屏显示(4:3)</PresentationFormat>
  <Paragraphs>956</Paragraphs>
  <Slides>119</Slides>
  <Notes>35</Notes>
  <HiddenSlides>0</HiddenSlides>
  <MMClips>0</MMClips>
  <ScaleCrop>false</ScaleCrop>
  <HeadingPairs>
    <vt:vector size="10" baseType="variant">
      <vt:variant>
        <vt:lpstr>已用的字体</vt:lpstr>
      </vt:variant>
      <vt:variant>
        <vt:i4>17</vt:i4>
      </vt:variant>
      <vt:variant>
        <vt:lpstr>主题</vt:lpstr>
      </vt:variant>
      <vt:variant>
        <vt:i4>2</vt:i4>
      </vt:variant>
      <vt:variant>
        <vt:lpstr>嵌入 OLE 服务器</vt:lpstr>
      </vt:variant>
      <vt:variant>
        <vt:i4>5</vt:i4>
      </vt:variant>
      <vt:variant>
        <vt:lpstr>幻灯片标题</vt:lpstr>
      </vt:variant>
      <vt:variant>
        <vt:i4>119</vt:i4>
      </vt:variant>
      <vt:variant>
        <vt:lpstr>自定义放映</vt:lpstr>
      </vt:variant>
      <vt:variant>
        <vt:i4>4</vt:i4>
      </vt:variant>
    </vt:vector>
  </HeadingPairs>
  <TitlesOfParts>
    <vt:vector size="147" baseType="lpstr">
      <vt:lpstr>Monotype Sorts</vt:lpstr>
      <vt:lpstr>方正琥珀繁体</vt:lpstr>
      <vt:lpstr>黑体</vt:lpstr>
      <vt:lpstr>华文彩云</vt:lpstr>
      <vt:lpstr>华文楷体</vt:lpstr>
      <vt:lpstr>华文新魏</vt:lpstr>
      <vt:lpstr>华文行楷</vt:lpstr>
      <vt:lpstr>楷体_GB2312</vt:lpstr>
      <vt:lpstr>隶书</vt:lpstr>
      <vt:lpstr>宋体</vt:lpstr>
      <vt:lpstr>新宋体</vt:lpstr>
      <vt:lpstr>幼圆</vt:lpstr>
      <vt:lpstr>Arial</vt:lpstr>
      <vt:lpstr>Calibri</vt:lpstr>
      <vt:lpstr>Symbol</vt:lpstr>
      <vt:lpstr>Times New Roman</vt:lpstr>
      <vt:lpstr>Verdana</vt:lpstr>
      <vt:lpstr>默认设计模板</vt:lpstr>
      <vt:lpstr>自定义设计方案</vt:lpstr>
      <vt:lpstr>Photo Editor 照片</vt:lpstr>
      <vt:lpstr>公式</vt:lpstr>
      <vt:lpstr>Equation</vt:lpstr>
      <vt:lpstr>BMP 图像</vt:lpstr>
      <vt:lpstr>BMP 图象</vt:lpstr>
      <vt:lpstr>PowerPoint 演示文稿</vt:lpstr>
      <vt:lpstr>PowerPoint 演示文稿</vt:lpstr>
      <vt:lpstr>§3.1 多级放大电路的耦合方式</vt:lpstr>
      <vt:lpstr>PowerPoint 演示文稿</vt:lpstr>
      <vt:lpstr>3.1.1、直接耦合</vt:lpstr>
      <vt:lpstr>PowerPoint 演示文稿</vt:lpstr>
      <vt:lpstr>如何设置合适的静态工作点？</vt:lpstr>
      <vt:lpstr>NPN型管和PNP型管混合使用</vt:lpstr>
      <vt:lpstr>PowerPoint 演示文稿</vt:lpstr>
      <vt:lpstr>PowerPoint 演示文稿</vt:lpstr>
      <vt:lpstr>3.1.3、变压器耦合</vt:lpstr>
      <vt:lpstr>PowerPoint 演示文稿</vt:lpstr>
      <vt:lpstr>PowerPoint 演示文稿</vt:lpstr>
      <vt:lpstr>§3.2  多级放大电路的动态分析</vt:lpstr>
      <vt:lpstr>PowerPoint 演示文稿</vt:lpstr>
      <vt:lpstr>PowerPoint 演示文稿</vt:lpstr>
      <vt:lpstr>      动态参数分析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直接耦合放大电路</vt:lpstr>
      <vt:lpstr>PowerPoint 演示文稿</vt:lpstr>
      <vt:lpstr>PowerPoint 演示文稿</vt:lpstr>
      <vt:lpstr>讨论一</vt:lpstr>
      <vt:lpstr>一、零点漂移现象及其产生的原因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抑制共模信号-对称性 </vt:lpstr>
      <vt:lpstr>2.  抑制共模信号 ：Re的共模负反馈作用</vt:lpstr>
      <vt:lpstr>共模信号作用下的动态分析</vt:lpstr>
      <vt:lpstr>3.  放大差模信号</vt:lpstr>
      <vt:lpstr>PowerPoint 演示文稿</vt:lpstr>
      <vt:lpstr>PowerPoint 演示文稿</vt:lpstr>
      <vt:lpstr>PowerPoint 演示文稿</vt:lpstr>
      <vt:lpstr>差模信号作用时的动态分析</vt:lpstr>
      <vt:lpstr>差模信号作用时的动态分析</vt:lpstr>
      <vt:lpstr>4.  动态参数：Ad、Ri、 Ro、 Ac、KCMR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双端输入单端输出：差模信号作用下的动态分析</vt:lpstr>
      <vt:lpstr>2.  双端输入单端输出：共模信号作用下的动态分析</vt:lpstr>
      <vt:lpstr>2.  双端输入单端输出：问题讨论</vt:lpstr>
      <vt:lpstr>PowerPoint 演示文稿</vt:lpstr>
      <vt:lpstr>PowerPoint 演示文稿</vt:lpstr>
      <vt:lpstr>PowerPoint 演示文稿</vt:lpstr>
      <vt:lpstr>3.  单端输入双端输出</vt:lpstr>
      <vt:lpstr>3.  单端输入双端输出</vt:lpstr>
      <vt:lpstr>PowerPoint 演示文稿</vt:lpstr>
      <vt:lpstr>PowerPoint 演示文稿</vt:lpstr>
      <vt:lpstr>PowerPoint 演示文稿</vt:lpstr>
      <vt:lpstr>PowerPoint 演示文稿</vt:lpstr>
      <vt:lpstr>四种接法的比较：电路参数理想对称条件下</vt:lpstr>
      <vt:lpstr>PowerPoint 演示文稿</vt:lpstr>
      <vt:lpstr>PowerPoint 演示文稿</vt:lpstr>
      <vt:lpstr>五、具有恒流源的差分放大电路</vt:lpstr>
      <vt:lpstr>具有恒流源差分放大电路的组成</vt:lpstr>
      <vt:lpstr>PowerPoint 演示文稿</vt:lpstr>
      <vt:lpstr>PowerPoint 演示文稿</vt:lpstr>
      <vt:lpstr>PowerPoint 演示文稿</vt:lpstr>
      <vt:lpstr>PowerPoint 演示文稿</vt:lpstr>
      <vt:lpstr>六、差分放大电路的改进</vt:lpstr>
      <vt:lpstr>讨论二</vt:lpstr>
      <vt:lpstr>PowerPoint 演示文稿</vt:lpstr>
      <vt:lpstr>PowerPoint 演示文稿</vt:lpstr>
      <vt:lpstr>PowerPoint 演示文稿</vt:lpstr>
      <vt:lpstr>PowerPoint 演示文稿</vt:lpstr>
      <vt:lpstr>PowerPoint 演示文稿</vt:lpstr>
      <vt:lpstr>PowerPoint 演示文稿</vt:lpstr>
      <vt:lpstr>§3.4 互补输出级</vt:lpstr>
      <vt:lpstr>一、对输出级的要求</vt:lpstr>
      <vt:lpstr>PowerPoint 演示文稿</vt:lpstr>
      <vt:lpstr>二、基本电路</vt:lpstr>
      <vt:lpstr>3.  动态分析</vt:lpstr>
      <vt:lpstr>4.  交越失真</vt:lpstr>
      <vt:lpstr>4.  交越失真</vt:lpstr>
      <vt:lpstr>三、消除交越失真的互补输出级</vt:lpstr>
      <vt:lpstr>四、准互补输出级      </vt:lpstr>
      <vt:lpstr>§3.5 直接耦合多级放大电路读图</vt:lpstr>
      <vt:lpstr>一、放大电路的读图方法</vt:lpstr>
      <vt:lpstr>PowerPoint 演示文稿</vt:lpstr>
      <vt:lpstr>二、例题</vt:lpstr>
      <vt:lpstr>PowerPoint 演示文稿</vt:lpstr>
      <vt:lpstr>2. 基本性能分析</vt:lpstr>
      <vt:lpstr>3. 交流等效电路</vt:lpstr>
      <vt:lpstr>3. 交流等效电路</vt:lpstr>
      <vt:lpstr>3. 交流等效电路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lpstr>自定义放映2</vt:lpstr>
      <vt:lpstr>自定义放映3</vt:lpstr>
      <vt:lpstr>自定义放映4</vt:lpstr>
    </vt:vector>
  </TitlesOfParts>
  <Company>Inter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曾祥华</dc:creator>
  <cp:lastModifiedBy>wyj</cp:lastModifiedBy>
  <cp:revision>620</cp:revision>
  <dcterms:created xsi:type="dcterms:W3CDTF">2003-05-22T05:30:14Z</dcterms:created>
  <dcterms:modified xsi:type="dcterms:W3CDTF">2025-03-19T23:39:56Z</dcterms:modified>
</cp:coreProperties>
</file>